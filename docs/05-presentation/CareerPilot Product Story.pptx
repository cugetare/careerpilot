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10287000" cx="18288000"/>
  <p:notesSz cx="6858000" cy="9144000"/>
  <p:embeddedFontLst>
    <p:embeddedFont>
      <p:font typeface="Inter"/>
      <p:regular r:id="rId22"/>
      <p:bold r:id="rId23"/>
      <p:italic r:id="rId24"/>
      <p:boldItalic r:id="rId25"/>
    </p:embeddedFont>
    <p:embeddedFont>
      <p:font typeface="JetBrains Mono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30" roundtripDataSignature="AMtx7mihI12qyQlj/vhVeEjBzgTsXhJ+k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Inter-regular.fntdata"/><Relationship Id="rId21" Type="http://schemas.openxmlformats.org/officeDocument/2006/relationships/slide" Target="slides/slide16.xml"/><Relationship Id="rId24" Type="http://schemas.openxmlformats.org/officeDocument/2006/relationships/font" Target="fonts/Inter-italic.fntdata"/><Relationship Id="rId23" Type="http://schemas.openxmlformats.org/officeDocument/2006/relationships/font" Target="fonts/Inter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JetBrainsMono-regular.fntdata"/><Relationship Id="rId25" Type="http://schemas.openxmlformats.org/officeDocument/2006/relationships/font" Target="fonts/Inter-boldItalic.fntdata"/><Relationship Id="rId28" Type="http://schemas.openxmlformats.org/officeDocument/2006/relationships/font" Target="fonts/JetBrainsMono-italic.fntdata"/><Relationship Id="rId27" Type="http://schemas.openxmlformats.org/officeDocument/2006/relationships/font" Target="fonts/JetBrainsMono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JetBrainsMono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0" Type="http://customschemas.google.com/relationships/presentationmetadata" Target="meta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2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h2b18091bccb4b79d_2_1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2" name="Google Shape;172;h2b18091bccb4b79d_2_1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Lena isn't alone. Markus: 60 alerts a week, no time for 59. Andrei: three languages, needs the real language requirement, has met fake recruiters. Sofia, a verified headhunter, wants available candidates who really fit her client's job, without trawling CV databases.</a:t>
            </a:r>
            <a:endParaRPr/>
          </a:p>
        </p:txBody>
      </p:sp>
      <p:sp>
        <p:nvSpPr>
          <p:cNvPr id="173" name="Google Shape;173;h2b18091bccb4b79d_2_1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3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4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5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6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6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7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7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8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5" name="Google Shape;595;p8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9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3" name="Google Shape;653;p9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10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1" name="Google Shape;791;p10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11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3" name="Google Shape;883;p11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8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p12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0" name="Google Shape;960;p12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3" name="Shape 1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p13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13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p14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3" name="Google Shape;1133;p14:notes"/>
          <p:cNvSpPr/>
          <p:nvPr>
            <p:ph idx="2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5" name="Shape 1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Google Shape;1236;p15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7" name="Google Shape;1237;p15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238" name="Google Shape;1238;p15:notes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9" name="Google Shape;1239;p15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Links: PRD — (internal URL); Jira — (internal URL); Persona flows Figma — (internal URL); Roadmap Figma — (internal URL). Pricing figures (€10 top-up and €0.99/10 credits) are proposed, post-launch. Recruiter pricing is to be determined.</a:t>
            </a:r>
            <a:endParaRPr/>
          </a:p>
        </p:txBody>
      </p:sp>
      <p:sp>
        <p:nvSpPr>
          <p:cNvPr id="1240" name="Google Shape;1240;p15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1" name="Google Shape;1241;p15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2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2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bg>
      <p:bgPr>
        <a:solidFill>
          <a:srgbClr val="E8EE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tmp/claude-0/-home-claude/d1b11841-31a5-5c6c-8b8a-2c68ca1b0a7c/scratchpad/deck/img/logo-navy.png" id="85" name="Google Shape;85;h2b18091bccb4b79d_2_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960" y="438912"/>
            <a:ext cx="2029968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h2b18091bccb4b79d_2_49"/>
          <p:cNvSpPr/>
          <p:nvPr/>
        </p:nvSpPr>
        <p:spPr>
          <a:xfrm>
            <a:off x="822960" y="9601200"/>
            <a:ext cx="13716000" cy="41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CareerPilot · Germany MVP · public launch 14 June 2027 (planned) · demo with illustrative data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h2b18091bccb4b79d_2_49"/>
          <p:cNvSpPr txBox="1"/>
          <p:nvPr>
            <p:ph idx="1" type="body"/>
          </p:nvPr>
        </p:nvSpPr>
        <p:spPr>
          <a:xfrm>
            <a:off x="822960" y="1234440"/>
            <a:ext cx="16596600" cy="4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rmAutofit/>
          </a:bodyPr>
          <a:lstStyle>
            <a:lvl1pPr indent="-228600" lvl="0" marL="457200" marR="0" algn="l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b="1" i="0" spc="300" sz="1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95300" lvl="1" marL="914400" marR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–"/>
              <a:defRPr b="0" i="0" sz="4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57200" lvl="2" marL="1371600" marR="0" algn="l"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b="0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19100" lvl="3" marL="18288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–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19100" lvl="4" marL="22860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»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419100" lvl="5" marL="27432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419100" lvl="6" marL="32004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419100" lvl="7" marL="36576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419100" lvl="8" marL="41148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h2b18091bccb4b79d_2_49"/>
          <p:cNvSpPr txBox="1"/>
          <p:nvPr>
            <p:ph type="title"/>
          </p:nvPr>
        </p:nvSpPr>
        <p:spPr>
          <a:xfrm>
            <a:off x="822960" y="1645920"/>
            <a:ext cx="16596600" cy="10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b="1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27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27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27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27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27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27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27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2700"/>
            </a:lvl9pPr>
          </a:lstStyle>
          <a:p/>
        </p:txBody>
      </p:sp>
      <p:sp>
        <p:nvSpPr>
          <p:cNvPr id="89" name="Google Shape;89;h2b18091bccb4b79d_2_49"/>
          <p:cNvSpPr txBox="1"/>
          <p:nvPr>
            <p:ph idx="12" type="sldNum"/>
          </p:nvPr>
        </p:nvSpPr>
        <p:spPr>
          <a:xfrm>
            <a:off x="16733520" y="9601200"/>
            <a:ext cx="685800" cy="4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buNone/>
              <a:defRPr b="0" i="0" sz="1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buNone/>
              <a:defRPr b="0" i="0" sz="1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buNone/>
              <a:defRPr b="0" i="0" sz="1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buNone/>
              <a:defRPr b="0" i="0" sz="1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buNone/>
              <a:defRPr b="0" i="0" sz="1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buNone/>
              <a:defRPr b="0" i="0" sz="1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buNone/>
              <a:defRPr b="0" i="0" sz="1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buNone/>
              <a:defRPr b="0" i="0" sz="1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9.jpg"/><Relationship Id="rId5" Type="http://schemas.openxmlformats.org/officeDocument/2006/relationships/image" Target="../media/image2.jpg"/><Relationship Id="rId6" Type="http://schemas.openxmlformats.org/officeDocument/2006/relationships/image" Target="../media/image10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10.jpg"/><Relationship Id="rId5" Type="http://schemas.openxmlformats.org/officeDocument/2006/relationships/image" Target="../media/image2.jpg"/><Relationship Id="rId6" Type="http://schemas.openxmlformats.org/officeDocument/2006/relationships/image" Target="../media/image9.jpg"/><Relationship Id="rId7" Type="http://schemas.openxmlformats.org/officeDocument/2006/relationships/image" Target="../media/image6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6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areerPilot reticle" id="94" name="Google Shape;9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03575" y="6572450"/>
            <a:ext cx="3238500" cy="3238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areerPilot logo" id="95" name="Google Shape;9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154850"/>
            <a:ext cx="11042711" cy="22411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"/>
          <p:cNvSpPr txBox="1"/>
          <p:nvPr/>
        </p:nvSpPr>
        <p:spPr>
          <a:xfrm>
            <a:off x="4572000" y="438150"/>
            <a:ext cx="9525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252" sz="1500" u="none" cap="none" strike="noStrike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 · Cover</a:t>
            </a:r>
            <a:endParaRPr sz="1500"/>
          </a:p>
        </p:txBody>
      </p:sp>
      <p:sp>
        <p:nvSpPr>
          <p:cNvPr id="97" name="Google Shape;97;p1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189" sz="1050" u="none" cap="none" strike="noStrike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/>
          </a:p>
        </p:txBody>
      </p:sp>
      <p:grpSp>
        <p:nvGrpSpPr>
          <p:cNvPr id="98" name="Google Shape;98;p1"/>
          <p:cNvGrpSpPr/>
          <p:nvPr/>
        </p:nvGrpSpPr>
        <p:grpSpPr>
          <a:xfrm>
            <a:off x="762000" y="733425"/>
            <a:ext cx="16764000" cy="38100"/>
            <a:chOff x="0" y="-38100"/>
            <a:chExt cx="22352000" cy="50800"/>
          </a:xfrm>
        </p:grpSpPr>
        <p:sp>
          <p:nvSpPr>
            <p:cNvPr id="99" name="Google Shape;99;p1"/>
            <p:cNvSpPr/>
            <p:nvPr/>
          </p:nvSpPr>
          <p:spPr>
            <a:xfrm>
              <a:off x="0" y="0"/>
              <a:ext cx="22352000" cy="12700"/>
            </a:xfrm>
            <a:custGeom>
              <a:rect b="b" l="l" r="r" t="t"/>
              <a:pathLst>
                <a:path extrusionOk="0" h="127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1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1" name="Google Shape;101;p1"/>
          <p:cNvSpPr txBox="1"/>
          <p:nvPr/>
        </p:nvSpPr>
        <p:spPr>
          <a:xfrm>
            <a:off x="552450" y="4395950"/>
            <a:ext cx="85725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43" sz="15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PRODUCT STORY · MVP DELIVERY</a:t>
            </a:r>
            <a:endParaRPr sz="1600"/>
          </a:p>
        </p:txBody>
      </p:sp>
      <p:sp>
        <p:nvSpPr>
          <p:cNvPr id="102" name="Google Shape;102;p1"/>
          <p:cNvSpPr txBox="1"/>
          <p:nvPr/>
        </p:nvSpPr>
        <p:spPr>
          <a:xfrm>
            <a:off x="552450" y="4972250"/>
            <a:ext cx="12152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38" sz="4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 clear route from discovery to application.</a:t>
            </a:r>
            <a:endParaRPr sz="100"/>
          </a:p>
        </p:txBody>
      </p:sp>
      <p:sp>
        <p:nvSpPr>
          <p:cNvPr id="103" name="Google Shape;103;p1"/>
          <p:cNvSpPr txBox="1"/>
          <p:nvPr/>
        </p:nvSpPr>
        <p:spPr>
          <a:xfrm>
            <a:off x="552450" y="6376675"/>
            <a:ext cx="11430000" cy="7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>
                <a:solidFill>
                  <a:srgbClr val="1D3D63"/>
                </a:solidFill>
                <a:latin typeface="Inter"/>
                <a:ea typeface="Inter"/>
                <a:cs typeface="Inter"/>
                <a:sym typeface="Inter"/>
              </a:rPr>
              <a:t>Guiding candidates from job discovery through fit explanation,</a:t>
            </a:r>
            <a:endParaRPr/>
          </a:p>
          <a:p>
            <a:pPr indent="0" lvl="0" marL="0" marR="0" rtl="0" algn="l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>
                <a:solidFill>
                  <a:srgbClr val="1D3D63"/>
                </a:solidFill>
                <a:latin typeface="Inter"/>
                <a:ea typeface="Inter"/>
                <a:cs typeface="Inter"/>
                <a:sym typeface="Inter"/>
              </a:rPr>
              <a:t>document review, and application.</a:t>
            </a:r>
            <a:endParaRPr/>
          </a:p>
        </p:txBody>
      </p:sp>
      <p:sp>
        <p:nvSpPr>
          <p:cNvPr id="104" name="Google Shape;104;p1"/>
          <p:cNvSpPr txBox="1"/>
          <p:nvPr/>
        </p:nvSpPr>
        <p:spPr>
          <a:xfrm>
            <a:off x="552450" y="7650600"/>
            <a:ext cx="1905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96" sz="12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LOCALE</a:t>
            </a:r>
            <a:endParaRPr/>
          </a:p>
        </p:txBody>
      </p:sp>
      <p:sp>
        <p:nvSpPr>
          <p:cNvPr id="105" name="Google Shape;105;p1"/>
          <p:cNvSpPr txBox="1"/>
          <p:nvPr/>
        </p:nvSpPr>
        <p:spPr>
          <a:xfrm>
            <a:off x="552450" y="7879200"/>
            <a:ext cx="2857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Germany · DE / EN</a:t>
            </a:r>
            <a:endParaRPr/>
          </a:p>
        </p:txBody>
      </p:sp>
      <p:sp>
        <p:nvSpPr>
          <p:cNvPr id="106" name="Google Shape;106;p1"/>
          <p:cNvSpPr txBox="1"/>
          <p:nvPr/>
        </p:nvSpPr>
        <p:spPr>
          <a:xfrm>
            <a:off x="3790950" y="76506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96" sz="12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LAUNCH (PLANNED)</a:t>
            </a:r>
            <a:endParaRPr/>
          </a:p>
        </p:txBody>
      </p:sp>
      <p:sp>
        <p:nvSpPr>
          <p:cNvPr id="107" name="Google Shape;107;p1"/>
          <p:cNvSpPr txBox="1"/>
          <p:nvPr/>
        </p:nvSpPr>
        <p:spPr>
          <a:xfrm>
            <a:off x="3790950" y="7879200"/>
            <a:ext cx="2857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June</a:t>
            </a:r>
            <a:r>
              <a:rPr b="1"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 27</a:t>
            </a:r>
            <a:endParaRPr/>
          </a:p>
        </p:txBody>
      </p:sp>
      <p:sp>
        <p:nvSpPr>
          <p:cNvPr id="108" name="Google Shape;108;p1"/>
          <p:cNvSpPr txBox="1"/>
          <p:nvPr/>
        </p:nvSpPr>
        <p:spPr>
          <a:xfrm>
            <a:off x="7029450" y="76506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96" sz="1200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BRANCH</a:t>
            </a:r>
            <a:endParaRPr/>
          </a:p>
        </p:txBody>
      </p:sp>
      <p:sp>
        <p:nvSpPr>
          <p:cNvPr id="109" name="Google Shape;109;p1"/>
          <p:cNvSpPr txBox="1"/>
          <p:nvPr/>
        </p:nvSpPr>
        <p:spPr>
          <a:xfrm>
            <a:off x="7029450" y="7879200"/>
            <a:ext cx="4762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Verified-recruiter pilot</a:t>
            </a:r>
            <a:endParaRPr/>
          </a:p>
        </p:txBody>
      </p:sp>
      <p:sp>
        <p:nvSpPr>
          <p:cNvPr id="110" name="Google Shape;110;p1"/>
          <p:cNvSpPr/>
          <p:nvPr/>
        </p:nvSpPr>
        <p:spPr>
          <a:xfrm>
            <a:off x="497725" y="9643025"/>
            <a:ext cx="95250" cy="95250"/>
          </a:xfrm>
          <a:custGeom>
            <a:rect b="b" l="l" r="r" t="t"/>
            <a:pathLst>
              <a:path extrusionOk="0" h="127000" w="127000">
                <a:moveTo>
                  <a:pt x="63500" y="0"/>
                </a:moveTo>
                <a:cubicBezTo>
                  <a:pt x="98570" y="0"/>
                  <a:pt x="127000" y="28430"/>
                  <a:pt x="127000" y="63500"/>
                </a:cubicBezTo>
                <a:cubicBezTo>
                  <a:pt x="127000" y="98570"/>
                  <a:pt x="98570" y="127000"/>
                  <a:pt x="63500" y="127000"/>
                </a:cubicBezTo>
                <a:cubicBezTo>
                  <a:pt x="28430" y="127000"/>
                  <a:pt x="0" y="98570"/>
                  <a:pt x="0" y="63500"/>
                </a:cubicBezTo>
                <a:cubicBezTo>
                  <a:pt x="0" y="28430"/>
                  <a:pt x="28430" y="0"/>
                  <a:pt x="63500" y="0"/>
                </a:cubicBezTo>
                <a:close/>
              </a:path>
            </a:pathLst>
          </a:custGeom>
          <a:solidFill>
            <a:srgbClr val="0F2A4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"/>
          <p:cNvSpPr/>
          <p:nvPr/>
        </p:nvSpPr>
        <p:spPr>
          <a:xfrm>
            <a:off x="2567180" y="9643025"/>
            <a:ext cx="95250" cy="95250"/>
          </a:xfrm>
          <a:custGeom>
            <a:rect b="b" l="l" r="r" t="t"/>
            <a:pathLst>
              <a:path extrusionOk="0" h="127000" w="127000">
                <a:moveTo>
                  <a:pt x="63500" y="0"/>
                </a:moveTo>
                <a:cubicBezTo>
                  <a:pt x="98570" y="0"/>
                  <a:pt x="127000" y="28430"/>
                  <a:pt x="127000" y="63500"/>
                </a:cubicBezTo>
                <a:cubicBezTo>
                  <a:pt x="127000" y="98570"/>
                  <a:pt x="98570" y="127000"/>
                  <a:pt x="63500" y="127000"/>
                </a:cubicBezTo>
                <a:cubicBezTo>
                  <a:pt x="28430" y="127000"/>
                  <a:pt x="0" y="98570"/>
                  <a:pt x="0" y="63500"/>
                </a:cubicBezTo>
                <a:cubicBezTo>
                  <a:pt x="0" y="28430"/>
                  <a:pt x="28430" y="0"/>
                  <a:pt x="63500" y="0"/>
                </a:cubicBezTo>
                <a:close/>
              </a:path>
            </a:pathLst>
          </a:custGeom>
          <a:solidFill>
            <a:srgbClr val="0F2A4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"/>
          <p:cNvSpPr/>
          <p:nvPr/>
        </p:nvSpPr>
        <p:spPr>
          <a:xfrm>
            <a:off x="5069832" y="9643025"/>
            <a:ext cx="95250" cy="95250"/>
          </a:xfrm>
          <a:custGeom>
            <a:rect b="b" l="l" r="r" t="t"/>
            <a:pathLst>
              <a:path extrusionOk="0" h="127000" w="127000">
                <a:moveTo>
                  <a:pt x="63500" y="0"/>
                </a:moveTo>
                <a:cubicBezTo>
                  <a:pt x="98570" y="0"/>
                  <a:pt x="127000" y="28430"/>
                  <a:pt x="127000" y="63500"/>
                </a:cubicBezTo>
                <a:cubicBezTo>
                  <a:pt x="127000" y="98570"/>
                  <a:pt x="98570" y="127000"/>
                  <a:pt x="63500" y="127000"/>
                </a:cubicBezTo>
                <a:cubicBezTo>
                  <a:pt x="28430" y="127000"/>
                  <a:pt x="0" y="98570"/>
                  <a:pt x="0" y="63500"/>
                </a:cubicBezTo>
                <a:cubicBezTo>
                  <a:pt x="0" y="28430"/>
                  <a:pt x="28430" y="0"/>
                  <a:pt x="63500" y="0"/>
                </a:cubicBezTo>
                <a:close/>
              </a:path>
            </a:pathLst>
          </a:custGeom>
          <a:solidFill>
            <a:srgbClr val="0F2A4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"/>
          <p:cNvSpPr/>
          <p:nvPr/>
        </p:nvSpPr>
        <p:spPr>
          <a:xfrm>
            <a:off x="7624468" y="9643025"/>
            <a:ext cx="95250" cy="95250"/>
          </a:xfrm>
          <a:custGeom>
            <a:rect b="b" l="l" r="r" t="t"/>
            <a:pathLst>
              <a:path extrusionOk="0" h="127000" w="127000">
                <a:moveTo>
                  <a:pt x="63500" y="0"/>
                </a:moveTo>
                <a:cubicBezTo>
                  <a:pt x="98570" y="0"/>
                  <a:pt x="127000" y="28430"/>
                  <a:pt x="127000" y="63500"/>
                </a:cubicBezTo>
                <a:cubicBezTo>
                  <a:pt x="127000" y="98570"/>
                  <a:pt x="98570" y="127000"/>
                  <a:pt x="63500" y="127000"/>
                </a:cubicBezTo>
                <a:cubicBezTo>
                  <a:pt x="28430" y="127000"/>
                  <a:pt x="0" y="98570"/>
                  <a:pt x="0" y="63500"/>
                </a:cubicBezTo>
                <a:cubicBezTo>
                  <a:pt x="0" y="28430"/>
                  <a:pt x="28430" y="0"/>
                  <a:pt x="63500" y="0"/>
                </a:cubicBezTo>
                <a:close/>
              </a:path>
            </a:pathLst>
          </a:custGeom>
          <a:solidFill>
            <a:srgbClr val="0F2A4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"/>
          <p:cNvSpPr txBox="1"/>
          <p:nvPr/>
        </p:nvSpPr>
        <p:spPr>
          <a:xfrm>
            <a:off x="643739" y="9559022"/>
            <a:ext cx="2286000" cy="23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68" sz="15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Candidate</a:t>
            </a:r>
            <a:endParaRPr sz="1800"/>
          </a:p>
        </p:txBody>
      </p:sp>
      <p:sp>
        <p:nvSpPr>
          <p:cNvPr id="115" name="Google Shape;115;p1"/>
          <p:cNvSpPr txBox="1"/>
          <p:nvPr/>
        </p:nvSpPr>
        <p:spPr>
          <a:xfrm>
            <a:off x="2701642" y="9570574"/>
            <a:ext cx="2286000" cy="23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68" sz="15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Explained fit</a:t>
            </a:r>
            <a:endParaRPr sz="1800"/>
          </a:p>
        </p:txBody>
      </p:sp>
      <p:sp>
        <p:nvSpPr>
          <p:cNvPr id="116" name="Google Shape;116;p1"/>
          <p:cNvSpPr txBox="1"/>
          <p:nvPr/>
        </p:nvSpPr>
        <p:spPr>
          <a:xfrm>
            <a:off x="5198513" y="9553264"/>
            <a:ext cx="2286000" cy="23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68" sz="15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Re-viewed docs</a:t>
            </a:r>
            <a:endParaRPr sz="1800"/>
          </a:p>
        </p:txBody>
      </p:sp>
      <p:sp>
        <p:nvSpPr>
          <p:cNvPr id="117" name="Google Shape;117;p1"/>
          <p:cNvSpPr txBox="1"/>
          <p:nvPr/>
        </p:nvSpPr>
        <p:spPr>
          <a:xfrm>
            <a:off x="7782034" y="9576350"/>
            <a:ext cx="2286000" cy="23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68" sz="15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Application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6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areerPilot logo" id="122" name="Google Shape;12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428150"/>
            <a:ext cx="901087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"/>
          <p:cNvSpPr txBox="1"/>
          <p:nvPr/>
        </p:nvSpPr>
        <p:spPr>
          <a:xfrm>
            <a:off x="4133025" y="432050"/>
            <a:ext cx="9525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52" sz="15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· Problem</a:t>
            </a:r>
            <a:endParaRPr sz="1500"/>
          </a:p>
        </p:txBody>
      </p:sp>
      <p:sp>
        <p:nvSpPr>
          <p:cNvPr id="124" name="Google Shape;124;p2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89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/>
          </a:p>
        </p:txBody>
      </p:sp>
      <p:sp>
        <p:nvSpPr>
          <p:cNvPr id="125" name="Google Shape;125;p2"/>
          <p:cNvSpPr txBox="1"/>
          <p:nvPr/>
        </p:nvSpPr>
        <p:spPr>
          <a:xfrm>
            <a:off x="762000" y="9734550"/>
            <a:ext cx="114300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June 27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(planned)</a:t>
            </a:r>
            <a:endParaRPr/>
          </a:p>
        </p:txBody>
      </p:sp>
      <p:grpSp>
        <p:nvGrpSpPr>
          <p:cNvPr id="126" name="Google Shape;126;p2"/>
          <p:cNvGrpSpPr/>
          <p:nvPr/>
        </p:nvGrpSpPr>
        <p:grpSpPr>
          <a:xfrm>
            <a:off x="762000" y="733425"/>
            <a:ext cx="16764000" cy="38100"/>
            <a:chOff x="0" y="-38100"/>
            <a:chExt cx="22352000" cy="50800"/>
          </a:xfrm>
        </p:grpSpPr>
        <p:sp>
          <p:nvSpPr>
            <p:cNvPr id="127" name="Google Shape;127;p2"/>
            <p:cNvSpPr/>
            <p:nvPr/>
          </p:nvSpPr>
          <p:spPr>
            <a:xfrm>
              <a:off x="0" y="0"/>
              <a:ext cx="22352000" cy="12700"/>
            </a:xfrm>
            <a:custGeom>
              <a:rect b="b" l="l" r="r" t="t"/>
              <a:pathLst>
                <a:path extrusionOk="0" h="127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" name="Google Shape;128;p2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9" name="Google Shape;129;p2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43" sz="13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ILLUSTRATIVE SCENARIO · LENA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762000" y="1695450"/>
            <a:ext cx="11430000" cy="1948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38" sz="69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Fragmented search,</a:t>
            </a:r>
            <a:endParaRPr/>
          </a:p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38" sz="69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personal decisions.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762000" y="4305300"/>
            <a:ext cx="7810500" cy="659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rgbClr val="1D3D63"/>
                </a:solidFill>
                <a:latin typeface="Inter"/>
                <a:ea typeface="Inter"/>
                <a:cs typeface="Inter"/>
                <a:sym typeface="Inter"/>
              </a:rPr>
              <a:t>“I see hundreds of roles. I can't tell which fit, I rewrite my CV every time, and I lose track after I apply.”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762000" y="7210425"/>
            <a:ext cx="3810000" cy="2076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96" sz="120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What's needed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62000" y="7467600"/>
            <a:ext cx="7239000" cy="624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An explanation of fit — and a reliable next step the candidate controls.</a:t>
            </a:r>
            <a:endParaRPr/>
          </a:p>
        </p:txBody>
      </p:sp>
      <p:grpSp>
        <p:nvGrpSpPr>
          <p:cNvPr id="134" name="Google Shape;134;p2"/>
          <p:cNvGrpSpPr/>
          <p:nvPr/>
        </p:nvGrpSpPr>
        <p:grpSpPr>
          <a:xfrm>
            <a:off x="9715500" y="1685925"/>
            <a:ext cx="7810500" cy="1457325"/>
            <a:chOff x="0" y="-38100"/>
            <a:chExt cx="10414000" cy="1943100"/>
          </a:xfrm>
        </p:grpSpPr>
        <p:sp>
          <p:nvSpPr>
            <p:cNvPr id="135" name="Google Shape;135;p2"/>
            <p:cNvSpPr/>
            <p:nvPr/>
          </p:nvSpPr>
          <p:spPr>
            <a:xfrm>
              <a:off x="0" y="0"/>
              <a:ext cx="10414000" cy="1905000"/>
            </a:xfrm>
            <a:custGeom>
              <a:rect b="b" l="l" r="r" t="t"/>
              <a:pathLst>
                <a:path extrusionOk="0" h="1905000" w="10414000">
                  <a:moveTo>
                    <a:pt x="0" y="0"/>
                  </a:moveTo>
                  <a:lnTo>
                    <a:pt x="10414000" y="0"/>
                  </a:lnTo>
                  <a:lnTo>
                    <a:pt x="10414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2"/>
            <p:cNvSpPr txBox="1"/>
            <p:nvPr/>
          </p:nvSpPr>
          <p:spPr>
            <a:xfrm>
              <a:off x="0" y="-38100"/>
              <a:ext cx="10414000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7" name="Google Shape;137;p2"/>
          <p:cNvGrpSpPr/>
          <p:nvPr/>
        </p:nvGrpSpPr>
        <p:grpSpPr>
          <a:xfrm>
            <a:off x="9715500" y="1685925"/>
            <a:ext cx="57150" cy="1457325"/>
            <a:chOff x="0" y="-38100"/>
            <a:chExt cx="76200" cy="1943100"/>
          </a:xfrm>
        </p:grpSpPr>
        <p:sp>
          <p:nvSpPr>
            <p:cNvPr id="138" name="Google Shape;138;p2"/>
            <p:cNvSpPr/>
            <p:nvPr/>
          </p:nvSpPr>
          <p:spPr>
            <a:xfrm>
              <a:off x="0" y="0"/>
              <a:ext cx="76200" cy="1905000"/>
            </a:xfrm>
            <a:custGeom>
              <a:rect b="b" l="l" r="r" t="t"/>
              <a:pathLst>
                <a:path extrusionOk="0" h="1905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9" name="Google Shape;139;p2"/>
            <p:cNvSpPr txBox="1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0" name="Google Shape;140;p2"/>
          <p:cNvGrpSpPr/>
          <p:nvPr/>
        </p:nvGrpSpPr>
        <p:grpSpPr>
          <a:xfrm>
            <a:off x="10382250" y="3209925"/>
            <a:ext cx="6477000" cy="1457325"/>
            <a:chOff x="0" y="-38100"/>
            <a:chExt cx="8636000" cy="1943100"/>
          </a:xfrm>
        </p:grpSpPr>
        <p:sp>
          <p:nvSpPr>
            <p:cNvPr id="141" name="Google Shape;141;p2"/>
            <p:cNvSpPr/>
            <p:nvPr/>
          </p:nvSpPr>
          <p:spPr>
            <a:xfrm>
              <a:off x="0" y="0"/>
              <a:ext cx="8636000" cy="1905000"/>
            </a:xfrm>
            <a:custGeom>
              <a:rect b="b" l="l" r="r" t="t"/>
              <a:pathLst>
                <a:path extrusionOk="0" h="1905000" w="8636000">
                  <a:moveTo>
                    <a:pt x="0" y="0"/>
                  </a:moveTo>
                  <a:lnTo>
                    <a:pt x="8636000" y="0"/>
                  </a:lnTo>
                  <a:lnTo>
                    <a:pt x="8636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" name="Google Shape;142;p2"/>
            <p:cNvSpPr txBox="1"/>
            <p:nvPr/>
          </p:nvSpPr>
          <p:spPr>
            <a:xfrm>
              <a:off x="0" y="-38100"/>
              <a:ext cx="8636000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3" name="Google Shape;143;p2"/>
          <p:cNvGrpSpPr/>
          <p:nvPr/>
        </p:nvGrpSpPr>
        <p:grpSpPr>
          <a:xfrm>
            <a:off x="10382250" y="3209925"/>
            <a:ext cx="57150" cy="1457325"/>
            <a:chOff x="0" y="-38100"/>
            <a:chExt cx="76200" cy="1943100"/>
          </a:xfrm>
        </p:grpSpPr>
        <p:sp>
          <p:nvSpPr>
            <p:cNvPr id="144" name="Google Shape;144;p2"/>
            <p:cNvSpPr/>
            <p:nvPr/>
          </p:nvSpPr>
          <p:spPr>
            <a:xfrm>
              <a:off x="0" y="0"/>
              <a:ext cx="76200" cy="1905000"/>
            </a:xfrm>
            <a:custGeom>
              <a:rect b="b" l="l" r="r" t="t"/>
              <a:pathLst>
                <a:path extrusionOk="0" h="1905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"/>
            <p:cNvSpPr txBox="1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6" name="Google Shape;146;p2"/>
          <p:cNvGrpSpPr/>
          <p:nvPr/>
        </p:nvGrpSpPr>
        <p:grpSpPr>
          <a:xfrm>
            <a:off x="11049000" y="4733925"/>
            <a:ext cx="5143500" cy="1457325"/>
            <a:chOff x="0" y="-38100"/>
            <a:chExt cx="6858000" cy="1943100"/>
          </a:xfrm>
        </p:grpSpPr>
        <p:sp>
          <p:nvSpPr>
            <p:cNvPr id="147" name="Google Shape;147;p2"/>
            <p:cNvSpPr/>
            <p:nvPr/>
          </p:nvSpPr>
          <p:spPr>
            <a:xfrm>
              <a:off x="0" y="0"/>
              <a:ext cx="6858000" cy="1905000"/>
            </a:xfrm>
            <a:custGeom>
              <a:rect b="b" l="l" r="r" t="t"/>
              <a:pathLst>
                <a:path extrusionOk="0" h="1905000" w="6858000">
                  <a:moveTo>
                    <a:pt x="0" y="0"/>
                  </a:moveTo>
                  <a:lnTo>
                    <a:pt x="6858000" y="0"/>
                  </a:lnTo>
                  <a:lnTo>
                    <a:pt x="6858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"/>
            <p:cNvSpPr txBox="1"/>
            <p:nvPr/>
          </p:nvSpPr>
          <p:spPr>
            <a:xfrm>
              <a:off x="0" y="-38100"/>
              <a:ext cx="6858000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9" name="Google Shape;149;p2"/>
          <p:cNvGrpSpPr/>
          <p:nvPr/>
        </p:nvGrpSpPr>
        <p:grpSpPr>
          <a:xfrm>
            <a:off x="11049000" y="4733925"/>
            <a:ext cx="57150" cy="1457325"/>
            <a:chOff x="0" y="-38100"/>
            <a:chExt cx="76200" cy="1943100"/>
          </a:xfrm>
        </p:grpSpPr>
        <p:sp>
          <p:nvSpPr>
            <p:cNvPr id="150" name="Google Shape;150;p2"/>
            <p:cNvSpPr/>
            <p:nvPr/>
          </p:nvSpPr>
          <p:spPr>
            <a:xfrm>
              <a:off x="0" y="0"/>
              <a:ext cx="76200" cy="1905000"/>
            </a:xfrm>
            <a:custGeom>
              <a:rect b="b" l="l" r="r" t="t"/>
              <a:pathLst>
                <a:path extrusionOk="0" h="1905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"/>
            <p:cNvSpPr txBox="1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2" name="Google Shape;152;p2"/>
          <p:cNvGrpSpPr/>
          <p:nvPr/>
        </p:nvGrpSpPr>
        <p:grpSpPr>
          <a:xfrm>
            <a:off x="11715750" y="6257925"/>
            <a:ext cx="3810000" cy="1457325"/>
            <a:chOff x="0" y="-38100"/>
            <a:chExt cx="5080000" cy="1943100"/>
          </a:xfrm>
        </p:grpSpPr>
        <p:sp>
          <p:nvSpPr>
            <p:cNvPr id="153" name="Google Shape;153;p2"/>
            <p:cNvSpPr/>
            <p:nvPr/>
          </p:nvSpPr>
          <p:spPr>
            <a:xfrm>
              <a:off x="0" y="0"/>
              <a:ext cx="5080000" cy="1905000"/>
            </a:xfrm>
            <a:custGeom>
              <a:rect b="b" l="l" r="r" t="t"/>
              <a:pathLst>
                <a:path extrusionOk="0" h="1905000" w="5080000">
                  <a:moveTo>
                    <a:pt x="0" y="0"/>
                  </a:moveTo>
                  <a:lnTo>
                    <a:pt x="5080000" y="0"/>
                  </a:lnTo>
                  <a:lnTo>
                    <a:pt x="5080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" name="Google Shape;154;p2"/>
            <p:cNvSpPr txBox="1"/>
            <p:nvPr/>
          </p:nvSpPr>
          <p:spPr>
            <a:xfrm>
              <a:off x="0" y="-38100"/>
              <a:ext cx="5080000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5" name="Google Shape;155;p2"/>
          <p:cNvGrpSpPr/>
          <p:nvPr/>
        </p:nvGrpSpPr>
        <p:grpSpPr>
          <a:xfrm>
            <a:off x="11715750" y="6257925"/>
            <a:ext cx="57150" cy="1457325"/>
            <a:chOff x="0" y="-38100"/>
            <a:chExt cx="76200" cy="1943100"/>
          </a:xfrm>
        </p:grpSpPr>
        <p:sp>
          <p:nvSpPr>
            <p:cNvPr id="156" name="Google Shape;156;p2"/>
            <p:cNvSpPr/>
            <p:nvPr/>
          </p:nvSpPr>
          <p:spPr>
            <a:xfrm>
              <a:off x="0" y="0"/>
              <a:ext cx="76200" cy="1905000"/>
            </a:xfrm>
            <a:custGeom>
              <a:rect b="b" l="l" r="r" t="t"/>
              <a:pathLst>
                <a:path extrusionOk="0" h="1905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2"/>
            <p:cNvSpPr txBox="1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8" name="Google Shape;158;p2"/>
          <p:cNvSpPr txBox="1"/>
          <p:nvPr/>
        </p:nvSpPr>
        <p:spPr>
          <a:xfrm>
            <a:off x="9982200" y="1905000"/>
            <a:ext cx="571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/>
          </a:p>
        </p:txBody>
      </p:sp>
      <p:sp>
        <p:nvSpPr>
          <p:cNvPr id="159" name="Google Shape;159;p2"/>
          <p:cNvSpPr txBox="1"/>
          <p:nvPr/>
        </p:nvSpPr>
        <p:spPr>
          <a:xfrm>
            <a:off x="9982200" y="2066925"/>
            <a:ext cx="72390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Noisy vacancies</a:t>
            </a:r>
            <a:endParaRPr/>
          </a:p>
        </p:txBody>
      </p:sp>
      <p:sp>
        <p:nvSpPr>
          <p:cNvPr id="160" name="Google Shape;160;p2"/>
          <p:cNvSpPr txBox="1"/>
          <p:nvPr/>
        </p:nvSpPr>
        <p:spPr>
          <a:xfrm>
            <a:off x="9982200" y="2533650"/>
            <a:ext cx="7239000" cy="2043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Thousands of listings, little signal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10648950" y="3429000"/>
            <a:ext cx="571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/>
          </a:p>
        </p:txBody>
      </p:sp>
      <p:sp>
        <p:nvSpPr>
          <p:cNvPr id="162" name="Google Shape;162;p2"/>
          <p:cNvSpPr txBox="1"/>
          <p:nvPr/>
        </p:nvSpPr>
        <p:spPr>
          <a:xfrm>
            <a:off x="10648950" y="3590925"/>
            <a:ext cx="59055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Uncertain fit</a:t>
            </a:r>
            <a:endParaRPr/>
          </a:p>
        </p:txBody>
      </p:sp>
      <p:sp>
        <p:nvSpPr>
          <p:cNvPr id="163" name="Google Shape;163;p2"/>
          <p:cNvSpPr txBox="1"/>
          <p:nvPr/>
        </p:nvSpPr>
        <p:spPr>
          <a:xfrm>
            <a:off x="10648950" y="4057650"/>
            <a:ext cx="5905500" cy="2043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No reason, no confidence</a:t>
            </a:r>
            <a:endParaRPr/>
          </a:p>
        </p:txBody>
      </p:sp>
      <p:sp>
        <p:nvSpPr>
          <p:cNvPr id="164" name="Google Shape;164;p2"/>
          <p:cNvSpPr txBox="1"/>
          <p:nvPr/>
        </p:nvSpPr>
        <p:spPr>
          <a:xfrm>
            <a:off x="11315700" y="4953000"/>
            <a:ext cx="571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11315700" y="5114925"/>
            <a:ext cx="45720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Repeated submissions</a:t>
            </a:r>
            <a:endParaRPr/>
          </a:p>
        </p:txBody>
      </p:sp>
      <p:sp>
        <p:nvSpPr>
          <p:cNvPr id="166" name="Google Shape;166;p2"/>
          <p:cNvSpPr txBox="1"/>
          <p:nvPr/>
        </p:nvSpPr>
        <p:spPr>
          <a:xfrm>
            <a:off x="11315700" y="5581650"/>
            <a:ext cx="4572000" cy="2043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Rewriting CV &amp; cover for each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11982450" y="6477000"/>
            <a:ext cx="571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F9B4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  <a:endParaRPr/>
          </a:p>
        </p:txBody>
      </p:sp>
      <p:sp>
        <p:nvSpPr>
          <p:cNvPr id="168" name="Google Shape;168;p2"/>
          <p:cNvSpPr txBox="1"/>
          <p:nvPr/>
        </p:nvSpPr>
        <p:spPr>
          <a:xfrm>
            <a:off x="11982450" y="6638925"/>
            <a:ext cx="32385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Lost follow-up</a:t>
            </a:r>
            <a:endParaRPr/>
          </a:p>
        </p:txBody>
      </p:sp>
      <p:sp>
        <p:nvSpPr>
          <p:cNvPr id="169" name="Google Shape;169;p2"/>
          <p:cNvSpPr txBox="1"/>
          <p:nvPr/>
        </p:nvSpPr>
        <p:spPr>
          <a:xfrm>
            <a:off x="11982450" y="7105650"/>
            <a:ext cx="3238500" cy="2043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D5DEEA"/>
                </a:solidFill>
                <a:latin typeface="Inter"/>
                <a:ea typeface="Inter"/>
                <a:cs typeface="Inter"/>
                <a:sym typeface="Inter"/>
              </a:rPr>
              <a:t>No single place to track status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h2b18091bccb4b79d_2_1"/>
          <p:cNvSpPr txBox="1"/>
          <p:nvPr>
            <p:ph idx="1" type="body"/>
          </p:nvPr>
        </p:nvSpPr>
        <p:spPr>
          <a:xfrm>
            <a:off x="822960" y="1234440"/>
            <a:ext cx="16596600" cy="4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</a:pPr>
            <a:r>
              <a:rPr b="1" lang="en-US" spc="300" sz="1800">
                <a:solidFill>
                  <a:schemeClr val="accent1"/>
                </a:solidFill>
              </a:rPr>
              <a:t>WHO WE BUILD FOR</a:t>
            </a:r>
            <a:endParaRPr sz="1800"/>
          </a:p>
        </p:txBody>
      </p:sp>
      <p:sp>
        <p:nvSpPr>
          <p:cNvPr id="176" name="Google Shape;176;h2b18091bccb4b79d_2_1"/>
          <p:cNvSpPr txBox="1"/>
          <p:nvPr>
            <p:ph type="title"/>
          </p:nvPr>
        </p:nvSpPr>
        <p:spPr>
          <a:xfrm>
            <a:off x="822960" y="1645920"/>
            <a:ext cx="16596600" cy="10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b="1" lang="en-US" sz="4800">
                <a:solidFill>
                  <a:schemeClr val="dk1"/>
                </a:solidFill>
              </a:rPr>
              <a:t>Four people, one question: is this a fit?</a:t>
            </a:r>
            <a:endParaRPr sz="4800"/>
          </a:p>
        </p:txBody>
      </p:sp>
      <p:sp>
        <p:nvSpPr>
          <p:cNvPr id="177" name="Google Shape;177;h2b18091bccb4b79d_2_1"/>
          <p:cNvSpPr/>
          <p:nvPr/>
        </p:nvSpPr>
        <p:spPr>
          <a:xfrm>
            <a:off x="822960" y="3154680"/>
            <a:ext cx="3950100" cy="5897700"/>
          </a:xfrm>
          <a:prstGeom prst="roundRect">
            <a:avLst>
              <a:gd fmla="val 4167" name="adj"/>
            </a:avLst>
          </a:prstGeom>
          <a:solidFill>
            <a:schemeClr val="lt1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claude-0/-home-claude/d1b11841-31a5-5c6c-8b8a-2c68ca1b0a7c/scratchpad/deck/img/markus.jpg" id="178" name="Google Shape;178;h2b18091bccb4b79d_2_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5860" y="3497580"/>
            <a:ext cx="1303200" cy="1303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79" name="Google Shape;179;h2b18091bccb4b79d_2_1"/>
          <p:cNvSpPr txBox="1"/>
          <p:nvPr/>
        </p:nvSpPr>
        <p:spPr>
          <a:xfrm>
            <a:off x="1165860" y="5074920"/>
            <a:ext cx="3264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</a:pPr>
            <a:r>
              <a:rPr b="1" i="0" lang="en-US" spc="200" sz="1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CANDIDATE · SENIOR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h2b18091bccb4b79d_2_1"/>
          <p:cNvSpPr txBox="1"/>
          <p:nvPr/>
        </p:nvSpPr>
        <p:spPr>
          <a:xfrm>
            <a:off x="1165860" y="5486400"/>
            <a:ext cx="3264300" cy="6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Markus</a:t>
            </a:r>
            <a:endParaRPr b="0" i="0" sz="3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h2b18091bccb4b79d_2_1"/>
          <p:cNvSpPr txBox="1"/>
          <p:nvPr/>
        </p:nvSpPr>
        <p:spPr>
          <a:xfrm>
            <a:off x="1165860" y="6172200"/>
            <a:ext cx="32643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Senior systems engineer, Stuttgart, 18 years in automotive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h2b18091bccb4b79d_2_1"/>
          <p:cNvSpPr txBox="1"/>
          <p:nvPr/>
        </p:nvSpPr>
        <p:spPr>
          <a:xfrm>
            <a:off x="1165860" y="7475220"/>
            <a:ext cx="32643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About 60 alerts a week; wants only roles worth his time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h2b18091bccb4b79d_2_1"/>
          <p:cNvSpPr/>
          <p:nvPr/>
        </p:nvSpPr>
        <p:spPr>
          <a:xfrm>
            <a:off x="5047488" y="3154680"/>
            <a:ext cx="3950100" cy="5897700"/>
          </a:xfrm>
          <a:prstGeom prst="roundRect">
            <a:avLst>
              <a:gd fmla="val 4167" name="adj"/>
            </a:avLst>
          </a:prstGeom>
          <a:solidFill>
            <a:schemeClr val="lt1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claude-0/-home-claude/d1b11841-31a5-5c6c-8b8a-2c68ca1b0a7c/scratchpad/deck/img/lena.jpg" id="184" name="Google Shape;184;h2b18091bccb4b79d_2_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90388" y="3497580"/>
            <a:ext cx="1303200" cy="1303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85" name="Google Shape;185;h2b18091bccb4b79d_2_1"/>
          <p:cNvSpPr txBox="1"/>
          <p:nvPr/>
        </p:nvSpPr>
        <p:spPr>
          <a:xfrm>
            <a:off x="5390388" y="5074920"/>
            <a:ext cx="3264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</a:pPr>
            <a:r>
              <a:rPr b="1" i="0" lang="en-US" spc="200" sz="1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CANDIDATE · GRADUATE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h2b18091bccb4b79d_2_1"/>
          <p:cNvSpPr txBox="1"/>
          <p:nvPr/>
        </p:nvSpPr>
        <p:spPr>
          <a:xfrm>
            <a:off x="5390388" y="5486400"/>
            <a:ext cx="3264300" cy="6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Lena</a:t>
            </a:r>
            <a:endParaRPr b="0" i="0" sz="3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h2b18091bccb4b79d_2_1"/>
          <p:cNvSpPr txBox="1"/>
          <p:nvPr/>
        </p:nvSpPr>
        <p:spPr>
          <a:xfrm>
            <a:off x="5390388" y="6172200"/>
            <a:ext cx="32643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M.Sc. Business Informatics, Leipzig, 2 internships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h2b18091bccb4b79d_2_1"/>
          <p:cNvSpPr txBox="1"/>
          <p:nvPr/>
        </p:nvSpPr>
        <p:spPr>
          <a:xfrm>
            <a:off x="5390388" y="7475220"/>
            <a:ext cx="32643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Needs to know which roles she qualifies for, and why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h2b18091bccb4b79d_2_1"/>
          <p:cNvSpPr/>
          <p:nvPr/>
        </p:nvSpPr>
        <p:spPr>
          <a:xfrm>
            <a:off x="9272016" y="3154680"/>
            <a:ext cx="3950100" cy="5897700"/>
          </a:xfrm>
          <a:prstGeom prst="roundRect">
            <a:avLst>
              <a:gd fmla="val 4167" name="adj"/>
            </a:avLst>
          </a:prstGeom>
          <a:solidFill>
            <a:schemeClr val="lt1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claude-0/-home-claude/d1b11841-31a5-5c6c-8b8a-2c68ca1b0a7c/scratchpad/deck/img/andrei.jpg" id="190" name="Google Shape;190;h2b18091bccb4b79d_2_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14916" y="3497580"/>
            <a:ext cx="1303200" cy="1303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91" name="Google Shape;191;h2b18091bccb4b79d_2_1"/>
          <p:cNvSpPr txBox="1"/>
          <p:nvPr/>
        </p:nvSpPr>
        <p:spPr>
          <a:xfrm>
            <a:off x="9614916" y="5074920"/>
            <a:ext cx="3264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</a:pPr>
            <a:r>
              <a:rPr b="1" i="0" lang="en-US" spc="200" sz="1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CANDIDATE · EXPAT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h2b18091bccb4b79d_2_1"/>
          <p:cNvSpPr txBox="1"/>
          <p:nvPr/>
        </p:nvSpPr>
        <p:spPr>
          <a:xfrm>
            <a:off x="9614916" y="5486400"/>
            <a:ext cx="3264300" cy="6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Andrei</a:t>
            </a:r>
            <a:endParaRPr b="0" i="0" sz="3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h2b18091bccb4b79d_2_1"/>
          <p:cNvSpPr txBox="1"/>
          <p:nvPr/>
        </p:nvSpPr>
        <p:spPr>
          <a:xfrm>
            <a:off x="9614916" y="6172200"/>
            <a:ext cx="32643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Data engineer, Munich, works in RO / EN / DE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h2b18091bccb4b79d_2_1"/>
          <p:cNvSpPr txBox="1"/>
          <p:nvPr/>
        </p:nvSpPr>
        <p:spPr>
          <a:xfrm>
            <a:off x="9614916" y="7475220"/>
            <a:ext cx="32643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Needs the required language level and real employers only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h2b18091bccb4b79d_2_1"/>
          <p:cNvSpPr/>
          <p:nvPr/>
        </p:nvSpPr>
        <p:spPr>
          <a:xfrm>
            <a:off x="13496544" y="3154680"/>
            <a:ext cx="3950100" cy="5897700"/>
          </a:xfrm>
          <a:prstGeom prst="roundRect">
            <a:avLst>
              <a:gd fmla="val 4167" name="adj"/>
            </a:avLst>
          </a:prstGeom>
          <a:solidFill>
            <a:schemeClr val="lt1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claude-0/-home-claude/d1b11841-31a5-5c6c-8b8a-2c68ca1b0a7c/scratchpad/deck/img/sofia.jpg" id="196" name="Google Shape;196;h2b18091bccb4b79d_2_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3839444" y="3497580"/>
            <a:ext cx="1303200" cy="1303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97" name="Google Shape;197;h2b18091bccb4b79d_2_1"/>
          <p:cNvSpPr txBox="1"/>
          <p:nvPr/>
        </p:nvSpPr>
        <p:spPr>
          <a:xfrm>
            <a:off x="13839444" y="5074920"/>
            <a:ext cx="3264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None/>
            </a:pPr>
            <a:r>
              <a:rPr b="1" i="0" lang="en-US" spc="200" sz="15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HEADHUNTER · PILOT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h2b18091bccb4b79d_2_1"/>
          <p:cNvSpPr txBox="1"/>
          <p:nvPr/>
        </p:nvSpPr>
        <p:spPr>
          <a:xfrm>
            <a:off x="13839444" y="5486400"/>
            <a:ext cx="3264300" cy="6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Sofia</a:t>
            </a:r>
            <a:endParaRPr b="0" i="0" sz="3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h2b18091bccb4b79d_2_1"/>
          <p:cNvSpPr txBox="1"/>
          <p:nvPr/>
        </p:nvSpPr>
        <p:spPr>
          <a:xfrm>
            <a:off x="13839444" y="6172200"/>
            <a:ext cx="32643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Verified recruiter hiring in Germany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h2b18091bccb4b79d_2_1"/>
          <p:cNvSpPr txBox="1"/>
          <p:nvPr/>
        </p:nvSpPr>
        <p:spPr>
          <a:xfrm>
            <a:off x="13839444" y="7475220"/>
            <a:ext cx="32643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Wants available candidates with ≥ 90% fit, without CV databases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h2b18091bccb4b79d_2_1"/>
          <p:cNvSpPr txBox="1"/>
          <p:nvPr/>
        </p:nvSpPr>
        <p:spPr>
          <a:xfrm>
            <a:off x="822960" y="9189720"/>
            <a:ext cx="15087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Personas are illustrative composites, still to be validated in 15 candidate and 5 headhunter interviews.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h2b18091bccb4b79d_2_1"/>
          <p:cNvSpPr txBox="1"/>
          <p:nvPr>
            <p:ph idx="4294967295" type="sldNum"/>
          </p:nvPr>
        </p:nvSpPr>
        <p:spPr>
          <a:xfrm>
            <a:off x="16733520" y="9601200"/>
            <a:ext cx="685800" cy="4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6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areerPilot logo" id="207" name="Google Shape;20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428150"/>
            <a:ext cx="901087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"/>
          <p:cNvSpPr txBox="1"/>
          <p:nvPr/>
        </p:nvSpPr>
        <p:spPr>
          <a:xfrm>
            <a:off x="4572000" y="438150"/>
            <a:ext cx="9525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52" sz="15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 · Personas</a:t>
            </a:r>
            <a:endParaRPr sz="1500"/>
          </a:p>
        </p:txBody>
      </p:sp>
      <p:sp>
        <p:nvSpPr>
          <p:cNvPr id="209" name="Google Shape;209;p3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89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/>
          </a:p>
        </p:txBody>
      </p:sp>
      <p:sp>
        <p:nvSpPr>
          <p:cNvPr id="210" name="Google Shape;210;p3"/>
          <p:cNvSpPr txBox="1"/>
          <p:nvPr/>
        </p:nvSpPr>
        <p:spPr>
          <a:xfrm>
            <a:off x="762000" y="9734550"/>
            <a:ext cx="114300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June 27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(planned)</a:t>
            </a:r>
            <a:endParaRPr/>
          </a:p>
        </p:txBody>
      </p:sp>
      <p:grpSp>
        <p:nvGrpSpPr>
          <p:cNvPr id="211" name="Google Shape;211;p3"/>
          <p:cNvGrpSpPr/>
          <p:nvPr/>
        </p:nvGrpSpPr>
        <p:grpSpPr>
          <a:xfrm>
            <a:off x="762000" y="733425"/>
            <a:ext cx="16764000" cy="38100"/>
            <a:chOff x="0" y="-38100"/>
            <a:chExt cx="22352000" cy="50800"/>
          </a:xfrm>
        </p:grpSpPr>
        <p:sp>
          <p:nvSpPr>
            <p:cNvPr id="212" name="Google Shape;212;p3"/>
            <p:cNvSpPr/>
            <p:nvPr/>
          </p:nvSpPr>
          <p:spPr>
            <a:xfrm>
              <a:off x="0" y="0"/>
              <a:ext cx="22352000" cy="12700"/>
            </a:xfrm>
            <a:custGeom>
              <a:rect b="b" l="l" r="r" t="t"/>
              <a:pathLst>
                <a:path extrusionOk="0" h="127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4" name="Google Shape;214;p3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43" sz="13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PERSONAS</a:t>
            </a:r>
            <a:endParaRPr/>
          </a:p>
        </p:txBody>
      </p:sp>
      <p:sp>
        <p:nvSpPr>
          <p:cNvPr id="215" name="Google Shape;215;p3"/>
          <p:cNvSpPr txBox="1"/>
          <p:nvPr/>
        </p:nvSpPr>
        <p:spPr>
          <a:xfrm>
            <a:off x="762000" y="1685925"/>
            <a:ext cx="16192500" cy="6829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65" sz="4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Four personas, one foundation.</a:t>
            </a:r>
            <a:endParaRPr/>
          </a:p>
        </p:txBody>
      </p:sp>
      <p:grpSp>
        <p:nvGrpSpPr>
          <p:cNvPr id="216" name="Google Shape;216;p3"/>
          <p:cNvGrpSpPr/>
          <p:nvPr/>
        </p:nvGrpSpPr>
        <p:grpSpPr>
          <a:xfrm>
            <a:off x="762000" y="3019425"/>
            <a:ext cx="4000500" cy="5172075"/>
            <a:chOff x="0" y="-38100"/>
            <a:chExt cx="5334000" cy="6896100"/>
          </a:xfrm>
        </p:grpSpPr>
        <p:sp>
          <p:nvSpPr>
            <p:cNvPr id="217" name="Google Shape;217;p3"/>
            <p:cNvSpPr/>
            <p:nvPr/>
          </p:nvSpPr>
          <p:spPr>
            <a:xfrm>
              <a:off x="0" y="0"/>
              <a:ext cx="5334000" cy="6858000"/>
            </a:xfrm>
            <a:custGeom>
              <a:rect b="b" l="l" r="r" t="t"/>
              <a:pathLst>
                <a:path extrusionOk="0" h="6858000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3"/>
            <p:cNvSpPr txBox="1"/>
            <p:nvPr/>
          </p:nvSpPr>
          <p:spPr>
            <a:xfrm>
              <a:off x="0" y="-38100"/>
              <a:ext cx="5334000" cy="689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9" name="Google Shape;219;p3"/>
          <p:cNvGrpSpPr/>
          <p:nvPr/>
        </p:nvGrpSpPr>
        <p:grpSpPr>
          <a:xfrm>
            <a:off x="762000" y="3019425"/>
            <a:ext cx="4000500" cy="104775"/>
            <a:chOff x="0" y="-38100"/>
            <a:chExt cx="5334000" cy="139700"/>
          </a:xfrm>
        </p:grpSpPr>
        <p:sp>
          <p:nvSpPr>
            <p:cNvPr id="220" name="Google Shape;220;p3"/>
            <p:cNvSpPr/>
            <p:nvPr/>
          </p:nvSpPr>
          <p:spPr>
            <a:xfrm>
              <a:off x="0" y="0"/>
              <a:ext cx="5334000" cy="101600"/>
            </a:xfrm>
            <a:custGeom>
              <a:rect b="b" l="l" r="r" t="t"/>
              <a:pathLst>
                <a:path extrusionOk="0" h="101600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" name="Google Shape;221;p3"/>
            <p:cNvSpPr txBox="1"/>
            <p:nvPr/>
          </p:nvSpPr>
          <p:spPr>
            <a:xfrm>
              <a:off x="0" y="-38100"/>
              <a:ext cx="53340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" name="Google Shape;222;p3"/>
          <p:cNvGrpSpPr/>
          <p:nvPr/>
        </p:nvGrpSpPr>
        <p:grpSpPr>
          <a:xfrm>
            <a:off x="1066800" y="3476625"/>
            <a:ext cx="914400" cy="942975"/>
            <a:chOff x="0" y="-38100"/>
            <a:chExt cx="1219200" cy="1257300"/>
          </a:xfrm>
        </p:grpSpPr>
        <p:sp>
          <p:nvSpPr>
            <p:cNvPr id="223" name="Google Shape;223;p3"/>
            <p:cNvSpPr/>
            <p:nvPr/>
          </p:nvSpPr>
          <p:spPr>
            <a:xfrm>
              <a:off x="0" y="0"/>
              <a:ext cx="1219200" cy="1219200"/>
            </a:xfrm>
            <a:custGeom>
              <a:rect b="b" l="l" r="r" t="t"/>
              <a:pathLst>
                <a:path extrusionOk="0" h="1219200" w="1219200">
                  <a:moveTo>
                    <a:pt x="609600" y="0"/>
                  </a:moveTo>
                  <a:cubicBezTo>
                    <a:pt x="946273" y="0"/>
                    <a:pt x="1219200" y="272927"/>
                    <a:pt x="1219200" y="609600"/>
                  </a:cubicBezTo>
                  <a:cubicBezTo>
                    <a:pt x="1219200" y="946273"/>
                    <a:pt x="946273" y="1219200"/>
                    <a:pt x="609600" y="1219200"/>
                  </a:cubicBezTo>
                  <a:cubicBezTo>
                    <a:pt x="272927" y="1219200"/>
                    <a:pt x="0" y="946273"/>
                    <a:pt x="0" y="609600"/>
                  </a:cubicBezTo>
                  <a:cubicBezTo>
                    <a:pt x="0" y="272927"/>
                    <a:pt x="272927" y="0"/>
                    <a:pt x="609600" y="0"/>
                  </a:cubicBezTo>
                  <a:close/>
                </a:path>
              </a:pathLst>
            </a:custGeom>
            <a:solidFill>
              <a:srgbClr val="E8EEF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" name="Google Shape;224;p3"/>
            <p:cNvSpPr txBox="1"/>
            <p:nvPr/>
          </p:nvSpPr>
          <p:spPr>
            <a:xfrm>
              <a:off x="0" y="-38100"/>
              <a:ext cx="1219200" cy="12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5" name="Google Shape;225;p3"/>
          <p:cNvGrpSpPr/>
          <p:nvPr/>
        </p:nvGrpSpPr>
        <p:grpSpPr>
          <a:xfrm>
            <a:off x="4953000" y="3019425"/>
            <a:ext cx="4000500" cy="5172075"/>
            <a:chOff x="0" y="-38100"/>
            <a:chExt cx="5334000" cy="6896100"/>
          </a:xfrm>
        </p:grpSpPr>
        <p:sp>
          <p:nvSpPr>
            <p:cNvPr id="226" name="Google Shape;226;p3"/>
            <p:cNvSpPr/>
            <p:nvPr/>
          </p:nvSpPr>
          <p:spPr>
            <a:xfrm>
              <a:off x="0" y="0"/>
              <a:ext cx="5334000" cy="6858000"/>
            </a:xfrm>
            <a:custGeom>
              <a:rect b="b" l="l" r="r" t="t"/>
              <a:pathLst>
                <a:path extrusionOk="0" h="6858000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7" name="Google Shape;227;p3"/>
            <p:cNvSpPr txBox="1"/>
            <p:nvPr/>
          </p:nvSpPr>
          <p:spPr>
            <a:xfrm>
              <a:off x="0" y="-38100"/>
              <a:ext cx="5334000" cy="689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8" name="Google Shape;228;p3"/>
          <p:cNvGrpSpPr/>
          <p:nvPr/>
        </p:nvGrpSpPr>
        <p:grpSpPr>
          <a:xfrm>
            <a:off x="4953000" y="3019425"/>
            <a:ext cx="4000500" cy="104775"/>
            <a:chOff x="0" y="-38100"/>
            <a:chExt cx="5334000" cy="139700"/>
          </a:xfrm>
        </p:grpSpPr>
        <p:sp>
          <p:nvSpPr>
            <p:cNvPr id="229" name="Google Shape;229;p3"/>
            <p:cNvSpPr/>
            <p:nvPr/>
          </p:nvSpPr>
          <p:spPr>
            <a:xfrm>
              <a:off x="0" y="0"/>
              <a:ext cx="5334000" cy="101600"/>
            </a:xfrm>
            <a:custGeom>
              <a:rect b="b" l="l" r="r" t="t"/>
              <a:pathLst>
                <a:path extrusionOk="0" h="101600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0" name="Google Shape;230;p3"/>
            <p:cNvSpPr txBox="1"/>
            <p:nvPr/>
          </p:nvSpPr>
          <p:spPr>
            <a:xfrm>
              <a:off x="0" y="-38100"/>
              <a:ext cx="53340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1" name="Google Shape;231;p3"/>
          <p:cNvGrpSpPr/>
          <p:nvPr/>
        </p:nvGrpSpPr>
        <p:grpSpPr>
          <a:xfrm>
            <a:off x="5257800" y="3476625"/>
            <a:ext cx="914400" cy="942975"/>
            <a:chOff x="0" y="-38100"/>
            <a:chExt cx="1219200" cy="1257300"/>
          </a:xfrm>
        </p:grpSpPr>
        <p:sp>
          <p:nvSpPr>
            <p:cNvPr id="232" name="Google Shape;232;p3"/>
            <p:cNvSpPr/>
            <p:nvPr/>
          </p:nvSpPr>
          <p:spPr>
            <a:xfrm>
              <a:off x="0" y="0"/>
              <a:ext cx="1219200" cy="1219200"/>
            </a:xfrm>
            <a:custGeom>
              <a:rect b="b" l="l" r="r" t="t"/>
              <a:pathLst>
                <a:path extrusionOk="0" h="1219200" w="1219200">
                  <a:moveTo>
                    <a:pt x="609600" y="0"/>
                  </a:moveTo>
                  <a:cubicBezTo>
                    <a:pt x="946273" y="0"/>
                    <a:pt x="1219200" y="272927"/>
                    <a:pt x="1219200" y="609600"/>
                  </a:cubicBezTo>
                  <a:cubicBezTo>
                    <a:pt x="1219200" y="946273"/>
                    <a:pt x="946273" y="1219200"/>
                    <a:pt x="609600" y="1219200"/>
                  </a:cubicBezTo>
                  <a:cubicBezTo>
                    <a:pt x="272927" y="1219200"/>
                    <a:pt x="0" y="946273"/>
                    <a:pt x="0" y="609600"/>
                  </a:cubicBezTo>
                  <a:cubicBezTo>
                    <a:pt x="0" y="272927"/>
                    <a:pt x="272927" y="0"/>
                    <a:pt x="609600" y="0"/>
                  </a:cubicBezTo>
                  <a:close/>
                </a:path>
              </a:pathLst>
            </a:custGeom>
            <a:solidFill>
              <a:srgbClr val="E8EEF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" name="Google Shape;233;p3"/>
            <p:cNvSpPr txBox="1"/>
            <p:nvPr/>
          </p:nvSpPr>
          <p:spPr>
            <a:xfrm>
              <a:off x="0" y="-38100"/>
              <a:ext cx="1219200" cy="12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4" name="Google Shape;234;p3"/>
          <p:cNvGrpSpPr/>
          <p:nvPr/>
        </p:nvGrpSpPr>
        <p:grpSpPr>
          <a:xfrm>
            <a:off x="9144000" y="3019425"/>
            <a:ext cx="4000500" cy="5172075"/>
            <a:chOff x="0" y="-38100"/>
            <a:chExt cx="5334000" cy="6896100"/>
          </a:xfrm>
        </p:grpSpPr>
        <p:sp>
          <p:nvSpPr>
            <p:cNvPr id="235" name="Google Shape;235;p3"/>
            <p:cNvSpPr/>
            <p:nvPr/>
          </p:nvSpPr>
          <p:spPr>
            <a:xfrm>
              <a:off x="0" y="0"/>
              <a:ext cx="5334000" cy="6858000"/>
            </a:xfrm>
            <a:custGeom>
              <a:rect b="b" l="l" r="r" t="t"/>
              <a:pathLst>
                <a:path extrusionOk="0" h="6858000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6" name="Google Shape;236;p3"/>
            <p:cNvSpPr txBox="1"/>
            <p:nvPr/>
          </p:nvSpPr>
          <p:spPr>
            <a:xfrm>
              <a:off x="0" y="-38100"/>
              <a:ext cx="5334000" cy="689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7" name="Google Shape;237;p3"/>
          <p:cNvGrpSpPr/>
          <p:nvPr/>
        </p:nvGrpSpPr>
        <p:grpSpPr>
          <a:xfrm>
            <a:off x="9144000" y="3019425"/>
            <a:ext cx="4000500" cy="104775"/>
            <a:chOff x="0" y="-38100"/>
            <a:chExt cx="5334000" cy="139700"/>
          </a:xfrm>
        </p:grpSpPr>
        <p:sp>
          <p:nvSpPr>
            <p:cNvPr id="238" name="Google Shape;238;p3"/>
            <p:cNvSpPr/>
            <p:nvPr/>
          </p:nvSpPr>
          <p:spPr>
            <a:xfrm>
              <a:off x="0" y="0"/>
              <a:ext cx="5334000" cy="101600"/>
            </a:xfrm>
            <a:custGeom>
              <a:rect b="b" l="l" r="r" t="t"/>
              <a:pathLst>
                <a:path extrusionOk="0" h="101600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239;p3"/>
            <p:cNvSpPr txBox="1"/>
            <p:nvPr/>
          </p:nvSpPr>
          <p:spPr>
            <a:xfrm>
              <a:off x="0" y="-38100"/>
              <a:ext cx="53340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0" name="Google Shape;240;p3"/>
          <p:cNvGrpSpPr/>
          <p:nvPr/>
        </p:nvGrpSpPr>
        <p:grpSpPr>
          <a:xfrm>
            <a:off x="9448800" y="3476625"/>
            <a:ext cx="914400" cy="942975"/>
            <a:chOff x="0" y="-38100"/>
            <a:chExt cx="1219200" cy="1257300"/>
          </a:xfrm>
        </p:grpSpPr>
        <p:sp>
          <p:nvSpPr>
            <p:cNvPr id="241" name="Google Shape;241;p3"/>
            <p:cNvSpPr/>
            <p:nvPr/>
          </p:nvSpPr>
          <p:spPr>
            <a:xfrm>
              <a:off x="0" y="0"/>
              <a:ext cx="1219200" cy="1219200"/>
            </a:xfrm>
            <a:custGeom>
              <a:rect b="b" l="l" r="r" t="t"/>
              <a:pathLst>
                <a:path extrusionOk="0" h="1219200" w="1219200">
                  <a:moveTo>
                    <a:pt x="609600" y="0"/>
                  </a:moveTo>
                  <a:cubicBezTo>
                    <a:pt x="946273" y="0"/>
                    <a:pt x="1219200" y="272927"/>
                    <a:pt x="1219200" y="609600"/>
                  </a:cubicBezTo>
                  <a:cubicBezTo>
                    <a:pt x="1219200" y="946273"/>
                    <a:pt x="946273" y="1219200"/>
                    <a:pt x="609600" y="1219200"/>
                  </a:cubicBezTo>
                  <a:cubicBezTo>
                    <a:pt x="272927" y="1219200"/>
                    <a:pt x="0" y="946273"/>
                    <a:pt x="0" y="609600"/>
                  </a:cubicBezTo>
                  <a:cubicBezTo>
                    <a:pt x="0" y="272927"/>
                    <a:pt x="272927" y="0"/>
                    <a:pt x="609600" y="0"/>
                  </a:cubicBezTo>
                  <a:close/>
                </a:path>
              </a:pathLst>
            </a:custGeom>
            <a:solidFill>
              <a:srgbClr val="E8EEF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3"/>
            <p:cNvSpPr txBox="1"/>
            <p:nvPr/>
          </p:nvSpPr>
          <p:spPr>
            <a:xfrm>
              <a:off x="0" y="-38100"/>
              <a:ext cx="1219200" cy="12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3" name="Google Shape;243;p3"/>
          <p:cNvGrpSpPr/>
          <p:nvPr/>
        </p:nvGrpSpPr>
        <p:grpSpPr>
          <a:xfrm>
            <a:off x="13335000" y="3019425"/>
            <a:ext cx="4000500" cy="5172075"/>
            <a:chOff x="0" y="-38100"/>
            <a:chExt cx="5334000" cy="6896100"/>
          </a:xfrm>
        </p:grpSpPr>
        <p:sp>
          <p:nvSpPr>
            <p:cNvPr id="244" name="Google Shape;244;p3"/>
            <p:cNvSpPr/>
            <p:nvPr/>
          </p:nvSpPr>
          <p:spPr>
            <a:xfrm>
              <a:off x="0" y="0"/>
              <a:ext cx="5334000" cy="6858000"/>
            </a:xfrm>
            <a:custGeom>
              <a:rect b="b" l="l" r="r" t="t"/>
              <a:pathLst>
                <a:path extrusionOk="0" h="6858000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3"/>
            <p:cNvSpPr txBox="1"/>
            <p:nvPr/>
          </p:nvSpPr>
          <p:spPr>
            <a:xfrm>
              <a:off x="0" y="-38100"/>
              <a:ext cx="5334000" cy="689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246;p3"/>
          <p:cNvGrpSpPr/>
          <p:nvPr/>
        </p:nvGrpSpPr>
        <p:grpSpPr>
          <a:xfrm>
            <a:off x="13335000" y="3019425"/>
            <a:ext cx="4000500" cy="104775"/>
            <a:chOff x="0" y="-38100"/>
            <a:chExt cx="5334000" cy="139700"/>
          </a:xfrm>
        </p:grpSpPr>
        <p:sp>
          <p:nvSpPr>
            <p:cNvPr id="247" name="Google Shape;247;p3"/>
            <p:cNvSpPr/>
            <p:nvPr/>
          </p:nvSpPr>
          <p:spPr>
            <a:xfrm>
              <a:off x="0" y="0"/>
              <a:ext cx="5334000" cy="101600"/>
            </a:xfrm>
            <a:custGeom>
              <a:rect b="b" l="l" r="r" t="t"/>
              <a:pathLst>
                <a:path extrusionOk="0" h="101600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3"/>
            <p:cNvSpPr txBox="1"/>
            <p:nvPr/>
          </p:nvSpPr>
          <p:spPr>
            <a:xfrm>
              <a:off x="0" y="-38100"/>
              <a:ext cx="53340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3"/>
          <p:cNvGrpSpPr/>
          <p:nvPr/>
        </p:nvGrpSpPr>
        <p:grpSpPr>
          <a:xfrm>
            <a:off x="13639800" y="3476625"/>
            <a:ext cx="914400" cy="942975"/>
            <a:chOff x="0" y="-38100"/>
            <a:chExt cx="1219200" cy="1257300"/>
          </a:xfrm>
        </p:grpSpPr>
        <p:sp>
          <p:nvSpPr>
            <p:cNvPr id="250" name="Google Shape;250;p3"/>
            <p:cNvSpPr/>
            <p:nvPr/>
          </p:nvSpPr>
          <p:spPr>
            <a:xfrm>
              <a:off x="0" y="0"/>
              <a:ext cx="1219200" cy="1219200"/>
            </a:xfrm>
            <a:custGeom>
              <a:rect b="b" l="l" r="r" t="t"/>
              <a:pathLst>
                <a:path extrusionOk="0" h="1219200" w="1219200">
                  <a:moveTo>
                    <a:pt x="609600" y="0"/>
                  </a:moveTo>
                  <a:cubicBezTo>
                    <a:pt x="946273" y="0"/>
                    <a:pt x="1219200" y="272927"/>
                    <a:pt x="1219200" y="609600"/>
                  </a:cubicBezTo>
                  <a:cubicBezTo>
                    <a:pt x="1219200" y="946273"/>
                    <a:pt x="946273" y="1219200"/>
                    <a:pt x="609600" y="1219200"/>
                  </a:cubicBezTo>
                  <a:cubicBezTo>
                    <a:pt x="272927" y="1219200"/>
                    <a:pt x="0" y="946273"/>
                    <a:pt x="0" y="609600"/>
                  </a:cubicBezTo>
                  <a:cubicBezTo>
                    <a:pt x="0" y="272927"/>
                    <a:pt x="272927" y="0"/>
                    <a:pt x="609600" y="0"/>
                  </a:cubicBezTo>
                  <a:close/>
                </a:path>
              </a:pathLst>
            </a:custGeom>
            <a:solidFill>
              <a:srgbClr val="FDE4DC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3"/>
            <p:cNvSpPr txBox="1"/>
            <p:nvPr/>
          </p:nvSpPr>
          <p:spPr>
            <a:xfrm>
              <a:off x="0" y="-38100"/>
              <a:ext cx="1219200" cy="12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2" name="Google Shape;252;p3"/>
          <p:cNvSpPr txBox="1"/>
          <p:nvPr/>
        </p:nvSpPr>
        <p:spPr>
          <a:xfrm>
            <a:off x="1066800" y="4648200"/>
            <a:ext cx="33909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79" sz="90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CANDIDATE · SENIOR</a:t>
            </a:r>
            <a:endParaRPr/>
          </a:p>
        </p:txBody>
      </p:sp>
      <p:sp>
        <p:nvSpPr>
          <p:cNvPr id="253" name="Google Shape;253;p3"/>
          <p:cNvSpPr txBox="1"/>
          <p:nvPr/>
        </p:nvSpPr>
        <p:spPr>
          <a:xfrm>
            <a:off x="1066800" y="4781550"/>
            <a:ext cx="3390900" cy="6305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Markus</a:t>
            </a:r>
            <a:endParaRPr/>
          </a:p>
        </p:txBody>
      </p:sp>
      <p:sp>
        <p:nvSpPr>
          <p:cNvPr id="254" name="Google Shape;254;p3"/>
          <p:cNvSpPr txBox="1"/>
          <p:nvPr/>
        </p:nvSpPr>
        <p:spPr>
          <a:xfrm>
            <a:off x="1066800" y="5448300"/>
            <a:ext cx="33909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Selective senior engineer</a:t>
            </a:r>
            <a:endParaRPr/>
          </a:p>
        </p:txBody>
      </p:sp>
      <p:sp>
        <p:nvSpPr>
          <p:cNvPr id="255" name="Google Shape;255;p3"/>
          <p:cNvSpPr txBox="1"/>
          <p:nvPr/>
        </p:nvSpPr>
        <p:spPr>
          <a:xfrm>
            <a:off x="1066800" y="6267450"/>
            <a:ext cx="33909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— Few worthwhile roles per month</a:t>
            </a:r>
            <a:endParaRPr/>
          </a:p>
        </p:txBody>
      </p:sp>
      <p:sp>
        <p:nvSpPr>
          <p:cNvPr id="256" name="Google Shape;256;p3"/>
          <p:cNvSpPr txBox="1"/>
          <p:nvPr/>
        </p:nvSpPr>
        <p:spPr>
          <a:xfrm>
            <a:off x="1066800" y="7029450"/>
            <a:ext cx="33909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— Needs reasons, not noise</a:t>
            </a:r>
            <a:endParaRPr/>
          </a:p>
        </p:txBody>
      </p:sp>
      <p:sp>
        <p:nvSpPr>
          <p:cNvPr id="257" name="Google Shape;257;p3"/>
          <p:cNvSpPr txBox="1"/>
          <p:nvPr/>
        </p:nvSpPr>
        <p:spPr>
          <a:xfrm>
            <a:off x="5257800" y="4648200"/>
            <a:ext cx="33909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79" sz="90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CANDIDATE · GRADUATE</a:t>
            </a:r>
            <a:endParaRPr/>
          </a:p>
        </p:txBody>
      </p:sp>
      <p:sp>
        <p:nvSpPr>
          <p:cNvPr id="258" name="Google Shape;258;p3"/>
          <p:cNvSpPr txBox="1"/>
          <p:nvPr/>
        </p:nvSpPr>
        <p:spPr>
          <a:xfrm>
            <a:off x="5257800" y="4781550"/>
            <a:ext cx="3390900" cy="6305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Lena</a:t>
            </a:r>
            <a:endParaRPr/>
          </a:p>
        </p:txBody>
      </p:sp>
      <p:sp>
        <p:nvSpPr>
          <p:cNvPr id="259" name="Google Shape;259;p3"/>
          <p:cNvSpPr txBox="1"/>
          <p:nvPr/>
        </p:nvSpPr>
        <p:spPr>
          <a:xfrm>
            <a:off x="5257800" y="5448300"/>
            <a:ext cx="33909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Recent graduate</a:t>
            </a:r>
            <a:endParaRPr/>
          </a:p>
        </p:txBody>
      </p:sp>
      <p:sp>
        <p:nvSpPr>
          <p:cNvPr id="260" name="Google Shape;260;p3"/>
          <p:cNvSpPr txBox="1"/>
          <p:nvPr/>
        </p:nvSpPr>
        <p:spPr>
          <a:xfrm>
            <a:off x="5257800" y="6267450"/>
            <a:ext cx="33909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— Strong transferable skills</a:t>
            </a:r>
            <a:endParaRPr/>
          </a:p>
        </p:txBody>
      </p:sp>
      <p:sp>
        <p:nvSpPr>
          <p:cNvPr id="261" name="Google Shape;261;p3"/>
          <p:cNvSpPr txBox="1"/>
          <p:nvPr/>
        </p:nvSpPr>
        <p:spPr>
          <a:xfrm>
            <a:off x="5257800" y="7029450"/>
            <a:ext cx="33909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— Needs explained fit &amp; gaps</a:t>
            </a:r>
            <a:endParaRPr/>
          </a:p>
        </p:txBody>
      </p:sp>
      <p:sp>
        <p:nvSpPr>
          <p:cNvPr id="262" name="Google Shape;262;p3"/>
          <p:cNvSpPr txBox="1"/>
          <p:nvPr/>
        </p:nvSpPr>
        <p:spPr>
          <a:xfrm>
            <a:off x="9448800" y="4648200"/>
            <a:ext cx="33909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79" sz="90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CANDIDATE · EXPAT</a:t>
            </a:r>
            <a:endParaRPr/>
          </a:p>
        </p:txBody>
      </p:sp>
      <p:sp>
        <p:nvSpPr>
          <p:cNvPr id="263" name="Google Shape;263;p3"/>
          <p:cNvSpPr txBox="1"/>
          <p:nvPr/>
        </p:nvSpPr>
        <p:spPr>
          <a:xfrm>
            <a:off x="9448800" y="4781550"/>
            <a:ext cx="3390900" cy="6305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Andrei</a:t>
            </a:r>
            <a:endParaRPr/>
          </a:p>
        </p:txBody>
      </p:sp>
      <p:sp>
        <p:nvSpPr>
          <p:cNvPr id="264" name="Google Shape;264;p3"/>
          <p:cNvSpPr txBox="1"/>
          <p:nvPr/>
        </p:nvSpPr>
        <p:spPr>
          <a:xfrm>
            <a:off x="9448800" y="5448300"/>
            <a:ext cx="33909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Multilingual expat</a:t>
            </a:r>
            <a:endParaRPr/>
          </a:p>
        </p:txBody>
      </p:sp>
      <p:sp>
        <p:nvSpPr>
          <p:cNvPr id="265" name="Google Shape;265;p3"/>
          <p:cNvSpPr txBox="1"/>
          <p:nvPr/>
        </p:nvSpPr>
        <p:spPr>
          <a:xfrm>
            <a:off x="9448800" y="6267450"/>
            <a:ext cx="33909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— DE/EN CV &amp; cover letter</a:t>
            </a:r>
            <a:endParaRPr/>
          </a:p>
        </p:txBody>
      </p:sp>
      <p:sp>
        <p:nvSpPr>
          <p:cNvPr id="266" name="Google Shape;266;p3"/>
          <p:cNvSpPr txBox="1"/>
          <p:nvPr/>
        </p:nvSpPr>
        <p:spPr>
          <a:xfrm>
            <a:off x="9448800" y="7029450"/>
            <a:ext cx="33909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— Controls who sees what</a:t>
            </a:r>
            <a:endParaRPr/>
          </a:p>
        </p:txBody>
      </p:sp>
      <p:sp>
        <p:nvSpPr>
          <p:cNvPr id="267" name="Google Shape;267;p3"/>
          <p:cNvSpPr txBox="1"/>
          <p:nvPr/>
        </p:nvSpPr>
        <p:spPr>
          <a:xfrm>
            <a:off x="13639800" y="4648200"/>
            <a:ext cx="33909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79" sz="900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RECRUITER · PILOT</a:t>
            </a:r>
            <a:endParaRPr/>
          </a:p>
        </p:txBody>
      </p:sp>
      <p:sp>
        <p:nvSpPr>
          <p:cNvPr id="268" name="Google Shape;268;p3"/>
          <p:cNvSpPr txBox="1"/>
          <p:nvPr/>
        </p:nvSpPr>
        <p:spPr>
          <a:xfrm>
            <a:off x="13639800" y="4781550"/>
            <a:ext cx="3390900" cy="6305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Sofia</a:t>
            </a:r>
            <a:endParaRPr/>
          </a:p>
        </p:txBody>
      </p:sp>
      <p:sp>
        <p:nvSpPr>
          <p:cNvPr id="269" name="Google Shape;269;p3"/>
          <p:cNvSpPr txBox="1"/>
          <p:nvPr/>
        </p:nvSpPr>
        <p:spPr>
          <a:xfrm>
            <a:off x="13639800" y="5448300"/>
            <a:ext cx="33909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Verified headhunter</a:t>
            </a:r>
            <a:endParaRPr/>
          </a:p>
        </p:txBody>
      </p:sp>
      <p:sp>
        <p:nvSpPr>
          <p:cNvPr id="270" name="Google Shape;270;p3"/>
          <p:cNvSpPr txBox="1"/>
          <p:nvPr/>
        </p:nvSpPr>
        <p:spPr>
          <a:xfrm>
            <a:off x="13639800" y="6267450"/>
            <a:ext cx="33909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— Wants high-fit, available now</a:t>
            </a:r>
            <a:endParaRPr/>
          </a:p>
        </p:txBody>
      </p:sp>
      <p:sp>
        <p:nvSpPr>
          <p:cNvPr id="271" name="Google Shape;271;p3"/>
          <p:cNvSpPr txBox="1"/>
          <p:nvPr/>
        </p:nvSpPr>
        <p:spPr>
          <a:xfrm>
            <a:off x="13639800" y="7029450"/>
            <a:ext cx="33909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— Invitation-only, authorised JD</a:t>
            </a:r>
            <a:endParaRPr/>
          </a:p>
        </p:txBody>
      </p:sp>
      <p:grpSp>
        <p:nvGrpSpPr>
          <p:cNvPr id="272" name="Google Shape;272;p3"/>
          <p:cNvGrpSpPr/>
          <p:nvPr/>
        </p:nvGrpSpPr>
        <p:grpSpPr>
          <a:xfrm>
            <a:off x="762000" y="8543925"/>
            <a:ext cx="16764000" cy="561975"/>
            <a:chOff x="0" y="-38100"/>
            <a:chExt cx="22352000" cy="749300"/>
          </a:xfrm>
        </p:grpSpPr>
        <p:sp>
          <p:nvSpPr>
            <p:cNvPr id="273" name="Google Shape;273;p3"/>
            <p:cNvSpPr/>
            <p:nvPr/>
          </p:nvSpPr>
          <p:spPr>
            <a:xfrm>
              <a:off x="0" y="0"/>
              <a:ext cx="22352000" cy="711200"/>
            </a:xfrm>
            <a:custGeom>
              <a:rect b="b" l="l" r="r" t="t"/>
              <a:pathLst>
                <a:path extrusionOk="0" h="7112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4" name="Google Shape;274;p3"/>
            <p:cNvSpPr txBox="1"/>
            <p:nvPr/>
          </p:nvSpPr>
          <p:spPr>
            <a:xfrm>
              <a:off x="0" y="-38100"/>
              <a:ext cx="223520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5" name="Google Shape;275;p3"/>
          <p:cNvSpPr txBox="1"/>
          <p:nvPr/>
        </p:nvSpPr>
        <p:spPr>
          <a:xfrm>
            <a:off x="762000" y="8734425"/>
            <a:ext cx="16764000" cy="2076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360" sz="120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ONE PLATFORM · EXPLAINED MATCHING · CANDIDATE CONTROL</a:t>
            </a:r>
            <a:endParaRPr/>
          </a:p>
        </p:txBody>
      </p:sp>
      <p:pic>
        <p:nvPicPr>
          <p:cNvPr id="276" name="Google Shape;276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439775" y="3191828"/>
            <a:ext cx="1332000" cy="1332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277" name="Google Shape;277;p3"/>
          <p:cNvPicPr preferRelativeResize="0"/>
          <p:nvPr/>
        </p:nvPicPr>
        <p:blipFill rotWithShape="1">
          <a:blip r:embed="rId5">
            <a:alphaModFix/>
          </a:blip>
          <a:srcRect b="0" l="12709" r="14791" t="0"/>
          <a:stretch/>
        </p:blipFill>
        <p:spPr>
          <a:xfrm>
            <a:off x="9258300" y="3169480"/>
            <a:ext cx="1332000" cy="1332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278" name="Google Shape;278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077794" y="3153728"/>
            <a:ext cx="1332000" cy="1332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279" name="Google Shape;279;p3"/>
          <p:cNvPicPr preferRelativeResize="0"/>
          <p:nvPr/>
        </p:nvPicPr>
        <p:blipFill rotWithShape="1">
          <a:blip r:embed="rId7">
            <a:alphaModFix/>
          </a:blip>
          <a:srcRect b="41862" l="15000" r="53551" t="9311"/>
          <a:stretch/>
        </p:blipFill>
        <p:spPr>
          <a:xfrm>
            <a:off x="952500" y="3171825"/>
            <a:ext cx="1332000" cy="1332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6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areerPilot logo" id="284" name="Google Shape;28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428150"/>
            <a:ext cx="901087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4"/>
          <p:cNvSpPr txBox="1"/>
          <p:nvPr/>
        </p:nvSpPr>
        <p:spPr>
          <a:xfrm>
            <a:off x="4572000" y="438150"/>
            <a:ext cx="9525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52" sz="15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 · Journey</a:t>
            </a:r>
            <a:endParaRPr sz="1500"/>
          </a:p>
        </p:txBody>
      </p:sp>
      <p:sp>
        <p:nvSpPr>
          <p:cNvPr id="286" name="Google Shape;286;p4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89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  <a:endParaRPr/>
          </a:p>
        </p:txBody>
      </p:sp>
      <p:sp>
        <p:nvSpPr>
          <p:cNvPr id="287" name="Google Shape;287;p4"/>
          <p:cNvSpPr txBox="1"/>
          <p:nvPr/>
        </p:nvSpPr>
        <p:spPr>
          <a:xfrm>
            <a:off x="762000" y="9734550"/>
            <a:ext cx="114300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June 27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(planned)</a:t>
            </a:r>
            <a:endParaRPr/>
          </a:p>
        </p:txBody>
      </p:sp>
      <p:grpSp>
        <p:nvGrpSpPr>
          <p:cNvPr id="288" name="Google Shape;288;p4"/>
          <p:cNvGrpSpPr/>
          <p:nvPr/>
        </p:nvGrpSpPr>
        <p:grpSpPr>
          <a:xfrm>
            <a:off x="762000" y="733425"/>
            <a:ext cx="16764000" cy="38100"/>
            <a:chOff x="0" y="-38100"/>
            <a:chExt cx="22352000" cy="50800"/>
          </a:xfrm>
        </p:grpSpPr>
        <p:sp>
          <p:nvSpPr>
            <p:cNvPr id="289" name="Google Shape;289;p4"/>
            <p:cNvSpPr/>
            <p:nvPr/>
          </p:nvSpPr>
          <p:spPr>
            <a:xfrm>
              <a:off x="0" y="0"/>
              <a:ext cx="22352000" cy="12700"/>
            </a:xfrm>
            <a:custGeom>
              <a:rect b="b" l="l" r="r" t="t"/>
              <a:pathLst>
                <a:path extrusionOk="0" h="127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0" name="Google Shape;290;p4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1" name="Google Shape;291;p4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43" sz="13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CANDIDATE-CONTROLLED JOURNEY</a:t>
            </a:r>
            <a:endParaRPr/>
          </a:p>
        </p:txBody>
      </p:sp>
      <p:sp>
        <p:nvSpPr>
          <p:cNvPr id="292" name="Google Shape;292;p4"/>
          <p:cNvSpPr txBox="1"/>
          <p:nvPr/>
        </p:nvSpPr>
        <p:spPr>
          <a:xfrm>
            <a:off x="762000" y="1685925"/>
            <a:ext cx="15240000" cy="6829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65" sz="4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Upload, understand, prepare, apply.</a:t>
            </a:r>
            <a:endParaRPr/>
          </a:p>
        </p:txBody>
      </p:sp>
      <p:grpSp>
        <p:nvGrpSpPr>
          <p:cNvPr id="293" name="Google Shape;293;p4"/>
          <p:cNvGrpSpPr/>
          <p:nvPr/>
        </p:nvGrpSpPr>
        <p:grpSpPr>
          <a:xfrm>
            <a:off x="762000" y="3019425"/>
            <a:ext cx="4048125" cy="1743075"/>
            <a:chOff x="0" y="-38100"/>
            <a:chExt cx="5397500" cy="2324100"/>
          </a:xfrm>
        </p:grpSpPr>
        <p:sp>
          <p:nvSpPr>
            <p:cNvPr id="294" name="Google Shape;294;p4"/>
            <p:cNvSpPr/>
            <p:nvPr/>
          </p:nvSpPr>
          <p:spPr>
            <a:xfrm>
              <a:off x="0" y="0"/>
              <a:ext cx="5397500" cy="2286000"/>
            </a:xfrm>
            <a:custGeom>
              <a:rect b="b" l="l" r="r" t="t"/>
              <a:pathLst>
                <a:path extrusionOk="0" h="2286000" w="5397500">
                  <a:moveTo>
                    <a:pt x="0" y="0"/>
                  </a:moveTo>
                  <a:lnTo>
                    <a:pt x="5397500" y="0"/>
                  </a:lnTo>
                  <a:lnTo>
                    <a:pt x="53975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4"/>
            <p:cNvSpPr txBox="1"/>
            <p:nvPr/>
          </p:nvSpPr>
          <p:spPr>
            <a:xfrm>
              <a:off x="0" y="-38100"/>
              <a:ext cx="53975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4"/>
          <p:cNvGrpSpPr/>
          <p:nvPr/>
        </p:nvGrpSpPr>
        <p:grpSpPr>
          <a:xfrm>
            <a:off x="762000" y="3019425"/>
            <a:ext cx="38100" cy="1743075"/>
            <a:chOff x="0" y="-38100"/>
            <a:chExt cx="50800" cy="2324100"/>
          </a:xfrm>
        </p:grpSpPr>
        <p:sp>
          <p:nvSpPr>
            <p:cNvPr id="297" name="Google Shape;297;p4"/>
            <p:cNvSpPr/>
            <p:nvPr/>
          </p:nvSpPr>
          <p:spPr>
            <a:xfrm>
              <a:off x="0" y="0"/>
              <a:ext cx="50800" cy="2286000"/>
            </a:xfrm>
            <a:custGeom>
              <a:rect b="b" l="l" r="r" t="t"/>
              <a:pathLst>
                <a:path extrusionOk="0" h="2286000" w="50800">
                  <a:moveTo>
                    <a:pt x="0" y="0"/>
                  </a:moveTo>
                  <a:lnTo>
                    <a:pt x="50800" y="0"/>
                  </a:lnTo>
                  <a:lnTo>
                    <a:pt x="50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4"/>
            <p:cNvSpPr txBox="1"/>
            <p:nvPr/>
          </p:nvSpPr>
          <p:spPr>
            <a:xfrm>
              <a:off x="0" y="-38100"/>
              <a:ext cx="508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299" name="Google Shape;299;p4"/>
          <p:cNvCxnSpPr/>
          <p:nvPr/>
        </p:nvCxnSpPr>
        <p:spPr>
          <a:xfrm>
            <a:off x="4829175" y="3905250"/>
            <a:ext cx="152400" cy="0"/>
          </a:xfrm>
          <a:prstGeom prst="straightConnector1">
            <a:avLst/>
          </a:prstGeom>
          <a:noFill/>
          <a:ln cap="flat" cmpd="sng" w="19050">
            <a:solidFill>
              <a:srgbClr val="1D3D6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00" name="Google Shape;300;p4"/>
          <p:cNvGrpSpPr/>
          <p:nvPr/>
        </p:nvGrpSpPr>
        <p:grpSpPr>
          <a:xfrm>
            <a:off x="5000625" y="3019425"/>
            <a:ext cx="4048125" cy="1743075"/>
            <a:chOff x="0" y="-38100"/>
            <a:chExt cx="5397500" cy="2324100"/>
          </a:xfrm>
        </p:grpSpPr>
        <p:sp>
          <p:nvSpPr>
            <p:cNvPr id="301" name="Google Shape;301;p4"/>
            <p:cNvSpPr/>
            <p:nvPr/>
          </p:nvSpPr>
          <p:spPr>
            <a:xfrm>
              <a:off x="0" y="0"/>
              <a:ext cx="5397500" cy="2286000"/>
            </a:xfrm>
            <a:custGeom>
              <a:rect b="b" l="l" r="r" t="t"/>
              <a:pathLst>
                <a:path extrusionOk="0" h="2286000" w="5397500">
                  <a:moveTo>
                    <a:pt x="0" y="0"/>
                  </a:moveTo>
                  <a:lnTo>
                    <a:pt x="5397500" y="0"/>
                  </a:lnTo>
                  <a:lnTo>
                    <a:pt x="53975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2" name="Google Shape;302;p4"/>
            <p:cNvSpPr txBox="1"/>
            <p:nvPr/>
          </p:nvSpPr>
          <p:spPr>
            <a:xfrm>
              <a:off x="0" y="-38100"/>
              <a:ext cx="53975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3" name="Google Shape;303;p4"/>
          <p:cNvGrpSpPr/>
          <p:nvPr/>
        </p:nvGrpSpPr>
        <p:grpSpPr>
          <a:xfrm>
            <a:off x="5000625" y="3019425"/>
            <a:ext cx="38100" cy="1743075"/>
            <a:chOff x="0" y="-38100"/>
            <a:chExt cx="50800" cy="2324100"/>
          </a:xfrm>
        </p:grpSpPr>
        <p:sp>
          <p:nvSpPr>
            <p:cNvPr id="304" name="Google Shape;304;p4"/>
            <p:cNvSpPr/>
            <p:nvPr/>
          </p:nvSpPr>
          <p:spPr>
            <a:xfrm>
              <a:off x="0" y="0"/>
              <a:ext cx="50800" cy="2286000"/>
            </a:xfrm>
            <a:custGeom>
              <a:rect b="b" l="l" r="r" t="t"/>
              <a:pathLst>
                <a:path extrusionOk="0" h="2286000" w="50800">
                  <a:moveTo>
                    <a:pt x="0" y="0"/>
                  </a:moveTo>
                  <a:lnTo>
                    <a:pt x="50800" y="0"/>
                  </a:lnTo>
                  <a:lnTo>
                    <a:pt x="50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5" name="Google Shape;305;p4"/>
            <p:cNvSpPr txBox="1"/>
            <p:nvPr/>
          </p:nvSpPr>
          <p:spPr>
            <a:xfrm>
              <a:off x="0" y="-38100"/>
              <a:ext cx="508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306" name="Google Shape;306;p4"/>
          <p:cNvCxnSpPr/>
          <p:nvPr/>
        </p:nvCxnSpPr>
        <p:spPr>
          <a:xfrm>
            <a:off x="9067800" y="3905250"/>
            <a:ext cx="152400" cy="0"/>
          </a:xfrm>
          <a:prstGeom prst="straightConnector1">
            <a:avLst/>
          </a:prstGeom>
          <a:noFill/>
          <a:ln cap="flat" cmpd="sng" w="19050">
            <a:solidFill>
              <a:srgbClr val="1D3D6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07" name="Google Shape;307;p4"/>
          <p:cNvGrpSpPr/>
          <p:nvPr/>
        </p:nvGrpSpPr>
        <p:grpSpPr>
          <a:xfrm>
            <a:off x="9239250" y="3019425"/>
            <a:ext cx="4048125" cy="1743075"/>
            <a:chOff x="0" y="-38100"/>
            <a:chExt cx="5397500" cy="2324100"/>
          </a:xfrm>
        </p:grpSpPr>
        <p:sp>
          <p:nvSpPr>
            <p:cNvPr id="308" name="Google Shape;308;p4"/>
            <p:cNvSpPr/>
            <p:nvPr/>
          </p:nvSpPr>
          <p:spPr>
            <a:xfrm>
              <a:off x="0" y="0"/>
              <a:ext cx="5397500" cy="2286000"/>
            </a:xfrm>
            <a:custGeom>
              <a:rect b="b" l="l" r="r" t="t"/>
              <a:pathLst>
                <a:path extrusionOk="0" h="2286000" w="5397500">
                  <a:moveTo>
                    <a:pt x="0" y="0"/>
                  </a:moveTo>
                  <a:lnTo>
                    <a:pt x="5397500" y="0"/>
                  </a:lnTo>
                  <a:lnTo>
                    <a:pt x="53975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" name="Google Shape;309;p4"/>
            <p:cNvSpPr txBox="1"/>
            <p:nvPr/>
          </p:nvSpPr>
          <p:spPr>
            <a:xfrm>
              <a:off x="0" y="-38100"/>
              <a:ext cx="53975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0" name="Google Shape;310;p4"/>
          <p:cNvGrpSpPr/>
          <p:nvPr/>
        </p:nvGrpSpPr>
        <p:grpSpPr>
          <a:xfrm>
            <a:off x="9239250" y="3019425"/>
            <a:ext cx="38100" cy="1743075"/>
            <a:chOff x="0" y="-38100"/>
            <a:chExt cx="50800" cy="2324100"/>
          </a:xfrm>
        </p:grpSpPr>
        <p:sp>
          <p:nvSpPr>
            <p:cNvPr id="311" name="Google Shape;311;p4"/>
            <p:cNvSpPr/>
            <p:nvPr/>
          </p:nvSpPr>
          <p:spPr>
            <a:xfrm>
              <a:off x="0" y="0"/>
              <a:ext cx="50800" cy="2286000"/>
            </a:xfrm>
            <a:custGeom>
              <a:rect b="b" l="l" r="r" t="t"/>
              <a:pathLst>
                <a:path extrusionOk="0" h="2286000" w="50800">
                  <a:moveTo>
                    <a:pt x="0" y="0"/>
                  </a:moveTo>
                  <a:lnTo>
                    <a:pt x="50800" y="0"/>
                  </a:lnTo>
                  <a:lnTo>
                    <a:pt x="50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2" name="Google Shape;312;p4"/>
            <p:cNvSpPr txBox="1"/>
            <p:nvPr/>
          </p:nvSpPr>
          <p:spPr>
            <a:xfrm>
              <a:off x="0" y="-38100"/>
              <a:ext cx="508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313" name="Google Shape;313;p4"/>
          <p:cNvCxnSpPr/>
          <p:nvPr/>
        </p:nvCxnSpPr>
        <p:spPr>
          <a:xfrm>
            <a:off x="13306425" y="3905250"/>
            <a:ext cx="152400" cy="0"/>
          </a:xfrm>
          <a:prstGeom prst="straightConnector1">
            <a:avLst/>
          </a:prstGeom>
          <a:noFill/>
          <a:ln cap="flat" cmpd="sng" w="19050">
            <a:solidFill>
              <a:srgbClr val="1D3D6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14" name="Google Shape;314;p4"/>
          <p:cNvGrpSpPr/>
          <p:nvPr/>
        </p:nvGrpSpPr>
        <p:grpSpPr>
          <a:xfrm>
            <a:off x="13477875" y="3019425"/>
            <a:ext cx="4048125" cy="1743075"/>
            <a:chOff x="0" y="-38100"/>
            <a:chExt cx="5397500" cy="2324100"/>
          </a:xfrm>
        </p:grpSpPr>
        <p:sp>
          <p:nvSpPr>
            <p:cNvPr id="315" name="Google Shape;315;p4"/>
            <p:cNvSpPr/>
            <p:nvPr/>
          </p:nvSpPr>
          <p:spPr>
            <a:xfrm>
              <a:off x="0" y="0"/>
              <a:ext cx="5397500" cy="2286000"/>
            </a:xfrm>
            <a:custGeom>
              <a:rect b="b" l="l" r="r" t="t"/>
              <a:pathLst>
                <a:path extrusionOk="0" h="2286000" w="5397500">
                  <a:moveTo>
                    <a:pt x="0" y="0"/>
                  </a:moveTo>
                  <a:lnTo>
                    <a:pt x="5397500" y="0"/>
                  </a:lnTo>
                  <a:lnTo>
                    <a:pt x="53975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" name="Google Shape;316;p4"/>
            <p:cNvSpPr txBox="1"/>
            <p:nvPr/>
          </p:nvSpPr>
          <p:spPr>
            <a:xfrm>
              <a:off x="0" y="-38100"/>
              <a:ext cx="53975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" name="Google Shape;317;p4"/>
          <p:cNvGrpSpPr/>
          <p:nvPr/>
        </p:nvGrpSpPr>
        <p:grpSpPr>
          <a:xfrm>
            <a:off x="13477875" y="3019425"/>
            <a:ext cx="38100" cy="1743075"/>
            <a:chOff x="0" y="-38100"/>
            <a:chExt cx="50800" cy="2324100"/>
          </a:xfrm>
        </p:grpSpPr>
        <p:sp>
          <p:nvSpPr>
            <p:cNvPr id="318" name="Google Shape;318;p4"/>
            <p:cNvSpPr/>
            <p:nvPr/>
          </p:nvSpPr>
          <p:spPr>
            <a:xfrm>
              <a:off x="0" y="0"/>
              <a:ext cx="50800" cy="2286000"/>
            </a:xfrm>
            <a:custGeom>
              <a:rect b="b" l="l" r="r" t="t"/>
              <a:pathLst>
                <a:path extrusionOk="0" h="2286000" w="50800">
                  <a:moveTo>
                    <a:pt x="0" y="0"/>
                  </a:moveTo>
                  <a:lnTo>
                    <a:pt x="50800" y="0"/>
                  </a:lnTo>
                  <a:lnTo>
                    <a:pt x="50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" name="Google Shape;319;p4"/>
            <p:cNvSpPr txBox="1"/>
            <p:nvPr/>
          </p:nvSpPr>
          <p:spPr>
            <a:xfrm>
              <a:off x="0" y="-38100"/>
              <a:ext cx="508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0" name="Google Shape;320;p4"/>
          <p:cNvGrpSpPr/>
          <p:nvPr/>
        </p:nvGrpSpPr>
        <p:grpSpPr>
          <a:xfrm>
            <a:off x="762000" y="5114925"/>
            <a:ext cx="4048125" cy="1743075"/>
            <a:chOff x="0" y="-38100"/>
            <a:chExt cx="5397500" cy="2324100"/>
          </a:xfrm>
        </p:grpSpPr>
        <p:sp>
          <p:nvSpPr>
            <p:cNvPr id="321" name="Google Shape;321;p4"/>
            <p:cNvSpPr/>
            <p:nvPr/>
          </p:nvSpPr>
          <p:spPr>
            <a:xfrm>
              <a:off x="0" y="0"/>
              <a:ext cx="5397500" cy="2286000"/>
            </a:xfrm>
            <a:custGeom>
              <a:rect b="b" l="l" r="r" t="t"/>
              <a:pathLst>
                <a:path extrusionOk="0" h="2286000" w="5397500">
                  <a:moveTo>
                    <a:pt x="0" y="0"/>
                  </a:moveTo>
                  <a:lnTo>
                    <a:pt x="5397500" y="0"/>
                  </a:lnTo>
                  <a:lnTo>
                    <a:pt x="53975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4"/>
            <p:cNvSpPr txBox="1"/>
            <p:nvPr/>
          </p:nvSpPr>
          <p:spPr>
            <a:xfrm>
              <a:off x="0" y="-38100"/>
              <a:ext cx="53975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" name="Google Shape;323;p4"/>
          <p:cNvGrpSpPr/>
          <p:nvPr/>
        </p:nvGrpSpPr>
        <p:grpSpPr>
          <a:xfrm>
            <a:off x="762000" y="5114925"/>
            <a:ext cx="38100" cy="1743075"/>
            <a:chOff x="0" y="-38100"/>
            <a:chExt cx="50800" cy="2324100"/>
          </a:xfrm>
        </p:grpSpPr>
        <p:sp>
          <p:nvSpPr>
            <p:cNvPr id="324" name="Google Shape;324;p4"/>
            <p:cNvSpPr/>
            <p:nvPr/>
          </p:nvSpPr>
          <p:spPr>
            <a:xfrm>
              <a:off x="0" y="0"/>
              <a:ext cx="50800" cy="2286000"/>
            </a:xfrm>
            <a:custGeom>
              <a:rect b="b" l="l" r="r" t="t"/>
              <a:pathLst>
                <a:path extrusionOk="0" h="2286000" w="50800">
                  <a:moveTo>
                    <a:pt x="0" y="0"/>
                  </a:moveTo>
                  <a:lnTo>
                    <a:pt x="50800" y="0"/>
                  </a:lnTo>
                  <a:lnTo>
                    <a:pt x="50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p4"/>
            <p:cNvSpPr txBox="1"/>
            <p:nvPr/>
          </p:nvSpPr>
          <p:spPr>
            <a:xfrm>
              <a:off x="0" y="-38100"/>
              <a:ext cx="508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326" name="Google Shape;326;p4"/>
          <p:cNvCxnSpPr/>
          <p:nvPr/>
        </p:nvCxnSpPr>
        <p:spPr>
          <a:xfrm>
            <a:off x="4829175" y="6000750"/>
            <a:ext cx="152400" cy="0"/>
          </a:xfrm>
          <a:prstGeom prst="straightConnector1">
            <a:avLst/>
          </a:prstGeom>
          <a:noFill/>
          <a:ln cap="flat" cmpd="sng" w="19050">
            <a:solidFill>
              <a:srgbClr val="1D3D6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27" name="Google Shape;327;p4"/>
          <p:cNvGrpSpPr/>
          <p:nvPr/>
        </p:nvGrpSpPr>
        <p:grpSpPr>
          <a:xfrm>
            <a:off x="5000625" y="5114925"/>
            <a:ext cx="4048125" cy="1743075"/>
            <a:chOff x="0" y="-38100"/>
            <a:chExt cx="5397500" cy="2324100"/>
          </a:xfrm>
        </p:grpSpPr>
        <p:sp>
          <p:nvSpPr>
            <p:cNvPr id="328" name="Google Shape;328;p4"/>
            <p:cNvSpPr/>
            <p:nvPr/>
          </p:nvSpPr>
          <p:spPr>
            <a:xfrm>
              <a:off x="0" y="0"/>
              <a:ext cx="5397500" cy="2286000"/>
            </a:xfrm>
            <a:custGeom>
              <a:rect b="b" l="l" r="r" t="t"/>
              <a:pathLst>
                <a:path extrusionOk="0" h="2286000" w="5397500">
                  <a:moveTo>
                    <a:pt x="0" y="0"/>
                  </a:moveTo>
                  <a:lnTo>
                    <a:pt x="5397500" y="0"/>
                  </a:lnTo>
                  <a:lnTo>
                    <a:pt x="53975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" name="Google Shape;329;p4"/>
            <p:cNvSpPr txBox="1"/>
            <p:nvPr/>
          </p:nvSpPr>
          <p:spPr>
            <a:xfrm>
              <a:off x="0" y="-38100"/>
              <a:ext cx="53975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0" name="Google Shape;330;p4"/>
          <p:cNvGrpSpPr/>
          <p:nvPr/>
        </p:nvGrpSpPr>
        <p:grpSpPr>
          <a:xfrm>
            <a:off x="5000625" y="5114925"/>
            <a:ext cx="38100" cy="1743075"/>
            <a:chOff x="0" y="-38100"/>
            <a:chExt cx="50800" cy="2324100"/>
          </a:xfrm>
        </p:grpSpPr>
        <p:sp>
          <p:nvSpPr>
            <p:cNvPr id="331" name="Google Shape;331;p4"/>
            <p:cNvSpPr/>
            <p:nvPr/>
          </p:nvSpPr>
          <p:spPr>
            <a:xfrm>
              <a:off x="0" y="0"/>
              <a:ext cx="50800" cy="2286000"/>
            </a:xfrm>
            <a:custGeom>
              <a:rect b="b" l="l" r="r" t="t"/>
              <a:pathLst>
                <a:path extrusionOk="0" h="2286000" w="50800">
                  <a:moveTo>
                    <a:pt x="0" y="0"/>
                  </a:moveTo>
                  <a:lnTo>
                    <a:pt x="50800" y="0"/>
                  </a:lnTo>
                  <a:lnTo>
                    <a:pt x="50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2" name="Google Shape;332;p4"/>
            <p:cNvSpPr txBox="1"/>
            <p:nvPr/>
          </p:nvSpPr>
          <p:spPr>
            <a:xfrm>
              <a:off x="0" y="-38100"/>
              <a:ext cx="508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333" name="Google Shape;333;p4"/>
          <p:cNvCxnSpPr/>
          <p:nvPr/>
        </p:nvCxnSpPr>
        <p:spPr>
          <a:xfrm>
            <a:off x="9067800" y="6000750"/>
            <a:ext cx="152400" cy="0"/>
          </a:xfrm>
          <a:prstGeom prst="straightConnector1">
            <a:avLst/>
          </a:prstGeom>
          <a:noFill/>
          <a:ln cap="flat" cmpd="sng" w="19050">
            <a:solidFill>
              <a:srgbClr val="1D3D6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34" name="Google Shape;334;p4"/>
          <p:cNvGrpSpPr/>
          <p:nvPr/>
        </p:nvGrpSpPr>
        <p:grpSpPr>
          <a:xfrm>
            <a:off x="9239250" y="5114925"/>
            <a:ext cx="4048125" cy="1743075"/>
            <a:chOff x="0" y="-38100"/>
            <a:chExt cx="5397500" cy="2324100"/>
          </a:xfrm>
        </p:grpSpPr>
        <p:sp>
          <p:nvSpPr>
            <p:cNvPr id="335" name="Google Shape;335;p4"/>
            <p:cNvSpPr/>
            <p:nvPr/>
          </p:nvSpPr>
          <p:spPr>
            <a:xfrm>
              <a:off x="0" y="0"/>
              <a:ext cx="5397500" cy="2286000"/>
            </a:xfrm>
            <a:custGeom>
              <a:rect b="b" l="l" r="r" t="t"/>
              <a:pathLst>
                <a:path extrusionOk="0" h="2286000" w="5397500">
                  <a:moveTo>
                    <a:pt x="0" y="0"/>
                  </a:moveTo>
                  <a:lnTo>
                    <a:pt x="5397500" y="0"/>
                  </a:lnTo>
                  <a:lnTo>
                    <a:pt x="53975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6" name="Google Shape;336;p4"/>
            <p:cNvSpPr txBox="1"/>
            <p:nvPr/>
          </p:nvSpPr>
          <p:spPr>
            <a:xfrm>
              <a:off x="0" y="-38100"/>
              <a:ext cx="53975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7" name="Google Shape;337;p4"/>
          <p:cNvGrpSpPr/>
          <p:nvPr/>
        </p:nvGrpSpPr>
        <p:grpSpPr>
          <a:xfrm>
            <a:off x="9239250" y="5114925"/>
            <a:ext cx="38100" cy="1743075"/>
            <a:chOff x="0" y="-38100"/>
            <a:chExt cx="50800" cy="2324100"/>
          </a:xfrm>
        </p:grpSpPr>
        <p:sp>
          <p:nvSpPr>
            <p:cNvPr id="338" name="Google Shape;338;p4"/>
            <p:cNvSpPr/>
            <p:nvPr/>
          </p:nvSpPr>
          <p:spPr>
            <a:xfrm>
              <a:off x="0" y="0"/>
              <a:ext cx="50800" cy="2286000"/>
            </a:xfrm>
            <a:custGeom>
              <a:rect b="b" l="l" r="r" t="t"/>
              <a:pathLst>
                <a:path extrusionOk="0" h="2286000" w="50800">
                  <a:moveTo>
                    <a:pt x="0" y="0"/>
                  </a:moveTo>
                  <a:lnTo>
                    <a:pt x="50800" y="0"/>
                  </a:lnTo>
                  <a:lnTo>
                    <a:pt x="50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9" name="Google Shape;339;p4"/>
            <p:cNvSpPr txBox="1"/>
            <p:nvPr/>
          </p:nvSpPr>
          <p:spPr>
            <a:xfrm>
              <a:off x="0" y="-38100"/>
              <a:ext cx="508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340" name="Google Shape;340;p4"/>
          <p:cNvCxnSpPr/>
          <p:nvPr/>
        </p:nvCxnSpPr>
        <p:spPr>
          <a:xfrm>
            <a:off x="13306425" y="6000750"/>
            <a:ext cx="152400" cy="0"/>
          </a:xfrm>
          <a:prstGeom prst="straightConnector1">
            <a:avLst/>
          </a:prstGeom>
          <a:noFill/>
          <a:ln cap="flat" cmpd="sng" w="19050">
            <a:solidFill>
              <a:srgbClr val="1D3D6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41" name="Google Shape;341;p4"/>
          <p:cNvGrpSpPr/>
          <p:nvPr/>
        </p:nvGrpSpPr>
        <p:grpSpPr>
          <a:xfrm>
            <a:off x="13477875" y="5114925"/>
            <a:ext cx="4048125" cy="1743075"/>
            <a:chOff x="0" y="-38100"/>
            <a:chExt cx="5397500" cy="2324100"/>
          </a:xfrm>
        </p:grpSpPr>
        <p:sp>
          <p:nvSpPr>
            <p:cNvPr id="342" name="Google Shape;342;p4"/>
            <p:cNvSpPr/>
            <p:nvPr/>
          </p:nvSpPr>
          <p:spPr>
            <a:xfrm>
              <a:off x="0" y="0"/>
              <a:ext cx="5397500" cy="2286000"/>
            </a:xfrm>
            <a:custGeom>
              <a:rect b="b" l="l" r="r" t="t"/>
              <a:pathLst>
                <a:path extrusionOk="0" h="2286000" w="5397500">
                  <a:moveTo>
                    <a:pt x="0" y="0"/>
                  </a:moveTo>
                  <a:lnTo>
                    <a:pt x="5397500" y="0"/>
                  </a:lnTo>
                  <a:lnTo>
                    <a:pt x="53975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4"/>
            <p:cNvSpPr txBox="1"/>
            <p:nvPr/>
          </p:nvSpPr>
          <p:spPr>
            <a:xfrm>
              <a:off x="0" y="-38100"/>
              <a:ext cx="53975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4" name="Google Shape;344;p4"/>
          <p:cNvGrpSpPr/>
          <p:nvPr/>
        </p:nvGrpSpPr>
        <p:grpSpPr>
          <a:xfrm>
            <a:off x="13477875" y="5114925"/>
            <a:ext cx="38100" cy="1743075"/>
            <a:chOff x="0" y="-38100"/>
            <a:chExt cx="50800" cy="2324100"/>
          </a:xfrm>
        </p:grpSpPr>
        <p:sp>
          <p:nvSpPr>
            <p:cNvPr id="345" name="Google Shape;345;p4"/>
            <p:cNvSpPr/>
            <p:nvPr/>
          </p:nvSpPr>
          <p:spPr>
            <a:xfrm>
              <a:off x="0" y="0"/>
              <a:ext cx="50800" cy="2286000"/>
            </a:xfrm>
            <a:custGeom>
              <a:rect b="b" l="l" r="r" t="t"/>
              <a:pathLst>
                <a:path extrusionOk="0" h="2286000" w="50800">
                  <a:moveTo>
                    <a:pt x="0" y="0"/>
                  </a:moveTo>
                  <a:lnTo>
                    <a:pt x="50800" y="0"/>
                  </a:lnTo>
                  <a:lnTo>
                    <a:pt x="50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6" name="Google Shape;346;p4"/>
            <p:cNvSpPr txBox="1"/>
            <p:nvPr/>
          </p:nvSpPr>
          <p:spPr>
            <a:xfrm>
              <a:off x="0" y="-38100"/>
              <a:ext cx="508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347" name="Google Shape;347;p4"/>
          <p:cNvCxnSpPr/>
          <p:nvPr/>
        </p:nvCxnSpPr>
        <p:spPr>
          <a:xfrm>
            <a:off x="17430750" y="4857750"/>
            <a:ext cx="0" cy="190500"/>
          </a:xfrm>
          <a:prstGeom prst="straightConnector1">
            <a:avLst/>
          </a:prstGeom>
          <a:noFill/>
          <a:ln cap="flat" cmpd="sng" w="19050">
            <a:solidFill>
              <a:srgbClr val="1D3D6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8" name="Google Shape;348;p4"/>
          <p:cNvSpPr txBox="1"/>
          <p:nvPr/>
        </p:nvSpPr>
        <p:spPr>
          <a:xfrm>
            <a:off x="952500" y="3219450"/>
            <a:ext cx="571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/>
          </a:p>
        </p:txBody>
      </p:sp>
      <p:sp>
        <p:nvSpPr>
          <p:cNvPr id="349" name="Google Shape;349;p4"/>
          <p:cNvSpPr txBox="1"/>
          <p:nvPr/>
        </p:nvSpPr>
        <p:spPr>
          <a:xfrm>
            <a:off x="952500" y="3495675"/>
            <a:ext cx="3667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Onboarding / Upload CV</a:t>
            </a:r>
            <a:endParaRPr/>
          </a:p>
        </p:txBody>
      </p:sp>
      <p:sp>
        <p:nvSpPr>
          <p:cNvPr id="350" name="Google Shape;350;p4"/>
          <p:cNvSpPr txBox="1"/>
          <p:nvPr/>
        </p:nvSpPr>
        <p:spPr>
          <a:xfrm>
            <a:off x="952500" y="4171950"/>
            <a:ext cx="36671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 / EN</a:t>
            </a:r>
            <a:endParaRPr/>
          </a:p>
        </p:txBody>
      </p:sp>
      <p:sp>
        <p:nvSpPr>
          <p:cNvPr id="351" name="Google Shape;351;p4"/>
          <p:cNvSpPr txBox="1"/>
          <p:nvPr/>
        </p:nvSpPr>
        <p:spPr>
          <a:xfrm>
            <a:off x="5191125" y="3219450"/>
            <a:ext cx="571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/>
          </a:p>
        </p:txBody>
      </p:sp>
      <p:sp>
        <p:nvSpPr>
          <p:cNvPr id="352" name="Google Shape;352;p4"/>
          <p:cNvSpPr txBox="1"/>
          <p:nvPr/>
        </p:nvSpPr>
        <p:spPr>
          <a:xfrm>
            <a:off x="5191125" y="3495675"/>
            <a:ext cx="3667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Check Parsed Profile</a:t>
            </a:r>
            <a:endParaRPr/>
          </a:p>
        </p:txBody>
      </p:sp>
      <p:sp>
        <p:nvSpPr>
          <p:cNvPr id="353" name="Google Shape;353;p4"/>
          <p:cNvSpPr txBox="1"/>
          <p:nvPr/>
        </p:nvSpPr>
        <p:spPr>
          <a:xfrm>
            <a:off x="5191125" y="4171950"/>
            <a:ext cx="36671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Edit &amp; confirm</a:t>
            </a:r>
            <a:endParaRPr/>
          </a:p>
        </p:txBody>
      </p:sp>
      <p:sp>
        <p:nvSpPr>
          <p:cNvPr id="354" name="Google Shape;354;p4"/>
          <p:cNvSpPr txBox="1"/>
          <p:nvPr/>
        </p:nvSpPr>
        <p:spPr>
          <a:xfrm>
            <a:off x="9429750" y="3219450"/>
            <a:ext cx="571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/>
          </a:p>
        </p:txBody>
      </p:sp>
      <p:sp>
        <p:nvSpPr>
          <p:cNvPr id="355" name="Google Shape;355;p4"/>
          <p:cNvSpPr txBox="1"/>
          <p:nvPr/>
        </p:nvSpPr>
        <p:spPr>
          <a:xfrm>
            <a:off x="9429750" y="3495675"/>
            <a:ext cx="3667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Discover Roles / Jobs</a:t>
            </a:r>
            <a:endParaRPr/>
          </a:p>
        </p:txBody>
      </p:sp>
      <p:sp>
        <p:nvSpPr>
          <p:cNvPr id="356" name="Google Shape;356;p4"/>
          <p:cNvSpPr txBox="1"/>
          <p:nvPr/>
        </p:nvSpPr>
        <p:spPr>
          <a:xfrm>
            <a:off x="9429750" y="4171950"/>
            <a:ext cx="36672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Public job</a:t>
            </a:r>
            <a:r>
              <a:rPr lang="en-US" spc="112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listings in MVP</a:t>
            </a:r>
            <a:endParaRPr/>
          </a:p>
        </p:txBody>
      </p:sp>
      <p:sp>
        <p:nvSpPr>
          <p:cNvPr id="357" name="Google Shape;357;p4"/>
          <p:cNvSpPr txBox="1"/>
          <p:nvPr/>
        </p:nvSpPr>
        <p:spPr>
          <a:xfrm>
            <a:off x="13668375" y="3219450"/>
            <a:ext cx="571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  <a:endParaRPr/>
          </a:p>
        </p:txBody>
      </p:sp>
      <p:sp>
        <p:nvSpPr>
          <p:cNvPr id="358" name="Google Shape;358;p4"/>
          <p:cNvSpPr txBox="1"/>
          <p:nvPr/>
        </p:nvSpPr>
        <p:spPr>
          <a:xfrm>
            <a:off x="13668375" y="3495675"/>
            <a:ext cx="3667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Match Score </a:t>
            </a:r>
            <a:r>
              <a:rPr b="1" lang="en-US" sz="1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&amp; Fit </a:t>
            </a:r>
            <a:endParaRPr/>
          </a:p>
        </p:txBody>
      </p:sp>
      <p:sp>
        <p:nvSpPr>
          <p:cNvPr id="359" name="Google Shape;359;p4"/>
          <p:cNvSpPr txBox="1"/>
          <p:nvPr/>
        </p:nvSpPr>
        <p:spPr>
          <a:xfrm>
            <a:off x="13668375" y="4171950"/>
            <a:ext cx="36671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Free score + reasons</a:t>
            </a:r>
            <a:endParaRPr/>
          </a:p>
        </p:txBody>
      </p:sp>
      <p:sp>
        <p:nvSpPr>
          <p:cNvPr id="360" name="Google Shape;360;p4"/>
          <p:cNvSpPr txBox="1"/>
          <p:nvPr/>
        </p:nvSpPr>
        <p:spPr>
          <a:xfrm>
            <a:off x="952500" y="5314950"/>
            <a:ext cx="571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  <a:endParaRPr/>
          </a:p>
        </p:txBody>
      </p:sp>
      <p:sp>
        <p:nvSpPr>
          <p:cNvPr id="361" name="Google Shape;361;p4"/>
          <p:cNvSpPr txBox="1"/>
          <p:nvPr/>
        </p:nvSpPr>
        <p:spPr>
          <a:xfrm>
            <a:off x="952500" y="5591175"/>
            <a:ext cx="3667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Prepare Application Strategy</a:t>
            </a:r>
            <a:endParaRPr/>
          </a:p>
        </p:txBody>
      </p:sp>
      <p:sp>
        <p:nvSpPr>
          <p:cNvPr id="362" name="Google Shape;362;p4"/>
          <p:cNvSpPr txBox="1"/>
          <p:nvPr/>
        </p:nvSpPr>
        <p:spPr>
          <a:xfrm>
            <a:off x="952500" y="6267450"/>
            <a:ext cx="36671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 credit</a:t>
            </a:r>
            <a:endParaRPr/>
          </a:p>
        </p:txBody>
      </p:sp>
      <p:sp>
        <p:nvSpPr>
          <p:cNvPr id="363" name="Google Shape;363;p4"/>
          <p:cNvSpPr txBox="1"/>
          <p:nvPr/>
        </p:nvSpPr>
        <p:spPr>
          <a:xfrm>
            <a:off x="5191125" y="5314950"/>
            <a:ext cx="571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</a:t>
            </a:r>
            <a:endParaRPr/>
          </a:p>
        </p:txBody>
      </p:sp>
      <p:sp>
        <p:nvSpPr>
          <p:cNvPr id="364" name="Google Shape;364;p4"/>
          <p:cNvSpPr txBox="1"/>
          <p:nvPr/>
        </p:nvSpPr>
        <p:spPr>
          <a:xfrm>
            <a:off x="5191125" y="5591175"/>
            <a:ext cx="3667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Generate CV / Cover Letter</a:t>
            </a:r>
            <a:endParaRPr/>
          </a:p>
        </p:txBody>
      </p:sp>
      <p:sp>
        <p:nvSpPr>
          <p:cNvPr id="365" name="Google Shape;365;p4"/>
          <p:cNvSpPr txBox="1"/>
          <p:nvPr/>
        </p:nvSpPr>
        <p:spPr>
          <a:xfrm>
            <a:off x="5191125" y="6267450"/>
            <a:ext cx="36671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 credit each</a:t>
            </a:r>
            <a:endParaRPr/>
          </a:p>
        </p:txBody>
      </p:sp>
      <p:sp>
        <p:nvSpPr>
          <p:cNvPr id="366" name="Google Shape;366;p4"/>
          <p:cNvSpPr txBox="1"/>
          <p:nvPr/>
        </p:nvSpPr>
        <p:spPr>
          <a:xfrm>
            <a:off x="9429750" y="5314950"/>
            <a:ext cx="571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</a:t>
            </a:r>
            <a:endParaRPr/>
          </a:p>
        </p:txBody>
      </p:sp>
      <p:sp>
        <p:nvSpPr>
          <p:cNvPr id="367" name="Google Shape;367;p4"/>
          <p:cNvSpPr txBox="1"/>
          <p:nvPr/>
        </p:nvSpPr>
        <p:spPr>
          <a:xfrm>
            <a:off x="9429750" y="5591175"/>
            <a:ext cx="3667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Apply on Portal</a:t>
            </a:r>
            <a:endParaRPr/>
          </a:p>
        </p:txBody>
      </p:sp>
      <p:sp>
        <p:nvSpPr>
          <p:cNvPr id="368" name="Google Shape;368;p4"/>
          <p:cNvSpPr txBox="1"/>
          <p:nvPr/>
        </p:nvSpPr>
        <p:spPr>
          <a:xfrm>
            <a:off x="9429750" y="6267450"/>
            <a:ext cx="36672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Employer site · </a:t>
            </a:r>
            <a:r>
              <a:rPr b="1" lang="en-US" spc="112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 auto-apply</a:t>
            </a:r>
            <a:endParaRPr b="1"/>
          </a:p>
        </p:txBody>
      </p:sp>
      <p:sp>
        <p:nvSpPr>
          <p:cNvPr id="369" name="Google Shape;369;p4"/>
          <p:cNvSpPr txBox="1"/>
          <p:nvPr/>
        </p:nvSpPr>
        <p:spPr>
          <a:xfrm>
            <a:off x="13668375" y="5314950"/>
            <a:ext cx="571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</a:t>
            </a:r>
            <a:endParaRPr/>
          </a:p>
        </p:txBody>
      </p:sp>
      <p:sp>
        <p:nvSpPr>
          <p:cNvPr id="370" name="Google Shape;370;p4"/>
          <p:cNvSpPr txBox="1"/>
          <p:nvPr/>
        </p:nvSpPr>
        <p:spPr>
          <a:xfrm>
            <a:off x="13668375" y="5591175"/>
            <a:ext cx="3667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Confirm &amp; Track</a:t>
            </a:r>
            <a:endParaRPr/>
          </a:p>
        </p:txBody>
      </p:sp>
      <p:sp>
        <p:nvSpPr>
          <p:cNvPr id="371" name="Google Shape;371;p4"/>
          <p:cNvSpPr txBox="1"/>
          <p:nvPr/>
        </p:nvSpPr>
        <p:spPr>
          <a:xfrm>
            <a:off x="13668375" y="6267450"/>
            <a:ext cx="36671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Status history</a:t>
            </a:r>
            <a:endParaRPr/>
          </a:p>
        </p:txBody>
      </p:sp>
      <p:grpSp>
        <p:nvGrpSpPr>
          <p:cNvPr id="372" name="Google Shape;372;p4"/>
          <p:cNvGrpSpPr/>
          <p:nvPr/>
        </p:nvGrpSpPr>
        <p:grpSpPr>
          <a:xfrm>
            <a:off x="762000" y="7210425"/>
            <a:ext cx="3230880" cy="1076325"/>
            <a:chOff x="0" y="-38100"/>
            <a:chExt cx="4307840" cy="1435100"/>
          </a:xfrm>
        </p:grpSpPr>
        <p:sp>
          <p:nvSpPr>
            <p:cNvPr id="373" name="Google Shape;373;p4"/>
            <p:cNvSpPr/>
            <p:nvPr/>
          </p:nvSpPr>
          <p:spPr>
            <a:xfrm>
              <a:off x="0" y="0"/>
              <a:ext cx="4307840" cy="1397000"/>
            </a:xfrm>
            <a:custGeom>
              <a:rect b="b" l="l" r="r" t="t"/>
              <a:pathLst>
                <a:path extrusionOk="0" h="1397000" w="4307840">
                  <a:moveTo>
                    <a:pt x="0" y="0"/>
                  </a:moveTo>
                  <a:lnTo>
                    <a:pt x="4307840" y="0"/>
                  </a:lnTo>
                  <a:lnTo>
                    <a:pt x="4307840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" name="Google Shape;374;p4"/>
            <p:cNvSpPr txBox="1"/>
            <p:nvPr/>
          </p:nvSpPr>
          <p:spPr>
            <a:xfrm>
              <a:off x="0" y="-38100"/>
              <a:ext cx="4307840" cy="143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" name="Google Shape;375;p4"/>
          <p:cNvGrpSpPr/>
          <p:nvPr/>
        </p:nvGrpSpPr>
        <p:grpSpPr>
          <a:xfrm>
            <a:off x="4145280" y="7210425"/>
            <a:ext cx="3230880" cy="1076325"/>
            <a:chOff x="0" y="-38100"/>
            <a:chExt cx="4307840" cy="1435100"/>
          </a:xfrm>
        </p:grpSpPr>
        <p:sp>
          <p:nvSpPr>
            <p:cNvPr id="376" name="Google Shape;376;p4"/>
            <p:cNvSpPr/>
            <p:nvPr/>
          </p:nvSpPr>
          <p:spPr>
            <a:xfrm>
              <a:off x="0" y="0"/>
              <a:ext cx="4307840" cy="1397000"/>
            </a:xfrm>
            <a:custGeom>
              <a:rect b="b" l="l" r="r" t="t"/>
              <a:pathLst>
                <a:path extrusionOk="0" h="1397000" w="4307840">
                  <a:moveTo>
                    <a:pt x="0" y="0"/>
                  </a:moveTo>
                  <a:lnTo>
                    <a:pt x="4307840" y="0"/>
                  </a:lnTo>
                  <a:lnTo>
                    <a:pt x="4307840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" name="Google Shape;377;p4"/>
            <p:cNvSpPr txBox="1"/>
            <p:nvPr/>
          </p:nvSpPr>
          <p:spPr>
            <a:xfrm>
              <a:off x="0" y="-38100"/>
              <a:ext cx="4307840" cy="143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8" name="Google Shape;378;p4"/>
          <p:cNvGrpSpPr/>
          <p:nvPr/>
        </p:nvGrpSpPr>
        <p:grpSpPr>
          <a:xfrm>
            <a:off x="7528560" y="7210425"/>
            <a:ext cx="3230880" cy="1076325"/>
            <a:chOff x="0" y="-38100"/>
            <a:chExt cx="4307840" cy="1435100"/>
          </a:xfrm>
        </p:grpSpPr>
        <p:sp>
          <p:nvSpPr>
            <p:cNvPr id="379" name="Google Shape;379;p4"/>
            <p:cNvSpPr/>
            <p:nvPr/>
          </p:nvSpPr>
          <p:spPr>
            <a:xfrm>
              <a:off x="0" y="0"/>
              <a:ext cx="4307840" cy="1397000"/>
            </a:xfrm>
            <a:custGeom>
              <a:rect b="b" l="l" r="r" t="t"/>
              <a:pathLst>
                <a:path extrusionOk="0" h="1397000" w="4307840">
                  <a:moveTo>
                    <a:pt x="0" y="0"/>
                  </a:moveTo>
                  <a:lnTo>
                    <a:pt x="4307840" y="0"/>
                  </a:lnTo>
                  <a:lnTo>
                    <a:pt x="4307840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" name="Google Shape;380;p4"/>
            <p:cNvSpPr txBox="1"/>
            <p:nvPr/>
          </p:nvSpPr>
          <p:spPr>
            <a:xfrm>
              <a:off x="0" y="-38100"/>
              <a:ext cx="4307840" cy="143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1" name="Google Shape;381;p4"/>
          <p:cNvGrpSpPr/>
          <p:nvPr/>
        </p:nvGrpSpPr>
        <p:grpSpPr>
          <a:xfrm>
            <a:off x="10911840" y="7210425"/>
            <a:ext cx="3230880" cy="1076325"/>
            <a:chOff x="0" y="-38100"/>
            <a:chExt cx="4307840" cy="1435100"/>
          </a:xfrm>
        </p:grpSpPr>
        <p:sp>
          <p:nvSpPr>
            <p:cNvPr id="382" name="Google Shape;382;p4"/>
            <p:cNvSpPr/>
            <p:nvPr/>
          </p:nvSpPr>
          <p:spPr>
            <a:xfrm>
              <a:off x="0" y="0"/>
              <a:ext cx="4307840" cy="1397000"/>
            </a:xfrm>
            <a:custGeom>
              <a:rect b="b" l="l" r="r" t="t"/>
              <a:pathLst>
                <a:path extrusionOk="0" h="1397000" w="4307840">
                  <a:moveTo>
                    <a:pt x="0" y="0"/>
                  </a:moveTo>
                  <a:lnTo>
                    <a:pt x="4307840" y="0"/>
                  </a:lnTo>
                  <a:lnTo>
                    <a:pt x="4307840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FDE4DC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" name="Google Shape;383;p4"/>
            <p:cNvSpPr txBox="1"/>
            <p:nvPr/>
          </p:nvSpPr>
          <p:spPr>
            <a:xfrm>
              <a:off x="0" y="-38100"/>
              <a:ext cx="4307840" cy="143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" name="Google Shape;384;p4"/>
          <p:cNvGrpSpPr/>
          <p:nvPr/>
        </p:nvGrpSpPr>
        <p:grpSpPr>
          <a:xfrm>
            <a:off x="14295120" y="7210425"/>
            <a:ext cx="3230880" cy="1076325"/>
            <a:chOff x="0" y="-38100"/>
            <a:chExt cx="4307840" cy="1435100"/>
          </a:xfrm>
        </p:grpSpPr>
        <p:sp>
          <p:nvSpPr>
            <p:cNvPr id="385" name="Google Shape;385;p4"/>
            <p:cNvSpPr/>
            <p:nvPr/>
          </p:nvSpPr>
          <p:spPr>
            <a:xfrm>
              <a:off x="0" y="0"/>
              <a:ext cx="4307840" cy="1397000"/>
            </a:xfrm>
            <a:custGeom>
              <a:rect b="b" l="l" r="r" t="t"/>
              <a:pathLst>
                <a:path extrusionOk="0" h="1397000" w="4307840">
                  <a:moveTo>
                    <a:pt x="0" y="0"/>
                  </a:moveTo>
                  <a:lnTo>
                    <a:pt x="4307840" y="0"/>
                  </a:lnTo>
                  <a:lnTo>
                    <a:pt x="4307840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4"/>
            <p:cNvSpPr txBox="1"/>
            <p:nvPr/>
          </p:nvSpPr>
          <p:spPr>
            <a:xfrm>
              <a:off x="0" y="-38100"/>
              <a:ext cx="4307840" cy="143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7" name="Google Shape;387;p4"/>
          <p:cNvSpPr txBox="1"/>
          <p:nvPr/>
        </p:nvSpPr>
        <p:spPr>
          <a:xfrm>
            <a:off x="933450" y="7391400"/>
            <a:ext cx="2888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5" sz="120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GATE</a:t>
            </a:r>
            <a:endParaRPr sz="1700"/>
          </a:p>
        </p:txBody>
      </p:sp>
      <p:sp>
        <p:nvSpPr>
          <p:cNvPr id="388" name="Google Shape;388;p4"/>
          <p:cNvSpPr txBox="1"/>
          <p:nvPr/>
        </p:nvSpPr>
        <p:spPr>
          <a:xfrm>
            <a:off x="933450" y="7629525"/>
            <a:ext cx="2888100" cy="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Completeness ≥ 90% before scoring</a:t>
            </a:r>
            <a:endParaRPr sz="1700"/>
          </a:p>
        </p:txBody>
      </p:sp>
      <p:sp>
        <p:nvSpPr>
          <p:cNvPr id="389" name="Google Shape;389;p4"/>
          <p:cNvSpPr txBox="1"/>
          <p:nvPr/>
        </p:nvSpPr>
        <p:spPr>
          <a:xfrm>
            <a:off x="4316730" y="7391400"/>
            <a:ext cx="2888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5" sz="120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FREE</a:t>
            </a:r>
            <a:endParaRPr sz="1700"/>
          </a:p>
        </p:txBody>
      </p:sp>
      <p:sp>
        <p:nvSpPr>
          <p:cNvPr id="390" name="Google Shape;390;p4"/>
          <p:cNvSpPr txBox="1"/>
          <p:nvPr/>
        </p:nvSpPr>
        <p:spPr>
          <a:xfrm>
            <a:off x="4316730" y="7629525"/>
            <a:ext cx="2888100" cy="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Scoring &amp; explanation always free</a:t>
            </a:r>
            <a:endParaRPr sz="1700"/>
          </a:p>
        </p:txBody>
      </p:sp>
      <p:sp>
        <p:nvSpPr>
          <p:cNvPr id="391" name="Google Shape;391;p4"/>
          <p:cNvSpPr txBox="1"/>
          <p:nvPr/>
        </p:nvSpPr>
        <p:spPr>
          <a:xfrm>
            <a:off x="7700010" y="7391400"/>
            <a:ext cx="2888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5" sz="120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CREDITS</a:t>
            </a:r>
            <a:endParaRPr sz="1700"/>
          </a:p>
        </p:txBody>
      </p:sp>
      <p:sp>
        <p:nvSpPr>
          <p:cNvPr id="392" name="Google Shape;392;p4"/>
          <p:cNvSpPr txBox="1"/>
          <p:nvPr/>
        </p:nvSpPr>
        <p:spPr>
          <a:xfrm>
            <a:off x="7700010" y="7629525"/>
            <a:ext cx="2888100" cy="24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Prepare · CV · Cover — 1 each</a:t>
            </a:r>
            <a:endParaRPr sz="1700"/>
          </a:p>
        </p:txBody>
      </p:sp>
      <p:sp>
        <p:nvSpPr>
          <p:cNvPr id="393" name="Google Shape;393;p4"/>
          <p:cNvSpPr txBox="1"/>
          <p:nvPr/>
        </p:nvSpPr>
        <p:spPr>
          <a:xfrm>
            <a:off x="11083290" y="7391400"/>
            <a:ext cx="2888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5" sz="1200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PROPOSED</a:t>
            </a:r>
            <a:endParaRPr sz="1700"/>
          </a:p>
        </p:txBody>
      </p:sp>
      <p:sp>
        <p:nvSpPr>
          <p:cNvPr id="394" name="Google Shape;394;p4"/>
          <p:cNvSpPr txBox="1"/>
          <p:nvPr/>
        </p:nvSpPr>
        <p:spPr>
          <a:xfrm>
            <a:off x="11083290" y="7629525"/>
            <a:ext cx="2888100" cy="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Interview prep · Should · 1 credit</a:t>
            </a:r>
            <a:endParaRPr sz="1700"/>
          </a:p>
        </p:txBody>
      </p:sp>
      <p:sp>
        <p:nvSpPr>
          <p:cNvPr id="395" name="Google Shape;395;p4"/>
          <p:cNvSpPr txBox="1"/>
          <p:nvPr/>
        </p:nvSpPr>
        <p:spPr>
          <a:xfrm>
            <a:off x="14466570" y="7391400"/>
            <a:ext cx="2888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5" sz="120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POLICY</a:t>
            </a:r>
            <a:endParaRPr sz="1700"/>
          </a:p>
        </p:txBody>
      </p:sp>
      <p:sp>
        <p:nvSpPr>
          <p:cNvPr id="396" name="Google Shape;396;p4"/>
          <p:cNvSpPr txBox="1"/>
          <p:nvPr/>
        </p:nvSpPr>
        <p:spPr>
          <a:xfrm>
            <a:off x="14466570" y="7629525"/>
            <a:ext cx="2888100" cy="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No auto-apply · human decision</a:t>
            </a:r>
            <a:endParaRPr sz="17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6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areerPilot logo" id="401" name="Google Shape;40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428150"/>
            <a:ext cx="901087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5"/>
          <p:cNvSpPr txBox="1"/>
          <p:nvPr/>
        </p:nvSpPr>
        <p:spPr>
          <a:xfrm>
            <a:off x="4572000" y="438150"/>
            <a:ext cx="9525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52" sz="15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 · Fit Card</a:t>
            </a:r>
            <a:endParaRPr sz="1500"/>
          </a:p>
        </p:txBody>
      </p:sp>
      <p:sp>
        <p:nvSpPr>
          <p:cNvPr id="403" name="Google Shape;403;p5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89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  <a:endParaRPr/>
          </a:p>
        </p:txBody>
      </p:sp>
      <p:sp>
        <p:nvSpPr>
          <p:cNvPr id="404" name="Google Shape;404;p5"/>
          <p:cNvSpPr txBox="1"/>
          <p:nvPr/>
        </p:nvSpPr>
        <p:spPr>
          <a:xfrm>
            <a:off x="762000" y="9734550"/>
            <a:ext cx="114300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June 27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(planned)</a:t>
            </a:r>
            <a:endParaRPr/>
          </a:p>
        </p:txBody>
      </p:sp>
      <p:grpSp>
        <p:nvGrpSpPr>
          <p:cNvPr id="405" name="Google Shape;405;p5"/>
          <p:cNvGrpSpPr/>
          <p:nvPr/>
        </p:nvGrpSpPr>
        <p:grpSpPr>
          <a:xfrm>
            <a:off x="762000" y="733425"/>
            <a:ext cx="16764000" cy="38100"/>
            <a:chOff x="0" y="-38100"/>
            <a:chExt cx="22352000" cy="50800"/>
          </a:xfrm>
        </p:grpSpPr>
        <p:sp>
          <p:nvSpPr>
            <p:cNvPr id="406" name="Google Shape;406;p5"/>
            <p:cNvSpPr/>
            <p:nvPr/>
          </p:nvSpPr>
          <p:spPr>
            <a:xfrm>
              <a:off x="0" y="0"/>
              <a:ext cx="22352000" cy="12700"/>
            </a:xfrm>
            <a:custGeom>
              <a:rect b="b" l="l" r="r" t="t"/>
              <a:pathLst>
                <a:path extrusionOk="0" h="127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7" name="Google Shape;407;p5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08" name="Google Shape;408;p5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43" sz="13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EXPLAINED MATCHING · ILLUSTRATIVE</a:t>
            </a:r>
            <a:endParaRPr/>
          </a:p>
        </p:txBody>
      </p:sp>
      <p:sp>
        <p:nvSpPr>
          <p:cNvPr id="409" name="Google Shape;409;p5"/>
          <p:cNvSpPr txBox="1"/>
          <p:nvPr/>
        </p:nvSpPr>
        <p:spPr>
          <a:xfrm>
            <a:off x="762000" y="1695450"/>
            <a:ext cx="8572500" cy="1948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38" sz="69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 high score</a:t>
            </a:r>
            <a:endParaRPr/>
          </a:p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38" sz="69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needs evidence.</a:t>
            </a:r>
            <a:endParaRPr/>
          </a:p>
        </p:txBody>
      </p:sp>
      <p:grpSp>
        <p:nvGrpSpPr>
          <p:cNvPr id="410" name="Google Shape;410;p5"/>
          <p:cNvGrpSpPr/>
          <p:nvPr/>
        </p:nvGrpSpPr>
        <p:grpSpPr>
          <a:xfrm>
            <a:off x="762000" y="4733925"/>
            <a:ext cx="3657600" cy="360045"/>
            <a:chOff x="0" y="-38100"/>
            <a:chExt cx="3810000" cy="480060"/>
          </a:xfrm>
        </p:grpSpPr>
        <p:grpSp>
          <p:nvGrpSpPr>
            <p:cNvPr id="411" name="Google Shape;411;p5"/>
            <p:cNvGrpSpPr/>
            <p:nvPr/>
          </p:nvGrpSpPr>
          <p:grpSpPr>
            <a:xfrm>
              <a:off x="0" y="-38100"/>
              <a:ext cx="3810000" cy="368300"/>
              <a:chOff x="0" y="-38100"/>
              <a:chExt cx="3810000" cy="368300"/>
            </a:xfrm>
          </p:grpSpPr>
          <p:sp>
            <p:nvSpPr>
              <p:cNvPr id="412" name="Google Shape;412;p5"/>
              <p:cNvSpPr/>
              <p:nvPr/>
            </p:nvSpPr>
            <p:spPr>
              <a:xfrm>
                <a:off x="0" y="0"/>
                <a:ext cx="3810000" cy="330200"/>
              </a:xfrm>
              <a:custGeom>
                <a:rect b="b" l="l" r="r" t="t"/>
                <a:pathLst>
                  <a:path extrusionOk="0" h="330200" w="3810000">
                    <a:moveTo>
                      <a:pt x="0" y="0"/>
                    </a:moveTo>
                    <a:lnTo>
                      <a:pt x="3810000" y="0"/>
                    </a:lnTo>
                    <a:lnTo>
                      <a:pt x="3810000" y="330200"/>
                    </a:lnTo>
                    <a:lnTo>
                      <a:pt x="0" y="330200"/>
                    </a:lnTo>
                    <a:close/>
                  </a:path>
                </a:pathLst>
              </a:custGeom>
              <a:solidFill>
                <a:srgbClr val="FDE4DC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3" name="Google Shape;413;p5"/>
              <p:cNvSpPr txBox="1"/>
              <p:nvPr/>
            </p:nvSpPr>
            <p:spPr>
              <a:xfrm>
                <a:off x="0" y="-38100"/>
                <a:ext cx="38100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l">
                  <a:lnSpc>
                    <a:spcPct val="932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14" name="Google Shape;414;p5"/>
            <p:cNvSpPr txBox="1"/>
            <p:nvPr/>
          </p:nvSpPr>
          <p:spPr>
            <a:xfrm>
              <a:off x="152400" y="69850"/>
              <a:ext cx="3505200" cy="3721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pc="165" sz="825">
                  <a:solidFill>
                    <a:srgbClr val="B83A1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GATE · FIT ≥ 90% RECOMMENDED BAND</a:t>
              </a:r>
              <a:endParaRPr/>
            </a:p>
          </p:txBody>
        </p:sp>
      </p:grpSp>
      <p:sp>
        <p:nvSpPr>
          <p:cNvPr id="415" name="Google Shape;415;p5"/>
          <p:cNvSpPr txBox="1"/>
          <p:nvPr/>
        </p:nvSpPr>
        <p:spPr>
          <a:xfrm>
            <a:off x="762000" y="4238625"/>
            <a:ext cx="78105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D3D63"/>
                </a:solidFill>
                <a:latin typeface="Inter"/>
                <a:ea typeface="Inter"/>
                <a:cs typeface="Inter"/>
                <a:sym typeface="Inter"/>
              </a:rPr>
              <a:t>Score ≠ hiring probability. Weights unvalidated; protected attributes excluded.</a:t>
            </a:r>
            <a:endParaRPr/>
          </a:p>
        </p:txBody>
      </p:sp>
      <p:sp>
        <p:nvSpPr>
          <p:cNvPr id="416" name="Google Shape;416;p5"/>
          <p:cNvSpPr txBox="1"/>
          <p:nvPr/>
        </p:nvSpPr>
        <p:spPr>
          <a:xfrm>
            <a:off x="762000" y="5505450"/>
            <a:ext cx="38100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SCORING CRITERIA</a:t>
            </a:r>
            <a:endParaRPr/>
          </a:p>
        </p:txBody>
      </p:sp>
      <p:sp>
        <p:nvSpPr>
          <p:cNvPr id="417" name="Google Shape;417;p5"/>
          <p:cNvSpPr/>
          <p:nvPr/>
        </p:nvSpPr>
        <p:spPr>
          <a:xfrm>
            <a:off x="762000" y="6000750"/>
            <a:ext cx="76200" cy="76200"/>
          </a:xfrm>
          <a:custGeom>
            <a:rect b="b" l="l" r="r" t="t"/>
            <a:pathLst>
              <a:path extrusionOk="0" h="101600" w="101600">
                <a:moveTo>
                  <a:pt x="50800" y="0"/>
                </a:moveTo>
                <a:cubicBezTo>
                  <a:pt x="78856" y="0"/>
                  <a:pt x="101600" y="22744"/>
                  <a:pt x="101600" y="50800"/>
                </a:cubicBez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lose/>
              </a:path>
            </a:pathLst>
          </a:custGeom>
          <a:solidFill>
            <a:srgbClr val="0F2A4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5"/>
          <p:cNvSpPr/>
          <p:nvPr/>
        </p:nvSpPr>
        <p:spPr>
          <a:xfrm>
            <a:off x="762000" y="6419850"/>
            <a:ext cx="76200" cy="76200"/>
          </a:xfrm>
          <a:custGeom>
            <a:rect b="b" l="l" r="r" t="t"/>
            <a:pathLst>
              <a:path extrusionOk="0" h="101600" w="101600">
                <a:moveTo>
                  <a:pt x="50800" y="0"/>
                </a:moveTo>
                <a:cubicBezTo>
                  <a:pt x="78856" y="0"/>
                  <a:pt x="101600" y="22744"/>
                  <a:pt x="101600" y="50800"/>
                </a:cubicBez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lose/>
              </a:path>
            </a:pathLst>
          </a:custGeom>
          <a:solidFill>
            <a:srgbClr val="0F2A4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5"/>
          <p:cNvSpPr/>
          <p:nvPr/>
        </p:nvSpPr>
        <p:spPr>
          <a:xfrm>
            <a:off x="762000" y="6838950"/>
            <a:ext cx="76200" cy="76200"/>
          </a:xfrm>
          <a:custGeom>
            <a:rect b="b" l="l" r="r" t="t"/>
            <a:pathLst>
              <a:path extrusionOk="0" h="101600" w="101600">
                <a:moveTo>
                  <a:pt x="50800" y="0"/>
                </a:moveTo>
                <a:cubicBezTo>
                  <a:pt x="78856" y="0"/>
                  <a:pt x="101600" y="22744"/>
                  <a:pt x="101600" y="50800"/>
                </a:cubicBez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lose/>
              </a:path>
            </a:pathLst>
          </a:custGeom>
          <a:solidFill>
            <a:srgbClr val="0F2A4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5"/>
          <p:cNvSpPr/>
          <p:nvPr/>
        </p:nvSpPr>
        <p:spPr>
          <a:xfrm>
            <a:off x="762000" y="7258050"/>
            <a:ext cx="76200" cy="76200"/>
          </a:xfrm>
          <a:custGeom>
            <a:rect b="b" l="l" r="r" t="t"/>
            <a:pathLst>
              <a:path extrusionOk="0" h="101600" w="101600">
                <a:moveTo>
                  <a:pt x="50800" y="0"/>
                </a:moveTo>
                <a:cubicBezTo>
                  <a:pt x="78856" y="0"/>
                  <a:pt x="101600" y="22744"/>
                  <a:pt x="101600" y="50800"/>
                </a:cubicBez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lose/>
              </a:path>
            </a:pathLst>
          </a:custGeom>
          <a:solidFill>
            <a:srgbClr val="0F2A4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5"/>
          <p:cNvSpPr/>
          <p:nvPr/>
        </p:nvSpPr>
        <p:spPr>
          <a:xfrm>
            <a:off x="762000" y="7677150"/>
            <a:ext cx="76200" cy="76200"/>
          </a:xfrm>
          <a:custGeom>
            <a:rect b="b" l="l" r="r" t="t"/>
            <a:pathLst>
              <a:path extrusionOk="0" h="101600" w="101600">
                <a:moveTo>
                  <a:pt x="50800" y="0"/>
                </a:moveTo>
                <a:cubicBezTo>
                  <a:pt x="78856" y="0"/>
                  <a:pt x="101600" y="22744"/>
                  <a:pt x="101600" y="50800"/>
                </a:cubicBez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lose/>
              </a:path>
            </a:pathLst>
          </a:custGeom>
          <a:solidFill>
            <a:srgbClr val="0F2A4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5"/>
          <p:cNvSpPr/>
          <p:nvPr/>
        </p:nvSpPr>
        <p:spPr>
          <a:xfrm>
            <a:off x="762000" y="8096250"/>
            <a:ext cx="76200" cy="76200"/>
          </a:xfrm>
          <a:custGeom>
            <a:rect b="b" l="l" r="r" t="t"/>
            <a:pathLst>
              <a:path extrusionOk="0" h="101600" w="101600">
                <a:moveTo>
                  <a:pt x="50800" y="0"/>
                </a:moveTo>
                <a:cubicBezTo>
                  <a:pt x="78856" y="0"/>
                  <a:pt x="101600" y="22744"/>
                  <a:pt x="101600" y="50800"/>
                </a:cubicBez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lose/>
              </a:path>
            </a:pathLst>
          </a:custGeom>
          <a:solidFill>
            <a:srgbClr val="0F2A4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5"/>
          <p:cNvSpPr txBox="1"/>
          <p:nvPr/>
        </p:nvSpPr>
        <p:spPr>
          <a:xfrm>
            <a:off x="1047750" y="5867400"/>
            <a:ext cx="28575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Skills</a:t>
            </a:r>
            <a:endParaRPr/>
          </a:p>
        </p:txBody>
      </p:sp>
      <p:sp>
        <p:nvSpPr>
          <p:cNvPr id="424" name="Google Shape;424;p5"/>
          <p:cNvSpPr txBox="1"/>
          <p:nvPr/>
        </p:nvSpPr>
        <p:spPr>
          <a:xfrm>
            <a:off x="1047750" y="6286500"/>
            <a:ext cx="28575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Experience</a:t>
            </a:r>
            <a:endParaRPr/>
          </a:p>
        </p:txBody>
      </p:sp>
      <p:sp>
        <p:nvSpPr>
          <p:cNvPr id="425" name="Google Shape;425;p5"/>
          <p:cNvSpPr txBox="1"/>
          <p:nvPr/>
        </p:nvSpPr>
        <p:spPr>
          <a:xfrm>
            <a:off x="1047750" y="6705600"/>
            <a:ext cx="28575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Domain</a:t>
            </a:r>
            <a:endParaRPr/>
          </a:p>
        </p:txBody>
      </p:sp>
      <p:sp>
        <p:nvSpPr>
          <p:cNvPr id="426" name="Google Shape;426;p5"/>
          <p:cNvSpPr txBox="1"/>
          <p:nvPr/>
        </p:nvSpPr>
        <p:spPr>
          <a:xfrm>
            <a:off x="1047750" y="7124700"/>
            <a:ext cx="28575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Languages</a:t>
            </a:r>
            <a:endParaRPr/>
          </a:p>
        </p:txBody>
      </p:sp>
      <p:sp>
        <p:nvSpPr>
          <p:cNvPr id="427" name="Google Shape;427;p5"/>
          <p:cNvSpPr txBox="1"/>
          <p:nvPr/>
        </p:nvSpPr>
        <p:spPr>
          <a:xfrm>
            <a:off x="1047750" y="7543800"/>
            <a:ext cx="28575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Location</a:t>
            </a:r>
            <a:endParaRPr/>
          </a:p>
        </p:txBody>
      </p:sp>
      <p:sp>
        <p:nvSpPr>
          <p:cNvPr id="428" name="Google Shape;428;p5"/>
          <p:cNvSpPr txBox="1"/>
          <p:nvPr/>
        </p:nvSpPr>
        <p:spPr>
          <a:xfrm>
            <a:off x="1047750" y="7962900"/>
            <a:ext cx="28575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Education</a:t>
            </a:r>
            <a:endParaRPr/>
          </a:p>
        </p:txBody>
      </p:sp>
      <p:grpSp>
        <p:nvGrpSpPr>
          <p:cNvPr id="429" name="Google Shape;429;p5"/>
          <p:cNvGrpSpPr/>
          <p:nvPr/>
        </p:nvGrpSpPr>
        <p:grpSpPr>
          <a:xfrm>
            <a:off x="762000" y="8924925"/>
            <a:ext cx="3657600" cy="276225"/>
            <a:chOff x="0" y="-38100"/>
            <a:chExt cx="3810000" cy="368300"/>
          </a:xfrm>
        </p:grpSpPr>
        <p:grpSp>
          <p:nvGrpSpPr>
            <p:cNvPr id="430" name="Google Shape;430;p5"/>
            <p:cNvGrpSpPr/>
            <p:nvPr/>
          </p:nvGrpSpPr>
          <p:grpSpPr>
            <a:xfrm>
              <a:off x="0" y="-38100"/>
              <a:ext cx="3810000" cy="368300"/>
              <a:chOff x="0" y="-38100"/>
              <a:chExt cx="3810000" cy="368300"/>
            </a:xfrm>
          </p:grpSpPr>
          <p:sp>
            <p:nvSpPr>
              <p:cNvPr id="431" name="Google Shape;431;p5"/>
              <p:cNvSpPr/>
              <p:nvPr/>
            </p:nvSpPr>
            <p:spPr>
              <a:xfrm>
                <a:off x="0" y="0"/>
                <a:ext cx="3810000" cy="330200"/>
              </a:xfrm>
              <a:custGeom>
                <a:rect b="b" l="l" r="r" t="t"/>
                <a:pathLst>
                  <a:path extrusionOk="0" h="330200" w="3810000">
                    <a:moveTo>
                      <a:pt x="0" y="0"/>
                    </a:moveTo>
                    <a:lnTo>
                      <a:pt x="3810000" y="0"/>
                    </a:lnTo>
                    <a:lnTo>
                      <a:pt x="3810000" y="330200"/>
                    </a:lnTo>
                    <a:lnTo>
                      <a:pt x="0" y="330200"/>
                    </a:lnTo>
                    <a:close/>
                  </a:path>
                </a:pathLst>
              </a:custGeom>
              <a:solidFill>
                <a:srgbClr val="FDE4DC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2" name="Google Shape;432;p5"/>
              <p:cNvSpPr txBox="1"/>
              <p:nvPr/>
            </p:nvSpPr>
            <p:spPr>
              <a:xfrm>
                <a:off x="0" y="-38100"/>
                <a:ext cx="38100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l">
                  <a:lnSpc>
                    <a:spcPct val="932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33" name="Google Shape;433;p5"/>
            <p:cNvSpPr txBox="1"/>
            <p:nvPr/>
          </p:nvSpPr>
          <p:spPr>
            <a:xfrm>
              <a:off x="152400" y="69850"/>
              <a:ext cx="3505200" cy="19177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pc="179" sz="900">
                  <a:solidFill>
                    <a:srgbClr val="B83A1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US3 · EXPLAINS SCORES &lt; 70%</a:t>
              </a:r>
              <a:endParaRPr/>
            </a:p>
          </p:txBody>
        </p:sp>
      </p:grpSp>
      <p:grpSp>
        <p:nvGrpSpPr>
          <p:cNvPr id="434" name="Google Shape;434;p5"/>
          <p:cNvGrpSpPr/>
          <p:nvPr/>
        </p:nvGrpSpPr>
        <p:grpSpPr>
          <a:xfrm>
            <a:off x="9906000" y="1685925"/>
            <a:ext cx="7620000" cy="7267575"/>
            <a:chOff x="0" y="-38100"/>
            <a:chExt cx="10160000" cy="9690100"/>
          </a:xfrm>
        </p:grpSpPr>
        <p:sp>
          <p:nvSpPr>
            <p:cNvPr id="435" name="Google Shape;435;p5"/>
            <p:cNvSpPr/>
            <p:nvPr/>
          </p:nvSpPr>
          <p:spPr>
            <a:xfrm>
              <a:off x="0" y="0"/>
              <a:ext cx="10160000" cy="9652000"/>
            </a:xfrm>
            <a:custGeom>
              <a:rect b="b" l="l" r="r" t="t"/>
              <a:pathLst>
                <a:path extrusionOk="0" h="9652000" w="10160000">
                  <a:moveTo>
                    <a:pt x="0" y="0"/>
                  </a:moveTo>
                  <a:lnTo>
                    <a:pt x="10160000" y="0"/>
                  </a:lnTo>
                  <a:lnTo>
                    <a:pt x="10160000" y="9652000"/>
                  </a:lnTo>
                  <a:lnTo>
                    <a:pt x="0" y="9652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6" name="Google Shape;436;p5"/>
            <p:cNvSpPr txBox="1"/>
            <p:nvPr/>
          </p:nvSpPr>
          <p:spPr>
            <a:xfrm>
              <a:off x="0" y="-38100"/>
              <a:ext cx="10160000" cy="969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37" name="Google Shape;437;p5"/>
          <p:cNvGrpSpPr/>
          <p:nvPr/>
        </p:nvGrpSpPr>
        <p:grpSpPr>
          <a:xfrm>
            <a:off x="10363200" y="2143125"/>
            <a:ext cx="2095500" cy="2124075"/>
            <a:chOff x="0" y="-38100"/>
            <a:chExt cx="2794000" cy="2832100"/>
          </a:xfrm>
        </p:grpSpPr>
        <p:pic>
          <p:nvPicPr>
            <p:cNvPr descr="CareerPilot reticle" id="438" name="Google Shape;438;p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0" y="0"/>
              <a:ext cx="2794000" cy="2794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39" name="Google Shape;439;p5"/>
            <p:cNvSpPr txBox="1"/>
            <p:nvPr/>
          </p:nvSpPr>
          <p:spPr>
            <a:xfrm>
              <a:off x="0" y="-38100"/>
              <a:ext cx="2794000" cy="283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0" name="Google Shape;440;p5"/>
          <p:cNvSpPr txBox="1"/>
          <p:nvPr/>
        </p:nvSpPr>
        <p:spPr>
          <a:xfrm>
            <a:off x="12763500" y="2152650"/>
            <a:ext cx="3810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52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FIT SCORE · ILLUSTRATIVE</a:t>
            </a:r>
            <a:endParaRPr/>
          </a:p>
        </p:txBody>
      </p:sp>
      <p:sp>
        <p:nvSpPr>
          <p:cNvPr id="441" name="Google Shape;441;p5"/>
          <p:cNvSpPr txBox="1"/>
          <p:nvPr/>
        </p:nvSpPr>
        <p:spPr>
          <a:xfrm>
            <a:off x="12763500" y="2400300"/>
            <a:ext cx="4381500" cy="401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Senior Backend Engineer</a:t>
            </a:r>
            <a:endParaRPr/>
          </a:p>
        </p:txBody>
      </p:sp>
      <p:sp>
        <p:nvSpPr>
          <p:cNvPr id="442" name="Google Shape;442;p5"/>
          <p:cNvSpPr txBox="1"/>
          <p:nvPr/>
        </p:nvSpPr>
        <p:spPr>
          <a:xfrm>
            <a:off x="12763500" y="3238500"/>
            <a:ext cx="43815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Confidence  ·  High</a:t>
            </a:r>
            <a:endParaRPr/>
          </a:p>
        </p:txBody>
      </p:sp>
      <p:sp>
        <p:nvSpPr>
          <p:cNvPr id="443" name="Google Shape;443;p5"/>
          <p:cNvSpPr txBox="1"/>
          <p:nvPr/>
        </p:nvSpPr>
        <p:spPr>
          <a:xfrm>
            <a:off x="12763500" y="3524250"/>
            <a:ext cx="438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Recommended band · Fit ≥ 90%</a:t>
            </a:r>
            <a:endParaRPr/>
          </a:p>
        </p:txBody>
      </p:sp>
      <p:sp>
        <p:nvSpPr>
          <p:cNvPr id="444" name="Google Shape;444;p5"/>
          <p:cNvSpPr txBox="1"/>
          <p:nvPr/>
        </p:nvSpPr>
        <p:spPr>
          <a:xfrm>
            <a:off x="10363200" y="4743450"/>
            <a:ext cx="32385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STRENGTHS</a:t>
            </a:r>
            <a:endParaRPr/>
          </a:p>
        </p:txBody>
      </p:sp>
      <p:sp>
        <p:nvSpPr>
          <p:cNvPr id="445" name="Google Shape;445;p5"/>
          <p:cNvSpPr txBox="1"/>
          <p:nvPr/>
        </p:nvSpPr>
        <p:spPr>
          <a:xfrm>
            <a:off x="10363200" y="4991100"/>
            <a:ext cx="3238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Python, PostgreSQL, distributed systems</a:t>
            </a:r>
            <a:endParaRPr/>
          </a:p>
        </p:txBody>
      </p:sp>
      <p:sp>
        <p:nvSpPr>
          <p:cNvPr id="446" name="Google Shape;446;p5"/>
          <p:cNvSpPr txBox="1"/>
          <p:nvPr/>
        </p:nvSpPr>
        <p:spPr>
          <a:xfrm>
            <a:off x="10363200" y="5562600"/>
            <a:ext cx="3238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7 yrs in fintech · DE B2, EN C1</a:t>
            </a:r>
            <a:endParaRPr/>
          </a:p>
        </p:txBody>
      </p:sp>
      <p:sp>
        <p:nvSpPr>
          <p:cNvPr id="447" name="Google Shape;447;p5"/>
          <p:cNvSpPr txBox="1"/>
          <p:nvPr/>
        </p:nvSpPr>
        <p:spPr>
          <a:xfrm>
            <a:off x="13906500" y="4743450"/>
            <a:ext cx="32385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GAPS</a:t>
            </a:r>
            <a:endParaRPr/>
          </a:p>
        </p:txBody>
      </p:sp>
      <p:sp>
        <p:nvSpPr>
          <p:cNvPr id="448" name="Google Shape;448;p5"/>
          <p:cNvSpPr txBox="1"/>
          <p:nvPr/>
        </p:nvSpPr>
        <p:spPr>
          <a:xfrm>
            <a:off x="13906500" y="4991100"/>
            <a:ext cx="3238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Limited Kubernetes production exposure</a:t>
            </a:r>
            <a:endParaRPr/>
          </a:p>
        </p:txBody>
      </p:sp>
      <p:sp>
        <p:nvSpPr>
          <p:cNvPr id="449" name="Google Shape;449;p5"/>
          <p:cNvSpPr txBox="1"/>
          <p:nvPr/>
        </p:nvSpPr>
        <p:spPr>
          <a:xfrm>
            <a:off x="13906500" y="5562600"/>
            <a:ext cx="3238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No prior team lead responsibility</a:t>
            </a:r>
            <a:endParaRPr/>
          </a:p>
        </p:txBody>
      </p:sp>
      <p:sp>
        <p:nvSpPr>
          <p:cNvPr id="450" name="Google Shape;450;p5"/>
          <p:cNvSpPr txBox="1"/>
          <p:nvPr/>
        </p:nvSpPr>
        <p:spPr>
          <a:xfrm>
            <a:off x="10363200" y="6457950"/>
            <a:ext cx="66675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MUST-HAVES</a:t>
            </a:r>
            <a:endParaRPr/>
          </a:p>
        </p:txBody>
      </p:sp>
      <p:sp>
        <p:nvSpPr>
          <p:cNvPr id="451" name="Google Shape;451;p5"/>
          <p:cNvSpPr txBox="1"/>
          <p:nvPr/>
        </p:nvSpPr>
        <p:spPr>
          <a:xfrm>
            <a:off x="10363200" y="67246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56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EU work authorisation   ✓     Backend ≥ 5y   ✓     DE on-site 2d/wk   ✓</a:t>
            </a:r>
            <a:endParaRPr/>
          </a:p>
        </p:txBody>
      </p:sp>
      <p:grpSp>
        <p:nvGrpSpPr>
          <p:cNvPr id="452" name="Google Shape;452;p5"/>
          <p:cNvGrpSpPr/>
          <p:nvPr/>
        </p:nvGrpSpPr>
        <p:grpSpPr>
          <a:xfrm>
            <a:off x="10210800" y="7496175"/>
            <a:ext cx="7010400" cy="1076325"/>
            <a:chOff x="0" y="-38100"/>
            <a:chExt cx="9347200" cy="1435100"/>
          </a:xfrm>
        </p:grpSpPr>
        <p:sp>
          <p:nvSpPr>
            <p:cNvPr id="453" name="Google Shape;453;p5"/>
            <p:cNvSpPr/>
            <p:nvPr/>
          </p:nvSpPr>
          <p:spPr>
            <a:xfrm>
              <a:off x="0" y="0"/>
              <a:ext cx="9347200" cy="1397000"/>
            </a:xfrm>
            <a:custGeom>
              <a:rect b="b" l="l" r="r" t="t"/>
              <a:pathLst>
                <a:path extrusionOk="0" h="1397000" w="9347200">
                  <a:moveTo>
                    <a:pt x="0" y="0"/>
                  </a:moveTo>
                  <a:lnTo>
                    <a:pt x="9347200" y="0"/>
                  </a:lnTo>
                  <a:lnTo>
                    <a:pt x="9347200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FDE4DC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" name="Google Shape;454;p5"/>
            <p:cNvSpPr txBox="1"/>
            <p:nvPr/>
          </p:nvSpPr>
          <p:spPr>
            <a:xfrm>
              <a:off x="0" y="-38100"/>
              <a:ext cx="9347200" cy="143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5" name="Google Shape;455;p5"/>
          <p:cNvSpPr txBox="1"/>
          <p:nvPr/>
        </p:nvSpPr>
        <p:spPr>
          <a:xfrm>
            <a:off x="10363200" y="7696200"/>
            <a:ext cx="6667500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05" sz="1050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Caveat · Weights unvalidated; protected attributes excluded; score is not hiring probability.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A4A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areerPilot logo" id="460" name="Google Shape;46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428150"/>
            <a:ext cx="901087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61" name="Google Shape;461;p6"/>
          <p:cNvSpPr txBox="1"/>
          <p:nvPr/>
        </p:nvSpPr>
        <p:spPr>
          <a:xfrm>
            <a:off x="4572000" y="438150"/>
            <a:ext cx="9525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52" sz="1500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 · Recruiter Pilot</a:t>
            </a:r>
            <a:endParaRPr sz="1500"/>
          </a:p>
        </p:txBody>
      </p:sp>
      <p:sp>
        <p:nvSpPr>
          <p:cNvPr id="462" name="Google Shape;462;p6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89" sz="1050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</a:t>
            </a:r>
            <a:endParaRPr/>
          </a:p>
        </p:txBody>
      </p:sp>
      <p:sp>
        <p:nvSpPr>
          <p:cNvPr id="463" name="Google Shape;463;p6"/>
          <p:cNvSpPr txBox="1"/>
          <p:nvPr/>
        </p:nvSpPr>
        <p:spPr>
          <a:xfrm>
            <a:off x="762000" y="9734550"/>
            <a:ext cx="114300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75" sz="975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</a:t>
            </a:r>
            <a:r>
              <a:rPr lang="en-US" spc="175" sz="975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June 27</a:t>
            </a:r>
            <a:r>
              <a:rPr lang="en-US" spc="175" sz="975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(planned)</a:t>
            </a:r>
            <a:endParaRPr/>
          </a:p>
        </p:txBody>
      </p:sp>
      <p:grpSp>
        <p:nvGrpSpPr>
          <p:cNvPr id="464" name="Google Shape;464;p6"/>
          <p:cNvGrpSpPr/>
          <p:nvPr/>
        </p:nvGrpSpPr>
        <p:grpSpPr>
          <a:xfrm>
            <a:off x="762000" y="733425"/>
            <a:ext cx="16764000" cy="38100"/>
            <a:chOff x="0" y="-38100"/>
            <a:chExt cx="22352000" cy="50800"/>
          </a:xfrm>
        </p:grpSpPr>
        <p:sp>
          <p:nvSpPr>
            <p:cNvPr id="465" name="Google Shape;465;p6"/>
            <p:cNvSpPr/>
            <p:nvPr/>
          </p:nvSpPr>
          <p:spPr>
            <a:xfrm>
              <a:off x="0" y="0"/>
              <a:ext cx="22352000" cy="12700"/>
            </a:xfrm>
            <a:custGeom>
              <a:rect b="b" l="l" r="r" t="t"/>
              <a:pathLst>
                <a:path extrusionOk="0" h="127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2C4D75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6" name="Google Shape;466;p6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7" name="Google Shape;467;p6"/>
          <p:cNvSpPr txBox="1"/>
          <p:nvPr/>
        </p:nvSpPr>
        <p:spPr>
          <a:xfrm>
            <a:off x="762000" y="1314450"/>
            <a:ext cx="114300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43" sz="1350">
                <a:solidFill>
                  <a:srgbClr val="F2542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VERIFIED-RECRUITER PILOT · INVITATION ONLY</a:t>
            </a:r>
            <a:endParaRPr/>
          </a:p>
        </p:txBody>
      </p:sp>
      <p:sp>
        <p:nvSpPr>
          <p:cNvPr id="468" name="Google Shape;468;p6"/>
          <p:cNvSpPr txBox="1"/>
          <p:nvPr/>
        </p:nvSpPr>
        <p:spPr>
          <a:xfrm>
            <a:off x="762000" y="1695450"/>
            <a:ext cx="14287500" cy="1948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38" sz="6900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Sofia brings</a:t>
            </a:r>
            <a:endParaRPr/>
          </a:p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38" sz="6900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the job description.</a:t>
            </a:r>
            <a:endParaRPr/>
          </a:p>
        </p:txBody>
      </p:sp>
      <p:grpSp>
        <p:nvGrpSpPr>
          <p:cNvPr id="469" name="Google Shape;469;p6"/>
          <p:cNvGrpSpPr/>
          <p:nvPr/>
        </p:nvGrpSpPr>
        <p:grpSpPr>
          <a:xfrm>
            <a:off x="762000" y="3971925"/>
            <a:ext cx="16764000" cy="752475"/>
            <a:chOff x="0" y="-38100"/>
            <a:chExt cx="22352000" cy="1003300"/>
          </a:xfrm>
        </p:grpSpPr>
        <p:sp>
          <p:nvSpPr>
            <p:cNvPr id="470" name="Google Shape;470;p6"/>
            <p:cNvSpPr/>
            <p:nvPr/>
          </p:nvSpPr>
          <p:spPr>
            <a:xfrm>
              <a:off x="0" y="0"/>
              <a:ext cx="22352000" cy="965200"/>
            </a:xfrm>
            <a:custGeom>
              <a:rect b="b" l="l" r="r" t="t"/>
              <a:pathLst>
                <a:path extrusionOk="0" h="9652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1D3D6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1" name="Google Shape;471;p6"/>
            <p:cNvSpPr txBox="1"/>
            <p:nvPr/>
          </p:nvSpPr>
          <p:spPr>
            <a:xfrm>
              <a:off x="0" y="-38100"/>
              <a:ext cx="22352000" cy="100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2" name="Google Shape;472;p6"/>
          <p:cNvGrpSpPr/>
          <p:nvPr/>
        </p:nvGrpSpPr>
        <p:grpSpPr>
          <a:xfrm>
            <a:off x="762000" y="3971925"/>
            <a:ext cx="57150" cy="752475"/>
            <a:chOff x="0" y="-38100"/>
            <a:chExt cx="76200" cy="1003300"/>
          </a:xfrm>
        </p:grpSpPr>
        <p:sp>
          <p:nvSpPr>
            <p:cNvPr id="473" name="Google Shape;473;p6"/>
            <p:cNvSpPr/>
            <p:nvPr/>
          </p:nvSpPr>
          <p:spPr>
            <a:xfrm>
              <a:off x="0" y="0"/>
              <a:ext cx="76200" cy="965200"/>
            </a:xfrm>
            <a:custGeom>
              <a:rect b="b" l="l" r="r" t="t"/>
              <a:pathLst>
                <a:path extrusionOk="0" h="965200" w="76200">
                  <a:moveTo>
                    <a:pt x="0" y="0"/>
                  </a:moveTo>
                  <a:lnTo>
                    <a:pt x="76200" y="0"/>
                  </a:lnTo>
                  <a:lnTo>
                    <a:pt x="762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4" name="Google Shape;474;p6"/>
            <p:cNvSpPr txBox="1"/>
            <p:nvPr/>
          </p:nvSpPr>
          <p:spPr>
            <a:xfrm>
              <a:off x="0" y="-38100"/>
              <a:ext cx="76200" cy="100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5" name="Google Shape;475;p6"/>
          <p:cNvGrpSpPr/>
          <p:nvPr/>
        </p:nvGrpSpPr>
        <p:grpSpPr>
          <a:xfrm>
            <a:off x="1619250" y="4772025"/>
            <a:ext cx="15049500" cy="752475"/>
            <a:chOff x="0" y="-38100"/>
            <a:chExt cx="20066000" cy="1003300"/>
          </a:xfrm>
        </p:grpSpPr>
        <p:sp>
          <p:nvSpPr>
            <p:cNvPr id="476" name="Google Shape;476;p6"/>
            <p:cNvSpPr/>
            <p:nvPr/>
          </p:nvSpPr>
          <p:spPr>
            <a:xfrm>
              <a:off x="0" y="0"/>
              <a:ext cx="20066000" cy="965200"/>
            </a:xfrm>
            <a:custGeom>
              <a:rect b="b" l="l" r="r" t="t"/>
              <a:pathLst>
                <a:path extrusionOk="0" h="965200" w="20066000">
                  <a:moveTo>
                    <a:pt x="0" y="0"/>
                  </a:moveTo>
                  <a:lnTo>
                    <a:pt x="20066000" y="0"/>
                  </a:lnTo>
                  <a:lnTo>
                    <a:pt x="200660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1D3D6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7" name="Google Shape;477;p6"/>
            <p:cNvSpPr txBox="1"/>
            <p:nvPr/>
          </p:nvSpPr>
          <p:spPr>
            <a:xfrm>
              <a:off x="0" y="-38100"/>
              <a:ext cx="20066000" cy="100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8" name="Google Shape;478;p6"/>
          <p:cNvGrpSpPr/>
          <p:nvPr/>
        </p:nvGrpSpPr>
        <p:grpSpPr>
          <a:xfrm>
            <a:off x="1619250" y="4772025"/>
            <a:ext cx="57150" cy="752475"/>
            <a:chOff x="0" y="-38100"/>
            <a:chExt cx="76200" cy="1003300"/>
          </a:xfrm>
        </p:grpSpPr>
        <p:sp>
          <p:nvSpPr>
            <p:cNvPr id="479" name="Google Shape;479;p6"/>
            <p:cNvSpPr/>
            <p:nvPr/>
          </p:nvSpPr>
          <p:spPr>
            <a:xfrm>
              <a:off x="0" y="0"/>
              <a:ext cx="76200" cy="965200"/>
            </a:xfrm>
            <a:custGeom>
              <a:rect b="b" l="l" r="r" t="t"/>
              <a:pathLst>
                <a:path extrusionOk="0" h="965200" w="76200">
                  <a:moveTo>
                    <a:pt x="0" y="0"/>
                  </a:moveTo>
                  <a:lnTo>
                    <a:pt x="76200" y="0"/>
                  </a:lnTo>
                  <a:lnTo>
                    <a:pt x="762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" name="Google Shape;480;p6"/>
            <p:cNvSpPr txBox="1"/>
            <p:nvPr/>
          </p:nvSpPr>
          <p:spPr>
            <a:xfrm>
              <a:off x="0" y="-38100"/>
              <a:ext cx="76200" cy="100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1" name="Google Shape;481;p6"/>
          <p:cNvGrpSpPr/>
          <p:nvPr/>
        </p:nvGrpSpPr>
        <p:grpSpPr>
          <a:xfrm>
            <a:off x="2476500" y="5572125"/>
            <a:ext cx="13335000" cy="752475"/>
            <a:chOff x="0" y="-38100"/>
            <a:chExt cx="17780000" cy="1003300"/>
          </a:xfrm>
        </p:grpSpPr>
        <p:sp>
          <p:nvSpPr>
            <p:cNvPr id="482" name="Google Shape;482;p6"/>
            <p:cNvSpPr/>
            <p:nvPr/>
          </p:nvSpPr>
          <p:spPr>
            <a:xfrm>
              <a:off x="0" y="0"/>
              <a:ext cx="17780000" cy="965200"/>
            </a:xfrm>
            <a:custGeom>
              <a:rect b="b" l="l" r="r" t="t"/>
              <a:pathLst>
                <a:path extrusionOk="0" h="965200" w="17780000">
                  <a:moveTo>
                    <a:pt x="0" y="0"/>
                  </a:moveTo>
                  <a:lnTo>
                    <a:pt x="17780000" y="0"/>
                  </a:lnTo>
                  <a:lnTo>
                    <a:pt x="177800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1D3D6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" name="Google Shape;483;p6"/>
            <p:cNvSpPr txBox="1"/>
            <p:nvPr/>
          </p:nvSpPr>
          <p:spPr>
            <a:xfrm>
              <a:off x="0" y="-38100"/>
              <a:ext cx="17780000" cy="100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4" name="Google Shape;484;p6"/>
          <p:cNvGrpSpPr/>
          <p:nvPr/>
        </p:nvGrpSpPr>
        <p:grpSpPr>
          <a:xfrm>
            <a:off x="2476500" y="5572125"/>
            <a:ext cx="57150" cy="752475"/>
            <a:chOff x="0" y="-38100"/>
            <a:chExt cx="76200" cy="1003300"/>
          </a:xfrm>
        </p:grpSpPr>
        <p:sp>
          <p:nvSpPr>
            <p:cNvPr id="485" name="Google Shape;485;p6"/>
            <p:cNvSpPr/>
            <p:nvPr/>
          </p:nvSpPr>
          <p:spPr>
            <a:xfrm>
              <a:off x="0" y="0"/>
              <a:ext cx="76200" cy="965200"/>
            </a:xfrm>
            <a:custGeom>
              <a:rect b="b" l="l" r="r" t="t"/>
              <a:pathLst>
                <a:path extrusionOk="0" h="965200" w="76200">
                  <a:moveTo>
                    <a:pt x="0" y="0"/>
                  </a:moveTo>
                  <a:lnTo>
                    <a:pt x="76200" y="0"/>
                  </a:lnTo>
                  <a:lnTo>
                    <a:pt x="762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" name="Google Shape;486;p6"/>
            <p:cNvSpPr txBox="1"/>
            <p:nvPr/>
          </p:nvSpPr>
          <p:spPr>
            <a:xfrm>
              <a:off x="0" y="-38100"/>
              <a:ext cx="76200" cy="100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7" name="Google Shape;487;p6"/>
          <p:cNvGrpSpPr/>
          <p:nvPr/>
        </p:nvGrpSpPr>
        <p:grpSpPr>
          <a:xfrm>
            <a:off x="3333750" y="6372225"/>
            <a:ext cx="11620500" cy="752475"/>
            <a:chOff x="0" y="-38100"/>
            <a:chExt cx="15494000" cy="1003300"/>
          </a:xfrm>
        </p:grpSpPr>
        <p:sp>
          <p:nvSpPr>
            <p:cNvPr id="488" name="Google Shape;488;p6"/>
            <p:cNvSpPr/>
            <p:nvPr/>
          </p:nvSpPr>
          <p:spPr>
            <a:xfrm>
              <a:off x="0" y="0"/>
              <a:ext cx="15494000" cy="965200"/>
            </a:xfrm>
            <a:custGeom>
              <a:rect b="b" l="l" r="r" t="t"/>
              <a:pathLst>
                <a:path extrusionOk="0" h="965200" w="15494000">
                  <a:moveTo>
                    <a:pt x="0" y="0"/>
                  </a:moveTo>
                  <a:lnTo>
                    <a:pt x="15494000" y="0"/>
                  </a:lnTo>
                  <a:lnTo>
                    <a:pt x="154940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1D3D6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" name="Google Shape;489;p6"/>
            <p:cNvSpPr txBox="1"/>
            <p:nvPr/>
          </p:nvSpPr>
          <p:spPr>
            <a:xfrm>
              <a:off x="0" y="-38100"/>
              <a:ext cx="15494000" cy="100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90" name="Google Shape;490;p6"/>
          <p:cNvGrpSpPr/>
          <p:nvPr/>
        </p:nvGrpSpPr>
        <p:grpSpPr>
          <a:xfrm>
            <a:off x="3333750" y="6372225"/>
            <a:ext cx="57150" cy="752475"/>
            <a:chOff x="0" y="-38100"/>
            <a:chExt cx="76200" cy="1003300"/>
          </a:xfrm>
        </p:grpSpPr>
        <p:sp>
          <p:nvSpPr>
            <p:cNvPr id="491" name="Google Shape;491;p6"/>
            <p:cNvSpPr/>
            <p:nvPr/>
          </p:nvSpPr>
          <p:spPr>
            <a:xfrm>
              <a:off x="0" y="0"/>
              <a:ext cx="76200" cy="965200"/>
            </a:xfrm>
            <a:custGeom>
              <a:rect b="b" l="l" r="r" t="t"/>
              <a:pathLst>
                <a:path extrusionOk="0" h="965200" w="76200">
                  <a:moveTo>
                    <a:pt x="0" y="0"/>
                  </a:moveTo>
                  <a:lnTo>
                    <a:pt x="76200" y="0"/>
                  </a:lnTo>
                  <a:lnTo>
                    <a:pt x="762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2" name="Google Shape;492;p6"/>
            <p:cNvSpPr txBox="1"/>
            <p:nvPr/>
          </p:nvSpPr>
          <p:spPr>
            <a:xfrm>
              <a:off x="0" y="-38100"/>
              <a:ext cx="76200" cy="100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93" name="Google Shape;493;p6"/>
          <p:cNvGrpSpPr/>
          <p:nvPr/>
        </p:nvGrpSpPr>
        <p:grpSpPr>
          <a:xfrm>
            <a:off x="4191000" y="7172325"/>
            <a:ext cx="9906000" cy="752475"/>
            <a:chOff x="0" y="-38100"/>
            <a:chExt cx="13208000" cy="1003300"/>
          </a:xfrm>
        </p:grpSpPr>
        <p:sp>
          <p:nvSpPr>
            <p:cNvPr id="494" name="Google Shape;494;p6"/>
            <p:cNvSpPr/>
            <p:nvPr/>
          </p:nvSpPr>
          <p:spPr>
            <a:xfrm>
              <a:off x="0" y="0"/>
              <a:ext cx="13208000" cy="965200"/>
            </a:xfrm>
            <a:custGeom>
              <a:rect b="b" l="l" r="r" t="t"/>
              <a:pathLst>
                <a:path extrusionOk="0" h="965200" w="13208000">
                  <a:moveTo>
                    <a:pt x="0" y="0"/>
                  </a:moveTo>
                  <a:lnTo>
                    <a:pt x="13208000" y="0"/>
                  </a:lnTo>
                  <a:lnTo>
                    <a:pt x="132080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1D3D6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5" name="Google Shape;495;p6"/>
            <p:cNvSpPr txBox="1"/>
            <p:nvPr/>
          </p:nvSpPr>
          <p:spPr>
            <a:xfrm>
              <a:off x="0" y="-38100"/>
              <a:ext cx="13208000" cy="100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96" name="Google Shape;496;p6"/>
          <p:cNvGrpSpPr/>
          <p:nvPr/>
        </p:nvGrpSpPr>
        <p:grpSpPr>
          <a:xfrm>
            <a:off x="4191000" y="7172325"/>
            <a:ext cx="57150" cy="752475"/>
            <a:chOff x="0" y="-38100"/>
            <a:chExt cx="76200" cy="1003300"/>
          </a:xfrm>
        </p:grpSpPr>
        <p:sp>
          <p:nvSpPr>
            <p:cNvPr id="497" name="Google Shape;497;p6"/>
            <p:cNvSpPr/>
            <p:nvPr/>
          </p:nvSpPr>
          <p:spPr>
            <a:xfrm>
              <a:off x="0" y="0"/>
              <a:ext cx="76200" cy="965200"/>
            </a:xfrm>
            <a:custGeom>
              <a:rect b="b" l="l" r="r" t="t"/>
              <a:pathLst>
                <a:path extrusionOk="0" h="965200" w="76200">
                  <a:moveTo>
                    <a:pt x="0" y="0"/>
                  </a:moveTo>
                  <a:lnTo>
                    <a:pt x="76200" y="0"/>
                  </a:lnTo>
                  <a:lnTo>
                    <a:pt x="762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8" name="Google Shape;498;p6"/>
            <p:cNvSpPr txBox="1"/>
            <p:nvPr/>
          </p:nvSpPr>
          <p:spPr>
            <a:xfrm>
              <a:off x="0" y="-38100"/>
              <a:ext cx="76200" cy="100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99" name="Google Shape;499;p6"/>
          <p:cNvGrpSpPr/>
          <p:nvPr/>
        </p:nvGrpSpPr>
        <p:grpSpPr>
          <a:xfrm>
            <a:off x="5048250" y="7972425"/>
            <a:ext cx="8191500" cy="752475"/>
            <a:chOff x="0" y="-38100"/>
            <a:chExt cx="10922000" cy="1003300"/>
          </a:xfrm>
        </p:grpSpPr>
        <p:sp>
          <p:nvSpPr>
            <p:cNvPr id="500" name="Google Shape;500;p6"/>
            <p:cNvSpPr/>
            <p:nvPr/>
          </p:nvSpPr>
          <p:spPr>
            <a:xfrm>
              <a:off x="0" y="0"/>
              <a:ext cx="10922000" cy="965200"/>
            </a:xfrm>
            <a:custGeom>
              <a:rect b="b" l="l" r="r" t="t"/>
              <a:pathLst>
                <a:path extrusionOk="0" h="965200" w="10922000">
                  <a:moveTo>
                    <a:pt x="0" y="0"/>
                  </a:moveTo>
                  <a:lnTo>
                    <a:pt x="10922000" y="0"/>
                  </a:lnTo>
                  <a:lnTo>
                    <a:pt x="109220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1" name="Google Shape;501;p6"/>
            <p:cNvSpPr txBox="1"/>
            <p:nvPr/>
          </p:nvSpPr>
          <p:spPr>
            <a:xfrm>
              <a:off x="0" y="-38100"/>
              <a:ext cx="10922000" cy="100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02" name="Google Shape;502;p6"/>
          <p:cNvGrpSpPr/>
          <p:nvPr/>
        </p:nvGrpSpPr>
        <p:grpSpPr>
          <a:xfrm>
            <a:off x="5048250" y="7972425"/>
            <a:ext cx="57150" cy="752475"/>
            <a:chOff x="0" y="-38100"/>
            <a:chExt cx="76200" cy="1003300"/>
          </a:xfrm>
        </p:grpSpPr>
        <p:sp>
          <p:nvSpPr>
            <p:cNvPr id="503" name="Google Shape;503;p6"/>
            <p:cNvSpPr/>
            <p:nvPr/>
          </p:nvSpPr>
          <p:spPr>
            <a:xfrm>
              <a:off x="0" y="0"/>
              <a:ext cx="76200" cy="965200"/>
            </a:xfrm>
            <a:custGeom>
              <a:rect b="b" l="l" r="r" t="t"/>
              <a:pathLst>
                <a:path extrusionOk="0" h="965200" w="76200">
                  <a:moveTo>
                    <a:pt x="0" y="0"/>
                  </a:moveTo>
                  <a:lnTo>
                    <a:pt x="76200" y="0"/>
                  </a:lnTo>
                  <a:lnTo>
                    <a:pt x="762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4" name="Google Shape;504;p6"/>
            <p:cNvSpPr txBox="1"/>
            <p:nvPr/>
          </p:nvSpPr>
          <p:spPr>
            <a:xfrm>
              <a:off x="0" y="-38100"/>
              <a:ext cx="76200" cy="100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05" name="Google Shape;505;p6"/>
          <p:cNvSpPr txBox="1"/>
          <p:nvPr/>
        </p:nvSpPr>
        <p:spPr>
          <a:xfrm>
            <a:off x="990600" y="4086225"/>
            <a:ext cx="16306800" cy="310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1  Authorised JD</a:t>
            </a:r>
            <a:endParaRPr/>
          </a:p>
        </p:txBody>
      </p:sp>
      <p:sp>
        <p:nvSpPr>
          <p:cNvPr id="506" name="Google Shape;506;p6"/>
          <p:cNvSpPr txBox="1"/>
          <p:nvPr/>
        </p:nvSpPr>
        <p:spPr>
          <a:xfrm>
            <a:off x="990600" y="4419600"/>
            <a:ext cx="163068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Confirmed by verified recruiter</a:t>
            </a:r>
            <a:endParaRPr/>
          </a:p>
        </p:txBody>
      </p:sp>
      <p:sp>
        <p:nvSpPr>
          <p:cNvPr id="507" name="Google Shape;507;p6"/>
          <p:cNvSpPr txBox="1"/>
          <p:nvPr/>
        </p:nvSpPr>
        <p:spPr>
          <a:xfrm>
            <a:off x="1847850" y="4886325"/>
            <a:ext cx="14592300" cy="310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2  Opted-in profiles</a:t>
            </a:r>
            <a:endParaRPr/>
          </a:p>
        </p:txBody>
      </p:sp>
      <p:sp>
        <p:nvSpPr>
          <p:cNvPr id="508" name="Google Shape;508;p6"/>
          <p:cNvSpPr txBox="1"/>
          <p:nvPr/>
        </p:nvSpPr>
        <p:spPr>
          <a:xfrm>
            <a:off x="1847850" y="5219700"/>
            <a:ext cx="14592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Discovery opt-in required</a:t>
            </a:r>
            <a:endParaRPr/>
          </a:p>
        </p:txBody>
      </p:sp>
      <p:sp>
        <p:nvSpPr>
          <p:cNvPr id="509" name="Google Shape;509;p6"/>
          <p:cNvSpPr txBox="1"/>
          <p:nvPr/>
        </p:nvSpPr>
        <p:spPr>
          <a:xfrm>
            <a:off x="2705100" y="5686425"/>
            <a:ext cx="12877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3  Completeness ≥ 80%  &amp;  CV–JD fit ≥ 90%???</a:t>
            </a:r>
            <a:endParaRPr/>
          </a:p>
        </p:txBody>
      </p:sp>
      <p:sp>
        <p:nvSpPr>
          <p:cNvPr id="510" name="Google Shape;510;p6"/>
          <p:cNvSpPr txBox="1"/>
          <p:nvPr/>
        </p:nvSpPr>
        <p:spPr>
          <a:xfrm>
            <a:off x="2705100" y="6019800"/>
            <a:ext cx="128778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Dual gate</a:t>
            </a:r>
            <a:endParaRPr/>
          </a:p>
        </p:txBody>
      </p:sp>
      <p:sp>
        <p:nvSpPr>
          <p:cNvPr id="511" name="Google Shape;511;p6"/>
          <p:cNvSpPr txBox="1"/>
          <p:nvPr/>
        </p:nvSpPr>
        <p:spPr>
          <a:xfrm>
            <a:off x="3562350" y="6486525"/>
            <a:ext cx="11163300" cy="310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4  Must-haves met · high confidence</a:t>
            </a:r>
            <a:endParaRPr/>
          </a:p>
        </p:txBody>
      </p:sp>
      <p:sp>
        <p:nvSpPr>
          <p:cNvPr id="512" name="Google Shape;512;p6"/>
          <p:cNvSpPr txBox="1"/>
          <p:nvPr/>
        </p:nvSpPr>
        <p:spPr>
          <a:xfrm>
            <a:off x="3562350" y="6819900"/>
            <a:ext cx="11163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Hard filters</a:t>
            </a:r>
            <a:endParaRPr/>
          </a:p>
        </p:txBody>
      </p:sp>
      <p:sp>
        <p:nvSpPr>
          <p:cNvPr id="513" name="Google Shape;513;p6"/>
          <p:cNvSpPr txBox="1"/>
          <p:nvPr/>
        </p:nvSpPr>
        <p:spPr>
          <a:xfrm>
            <a:off x="4419600" y="7286625"/>
            <a:ext cx="9448800" cy="310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5  Fresh immediate availability</a:t>
            </a:r>
            <a:endParaRPr/>
          </a:p>
        </p:txBody>
      </p:sp>
      <p:sp>
        <p:nvSpPr>
          <p:cNvPr id="514" name="Google Shape;514;p6"/>
          <p:cNvSpPr txBox="1"/>
          <p:nvPr/>
        </p:nvSpPr>
        <p:spPr>
          <a:xfrm>
            <a:off x="4419600" y="7620000"/>
            <a:ext cx="94488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Separate filter</a:t>
            </a:r>
            <a:endParaRPr/>
          </a:p>
        </p:txBody>
      </p:sp>
      <p:sp>
        <p:nvSpPr>
          <p:cNvPr id="515" name="Google Shape;515;p6"/>
          <p:cNvSpPr txBox="1"/>
          <p:nvPr/>
        </p:nvSpPr>
        <p:spPr>
          <a:xfrm>
            <a:off x="5276850" y="8086725"/>
            <a:ext cx="7734300" cy="310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6  Explained, pseudonymised shortlist</a:t>
            </a:r>
            <a:endParaRPr/>
          </a:p>
        </p:txBody>
      </p:sp>
      <p:sp>
        <p:nvSpPr>
          <p:cNvPr id="516" name="Google Shape;516;p6"/>
          <p:cNvSpPr txBox="1"/>
          <p:nvPr/>
        </p:nvSpPr>
        <p:spPr>
          <a:xfrm>
            <a:off x="5276850" y="8420100"/>
            <a:ext cx="7734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E8EE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 CV, contact or history</a:t>
            </a:r>
            <a:endParaRPr/>
          </a:p>
        </p:txBody>
      </p:sp>
      <p:sp>
        <p:nvSpPr>
          <p:cNvPr id="517" name="Google Shape;517;p6"/>
          <p:cNvSpPr txBox="1"/>
          <p:nvPr/>
        </p:nvSpPr>
        <p:spPr>
          <a:xfrm>
            <a:off x="762000" y="9220200"/>
            <a:ext cx="85725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F2542D"/>
                </a:solidFill>
                <a:latin typeface="Inter"/>
                <a:ea typeface="Inter"/>
                <a:cs typeface="Inter"/>
                <a:sym typeface="Inter"/>
              </a:rPr>
              <a:t>Empty result never lowers thresholds — honest zero allowed.</a:t>
            </a:r>
            <a:endParaRPr/>
          </a:p>
        </p:txBody>
      </p:sp>
      <p:sp>
        <p:nvSpPr>
          <p:cNvPr id="518" name="Google Shape;518;p6"/>
          <p:cNvSpPr txBox="1"/>
          <p:nvPr/>
        </p:nvSpPr>
        <p:spPr>
          <a:xfrm>
            <a:off x="10477500" y="9220200"/>
            <a:ext cx="72390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9FB0C8"/>
                </a:solidFill>
                <a:latin typeface="Inter"/>
                <a:ea typeface="Inter"/>
                <a:cs typeface="Inter"/>
                <a:sym typeface="Inter"/>
              </a:rPr>
              <a:t>Broad employer search · post-launch (CPA-77)</a:t>
            </a:r>
            <a:endParaRPr/>
          </a:p>
        </p:txBody>
      </p:sp>
      <p:sp>
        <p:nvSpPr>
          <p:cNvPr id="519" name="Google Shape;519;p6"/>
          <p:cNvSpPr/>
          <p:nvPr/>
        </p:nvSpPr>
        <p:spPr>
          <a:xfrm>
            <a:off x="7880400" y="4718975"/>
            <a:ext cx="2976600" cy="952200"/>
          </a:xfrm>
          <a:prstGeom prst="wedgeRectCallout">
            <a:avLst>
              <a:gd fmla="val -61765" name="adj1"/>
              <a:gd fmla="val 67229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doesn’t fit anymore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6"/>
        </a:solidFill>
      </p:bgPr>
    </p:bg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areerPilot logo" id="524" name="Google Shape;52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428150"/>
            <a:ext cx="901087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525" name="Google Shape;525;p7"/>
          <p:cNvSpPr txBox="1"/>
          <p:nvPr/>
        </p:nvSpPr>
        <p:spPr>
          <a:xfrm>
            <a:off x="4572000" y="438150"/>
            <a:ext cx="9525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52" sz="15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 · Consent</a:t>
            </a:r>
            <a:endParaRPr sz="1500"/>
          </a:p>
        </p:txBody>
      </p:sp>
      <p:sp>
        <p:nvSpPr>
          <p:cNvPr id="526" name="Google Shape;526;p7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89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</a:t>
            </a:r>
            <a:endParaRPr/>
          </a:p>
        </p:txBody>
      </p:sp>
      <p:sp>
        <p:nvSpPr>
          <p:cNvPr id="527" name="Google Shape;527;p7"/>
          <p:cNvSpPr txBox="1"/>
          <p:nvPr/>
        </p:nvSpPr>
        <p:spPr>
          <a:xfrm>
            <a:off x="762000" y="9734550"/>
            <a:ext cx="114300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June 27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(planned)</a:t>
            </a:r>
            <a:endParaRPr/>
          </a:p>
        </p:txBody>
      </p:sp>
      <p:grpSp>
        <p:nvGrpSpPr>
          <p:cNvPr id="528" name="Google Shape;528;p7"/>
          <p:cNvGrpSpPr/>
          <p:nvPr/>
        </p:nvGrpSpPr>
        <p:grpSpPr>
          <a:xfrm>
            <a:off x="762000" y="733425"/>
            <a:ext cx="16764000" cy="38100"/>
            <a:chOff x="0" y="-38100"/>
            <a:chExt cx="22352000" cy="50800"/>
          </a:xfrm>
        </p:grpSpPr>
        <p:sp>
          <p:nvSpPr>
            <p:cNvPr id="529" name="Google Shape;529;p7"/>
            <p:cNvSpPr/>
            <p:nvPr/>
          </p:nvSpPr>
          <p:spPr>
            <a:xfrm>
              <a:off x="0" y="0"/>
              <a:ext cx="22352000" cy="12700"/>
            </a:xfrm>
            <a:custGeom>
              <a:rect b="b" l="l" r="r" t="t"/>
              <a:pathLst>
                <a:path extrusionOk="0" h="127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" name="Google Shape;530;p7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1" name="Google Shape;531;p7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43" sz="13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CONSENT &amp; RECRUITER ACCESS</a:t>
            </a:r>
            <a:endParaRPr/>
          </a:p>
        </p:txBody>
      </p:sp>
      <p:sp>
        <p:nvSpPr>
          <p:cNvPr id="532" name="Google Shape;532;p7"/>
          <p:cNvSpPr txBox="1"/>
          <p:nvPr/>
        </p:nvSpPr>
        <p:spPr>
          <a:xfrm>
            <a:off x="762000" y="1685925"/>
            <a:ext cx="16192500" cy="6829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65" sz="4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 match is an invitation.</a:t>
            </a:r>
            <a:endParaRPr/>
          </a:p>
        </p:txBody>
      </p:sp>
      <p:sp>
        <p:nvSpPr>
          <p:cNvPr id="533" name="Google Shape;533;p7"/>
          <p:cNvSpPr txBox="1"/>
          <p:nvPr/>
        </p:nvSpPr>
        <p:spPr>
          <a:xfrm>
            <a:off x="762000" y="2438400"/>
            <a:ext cx="11430000" cy="3067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D3D63"/>
                </a:solidFill>
                <a:latin typeface="Inter"/>
                <a:ea typeface="Inter"/>
                <a:cs typeface="Inter"/>
                <a:sym typeface="Inter"/>
              </a:rPr>
              <a:t>The candidate decides what is shared, with whom, and for how long.</a:t>
            </a:r>
            <a:endParaRPr/>
          </a:p>
        </p:txBody>
      </p:sp>
      <p:grpSp>
        <p:nvGrpSpPr>
          <p:cNvPr id="534" name="Google Shape;534;p7"/>
          <p:cNvGrpSpPr/>
          <p:nvPr/>
        </p:nvGrpSpPr>
        <p:grpSpPr>
          <a:xfrm>
            <a:off x="762000" y="3971925"/>
            <a:ext cx="3162300" cy="2314575"/>
            <a:chOff x="0" y="-38100"/>
            <a:chExt cx="4216400" cy="3086100"/>
          </a:xfrm>
        </p:grpSpPr>
        <p:sp>
          <p:nvSpPr>
            <p:cNvPr id="535" name="Google Shape;535;p7"/>
            <p:cNvSpPr/>
            <p:nvPr/>
          </p:nvSpPr>
          <p:spPr>
            <a:xfrm>
              <a:off x="0" y="0"/>
              <a:ext cx="4216400" cy="3048000"/>
            </a:xfrm>
            <a:custGeom>
              <a:rect b="b" l="l" r="r" t="t"/>
              <a:pathLst>
                <a:path extrusionOk="0" h="3048000" w="4216400">
                  <a:moveTo>
                    <a:pt x="0" y="0"/>
                  </a:moveTo>
                  <a:lnTo>
                    <a:pt x="4216400" y="0"/>
                  </a:lnTo>
                  <a:lnTo>
                    <a:pt x="4216400" y="3048000"/>
                  </a:lnTo>
                  <a:lnTo>
                    <a:pt x="0" y="3048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6" name="Google Shape;536;p7"/>
            <p:cNvSpPr txBox="1"/>
            <p:nvPr/>
          </p:nvSpPr>
          <p:spPr>
            <a:xfrm>
              <a:off x="0" y="-38100"/>
              <a:ext cx="4216400" cy="308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7" name="Google Shape;537;p7"/>
          <p:cNvGrpSpPr/>
          <p:nvPr/>
        </p:nvGrpSpPr>
        <p:grpSpPr>
          <a:xfrm>
            <a:off x="990600" y="4200525"/>
            <a:ext cx="419100" cy="447675"/>
            <a:chOff x="0" y="-38100"/>
            <a:chExt cx="558800" cy="596900"/>
          </a:xfrm>
        </p:grpSpPr>
        <p:sp>
          <p:nvSpPr>
            <p:cNvPr id="538" name="Google Shape;538;p7"/>
            <p:cNvSpPr/>
            <p:nvPr/>
          </p:nvSpPr>
          <p:spPr>
            <a:xfrm>
              <a:off x="0" y="0"/>
              <a:ext cx="558800" cy="558800"/>
            </a:xfrm>
            <a:custGeom>
              <a:rect b="b" l="l" r="r" t="t"/>
              <a:pathLst>
                <a:path extrusionOk="0" h="558800" w="558800">
                  <a:moveTo>
                    <a:pt x="279400" y="0"/>
                  </a:moveTo>
                  <a:cubicBezTo>
                    <a:pt x="433708" y="0"/>
                    <a:pt x="558800" y="125092"/>
                    <a:pt x="558800" y="279400"/>
                  </a:cubicBezTo>
                  <a:cubicBezTo>
                    <a:pt x="558800" y="433708"/>
                    <a:pt x="433708" y="558800"/>
                    <a:pt x="279400" y="558800"/>
                  </a:cubicBezTo>
                  <a:cubicBezTo>
                    <a:pt x="125092" y="558800"/>
                    <a:pt x="0" y="433708"/>
                    <a:pt x="0" y="279400"/>
                  </a:cubicBez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9" name="Google Shape;539;p7"/>
            <p:cNvSpPr txBox="1"/>
            <p:nvPr/>
          </p:nvSpPr>
          <p:spPr>
            <a:xfrm>
              <a:off x="0" y="-38100"/>
              <a:ext cx="558800" cy="59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540" name="Google Shape;540;p7"/>
          <p:cNvCxnSpPr/>
          <p:nvPr/>
        </p:nvCxnSpPr>
        <p:spPr>
          <a:xfrm>
            <a:off x="3962400" y="5143500"/>
            <a:ext cx="228600" cy="0"/>
          </a:xfrm>
          <a:prstGeom prst="straightConnector1">
            <a:avLst/>
          </a:prstGeom>
          <a:noFill/>
          <a:ln cap="flat" cmpd="sng" w="19050">
            <a:solidFill>
              <a:srgbClr val="1D3D6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541" name="Google Shape;541;p7"/>
          <p:cNvGrpSpPr/>
          <p:nvPr/>
        </p:nvGrpSpPr>
        <p:grpSpPr>
          <a:xfrm>
            <a:off x="4229100" y="3971925"/>
            <a:ext cx="3162300" cy="2314575"/>
            <a:chOff x="0" y="-38100"/>
            <a:chExt cx="4216400" cy="3086100"/>
          </a:xfrm>
        </p:grpSpPr>
        <p:sp>
          <p:nvSpPr>
            <p:cNvPr id="542" name="Google Shape;542;p7"/>
            <p:cNvSpPr/>
            <p:nvPr/>
          </p:nvSpPr>
          <p:spPr>
            <a:xfrm>
              <a:off x="0" y="0"/>
              <a:ext cx="4216400" cy="3048000"/>
            </a:xfrm>
            <a:custGeom>
              <a:rect b="b" l="l" r="r" t="t"/>
              <a:pathLst>
                <a:path extrusionOk="0" h="3048000" w="4216400">
                  <a:moveTo>
                    <a:pt x="0" y="0"/>
                  </a:moveTo>
                  <a:lnTo>
                    <a:pt x="4216400" y="0"/>
                  </a:lnTo>
                  <a:lnTo>
                    <a:pt x="4216400" y="3048000"/>
                  </a:lnTo>
                  <a:lnTo>
                    <a:pt x="0" y="3048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3" name="Google Shape;543;p7"/>
            <p:cNvSpPr txBox="1"/>
            <p:nvPr/>
          </p:nvSpPr>
          <p:spPr>
            <a:xfrm>
              <a:off x="0" y="-38100"/>
              <a:ext cx="4216400" cy="308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44" name="Google Shape;544;p7"/>
          <p:cNvGrpSpPr/>
          <p:nvPr/>
        </p:nvGrpSpPr>
        <p:grpSpPr>
          <a:xfrm>
            <a:off x="4457700" y="4200525"/>
            <a:ext cx="419100" cy="447675"/>
            <a:chOff x="0" y="-38100"/>
            <a:chExt cx="558800" cy="596900"/>
          </a:xfrm>
        </p:grpSpPr>
        <p:sp>
          <p:nvSpPr>
            <p:cNvPr id="545" name="Google Shape;545;p7"/>
            <p:cNvSpPr/>
            <p:nvPr/>
          </p:nvSpPr>
          <p:spPr>
            <a:xfrm>
              <a:off x="0" y="0"/>
              <a:ext cx="558800" cy="558800"/>
            </a:xfrm>
            <a:custGeom>
              <a:rect b="b" l="l" r="r" t="t"/>
              <a:pathLst>
                <a:path extrusionOk="0" h="558800" w="558800">
                  <a:moveTo>
                    <a:pt x="279400" y="0"/>
                  </a:moveTo>
                  <a:cubicBezTo>
                    <a:pt x="433708" y="0"/>
                    <a:pt x="558800" y="125092"/>
                    <a:pt x="558800" y="279400"/>
                  </a:cubicBezTo>
                  <a:cubicBezTo>
                    <a:pt x="558800" y="433708"/>
                    <a:pt x="433708" y="558800"/>
                    <a:pt x="279400" y="558800"/>
                  </a:cubicBezTo>
                  <a:cubicBezTo>
                    <a:pt x="125092" y="558800"/>
                    <a:pt x="0" y="433708"/>
                    <a:pt x="0" y="279400"/>
                  </a:cubicBez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6" name="Google Shape;546;p7"/>
            <p:cNvSpPr txBox="1"/>
            <p:nvPr/>
          </p:nvSpPr>
          <p:spPr>
            <a:xfrm>
              <a:off x="0" y="-38100"/>
              <a:ext cx="558800" cy="59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547" name="Google Shape;547;p7"/>
          <p:cNvCxnSpPr/>
          <p:nvPr/>
        </p:nvCxnSpPr>
        <p:spPr>
          <a:xfrm>
            <a:off x="7429500" y="5143500"/>
            <a:ext cx="228600" cy="0"/>
          </a:xfrm>
          <a:prstGeom prst="straightConnector1">
            <a:avLst/>
          </a:prstGeom>
          <a:noFill/>
          <a:ln cap="flat" cmpd="sng" w="19050">
            <a:solidFill>
              <a:srgbClr val="1D3D6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548" name="Google Shape;548;p7"/>
          <p:cNvGrpSpPr/>
          <p:nvPr/>
        </p:nvGrpSpPr>
        <p:grpSpPr>
          <a:xfrm>
            <a:off x="7696200" y="3971925"/>
            <a:ext cx="3162300" cy="2314575"/>
            <a:chOff x="0" y="-38100"/>
            <a:chExt cx="4216400" cy="3086100"/>
          </a:xfrm>
        </p:grpSpPr>
        <p:sp>
          <p:nvSpPr>
            <p:cNvPr id="549" name="Google Shape;549;p7"/>
            <p:cNvSpPr/>
            <p:nvPr/>
          </p:nvSpPr>
          <p:spPr>
            <a:xfrm>
              <a:off x="0" y="0"/>
              <a:ext cx="4216400" cy="3048000"/>
            </a:xfrm>
            <a:custGeom>
              <a:rect b="b" l="l" r="r" t="t"/>
              <a:pathLst>
                <a:path extrusionOk="0" h="3048000" w="4216400">
                  <a:moveTo>
                    <a:pt x="0" y="0"/>
                  </a:moveTo>
                  <a:lnTo>
                    <a:pt x="4216400" y="0"/>
                  </a:lnTo>
                  <a:lnTo>
                    <a:pt x="4216400" y="3048000"/>
                  </a:lnTo>
                  <a:lnTo>
                    <a:pt x="0" y="3048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0" name="Google Shape;550;p7"/>
            <p:cNvSpPr txBox="1"/>
            <p:nvPr/>
          </p:nvSpPr>
          <p:spPr>
            <a:xfrm>
              <a:off x="0" y="-38100"/>
              <a:ext cx="4216400" cy="308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51" name="Google Shape;551;p7"/>
          <p:cNvGrpSpPr/>
          <p:nvPr/>
        </p:nvGrpSpPr>
        <p:grpSpPr>
          <a:xfrm>
            <a:off x="7924800" y="4200525"/>
            <a:ext cx="419100" cy="447675"/>
            <a:chOff x="0" y="-38100"/>
            <a:chExt cx="558800" cy="596900"/>
          </a:xfrm>
        </p:grpSpPr>
        <p:sp>
          <p:nvSpPr>
            <p:cNvPr id="552" name="Google Shape;552;p7"/>
            <p:cNvSpPr/>
            <p:nvPr/>
          </p:nvSpPr>
          <p:spPr>
            <a:xfrm>
              <a:off x="0" y="0"/>
              <a:ext cx="558800" cy="558800"/>
            </a:xfrm>
            <a:custGeom>
              <a:rect b="b" l="l" r="r" t="t"/>
              <a:pathLst>
                <a:path extrusionOk="0" h="558800" w="558800">
                  <a:moveTo>
                    <a:pt x="279400" y="0"/>
                  </a:moveTo>
                  <a:cubicBezTo>
                    <a:pt x="433708" y="0"/>
                    <a:pt x="558800" y="125092"/>
                    <a:pt x="558800" y="279400"/>
                  </a:cubicBezTo>
                  <a:cubicBezTo>
                    <a:pt x="558800" y="433708"/>
                    <a:pt x="433708" y="558800"/>
                    <a:pt x="279400" y="558800"/>
                  </a:cubicBezTo>
                  <a:cubicBezTo>
                    <a:pt x="125092" y="558800"/>
                    <a:pt x="0" y="433708"/>
                    <a:pt x="0" y="279400"/>
                  </a:cubicBez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3" name="Google Shape;553;p7"/>
            <p:cNvSpPr txBox="1"/>
            <p:nvPr/>
          </p:nvSpPr>
          <p:spPr>
            <a:xfrm>
              <a:off x="0" y="-38100"/>
              <a:ext cx="558800" cy="59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554" name="Google Shape;554;p7"/>
          <p:cNvCxnSpPr/>
          <p:nvPr/>
        </p:nvCxnSpPr>
        <p:spPr>
          <a:xfrm>
            <a:off x="10896600" y="5143500"/>
            <a:ext cx="228600" cy="0"/>
          </a:xfrm>
          <a:prstGeom prst="straightConnector1">
            <a:avLst/>
          </a:prstGeom>
          <a:noFill/>
          <a:ln cap="flat" cmpd="sng" w="19050">
            <a:solidFill>
              <a:srgbClr val="1D3D6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555" name="Google Shape;555;p7"/>
          <p:cNvGrpSpPr/>
          <p:nvPr/>
        </p:nvGrpSpPr>
        <p:grpSpPr>
          <a:xfrm>
            <a:off x="11163300" y="3971925"/>
            <a:ext cx="3162300" cy="2314575"/>
            <a:chOff x="0" y="-38100"/>
            <a:chExt cx="4216400" cy="3086100"/>
          </a:xfrm>
        </p:grpSpPr>
        <p:sp>
          <p:nvSpPr>
            <p:cNvPr id="556" name="Google Shape;556;p7"/>
            <p:cNvSpPr/>
            <p:nvPr/>
          </p:nvSpPr>
          <p:spPr>
            <a:xfrm>
              <a:off x="0" y="0"/>
              <a:ext cx="4216400" cy="3048000"/>
            </a:xfrm>
            <a:custGeom>
              <a:rect b="b" l="l" r="r" t="t"/>
              <a:pathLst>
                <a:path extrusionOk="0" h="3048000" w="4216400">
                  <a:moveTo>
                    <a:pt x="0" y="0"/>
                  </a:moveTo>
                  <a:lnTo>
                    <a:pt x="4216400" y="0"/>
                  </a:lnTo>
                  <a:lnTo>
                    <a:pt x="4216400" y="3048000"/>
                  </a:lnTo>
                  <a:lnTo>
                    <a:pt x="0" y="3048000"/>
                  </a:lnTo>
                  <a:close/>
                </a:path>
              </a:pathLst>
            </a:custGeom>
            <a:solidFill>
              <a:srgbClr val="FDE4DC"/>
            </a:solidFill>
            <a:ln cap="sq" cmpd="sng" w="9525">
              <a:solidFill>
                <a:srgbClr val="F2542D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7" name="Google Shape;557;p7"/>
            <p:cNvSpPr txBox="1"/>
            <p:nvPr/>
          </p:nvSpPr>
          <p:spPr>
            <a:xfrm>
              <a:off x="0" y="-38100"/>
              <a:ext cx="4216400" cy="308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58" name="Google Shape;558;p7"/>
          <p:cNvGrpSpPr/>
          <p:nvPr/>
        </p:nvGrpSpPr>
        <p:grpSpPr>
          <a:xfrm>
            <a:off x="11391900" y="4200525"/>
            <a:ext cx="419100" cy="447675"/>
            <a:chOff x="0" y="-38100"/>
            <a:chExt cx="558800" cy="596900"/>
          </a:xfrm>
        </p:grpSpPr>
        <p:sp>
          <p:nvSpPr>
            <p:cNvPr id="559" name="Google Shape;559;p7"/>
            <p:cNvSpPr/>
            <p:nvPr/>
          </p:nvSpPr>
          <p:spPr>
            <a:xfrm>
              <a:off x="0" y="0"/>
              <a:ext cx="558800" cy="558800"/>
            </a:xfrm>
            <a:custGeom>
              <a:rect b="b" l="l" r="r" t="t"/>
              <a:pathLst>
                <a:path extrusionOk="0" h="558800" w="558800">
                  <a:moveTo>
                    <a:pt x="279400" y="0"/>
                  </a:moveTo>
                  <a:cubicBezTo>
                    <a:pt x="433708" y="0"/>
                    <a:pt x="558800" y="125092"/>
                    <a:pt x="558800" y="279400"/>
                  </a:cubicBezTo>
                  <a:cubicBezTo>
                    <a:pt x="558800" y="433708"/>
                    <a:pt x="433708" y="558800"/>
                    <a:pt x="279400" y="558800"/>
                  </a:cubicBezTo>
                  <a:cubicBezTo>
                    <a:pt x="125092" y="558800"/>
                    <a:pt x="0" y="433708"/>
                    <a:pt x="0" y="279400"/>
                  </a:cubicBez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0" name="Google Shape;560;p7"/>
            <p:cNvSpPr txBox="1"/>
            <p:nvPr/>
          </p:nvSpPr>
          <p:spPr>
            <a:xfrm>
              <a:off x="0" y="-38100"/>
              <a:ext cx="558800" cy="59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561" name="Google Shape;561;p7"/>
          <p:cNvCxnSpPr/>
          <p:nvPr/>
        </p:nvCxnSpPr>
        <p:spPr>
          <a:xfrm>
            <a:off x="14363700" y="5143500"/>
            <a:ext cx="228600" cy="0"/>
          </a:xfrm>
          <a:prstGeom prst="straightConnector1">
            <a:avLst/>
          </a:prstGeom>
          <a:noFill/>
          <a:ln cap="flat" cmpd="sng" w="19050">
            <a:solidFill>
              <a:srgbClr val="1D3D6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562" name="Google Shape;562;p7"/>
          <p:cNvGrpSpPr/>
          <p:nvPr/>
        </p:nvGrpSpPr>
        <p:grpSpPr>
          <a:xfrm>
            <a:off x="14630400" y="3971925"/>
            <a:ext cx="3162300" cy="2314575"/>
            <a:chOff x="0" y="-38100"/>
            <a:chExt cx="4216400" cy="3086100"/>
          </a:xfrm>
        </p:grpSpPr>
        <p:sp>
          <p:nvSpPr>
            <p:cNvPr id="563" name="Google Shape;563;p7"/>
            <p:cNvSpPr/>
            <p:nvPr/>
          </p:nvSpPr>
          <p:spPr>
            <a:xfrm>
              <a:off x="0" y="0"/>
              <a:ext cx="4216400" cy="3048000"/>
            </a:xfrm>
            <a:custGeom>
              <a:rect b="b" l="l" r="r" t="t"/>
              <a:pathLst>
                <a:path extrusionOk="0" h="3048000" w="4216400">
                  <a:moveTo>
                    <a:pt x="0" y="0"/>
                  </a:moveTo>
                  <a:lnTo>
                    <a:pt x="4216400" y="0"/>
                  </a:lnTo>
                  <a:lnTo>
                    <a:pt x="4216400" y="3048000"/>
                  </a:lnTo>
                  <a:lnTo>
                    <a:pt x="0" y="3048000"/>
                  </a:lnTo>
                  <a:close/>
                </a:path>
              </a:pathLst>
            </a:custGeom>
            <a:solidFill>
              <a:srgbClr val="FDE4DC"/>
            </a:solidFill>
            <a:ln cap="sq" cmpd="sng" w="9525">
              <a:solidFill>
                <a:srgbClr val="F2542D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4" name="Google Shape;564;p7"/>
            <p:cNvSpPr txBox="1"/>
            <p:nvPr/>
          </p:nvSpPr>
          <p:spPr>
            <a:xfrm>
              <a:off x="0" y="-38100"/>
              <a:ext cx="4216400" cy="308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65" name="Google Shape;565;p7"/>
          <p:cNvGrpSpPr/>
          <p:nvPr/>
        </p:nvGrpSpPr>
        <p:grpSpPr>
          <a:xfrm>
            <a:off x="14859000" y="4200525"/>
            <a:ext cx="419100" cy="447675"/>
            <a:chOff x="0" y="-38100"/>
            <a:chExt cx="558800" cy="596900"/>
          </a:xfrm>
        </p:grpSpPr>
        <p:sp>
          <p:nvSpPr>
            <p:cNvPr id="566" name="Google Shape;566;p7"/>
            <p:cNvSpPr/>
            <p:nvPr/>
          </p:nvSpPr>
          <p:spPr>
            <a:xfrm>
              <a:off x="0" y="0"/>
              <a:ext cx="558800" cy="558800"/>
            </a:xfrm>
            <a:custGeom>
              <a:rect b="b" l="l" r="r" t="t"/>
              <a:pathLst>
                <a:path extrusionOk="0" h="558800" w="558800">
                  <a:moveTo>
                    <a:pt x="279400" y="0"/>
                  </a:moveTo>
                  <a:cubicBezTo>
                    <a:pt x="433708" y="0"/>
                    <a:pt x="558800" y="125092"/>
                    <a:pt x="558800" y="279400"/>
                  </a:cubicBezTo>
                  <a:cubicBezTo>
                    <a:pt x="558800" y="433708"/>
                    <a:pt x="433708" y="558800"/>
                    <a:pt x="279400" y="558800"/>
                  </a:cubicBezTo>
                  <a:cubicBezTo>
                    <a:pt x="125092" y="558800"/>
                    <a:pt x="0" y="433708"/>
                    <a:pt x="0" y="279400"/>
                  </a:cubicBez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7" name="Google Shape;567;p7"/>
            <p:cNvSpPr txBox="1"/>
            <p:nvPr/>
          </p:nvSpPr>
          <p:spPr>
            <a:xfrm>
              <a:off x="0" y="-38100"/>
              <a:ext cx="558800" cy="59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68" name="Google Shape;568;p7"/>
          <p:cNvSpPr txBox="1"/>
          <p:nvPr/>
        </p:nvSpPr>
        <p:spPr>
          <a:xfrm>
            <a:off x="990600" y="4829175"/>
            <a:ext cx="27051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Discovery opt-in</a:t>
            </a:r>
            <a:endParaRPr/>
          </a:p>
        </p:txBody>
      </p:sp>
      <p:sp>
        <p:nvSpPr>
          <p:cNvPr id="569" name="Google Shape;569;p7"/>
          <p:cNvSpPr txBox="1"/>
          <p:nvPr/>
        </p:nvSpPr>
        <p:spPr>
          <a:xfrm>
            <a:off x="990600" y="5495925"/>
            <a:ext cx="2705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Off by default</a:t>
            </a:r>
            <a:endParaRPr/>
          </a:p>
        </p:txBody>
      </p:sp>
      <p:sp>
        <p:nvSpPr>
          <p:cNvPr id="570" name="Google Shape;570;p7"/>
          <p:cNvSpPr txBox="1"/>
          <p:nvPr/>
        </p:nvSpPr>
        <p:spPr>
          <a:xfrm>
            <a:off x="4457700" y="4829175"/>
            <a:ext cx="27051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Named request</a:t>
            </a:r>
            <a:endParaRPr/>
          </a:p>
        </p:txBody>
      </p:sp>
      <p:sp>
        <p:nvSpPr>
          <p:cNvPr id="571" name="Google Shape;571;p7"/>
          <p:cNvSpPr txBox="1"/>
          <p:nvPr/>
        </p:nvSpPr>
        <p:spPr>
          <a:xfrm>
            <a:off x="4457700" y="5495925"/>
            <a:ext cx="2705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Specific recruiter + JD</a:t>
            </a:r>
            <a:endParaRPr/>
          </a:p>
        </p:txBody>
      </p:sp>
      <p:sp>
        <p:nvSpPr>
          <p:cNvPr id="572" name="Google Shape;572;p7"/>
          <p:cNvSpPr txBox="1"/>
          <p:nvPr/>
        </p:nvSpPr>
        <p:spPr>
          <a:xfrm>
            <a:off x="7924800" y="4829175"/>
            <a:ext cx="27051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Preview &amp; approve</a:t>
            </a:r>
            <a:endParaRPr/>
          </a:p>
        </p:txBody>
      </p:sp>
      <p:sp>
        <p:nvSpPr>
          <p:cNvPr id="573" name="Google Shape;573;p7"/>
          <p:cNvSpPr txBox="1"/>
          <p:nvPr/>
        </p:nvSpPr>
        <p:spPr>
          <a:xfrm>
            <a:off x="7924800" y="5495925"/>
            <a:ext cx="2705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Candidate picks CV version</a:t>
            </a:r>
            <a:endParaRPr/>
          </a:p>
        </p:txBody>
      </p:sp>
      <p:sp>
        <p:nvSpPr>
          <p:cNvPr id="574" name="Google Shape;574;p7"/>
          <p:cNvSpPr txBox="1"/>
          <p:nvPr/>
        </p:nvSpPr>
        <p:spPr>
          <a:xfrm>
            <a:off x="11391900" y="4829175"/>
            <a:ext cx="27051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Scoped, expiring</a:t>
            </a:r>
            <a:endParaRPr/>
          </a:p>
        </p:txBody>
      </p:sp>
      <p:sp>
        <p:nvSpPr>
          <p:cNvPr id="575" name="Google Shape;575;p7"/>
          <p:cNvSpPr txBox="1"/>
          <p:nvPr/>
        </p:nvSpPr>
        <p:spPr>
          <a:xfrm>
            <a:off x="11391900" y="5495925"/>
            <a:ext cx="2705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Audited access · proposed 7-day</a:t>
            </a:r>
            <a:endParaRPr/>
          </a:p>
        </p:txBody>
      </p:sp>
      <p:sp>
        <p:nvSpPr>
          <p:cNvPr id="576" name="Google Shape;576;p7"/>
          <p:cNvSpPr txBox="1"/>
          <p:nvPr/>
        </p:nvSpPr>
        <p:spPr>
          <a:xfrm>
            <a:off x="14859000" y="4829175"/>
            <a:ext cx="27051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Revoke future access</a:t>
            </a:r>
            <a:endParaRPr/>
          </a:p>
        </p:txBody>
      </p:sp>
      <p:sp>
        <p:nvSpPr>
          <p:cNvPr id="577" name="Google Shape;577;p7"/>
          <p:cNvSpPr txBox="1"/>
          <p:nvPr/>
        </p:nvSpPr>
        <p:spPr>
          <a:xfrm>
            <a:off x="14859000" y="5495925"/>
            <a:ext cx="2705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Downloaded copies can't be recalled</a:t>
            </a:r>
            <a:endParaRPr/>
          </a:p>
        </p:txBody>
      </p:sp>
      <p:grpSp>
        <p:nvGrpSpPr>
          <p:cNvPr id="578" name="Google Shape;578;p7"/>
          <p:cNvGrpSpPr/>
          <p:nvPr/>
        </p:nvGrpSpPr>
        <p:grpSpPr>
          <a:xfrm>
            <a:off x="762000" y="7400925"/>
            <a:ext cx="5384800" cy="1457325"/>
            <a:chOff x="0" y="-38100"/>
            <a:chExt cx="7179733" cy="1943100"/>
          </a:xfrm>
        </p:grpSpPr>
        <p:sp>
          <p:nvSpPr>
            <p:cNvPr id="579" name="Google Shape;579;p7"/>
            <p:cNvSpPr/>
            <p:nvPr/>
          </p:nvSpPr>
          <p:spPr>
            <a:xfrm>
              <a:off x="0" y="0"/>
              <a:ext cx="7179733" cy="1905000"/>
            </a:xfrm>
            <a:custGeom>
              <a:rect b="b" l="l" r="r" t="t"/>
              <a:pathLst>
                <a:path extrusionOk="0" h="1905000" w="7179733">
                  <a:moveTo>
                    <a:pt x="0" y="0"/>
                  </a:moveTo>
                  <a:lnTo>
                    <a:pt x="7179733" y="0"/>
                  </a:lnTo>
                  <a:lnTo>
                    <a:pt x="7179733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0" name="Google Shape;580;p7"/>
            <p:cNvSpPr txBox="1"/>
            <p:nvPr/>
          </p:nvSpPr>
          <p:spPr>
            <a:xfrm>
              <a:off x="0" y="-38100"/>
              <a:ext cx="7179733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81" name="Google Shape;581;p7"/>
          <p:cNvGrpSpPr/>
          <p:nvPr/>
        </p:nvGrpSpPr>
        <p:grpSpPr>
          <a:xfrm>
            <a:off x="6451600" y="7400925"/>
            <a:ext cx="5384800" cy="1457325"/>
            <a:chOff x="0" y="-38100"/>
            <a:chExt cx="7179733" cy="1943100"/>
          </a:xfrm>
        </p:grpSpPr>
        <p:sp>
          <p:nvSpPr>
            <p:cNvPr id="582" name="Google Shape;582;p7"/>
            <p:cNvSpPr/>
            <p:nvPr/>
          </p:nvSpPr>
          <p:spPr>
            <a:xfrm>
              <a:off x="0" y="0"/>
              <a:ext cx="7179733" cy="1905000"/>
            </a:xfrm>
            <a:custGeom>
              <a:rect b="b" l="l" r="r" t="t"/>
              <a:pathLst>
                <a:path extrusionOk="0" h="1905000" w="7179733">
                  <a:moveTo>
                    <a:pt x="0" y="0"/>
                  </a:moveTo>
                  <a:lnTo>
                    <a:pt x="7179733" y="0"/>
                  </a:lnTo>
                  <a:lnTo>
                    <a:pt x="7179733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3" name="Google Shape;583;p7"/>
            <p:cNvSpPr txBox="1"/>
            <p:nvPr/>
          </p:nvSpPr>
          <p:spPr>
            <a:xfrm>
              <a:off x="0" y="-38100"/>
              <a:ext cx="7179733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84" name="Google Shape;584;p7"/>
          <p:cNvGrpSpPr/>
          <p:nvPr/>
        </p:nvGrpSpPr>
        <p:grpSpPr>
          <a:xfrm>
            <a:off x="12141200" y="7400925"/>
            <a:ext cx="5384800" cy="1457325"/>
            <a:chOff x="0" y="-38100"/>
            <a:chExt cx="7179733" cy="1943100"/>
          </a:xfrm>
        </p:grpSpPr>
        <p:sp>
          <p:nvSpPr>
            <p:cNvPr id="585" name="Google Shape;585;p7"/>
            <p:cNvSpPr/>
            <p:nvPr/>
          </p:nvSpPr>
          <p:spPr>
            <a:xfrm>
              <a:off x="0" y="0"/>
              <a:ext cx="7179733" cy="1905000"/>
            </a:xfrm>
            <a:custGeom>
              <a:rect b="b" l="l" r="r" t="t"/>
              <a:pathLst>
                <a:path extrusionOk="0" h="1905000" w="7179733">
                  <a:moveTo>
                    <a:pt x="0" y="0"/>
                  </a:moveTo>
                  <a:lnTo>
                    <a:pt x="7179733" y="0"/>
                  </a:lnTo>
                  <a:lnTo>
                    <a:pt x="7179733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FDE4DC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6" name="Google Shape;586;p7"/>
            <p:cNvSpPr txBox="1"/>
            <p:nvPr/>
          </p:nvSpPr>
          <p:spPr>
            <a:xfrm>
              <a:off x="0" y="-38100"/>
              <a:ext cx="7179733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87" name="Google Shape;587;p7"/>
          <p:cNvSpPr txBox="1"/>
          <p:nvPr/>
        </p:nvSpPr>
        <p:spPr>
          <a:xfrm>
            <a:off x="990600" y="7639050"/>
            <a:ext cx="49276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 BULK CV EXPORT</a:t>
            </a:r>
            <a:endParaRPr/>
          </a:p>
        </p:txBody>
      </p:sp>
      <p:sp>
        <p:nvSpPr>
          <p:cNvPr id="588" name="Google Shape;588;p7"/>
          <p:cNvSpPr txBox="1"/>
          <p:nvPr/>
        </p:nvSpPr>
        <p:spPr>
          <a:xfrm>
            <a:off x="990600" y="7962900"/>
            <a:ext cx="4927600" cy="2847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Human decisions only</a:t>
            </a:r>
            <a:endParaRPr/>
          </a:p>
        </p:txBody>
      </p:sp>
      <p:sp>
        <p:nvSpPr>
          <p:cNvPr id="589" name="Google Shape;589;p7"/>
          <p:cNvSpPr txBox="1"/>
          <p:nvPr/>
        </p:nvSpPr>
        <p:spPr>
          <a:xfrm>
            <a:off x="6680200" y="7639050"/>
            <a:ext cx="49276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AUDITED</a:t>
            </a:r>
            <a:endParaRPr/>
          </a:p>
        </p:txBody>
      </p:sp>
      <p:sp>
        <p:nvSpPr>
          <p:cNvPr id="590" name="Google Shape;590;p7"/>
          <p:cNvSpPr txBox="1"/>
          <p:nvPr/>
        </p:nvSpPr>
        <p:spPr>
          <a:xfrm>
            <a:off x="6680200" y="7962900"/>
            <a:ext cx="4927600" cy="2847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Every access logged for candidate</a:t>
            </a:r>
            <a:endParaRPr/>
          </a:p>
        </p:txBody>
      </p:sp>
      <p:sp>
        <p:nvSpPr>
          <p:cNvPr id="591" name="Google Shape;591;p7"/>
          <p:cNvSpPr txBox="1"/>
          <p:nvPr/>
        </p:nvSpPr>
        <p:spPr>
          <a:xfrm>
            <a:off x="12369800" y="7639050"/>
            <a:ext cx="49276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PROPOSED 7-DAY FRESHNESS</a:t>
            </a:r>
            <a:endParaRPr/>
          </a:p>
        </p:txBody>
      </p:sp>
      <p:sp>
        <p:nvSpPr>
          <p:cNvPr id="592" name="Google Shape;592;p7"/>
          <p:cNvSpPr txBox="1"/>
          <p:nvPr/>
        </p:nvSpPr>
        <p:spPr>
          <a:xfrm>
            <a:off x="12369800" y="7962900"/>
            <a:ext cx="4927600" cy="2847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Access expires automatically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6"/>
        </a:solidFill>
      </p:bgPr>
    </p:bg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areerPilot logo" id="597" name="Google Shape;59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428150"/>
            <a:ext cx="901087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598" name="Google Shape;598;p8"/>
          <p:cNvSpPr txBox="1"/>
          <p:nvPr/>
        </p:nvSpPr>
        <p:spPr>
          <a:xfrm>
            <a:off x="4572000" y="438150"/>
            <a:ext cx="9525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52" sz="15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 · Scope</a:t>
            </a:r>
            <a:endParaRPr sz="1500"/>
          </a:p>
        </p:txBody>
      </p:sp>
      <p:sp>
        <p:nvSpPr>
          <p:cNvPr id="599" name="Google Shape;599;p8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89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</a:t>
            </a:r>
            <a:endParaRPr/>
          </a:p>
        </p:txBody>
      </p:sp>
      <p:sp>
        <p:nvSpPr>
          <p:cNvPr id="600" name="Google Shape;600;p8"/>
          <p:cNvSpPr txBox="1"/>
          <p:nvPr/>
        </p:nvSpPr>
        <p:spPr>
          <a:xfrm>
            <a:off x="762000" y="9734550"/>
            <a:ext cx="114300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June 27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(planned)</a:t>
            </a:r>
            <a:endParaRPr/>
          </a:p>
        </p:txBody>
      </p:sp>
      <p:grpSp>
        <p:nvGrpSpPr>
          <p:cNvPr id="601" name="Google Shape;601;p8"/>
          <p:cNvGrpSpPr/>
          <p:nvPr/>
        </p:nvGrpSpPr>
        <p:grpSpPr>
          <a:xfrm>
            <a:off x="762000" y="733425"/>
            <a:ext cx="16764000" cy="38100"/>
            <a:chOff x="0" y="-38100"/>
            <a:chExt cx="22352000" cy="50800"/>
          </a:xfrm>
        </p:grpSpPr>
        <p:sp>
          <p:nvSpPr>
            <p:cNvPr id="602" name="Google Shape;602;p8"/>
            <p:cNvSpPr/>
            <p:nvPr/>
          </p:nvSpPr>
          <p:spPr>
            <a:xfrm>
              <a:off x="0" y="0"/>
              <a:ext cx="22352000" cy="12700"/>
            </a:xfrm>
            <a:custGeom>
              <a:rect b="b" l="l" r="r" t="t"/>
              <a:pathLst>
                <a:path extrusionOk="0" h="127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3" name="Google Shape;603;p8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04" name="Google Shape;604;p8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43" sz="13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SCOPE</a:t>
            </a:r>
            <a:endParaRPr/>
          </a:p>
        </p:txBody>
      </p:sp>
      <p:sp>
        <p:nvSpPr>
          <p:cNvPr id="605" name="Google Shape;605;p8"/>
          <p:cNvSpPr txBox="1"/>
          <p:nvPr/>
        </p:nvSpPr>
        <p:spPr>
          <a:xfrm>
            <a:off x="762000" y="1695450"/>
            <a:ext cx="14287500" cy="1948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38" sz="69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Focused MVP;</a:t>
            </a:r>
            <a:endParaRPr/>
          </a:p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38" sz="69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gated pilot.</a:t>
            </a:r>
            <a:endParaRPr/>
          </a:p>
        </p:txBody>
      </p:sp>
      <p:grpSp>
        <p:nvGrpSpPr>
          <p:cNvPr id="606" name="Google Shape;606;p8"/>
          <p:cNvGrpSpPr/>
          <p:nvPr/>
        </p:nvGrpSpPr>
        <p:grpSpPr>
          <a:xfrm>
            <a:off x="762000" y="4905375"/>
            <a:ext cx="76200" cy="104775"/>
            <a:chOff x="0" y="-38100"/>
            <a:chExt cx="101600" cy="139700"/>
          </a:xfrm>
        </p:grpSpPr>
        <p:sp>
          <p:nvSpPr>
            <p:cNvPr id="607" name="Google Shape;607;p8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8" name="Google Shape;608;p8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09" name="Google Shape;609;p8"/>
          <p:cNvGrpSpPr/>
          <p:nvPr/>
        </p:nvGrpSpPr>
        <p:grpSpPr>
          <a:xfrm>
            <a:off x="762000" y="5629275"/>
            <a:ext cx="76200" cy="104775"/>
            <a:chOff x="0" y="-38100"/>
            <a:chExt cx="101600" cy="139700"/>
          </a:xfrm>
        </p:grpSpPr>
        <p:sp>
          <p:nvSpPr>
            <p:cNvPr id="610" name="Google Shape;610;p8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1" name="Google Shape;611;p8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2" name="Google Shape;612;p8"/>
          <p:cNvGrpSpPr/>
          <p:nvPr/>
        </p:nvGrpSpPr>
        <p:grpSpPr>
          <a:xfrm>
            <a:off x="762000" y="6353175"/>
            <a:ext cx="76200" cy="104775"/>
            <a:chOff x="0" y="-38100"/>
            <a:chExt cx="101600" cy="139700"/>
          </a:xfrm>
        </p:grpSpPr>
        <p:sp>
          <p:nvSpPr>
            <p:cNvPr id="613" name="Google Shape;613;p8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4" name="Google Shape;614;p8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5" name="Google Shape;615;p8"/>
          <p:cNvGrpSpPr/>
          <p:nvPr/>
        </p:nvGrpSpPr>
        <p:grpSpPr>
          <a:xfrm>
            <a:off x="762000" y="7077075"/>
            <a:ext cx="76200" cy="104775"/>
            <a:chOff x="0" y="-38100"/>
            <a:chExt cx="101600" cy="139700"/>
          </a:xfrm>
        </p:grpSpPr>
        <p:sp>
          <p:nvSpPr>
            <p:cNvPr id="616" name="Google Shape;616;p8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7" name="Google Shape;617;p8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8" name="Google Shape;618;p8"/>
          <p:cNvGrpSpPr/>
          <p:nvPr/>
        </p:nvGrpSpPr>
        <p:grpSpPr>
          <a:xfrm>
            <a:off x="762000" y="7800975"/>
            <a:ext cx="76200" cy="104775"/>
            <a:chOff x="0" y="-38100"/>
            <a:chExt cx="101600" cy="139700"/>
          </a:xfrm>
        </p:grpSpPr>
        <p:sp>
          <p:nvSpPr>
            <p:cNvPr id="619" name="Google Shape;619;p8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0" name="Google Shape;620;p8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21" name="Google Shape;621;p8"/>
          <p:cNvGrpSpPr/>
          <p:nvPr/>
        </p:nvGrpSpPr>
        <p:grpSpPr>
          <a:xfrm>
            <a:off x="9525000" y="4905375"/>
            <a:ext cx="76200" cy="104775"/>
            <a:chOff x="0" y="-38100"/>
            <a:chExt cx="101600" cy="139700"/>
          </a:xfrm>
        </p:grpSpPr>
        <p:sp>
          <p:nvSpPr>
            <p:cNvPr id="622" name="Google Shape;622;p8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3" name="Google Shape;623;p8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24" name="Google Shape;624;p8"/>
          <p:cNvGrpSpPr/>
          <p:nvPr/>
        </p:nvGrpSpPr>
        <p:grpSpPr>
          <a:xfrm>
            <a:off x="9525000" y="5629275"/>
            <a:ext cx="76200" cy="104775"/>
            <a:chOff x="0" y="-38100"/>
            <a:chExt cx="101600" cy="139700"/>
          </a:xfrm>
        </p:grpSpPr>
        <p:sp>
          <p:nvSpPr>
            <p:cNvPr id="625" name="Google Shape;625;p8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6" name="Google Shape;626;p8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27" name="Google Shape;627;p8"/>
          <p:cNvGrpSpPr/>
          <p:nvPr/>
        </p:nvGrpSpPr>
        <p:grpSpPr>
          <a:xfrm>
            <a:off x="9525000" y="6353175"/>
            <a:ext cx="76200" cy="104775"/>
            <a:chOff x="0" y="-38100"/>
            <a:chExt cx="101600" cy="139700"/>
          </a:xfrm>
        </p:grpSpPr>
        <p:sp>
          <p:nvSpPr>
            <p:cNvPr id="628" name="Google Shape;628;p8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9" name="Google Shape;629;p8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0" name="Google Shape;630;p8"/>
          <p:cNvGrpSpPr/>
          <p:nvPr/>
        </p:nvGrpSpPr>
        <p:grpSpPr>
          <a:xfrm>
            <a:off x="9525000" y="7077075"/>
            <a:ext cx="76200" cy="104775"/>
            <a:chOff x="0" y="-38100"/>
            <a:chExt cx="101600" cy="139700"/>
          </a:xfrm>
        </p:grpSpPr>
        <p:sp>
          <p:nvSpPr>
            <p:cNvPr id="631" name="Google Shape;631;p8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2" name="Google Shape;632;p8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3" name="Google Shape;633;p8"/>
          <p:cNvGrpSpPr/>
          <p:nvPr/>
        </p:nvGrpSpPr>
        <p:grpSpPr>
          <a:xfrm>
            <a:off x="9525000" y="7800975"/>
            <a:ext cx="76200" cy="104775"/>
            <a:chOff x="0" y="-38100"/>
            <a:chExt cx="101600" cy="139700"/>
          </a:xfrm>
        </p:grpSpPr>
        <p:sp>
          <p:nvSpPr>
            <p:cNvPr id="634" name="Google Shape;634;p8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5" name="Google Shape;635;p8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36" name="Google Shape;636;p8"/>
          <p:cNvSpPr txBox="1"/>
          <p:nvPr/>
        </p:nvSpPr>
        <p:spPr>
          <a:xfrm>
            <a:off x="762000" y="4362450"/>
            <a:ext cx="476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52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CORE MVP · GERMANY</a:t>
            </a:r>
            <a:endParaRPr/>
          </a:p>
        </p:txBody>
      </p:sp>
      <p:sp>
        <p:nvSpPr>
          <p:cNvPr id="637" name="Google Shape;637;p8"/>
          <p:cNvSpPr txBox="1"/>
          <p:nvPr/>
        </p:nvSpPr>
        <p:spPr>
          <a:xfrm>
            <a:off x="9525000" y="4362450"/>
            <a:ext cx="476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52" sz="1050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PILOT &amp; COMMERCIAL · PROPOSED</a:t>
            </a:r>
            <a:endParaRPr/>
          </a:p>
        </p:txBody>
      </p:sp>
      <p:sp>
        <p:nvSpPr>
          <p:cNvPr id="638" name="Google Shape;638;p8"/>
          <p:cNvSpPr txBox="1"/>
          <p:nvPr/>
        </p:nvSpPr>
        <p:spPr>
          <a:xfrm>
            <a:off x="1047750" y="4705350"/>
            <a:ext cx="8096250" cy="3295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Germany DE / EN responsive web</a:t>
            </a:r>
            <a:endParaRPr/>
          </a:p>
        </p:txBody>
      </p:sp>
      <p:sp>
        <p:nvSpPr>
          <p:cNvPr id="639" name="Google Shape;639;p8"/>
          <p:cNvSpPr txBox="1"/>
          <p:nvPr/>
        </p:nvSpPr>
        <p:spPr>
          <a:xfrm>
            <a:off x="1047750" y="5429250"/>
            <a:ext cx="8096250" cy="3295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Approved public Bundesagentur job lists</a:t>
            </a:r>
            <a:endParaRPr/>
          </a:p>
        </p:txBody>
      </p:sp>
      <p:sp>
        <p:nvSpPr>
          <p:cNvPr id="640" name="Google Shape;640;p8"/>
          <p:cNvSpPr txBox="1"/>
          <p:nvPr/>
        </p:nvSpPr>
        <p:spPr>
          <a:xfrm>
            <a:off x="1047750" y="6153150"/>
            <a:ext cx="8096250" cy="3295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Explainable matching with gates</a:t>
            </a:r>
            <a:endParaRPr/>
          </a:p>
        </p:txBody>
      </p:sp>
      <p:sp>
        <p:nvSpPr>
          <p:cNvPr id="641" name="Google Shape;641;p8"/>
          <p:cNvSpPr txBox="1"/>
          <p:nvPr/>
        </p:nvSpPr>
        <p:spPr>
          <a:xfrm>
            <a:off x="1047750" y="6877050"/>
            <a:ext cx="8096250" cy="3295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Reviewed CV &amp; cover letter (DE/EN)</a:t>
            </a:r>
            <a:endParaRPr/>
          </a:p>
        </p:txBody>
      </p:sp>
      <p:sp>
        <p:nvSpPr>
          <p:cNvPr id="642" name="Google Shape;642;p8"/>
          <p:cNvSpPr txBox="1"/>
          <p:nvPr/>
        </p:nvSpPr>
        <p:spPr>
          <a:xfrm>
            <a:off x="1047750" y="7600950"/>
            <a:ext cx="8096250" cy="3295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Application tracking · privacy by design</a:t>
            </a:r>
            <a:endParaRPr/>
          </a:p>
        </p:txBody>
      </p:sp>
      <p:sp>
        <p:nvSpPr>
          <p:cNvPr id="643" name="Google Shape;643;p8"/>
          <p:cNvSpPr txBox="1"/>
          <p:nvPr/>
        </p:nvSpPr>
        <p:spPr>
          <a:xfrm>
            <a:off x="9810750" y="4714875"/>
            <a:ext cx="8096250" cy="293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Invitation-only verified-recruiter pilot</a:t>
            </a:r>
            <a:endParaRPr/>
          </a:p>
        </p:txBody>
      </p:sp>
      <p:sp>
        <p:nvSpPr>
          <p:cNvPr id="644" name="Google Shape;644;p8"/>
          <p:cNvSpPr txBox="1"/>
          <p:nvPr/>
        </p:nvSpPr>
        <p:spPr>
          <a:xfrm>
            <a:off x="9810750" y="5438775"/>
            <a:ext cx="8096250" cy="293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Unscheduled · pending estimates, capacity, specialist reviews</a:t>
            </a:r>
            <a:endParaRPr/>
          </a:p>
        </p:txBody>
      </p:sp>
      <p:sp>
        <p:nvSpPr>
          <p:cNvPr id="645" name="Google Shape;645;p8"/>
          <p:cNvSpPr txBox="1"/>
          <p:nvPr/>
        </p:nvSpPr>
        <p:spPr>
          <a:xfrm>
            <a:off x="9810750" y="6162675"/>
            <a:ext cx="8096250" cy="293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Free 10 daily credits · wallet coming soon</a:t>
            </a:r>
            <a:endParaRPr/>
          </a:p>
        </p:txBody>
      </p:sp>
      <p:sp>
        <p:nvSpPr>
          <p:cNvPr id="646" name="Google Shape;646;p8"/>
          <p:cNvSpPr txBox="1"/>
          <p:nvPr/>
        </p:nvSpPr>
        <p:spPr>
          <a:xfrm>
            <a:off x="9810750" y="6886575"/>
            <a:ext cx="8096250" cy="293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Investor-funded assumption · recruiter pricing TBD</a:t>
            </a:r>
            <a:endParaRPr/>
          </a:p>
        </p:txBody>
      </p:sp>
      <p:sp>
        <p:nvSpPr>
          <p:cNvPr id="647" name="Google Shape;647;p8"/>
          <p:cNvSpPr txBox="1"/>
          <p:nvPr/>
        </p:nvSpPr>
        <p:spPr>
          <a:xfrm>
            <a:off x="9810750" y="7610475"/>
            <a:ext cx="8096250" cy="2933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Top-ups, ads, broad employer search · post-launch</a:t>
            </a:r>
            <a:endParaRPr/>
          </a:p>
        </p:txBody>
      </p:sp>
      <p:grpSp>
        <p:nvGrpSpPr>
          <p:cNvPr id="648" name="Google Shape;648;p8"/>
          <p:cNvGrpSpPr/>
          <p:nvPr/>
        </p:nvGrpSpPr>
        <p:grpSpPr>
          <a:xfrm>
            <a:off x="9144000" y="4352925"/>
            <a:ext cx="9525" cy="4600575"/>
            <a:chOff x="0" y="-38100"/>
            <a:chExt cx="12700" cy="6134100"/>
          </a:xfrm>
        </p:grpSpPr>
        <p:sp>
          <p:nvSpPr>
            <p:cNvPr id="649" name="Google Shape;649;p8"/>
            <p:cNvSpPr/>
            <p:nvPr/>
          </p:nvSpPr>
          <p:spPr>
            <a:xfrm>
              <a:off x="0" y="0"/>
              <a:ext cx="12700" cy="6096000"/>
            </a:xfrm>
            <a:custGeom>
              <a:rect b="b" l="l" r="r" t="t"/>
              <a:pathLst>
                <a:path extrusionOk="0" h="6096000" w="12700">
                  <a:moveTo>
                    <a:pt x="0" y="0"/>
                  </a:moveTo>
                  <a:lnTo>
                    <a:pt x="12700" y="0"/>
                  </a:lnTo>
                  <a:lnTo>
                    <a:pt x="12700" y="6096000"/>
                  </a:lnTo>
                  <a:lnTo>
                    <a:pt x="0" y="6096000"/>
                  </a:lnTo>
                  <a:close/>
                </a:path>
              </a:pathLst>
            </a:custGeom>
            <a:solidFill>
              <a:srgbClr val="D5DEE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0" name="Google Shape;650;p8"/>
            <p:cNvSpPr txBox="1"/>
            <p:nvPr/>
          </p:nvSpPr>
          <p:spPr>
            <a:xfrm>
              <a:off x="0" y="-38100"/>
              <a:ext cx="12700" cy="613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6"/>
        </a:solidFill>
      </p:bgPr>
    </p:bg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areerPilot logo" id="655" name="Google Shape;655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428150"/>
            <a:ext cx="901087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656" name="Google Shape;656;p9"/>
          <p:cNvSpPr txBox="1"/>
          <p:nvPr/>
        </p:nvSpPr>
        <p:spPr>
          <a:xfrm>
            <a:off x="4572000" y="438150"/>
            <a:ext cx="9525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52" sz="15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 · Roadmap</a:t>
            </a:r>
            <a:endParaRPr sz="1500"/>
          </a:p>
        </p:txBody>
      </p:sp>
      <p:sp>
        <p:nvSpPr>
          <p:cNvPr id="657" name="Google Shape;657;p9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89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</a:t>
            </a:r>
            <a:endParaRPr/>
          </a:p>
        </p:txBody>
      </p:sp>
      <p:sp>
        <p:nvSpPr>
          <p:cNvPr id="658" name="Google Shape;658;p9"/>
          <p:cNvSpPr txBox="1"/>
          <p:nvPr/>
        </p:nvSpPr>
        <p:spPr>
          <a:xfrm>
            <a:off x="762000" y="9734550"/>
            <a:ext cx="114300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June 27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(planned)</a:t>
            </a:r>
            <a:endParaRPr/>
          </a:p>
        </p:txBody>
      </p:sp>
      <p:grpSp>
        <p:nvGrpSpPr>
          <p:cNvPr id="659" name="Google Shape;659;p9"/>
          <p:cNvGrpSpPr/>
          <p:nvPr/>
        </p:nvGrpSpPr>
        <p:grpSpPr>
          <a:xfrm>
            <a:off x="762000" y="733425"/>
            <a:ext cx="16764000" cy="38100"/>
            <a:chOff x="0" y="-38100"/>
            <a:chExt cx="22352000" cy="50800"/>
          </a:xfrm>
        </p:grpSpPr>
        <p:sp>
          <p:nvSpPr>
            <p:cNvPr id="660" name="Google Shape;660;p9"/>
            <p:cNvSpPr/>
            <p:nvPr/>
          </p:nvSpPr>
          <p:spPr>
            <a:xfrm>
              <a:off x="0" y="0"/>
              <a:ext cx="22352000" cy="12700"/>
            </a:xfrm>
            <a:custGeom>
              <a:rect b="b" l="l" r="r" t="t"/>
              <a:pathLst>
                <a:path extrusionOk="0" h="127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1" name="Google Shape;661;p9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62" name="Google Shape;662;p9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43" sz="13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BACKLOG TO DELIVERY</a:t>
            </a:r>
            <a:endParaRPr/>
          </a:p>
        </p:txBody>
      </p:sp>
      <p:sp>
        <p:nvSpPr>
          <p:cNvPr id="663" name="Google Shape;663;p9"/>
          <p:cNvSpPr txBox="1"/>
          <p:nvPr/>
        </p:nvSpPr>
        <p:spPr>
          <a:xfrm>
            <a:off x="762000" y="1685925"/>
            <a:ext cx="161925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65" sz="4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Oct 2026 → </a:t>
            </a:r>
            <a:r>
              <a:rPr b="1" lang="en-US" spc="-65" sz="4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June 27</a:t>
            </a:r>
            <a:r>
              <a:rPr b="1" lang="en-US" spc="-65" sz="4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grpSp>
        <p:nvGrpSpPr>
          <p:cNvPr id="664" name="Google Shape;664;p9"/>
          <p:cNvGrpSpPr/>
          <p:nvPr/>
        </p:nvGrpSpPr>
        <p:grpSpPr>
          <a:xfrm>
            <a:off x="762000" y="3400425"/>
            <a:ext cx="1844040" cy="638175"/>
            <a:chOff x="0" y="-38100"/>
            <a:chExt cx="2458720" cy="850900"/>
          </a:xfrm>
        </p:grpSpPr>
        <p:sp>
          <p:nvSpPr>
            <p:cNvPr id="665" name="Google Shape;665;p9"/>
            <p:cNvSpPr/>
            <p:nvPr/>
          </p:nvSpPr>
          <p:spPr>
            <a:xfrm>
              <a:off x="0" y="0"/>
              <a:ext cx="2458720" cy="812800"/>
            </a:xfrm>
            <a:custGeom>
              <a:rect b="b" l="l" r="r" t="t"/>
              <a:pathLst>
                <a:path extrusionOk="0" h="812800" w="2458720">
                  <a:moveTo>
                    <a:pt x="0" y="0"/>
                  </a:moveTo>
                  <a:lnTo>
                    <a:pt x="2458720" y="0"/>
                  </a:lnTo>
                  <a:lnTo>
                    <a:pt x="245872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6" name="Google Shape;666;p9"/>
            <p:cNvSpPr txBox="1"/>
            <p:nvPr/>
          </p:nvSpPr>
          <p:spPr>
            <a:xfrm>
              <a:off x="0" y="-38100"/>
              <a:ext cx="2458720" cy="85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67" name="Google Shape;667;p9"/>
          <p:cNvGrpSpPr/>
          <p:nvPr/>
        </p:nvGrpSpPr>
        <p:grpSpPr>
          <a:xfrm>
            <a:off x="2606040" y="3400425"/>
            <a:ext cx="3688080" cy="638175"/>
            <a:chOff x="0" y="-38100"/>
            <a:chExt cx="4917440" cy="850900"/>
          </a:xfrm>
        </p:grpSpPr>
        <p:sp>
          <p:nvSpPr>
            <p:cNvPr id="668" name="Google Shape;668;p9"/>
            <p:cNvSpPr/>
            <p:nvPr/>
          </p:nvSpPr>
          <p:spPr>
            <a:xfrm>
              <a:off x="0" y="0"/>
              <a:ext cx="4917440" cy="812800"/>
            </a:xfrm>
            <a:custGeom>
              <a:rect b="b" l="l" r="r" t="t"/>
              <a:pathLst>
                <a:path extrusionOk="0" h="812800" w="4917440">
                  <a:moveTo>
                    <a:pt x="0" y="0"/>
                  </a:moveTo>
                  <a:lnTo>
                    <a:pt x="4917440" y="0"/>
                  </a:lnTo>
                  <a:lnTo>
                    <a:pt x="491744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9" name="Google Shape;669;p9"/>
            <p:cNvSpPr txBox="1"/>
            <p:nvPr/>
          </p:nvSpPr>
          <p:spPr>
            <a:xfrm>
              <a:off x="0" y="-38100"/>
              <a:ext cx="4917440" cy="85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0" name="Google Shape;670;p9"/>
          <p:cNvGrpSpPr/>
          <p:nvPr/>
        </p:nvGrpSpPr>
        <p:grpSpPr>
          <a:xfrm>
            <a:off x="6294120" y="3400425"/>
            <a:ext cx="6202680" cy="638175"/>
            <a:chOff x="0" y="-38100"/>
            <a:chExt cx="8270240" cy="850900"/>
          </a:xfrm>
        </p:grpSpPr>
        <p:sp>
          <p:nvSpPr>
            <p:cNvPr id="671" name="Google Shape;671;p9"/>
            <p:cNvSpPr/>
            <p:nvPr/>
          </p:nvSpPr>
          <p:spPr>
            <a:xfrm>
              <a:off x="0" y="0"/>
              <a:ext cx="8270240" cy="812800"/>
            </a:xfrm>
            <a:custGeom>
              <a:rect b="b" l="l" r="r" t="t"/>
              <a:pathLst>
                <a:path extrusionOk="0" h="812800" w="8270240">
                  <a:moveTo>
                    <a:pt x="0" y="0"/>
                  </a:moveTo>
                  <a:lnTo>
                    <a:pt x="8270240" y="0"/>
                  </a:lnTo>
                  <a:lnTo>
                    <a:pt x="827024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1D3D6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2" name="Google Shape;672;p9"/>
            <p:cNvSpPr txBox="1"/>
            <p:nvPr/>
          </p:nvSpPr>
          <p:spPr>
            <a:xfrm>
              <a:off x="0" y="-38100"/>
              <a:ext cx="8270240" cy="85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3" name="Google Shape;673;p9"/>
          <p:cNvGrpSpPr/>
          <p:nvPr/>
        </p:nvGrpSpPr>
        <p:grpSpPr>
          <a:xfrm>
            <a:off x="12496800" y="3400425"/>
            <a:ext cx="3688080" cy="638175"/>
            <a:chOff x="0" y="-38100"/>
            <a:chExt cx="4917440" cy="850900"/>
          </a:xfrm>
        </p:grpSpPr>
        <p:sp>
          <p:nvSpPr>
            <p:cNvPr id="674" name="Google Shape;674;p9"/>
            <p:cNvSpPr/>
            <p:nvPr/>
          </p:nvSpPr>
          <p:spPr>
            <a:xfrm>
              <a:off x="0" y="0"/>
              <a:ext cx="4917440" cy="812800"/>
            </a:xfrm>
            <a:custGeom>
              <a:rect b="b" l="l" r="r" t="t"/>
              <a:pathLst>
                <a:path extrusionOk="0" h="812800" w="4917440">
                  <a:moveTo>
                    <a:pt x="0" y="0"/>
                  </a:moveTo>
                  <a:lnTo>
                    <a:pt x="4917440" y="0"/>
                  </a:lnTo>
                  <a:lnTo>
                    <a:pt x="491744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5" name="Google Shape;675;p9"/>
            <p:cNvSpPr txBox="1"/>
            <p:nvPr/>
          </p:nvSpPr>
          <p:spPr>
            <a:xfrm>
              <a:off x="0" y="-38100"/>
              <a:ext cx="4917440" cy="85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6" name="Google Shape;676;p9"/>
          <p:cNvGrpSpPr/>
          <p:nvPr/>
        </p:nvGrpSpPr>
        <p:grpSpPr>
          <a:xfrm>
            <a:off x="16184880" y="3400425"/>
            <a:ext cx="1341120" cy="638175"/>
            <a:chOff x="0" y="-38100"/>
            <a:chExt cx="1788160" cy="850900"/>
          </a:xfrm>
        </p:grpSpPr>
        <p:sp>
          <p:nvSpPr>
            <p:cNvPr id="677" name="Google Shape;677;p9"/>
            <p:cNvSpPr/>
            <p:nvPr/>
          </p:nvSpPr>
          <p:spPr>
            <a:xfrm>
              <a:off x="0" y="0"/>
              <a:ext cx="1788160" cy="812800"/>
            </a:xfrm>
            <a:custGeom>
              <a:rect b="b" l="l" r="r" t="t"/>
              <a:pathLst>
                <a:path extrusionOk="0" h="812800" w="1788160">
                  <a:moveTo>
                    <a:pt x="0" y="0"/>
                  </a:moveTo>
                  <a:lnTo>
                    <a:pt x="1788160" y="0"/>
                  </a:lnTo>
                  <a:lnTo>
                    <a:pt x="178816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8" name="Google Shape;678;p9"/>
            <p:cNvSpPr txBox="1"/>
            <p:nvPr/>
          </p:nvSpPr>
          <p:spPr>
            <a:xfrm>
              <a:off x="0" y="-38100"/>
              <a:ext cx="1788160" cy="85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9" name="Google Shape;679;p9"/>
          <p:cNvGrpSpPr/>
          <p:nvPr/>
        </p:nvGrpSpPr>
        <p:grpSpPr>
          <a:xfrm>
            <a:off x="752475" y="4086225"/>
            <a:ext cx="19050" cy="123825"/>
            <a:chOff x="0" y="-38100"/>
            <a:chExt cx="25400" cy="165100"/>
          </a:xfrm>
        </p:grpSpPr>
        <p:sp>
          <p:nvSpPr>
            <p:cNvPr id="680" name="Google Shape;680;p9"/>
            <p:cNvSpPr/>
            <p:nvPr/>
          </p:nvSpPr>
          <p:spPr>
            <a:xfrm>
              <a:off x="0" y="0"/>
              <a:ext cx="25400" cy="127000"/>
            </a:xfrm>
            <a:custGeom>
              <a:rect b="b" l="l" r="r" t="t"/>
              <a:pathLst>
                <a:path extrusionOk="0" h="127000" w="254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1" name="Google Shape;681;p9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82" name="Google Shape;682;p9"/>
          <p:cNvGrpSpPr/>
          <p:nvPr/>
        </p:nvGrpSpPr>
        <p:grpSpPr>
          <a:xfrm>
            <a:off x="2847975" y="4086225"/>
            <a:ext cx="19050" cy="123825"/>
            <a:chOff x="0" y="-38100"/>
            <a:chExt cx="25400" cy="165100"/>
          </a:xfrm>
        </p:grpSpPr>
        <p:sp>
          <p:nvSpPr>
            <p:cNvPr id="683" name="Google Shape;683;p9"/>
            <p:cNvSpPr/>
            <p:nvPr/>
          </p:nvSpPr>
          <p:spPr>
            <a:xfrm>
              <a:off x="0" y="0"/>
              <a:ext cx="25400" cy="127000"/>
            </a:xfrm>
            <a:custGeom>
              <a:rect b="b" l="l" r="r" t="t"/>
              <a:pathLst>
                <a:path extrusionOk="0" h="127000" w="254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4" name="Google Shape;684;p9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85" name="Google Shape;685;p9"/>
          <p:cNvGrpSpPr/>
          <p:nvPr/>
        </p:nvGrpSpPr>
        <p:grpSpPr>
          <a:xfrm>
            <a:off x="4943475" y="4086225"/>
            <a:ext cx="19050" cy="123825"/>
            <a:chOff x="0" y="-38100"/>
            <a:chExt cx="25400" cy="165100"/>
          </a:xfrm>
        </p:grpSpPr>
        <p:sp>
          <p:nvSpPr>
            <p:cNvPr id="686" name="Google Shape;686;p9"/>
            <p:cNvSpPr/>
            <p:nvPr/>
          </p:nvSpPr>
          <p:spPr>
            <a:xfrm>
              <a:off x="0" y="0"/>
              <a:ext cx="25400" cy="127000"/>
            </a:xfrm>
            <a:custGeom>
              <a:rect b="b" l="l" r="r" t="t"/>
              <a:pathLst>
                <a:path extrusionOk="0" h="127000" w="254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7" name="Google Shape;687;p9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88" name="Google Shape;688;p9"/>
          <p:cNvGrpSpPr/>
          <p:nvPr/>
        </p:nvGrpSpPr>
        <p:grpSpPr>
          <a:xfrm>
            <a:off x="7038975" y="4086225"/>
            <a:ext cx="19050" cy="123825"/>
            <a:chOff x="0" y="-38100"/>
            <a:chExt cx="25400" cy="165100"/>
          </a:xfrm>
        </p:grpSpPr>
        <p:sp>
          <p:nvSpPr>
            <p:cNvPr id="689" name="Google Shape;689;p9"/>
            <p:cNvSpPr/>
            <p:nvPr/>
          </p:nvSpPr>
          <p:spPr>
            <a:xfrm>
              <a:off x="0" y="0"/>
              <a:ext cx="25400" cy="127000"/>
            </a:xfrm>
            <a:custGeom>
              <a:rect b="b" l="l" r="r" t="t"/>
              <a:pathLst>
                <a:path extrusionOk="0" h="127000" w="254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0" name="Google Shape;690;p9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91" name="Google Shape;691;p9"/>
          <p:cNvGrpSpPr/>
          <p:nvPr/>
        </p:nvGrpSpPr>
        <p:grpSpPr>
          <a:xfrm>
            <a:off x="9134475" y="4086225"/>
            <a:ext cx="19050" cy="123825"/>
            <a:chOff x="0" y="-38100"/>
            <a:chExt cx="25400" cy="165100"/>
          </a:xfrm>
        </p:grpSpPr>
        <p:sp>
          <p:nvSpPr>
            <p:cNvPr id="692" name="Google Shape;692;p9"/>
            <p:cNvSpPr/>
            <p:nvPr/>
          </p:nvSpPr>
          <p:spPr>
            <a:xfrm>
              <a:off x="0" y="0"/>
              <a:ext cx="25400" cy="127000"/>
            </a:xfrm>
            <a:custGeom>
              <a:rect b="b" l="l" r="r" t="t"/>
              <a:pathLst>
                <a:path extrusionOk="0" h="127000" w="254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3" name="Google Shape;693;p9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94" name="Google Shape;694;p9"/>
          <p:cNvGrpSpPr/>
          <p:nvPr/>
        </p:nvGrpSpPr>
        <p:grpSpPr>
          <a:xfrm>
            <a:off x="11229975" y="4086225"/>
            <a:ext cx="19050" cy="123825"/>
            <a:chOff x="0" y="-38100"/>
            <a:chExt cx="25400" cy="165100"/>
          </a:xfrm>
        </p:grpSpPr>
        <p:sp>
          <p:nvSpPr>
            <p:cNvPr id="695" name="Google Shape;695;p9"/>
            <p:cNvSpPr/>
            <p:nvPr/>
          </p:nvSpPr>
          <p:spPr>
            <a:xfrm>
              <a:off x="0" y="0"/>
              <a:ext cx="25400" cy="127000"/>
            </a:xfrm>
            <a:custGeom>
              <a:rect b="b" l="l" r="r" t="t"/>
              <a:pathLst>
                <a:path extrusionOk="0" h="127000" w="254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6" name="Google Shape;696;p9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97" name="Google Shape;697;p9"/>
          <p:cNvGrpSpPr/>
          <p:nvPr/>
        </p:nvGrpSpPr>
        <p:grpSpPr>
          <a:xfrm>
            <a:off x="13325475" y="4086225"/>
            <a:ext cx="19050" cy="123825"/>
            <a:chOff x="0" y="-38100"/>
            <a:chExt cx="25400" cy="165100"/>
          </a:xfrm>
        </p:grpSpPr>
        <p:sp>
          <p:nvSpPr>
            <p:cNvPr id="698" name="Google Shape;698;p9"/>
            <p:cNvSpPr/>
            <p:nvPr/>
          </p:nvSpPr>
          <p:spPr>
            <a:xfrm>
              <a:off x="0" y="0"/>
              <a:ext cx="25400" cy="127000"/>
            </a:xfrm>
            <a:custGeom>
              <a:rect b="b" l="l" r="r" t="t"/>
              <a:pathLst>
                <a:path extrusionOk="0" h="127000" w="254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9" name="Google Shape;699;p9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00" name="Google Shape;700;p9"/>
          <p:cNvGrpSpPr/>
          <p:nvPr/>
        </p:nvGrpSpPr>
        <p:grpSpPr>
          <a:xfrm>
            <a:off x="15420975" y="4086225"/>
            <a:ext cx="19050" cy="123825"/>
            <a:chOff x="0" y="-38100"/>
            <a:chExt cx="25400" cy="165100"/>
          </a:xfrm>
        </p:grpSpPr>
        <p:sp>
          <p:nvSpPr>
            <p:cNvPr id="701" name="Google Shape;701;p9"/>
            <p:cNvSpPr/>
            <p:nvPr/>
          </p:nvSpPr>
          <p:spPr>
            <a:xfrm>
              <a:off x="0" y="0"/>
              <a:ext cx="25400" cy="127000"/>
            </a:xfrm>
            <a:custGeom>
              <a:rect b="b" l="l" r="r" t="t"/>
              <a:pathLst>
                <a:path extrusionOk="0" h="127000" w="254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2" name="Google Shape;702;p9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03" name="Google Shape;703;p9"/>
          <p:cNvGrpSpPr/>
          <p:nvPr/>
        </p:nvGrpSpPr>
        <p:grpSpPr>
          <a:xfrm>
            <a:off x="17516475" y="4086225"/>
            <a:ext cx="19050" cy="123825"/>
            <a:chOff x="0" y="-38100"/>
            <a:chExt cx="25400" cy="165100"/>
          </a:xfrm>
        </p:grpSpPr>
        <p:sp>
          <p:nvSpPr>
            <p:cNvPr id="704" name="Google Shape;704;p9"/>
            <p:cNvSpPr/>
            <p:nvPr/>
          </p:nvSpPr>
          <p:spPr>
            <a:xfrm>
              <a:off x="0" y="0"/>
              <a:ext cx="25400" cy="127000"/>
            </a:xfrm>
            <a:custGeom>
              <a:rect b="b" l="l" r="r" t="t"/>
              <a:pathLst>
                <a:path extrusionOk="0" h="127000" w="254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5" name="Google Shape;705;p9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06" name="Google Shape;706;p9"/>
          <p:cNvGrpSpPr/>
          <p:nvPr/>
        </p:nvGrpSpPr>
        <p:grpSpPr>
          <a:xfrm>
            <a:off x="3267075" y="3019425"/>
            <a:ext cx="19050" cy="1457325"/>
            <a:chOff x="0" y="-38100"/>
            <a:chExt cx="25400" cy="1943100"/>
          </a:xfrm>
        </p:grpSpPr>
        <p:sp>
          <p:nvSpPr>
            <p:cNvPr id="707" name="Google Shape;707;p9"/>
            <p:cNvSpPr/>
            <p:nvPr/>
          </p:nvSpPr>
          <p:spPr>
            <a:xfrm>
              <a:off x="0" y="0"/>
              <a:ext cx="25400" cy="1905000"/>
            </a:xfrm>
            <a:custGeom>
              <a:rect b="b" l="l" r="r" t="t"/>
              <a:pathLst>
                <a:path extrusionOk="0" h="1905000" w="25400">
                  <a:moveTo>
                    <a:pt x="0" y="0"/>
                  </a:moveTo>
                  <a:lnTo>
                    <a:pt x="25400" y="0"/>
                  </a:lnTo>
                  <a:lnTo>
                    <a:pt x="254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8" name="Google Shape;708;p9"/>
            <p:cNvSpPr txBox="1"/>
            <p:nvPr/>
          </p:nvSpPr>
          <p:spPr>
            <a:xfrm>
              <a:off x="0" y="-38100"/>
              <a:ext cx="25400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09" name="Google Shape;709;p9"/>
          <p:cNvGrpSpPr/>
          <p:nvPr/>
        </p:nvGrpSpPr>
        <p:grpSpPr>
          <a:xfrm>
            <a:off x="3181350" y="2943225"/>
            <a:ext cx="190500" cy="219075"/>
            <a:chOff x="0" y="-38100"/>
            <a:chExt cx="254000" cy="292100"/>
          </a:xfrm>
        </p:grpSpPr>
        <p:sp>
          <p:nvSpPr>
            <p:cNvPr id="710" name="Google Shape;710;p9"/>
            <p:cNvSpPr/>
            <p:nvPr/>
          </p:nvSpPr>
          <p:spPr>
            <a:xfrm>
              <a:off x="0" y="0"/>
              <a:ext cx="254000" cy="254000"/>
            </a:xfrm>
            <a:custGeom>
              <a:rect b="b" l="l" r="r" t="t"/>
              <a:pathLst>
                <a:path extrusionOk="0" h="254000" w="254000">
                  <a:moveTo>
                    <a:pt x="127000" y="0"/>
                  </a:moveTo>
                  <a:cubicBezTo>
                    <a:pt x="197140" y="0"/>
                    <a:pt x="254000" y="56860"/>
                    <a:pt x="254000" y="127000"/>
                  </a:cubicBezTo>
                  <a:cubicBezTo>
                    <a:pt x="254000" y="197140"/>
                    <a:pt x="197140" y="254000"/>
                    <a:pt x="127000" y="254000"/>
                  </a:cubicBezTo>
                  <a:cubicBezTo>
                    <a:pt x="56860" y="254000"/>
                    <a:pt x="0" y="197140"/>
                    <a:pt x="0" y="127000"/>
                  </a:cubicBez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1" name="Google Shape;711;p9"/>
            <p:cNvSpPr txBox="1"/>
            <p:nvPr/>
          </p:nvSpPr>
          <p:spPr>
            <a:xfrm>
              <a:off x="0" y="-38100"/>
              <a:ext cx="254000" cy="29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12" name="Google Shape;712;p9"/>
          <p:cNvGrpSpPr/>
          <p:nvPr/>
        </p:nvGrpSpPr>
        <p:grpSpPr>
          <a:xfrm>
            <a:off x="5111115" y="3019425"/>
            <a:ext cx="19050" cy="1457325"/>
            <a:chOff x="0" y="-38100"/>
            <a:chExt cx="25400" cy="1943100"/>
          </a:xfrm>
        </p:grpSpPr>
        <p:sp>
          <p:nvSpPr>
            <p:cNvPr id="713" name="Google Shape;713;p9"/>
            <p:cNvSpPr/>
            <p:nvPr/>
          </p:nvSpPr>
          <p:spPr>
            <a:xfrm>
              <a:off x="0" y="0"/>
              <a:ext cx="25400" cy="1905000"/>
            </a:xfrm>
            <a:custGeom>
              <a:rect b="b" l="l" r="r" t="t"/>
              <a:pathLst>
                <a:path extrusionOk="0" h="1905000" w="25400">
                  <a:moveTo>
                    <a:pt x="0" y="0"/>
                  </a:moveTo>
                  <a:lnTo>
                    <a:pt x="25400" y="0"/>
                  </a:lnTo>
                  <a:lnTo>
                    <a:pt x="254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4" name="Google Shape;714;p9"/>
            <p:cNvSpPr txBox="1"/>
            <p:nvPr/>
          </p:nvSpPr>
          <p:spPr>
            <a:xfrm>
              <a:off x="0" y="-38100"/>
              <a:ext cx="25400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15" name="Google Shape;715;p9"/>
          <p:cNvGrpSpPr/>
          <p:nvPr/>
        </p:nvGrpSpPr>
        <p:grpSpPr>
          <a:xfrm>
            <a:off x="5025390" y="2943225"/>
            <a:ext cx="190500" cy="219075"/>
            <a:chOff x="0" y="-38100"/>
            <a:chExt cx="254000" cy="292100"/>
          </a:xfrm>
        </p:grpSpPr>
        <p:sp>
          <p:nvSpPr>
            <p:cNvPr id="716" name="Google Shape;716;p9"/>
            <p:cNvSpPr/>
            <p:nvPr/>
          </p:nvSpPr>
          <p:spPr>
            <a:xfrm>
              <a:off x="0" y="0"/>
              <a:ext cx="254000" cy="254000"/>
            </a:xfrm>
            <a:custGeom>
              <a:rect b="b" l="l" r="r" t="t"/>
              <a:pathLst>
                <a:path extrusionOk="0" h="254000" w="254000">
                  <a:moveTo>
                    <a:pt x="127000" y="0"/>
                  </a:moveTo>
                  <a:cubicBezTo>
                    <a:pt x="197140" y="0"/>
                    <a:pt x="254000" y="56860"/>
                    <a:pt x="254000" y="127000"/>
                  </a:cubicBezTo>
                  <a:cubicBezTo>
                    <a:pt x="254000" y="197140"/>
                    <a:pt x="197140" y="254000"/>
                    <a:pt x="127000" y="254000"/>
                  </a:cubicBezTo>
                  <a:cubicBezTo>
                    <a:pt x="56860" y="254000"/>
                    <a:pt x="0" y="197140"/>
                    <a:pt x="0" y="127000"/>
                  </a:cubicBez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7" name="Google Shape;717;p9"/>
            <p:cNvSpPr txBox="1"/>
            <p:nvPr/>
          </p:nvSpPr>
          <p:spPr>
            <a:xfrm>
              <a:off x="0" y="-38100"/>
              <a:ext cx="254000" cy="29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18" name="Google Shape;718;p9"/>
          <p:cNvGrpSpPr/>
          <p:nvPr/>
        </p:nvGrpSpPr>
        <p:grpSpPr>
          <a:xfrm>
            <a:off x="10307955" y="3019425"/>
            <a:ext cx="19050" cy="1457325"/>
            <a:chOff x="0" y="-38100"/>
            <a:chExt cx="25400" cy="1943100"/>
          </a:xfrm>
        </p:grpSpPr>
        <p:sp>
          <p:nvSpPr>
            <p:cNvPr id="719" name="Google Shape;719;p9"/>
            <p:cNvSpPr/>
            <p:nvPr/>
          </p:nvSpPr>
          <p:spPr>
            <a:xfrm>
              <a:off x="0" y="0"/>
              <a:ext cx="25400" cy="1905000"/>
            </a:xfrm>
            <a:custGeom>
              <a:rect b="b" l="l" r="r" t="t"/>
              <a:pathLst>
                <a:path extrusionOk="0" h="1905000" w="25400">
                  <a:moveTo>
                    <a:pt x="0" y="0"/>
                  </a:moveTo>
                  <a:lnTo>
                    <a:pt x="25400" y="0"/>
                  </a:lnTo>
                  <a:lnTo>
                    <a:pt x="254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0" name="Google Shape;720;p9"/>
            <p:cNvSpPr txBox="1"/>
            <p:nvPr/>
          </p:nvSpPr>
          <p:spPr>
            <a:xfrm>
              <a:off x="0" y="-38100"/>
              <a:ext cx="25400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21" name="Google Shape;721;p9"/>
          <p:cNvGrpSpPr/>
          <p:nvPr/>
        </p:nvGrpSpPr>
        <p:grpSpPr>
          <a:xfrm>
            <a:off x="10222230" y="2943225"/>
            <a:ext cx="190500" cy="219075"/>
            <a:chOff x="0" y="-38100"/>
            <a:chExt cx="254000" cy="292100"/>
          </a:xfrm>
        </p:grpSpPr>
        <p:sp>
          <p:nvSpPr>
            <p:cNvPr id="722" name="Google Shape;722;p9"/>
            <p:cNvSpPr/>
            <p:nvPr/>
          </p:nvSpPr>
          <p:spPr>
            <a:xfrm>
              <a:off x="0" y="0"/>
              <a:ext cx="254000" cy="254000"/>
            </a:xfrm>
            <a:custGeom>
              <a:rect b="b" l="l" r="r" t="t"/>
              <a:pathLst>
                <a:path extrusionOk="0" h="254000" w="254000">
                  <a:moveTo>
                    <a:pt x="127000" y="0"/>
                  </a:moveTo>
                  <a:cubicBezTo>
                    <a:pt x="197140" y="0"/>
                    <a:pt x="254000" y="56860"/>
                    <a:pt x="254000" y="127000"/>
                  </a:cubicBezTo>
                  <a:cubicBezTo>
                    <a:pt x="254000" y="197140"/>
                    <a:pt x="197140" y="254000"/>
                    <a:pt x="127000" y="254000"/>
                  </a:cubicBezTo>
                  <a:cubicBezTo>
                    <a:pt x="56860" y="254000"/>
                    <a:pt x="0" y="197140"/>
                    <a:pt x="0" y="127000"/>
                  </a:cubicBez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3" name="Google Shape;723;p9"/>
            <p:cNvSpPr txBox="1"/>
            <p:nvPr/>
          </p:nvSpPr>
          <p:spPr>
            <a:xfrm>
              <a:off x="0" y="-38100"/>
              <a:ext cx="254000" cy="29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24" name="Google Shape;724;p9"/>
          <p:cNvGrpSpPr/>
          <p:nvPr/>
        </p:nvGrpSpPr>
        <p:grpSpPr>
          <a:xfrm>
            <a:off x="12487275" y="3019425"/>
            <a:ext cx="19050" cy="1457325"/>
            <a:chOff x="0" y="-38100"/>
            <a:chExt cx="25400" cy="1943100"/>
          </a:xfrm>
        </p:grpSpPr>
        <p:sp>
          <p:nvSpPr>
            <p:cNvPr id="725" name="Google Shape;725;p9"/>
            <p:cNvSpPr/>
            <p:nvPr/>
          </p:nvSpPr>
          <p:spPr>
            <a:xfrm>
              <a:off x="0" y="0"/>
              <a:ext cx="25400" cy="1905000"/>
            </a:xfrm>
            <a:custGeom>
              <a:rect b="b" l="l" r="r" t="t"/>
              <a:pathLst>
                <a:path extrusionOk="0" h="1905000" w="25400">
                  <a:moveTo>
                    <a:pt x="0" y="0"/>
                  </a:moveTo>
                  <a:lnTo>
                    <a:pt x="25400" y="0"/>
                  </a:lnTo>
                  <a:lnTo>
                    <a:pt x="254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6" name="Google Shape;726;p9"/>
            <p:cNvSpPr txBox="1"/>
            <p:nvPr/>
          </p:nvSpPr>
          <p:spPr>
            <a:xfrm>
              <a:off x="0" y="-38100"/>
              <a:ext cx="25400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27" name="Google Shape;727;p9"/>
          <p:cNvGrpSpPr/>
          <p:nvPr/>
        </p:nvGrpSpPr>
        <p:grpSpPr>
          <a:xfrm>
            <a:off x="12401550" y="2943225"/>
            <a:ext cx="190500" cy="219075"/>
            <a:chOff x="0" y="-38100"/>
            <a:chExt cx="254000" cy="292100"/>
          </a:xfrm>
        </p:grpSpPr>
        <p:sp>
          <p:nvSpPr>
            <p:cNvPr id="728" name="Google Shape;728;p9"/>
            <p:cNvSpPr/>
            <p:nvPr/>
          </p:nvSpPr>
          <p:spPr>
            <a:xfrm>
              <a:off x="0" y="0"/>
              <a:ext cx="254000" cy="254000"/>
            </a:xfrm>
            <a:custGeom>
              <a:rect b="b" l="l" r="r" t="t"/>
              <a:pathLst>
                <a:path extrusionOk="0" h="254000" w="254000">
                  <a:moveTo>
                    <a:pt x="127000" y="0"/>
                  </a:moveTo>
                  <a:cubicBezTo>
                    <a:pt x="197140" y="0"/>
                    <a:pt x="254000" y="56860"/>
                    <a:pt x="254000" y="127000"/>
                  </a:cubicBezTo>
                  <a:cubicBezTo>
                    <a:pt x="254000" y="197140"/>
                    <a:pt x="197140" y="254000"/>
                    <a:pt x="127000" y="254000"/>
                  </a:cubicBezTo>
                  <a:cubicBezTo>
                    <a:pt x="56860" y="254000"/>
                    <a:pt x="0" y="197140"/>
                    <a:pt x="0" y="127000"/>
                  </a:cubicBez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9" name="Google Shape;729;p9"/>
            <p:cNvSpPr txBox="1"/>
            <p:nvPr/>
          </p:nvSpPr>
          <p:spPr>
            <a:xfrm>
              <a:off x="0" y="-38100"/>
              <a:ext cx="254000" cy="29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30" name="Google Shape;730;p9"/>
          <p:cNvGrpSpPr/>
          <p:nvPr/>
        </p:nvGrpSpPr>
        <p:grpSpPr>
          <a:xfrm>
            <a:off x="15001875" y="3019425"/>
            <a:ext cx="19050" cy="1457325"/>
            <a:chOff x="0" y="-38100"/>
            <a:chExt cx="25400" cy="1943100"/>
          </a:xfrm>
        </p:grpSpPr>
        <p:sp>
          <p:nvSpPr>
            <p:cNvPr id="731" name="Google Shape;731;p9"/>
            <p:cNvSpPr/>
            <p:nvPr/>
          </p:nvSpPr>
          <p:spPr>
            <a:xfrm>
              <a:off x="0" y="0"/>
              <a:ext cx="25400" cy="1905000"/>
            </a:xfrm>
            <a:custGeom>
              <a:rect b="b" l="l" r="r" t="t"/>
              <a:pathLst>
                <a:path extrusionOk="0" h="1905000" w="25400">
                  <a:moveTo>
                    <a:pt x="0" y="0"/>
                  </a:moveTo>
                  <a:lnTo>
                    <a:pt x="25400" y="0"/>
                  </a:lnTo>
                  <a:lnTo>
                    <a:pt x="254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2" name="Google Shape;732;p9"/>
            <p:cNvSpPr txBox="1"/>
            <p:nvPr/>
          </p:nvSpPr>
          <p:spPr>
            <a:xfrm>
              <a:off x="0" y="-38100"/>
              <a:ext cx="25400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33" name="Google Shape;733;p9"/>
          <p:cNvGrpSpPr/>
          <p:nvPr/>
        </p:nvGrpSpPr>
        <p:grpSpPr>
          <a:xfrm>
            <a:off x="14916150" y="2943225"/>
            <a:ext cx="190500" cy="219075"/>
            <a:chOff x="0" y="-38100"/>
            <a:chExt cx="254000" cy="292100"/>
          </a:xfrm>
        </p:grpSpPr>
        <p:sp>
          <p:nvSpPr>
            <p:cNvPr id="734" name="Google Shape;734;p9"/>
            <p:cNvSpPr/>
            <p:nvPr/>
          </p:nvSpPr>
          <p:spPr>
            <a:xfrm>
              <a:off x="0" y="0"/>
              <a:ext cx="254000" cy="254000"/>
            </a:xfrm>
            <a:custGeom>
              <a:rect b="b" l="l" r="r" t="t"/>
              <a:pathLst>
                <a:path extrusionOk="0" h="254000" w="254000">
                  <a:moveTo>
                    <a:pt x="127000" y="0"/>
                  </a:moveTo>
                  <a:cubicBezTo>
                    <a:pt x="197140" y="0"/>
                    <a:pt x="254000" y="56860"/>
                    <a:pt x="254000" y="127000"/>
                  </a:cubicBezTo>
                  <a:cubicBezTo>
                    <a:pt x="254000" y="197140"/>
                    <a:pt x="197140" y="254000"/>
                    <a:pt x="127000" y="254000"/>
                  </a:cubicBezTo>
                  <a:cubicBezTo>
                    <a:pt x="56860" y="254000"/>
                    <a:pt x="0" y="197140"/>
                    <a:pt x="0" y="127000"/>
                  </a:cubicBez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5" name="Google Shape;735;p9"/>
            <p:cNvSpPr txBox="1"/>
            <p:nvPr/>
          </p:nvSpPr>
          <p:spPr>
            <a:xfrm>
              <a:off x="0" y="-38100"/>
              <a:ext cx="254000" cy="29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36" name="Google Shape;736;p9"/>
          <p:cNvGrpSpPr/>
          <p:nvPr/>
        </p:nvGrpSpPr>
        <p:grpSpPr>
          <a:xfrm>
            <a:off x="17516475" y="3019425"/>
            <a:ext cx="19050" cy="1457325"/>
            <a:chOff x="0" y="-38100"/>
            <a:chExt cx="25400" cy="1943100"/>
          </a:xfrm>
        </p:grpSpPr>
        <p:sp>
          <p:nvSpPr>
            <p:cNvPr id="737" name="Google Shape;737;p9"/>
            <p:cNvSpPr/>
            <p:nvPr/>
          </p:nvSpPr>
          <p:spPr>
            <a:xfrm>
              <a:off x="0" y="0"/>
              <a:ext cx="25400" cy="1905000"/>
            </a:xfrm>
            <a:custGeom>
              <a:rect b="b" l="l" r="r" t="t"/>
              <a:pathLst>
                <a:path extrusionOk="0" h="1905000" w="25400">
                  <a:moveTo>
                    <a:pt x="0" y="0"/>
                  </a:moveTo>
                  <a:lnTo>
                    <a:pt x="25400" y="0"/>
                  </a:lnTo>
                  <a:lnTo>
                    <a:pt x="254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8" name="Google Shape;738;p9"/>
            <p:cNvSpPr txBox="1"/>
            <p:nvPr/>
          </p:nvSpPr>
          <p:spPr>
            <a:xfrm>
              <a:off x="0" y="-38100"/>
              <a:ext cx="25400" cy="194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39" name="Google Shape;739;p9"/>
          <p:cNvGrpSpPr/>
          <p:nvPr/>
        </p:nvGrpSpPr>
        <p:grpSpPr>
          <a:xfrm>
            <a:off x="17430750" y="2943225"/>
            <a:ext cx="190500" cy="219075"/>
            <a:chOff x="0" y="-38100"/>
            <a:chExt cx="254000" cy="292100"/>
          </a:xfrm>
        </p:grpSpPr>
        <p:sp>
          <p:nvSpPr>
            <p:cNvPr id="740" name="Google Shape;740;p9"/>
            <p:cNvSpPr/>
            <p:nvPr/>
          </p:nvSpPr>
          <p:spPr>
            <a:xfrm>
              <a:off x="0" y="0"/>
              <a:ext cx="254000" cy="254000"/>
            </a:xfrm>
            <a:custGeom>
              <a:rect b="b" l="l" r="r" t="t"/>
              <a:pathLst>
                <a:path extrusionOk="0" h="254000" w="254000">
                  <a:moveTo>
                    <a:pt x="127000" y="0"/>
                  </a:moveTo>
                  <a:cubicBezTo>
                    <a:pt x="197140" y="0"/>
                    <a:pt x="254000" y="56860"/>
                    <a:pt x="254000" y="127000"/>
                  </a:cubicBezTo>
                  <a:cubicBezTo>
                    <a:pt x="254000" y="197140"/>
                    <a:pt x="197140" y="254000"/>
                    <a:pt x="127000" y="254000"/>
                  </a:cubicBezTo>
                  <a:cubicBezTo>
                    <a:pt x="56860" y="254000"/>
                    <a:pt x="0" y="197140"/>
                    <a:pt x="0" y="127000"/>
                  </a:cubicBez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1" name="Google Shape;741;p9"/>
            <p:cNvSpPr txBox="1"/>
            <p:nvPr/>
          </p:nvSpPr>
          <p:spPr>
            <a:xfrm>
              <a:off x="0" y="-38100"/>
              <a:ext cx="254000" cy="29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42" name="Google Shape;742;p9"/>
          <p:cNvSpPr txBox="1"/>
          <p:nvPr/>
        </p:nvSpPr>
        <p:spPr>
          <a:xfrm>
            <a:off x="914400" y="3619500"/>
            <a:ext cx="153924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E8EE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RESEARCH</a:t>
            </a:r>
            <a:endParaRPr/>
          </a:p>
        </p:txBody>
      </p:sp>
      <p:sp>
        <p:nvSpPr>
          <p:cNvPr id="743" name="Google Shape;743;p9"/>
          <p:cNvSpPr txBox="1"/>
          <p:nvPr/>
        </p:nvSpPr>
        <p:spPr>
          <a:xfrm>
            <a:off x="2758440" y="3619500"/>
            <a:ext cx="338328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E8EE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DESIGN</a:t>
            </a:r>
            <a:endParaRPr/>
          </a:p>
        </p:txBody>
      </p:sp>
      <p:sp>
        <p:nvSpPr>
          <p:cNvPr id="744" name="Google Shape;744;p9"/>
          <p:cNvSpPr txBox="1"/>
          <p:nvPr/>
        </p:nvSpPr>
        <p:spPr>
          <a:xfrm>
            <a:off x="6446520" y="3619500"/>
            <a:ext cx="589788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E8EE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CORE BUILD</a:t>
            </a:r>
            <a:endParaRPr/>
          </a:p>
        </p:txBody>
      </p:sp>
      <p:sp>
        <p:nvSpPr>
          <p:cNvPr id="745" name="Google Shape;745;p9"/>
          <p:cNvSpPr txBox="1"/>
          <p:nvPr/>
        </p:nvSpPr>
        <p:spPr>
          <a:xfrm>
            <a:off x="12649200" y="3619500"/>
            <a:ext cx="338328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E8EE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BETA</a:t>
            </a:r>
            <a:endParaRPr/>
          </a:p>
        </p:txBody>
      </p:sp>
      <p:sp>
        <p:nvSpPr>
          <p:cNvPr id="746" name="Google Shape;746;p9"/>
          <p:cNvSpPr txBox="1"/>
          <p:nvPr/>
        </p:nvSpPr>
        <p:spPr>
          <a:xfrm>
            <a:off x="16337280" y="3619500"/>
            <a:ext cx="103632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E8EE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LAUNCH</a:t>
            </a:r>
            <a:endParaRPr/>
          </a:p>
        </p:txBody>
      </p:sp>
      <p:sp>
        <p:nvSpPr>
          <p:cNvPr id="747" name="Google Shape;747;p9"/>
          <p:cNvSpPr txBox="1"/>
          <p:nvPr/>
        </p:nvSpPr>
        <p:spPr>
          <a:xfrm>
            <a:off x="285750" y="4248150"/>
            <a:ext cx="9525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89" sz="9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 26</a:t>
            </a:r>
            <a:endParaRPr/>
          </a:p>
        </p:txBody>
      </p:sp>
      <p:sp>
        <p:nvSpPr>
          <p:cNvPr id="748" name="Google Shape;748;p9"/>
          <p:cNvSpPr txBox="1"/>
          <p:nvPr/>
        </p:nvSpPr>
        <p:spPr>
          <a:xfrm>
            <a:off x="2381250" y="4248150"/>
            <a:ext cx="9525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89" sz="9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Nov</a:t>
            </a:r>
            <a:endParaRPr/>
          </a:p>
        </p:txBody>
      </p:sp>
      <p:sp>
        <p:nvSpPr>
          <p:cNvPr id="749" name="Google Shape;749;p9"/>
          <p:cNvSpPr txBox="1"/>
          <p:nvPr/>
        </p:nvSpPr>
        <p:spPr>
          <a:xfrm>
            <a:off x="4476750" y="4248150"/>
            <a:ext cx="9525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89" sz="9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Dec</a:t>
            </a:r>
            <a:endParaRPr/>
          </a:p>
        </p:txBody>
      </p:sp>
      <p:sp>
        <p:nvSpPr>
          <p:cNvPr id="750" name="Google Shape;750;p9"/>
          <p:cNvSpPr txBox="1"/>
          <p:nvPr/>
        </p:nvSpPr>
        <p:spPr>
          <a:xfrm>
            <a:off x="6572250" y="4248150"/>
            <a:ext cx="9525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89" sz="9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Jan 27</a:t>
            </a:r>
            <a:endParaRPr/>
          </a:p>
        </p:txBody>
      </p:sp>
      <p:sp>
        <p:nvSpPr>
          <p:cNvPr id="751" name="Google Shape;751;p9"/>
          <p:cNvSpPr txBox="1"/>
          <p:nvPr/>
        </p:nvSpPr>
        <p:spPr>
          <a:xfrm>
            <a:off x="8667750" y="4248150"/>
            <a:ext cx="9525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89" sz="9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Feb</a:t>
            </a:r>
            <a:endParaRPr/>
          </a:p>
        </p:txBody>
      </p:sp>
      <p:sp>
        <p:nvSpPr>
          <p:cNvPr id="752" name="Google Shape;752;p9"/>
          <p:cNvSpPr txBox="1"/>
          <p:nvPr/>
        </p:nvSpPr>
        <p:spPr>
          <a:xfrm>
            <a:off x="10763250" y="4248150"/>
            <a:ext cx="9525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89" sz="9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Mar</a:t>
            </a:r>
            <a:endParaRPr/>
          </a:p>
        </p:txBody>
      </p:sp>
      <p:sp>
        <p:nvSpPr>
          <p:cNvPr id="753" name="Google Shape;753;p9"/>
          <p:cNvSpPr txBox="1"/>
          <p:nvPr/>
        </p:nvSpPr>
        <p:spPr>
          <a:xfrm>
            <a:off x="12858750" y="4248150"/>
            <a:ext cx="9525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89" sz="9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Apr</a:t>
            </a:r>
            <a:endParaRPr/>
          </a:p>
        </p:txBody>
      </p:sp>
      <p:sp>
        <p:nvSpPr>
          <p:cNvPr id="754" name="Google Shape;754;p9"/>
          <p:cNvSpPr txBox="1"/>
          <p:nvPr/>
        </p:nvSpPr>
        <p:spPr>
          <a:xfrm>
            <a:off x="14954250" y="4248150"/>
            <a:ext cx="9525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89" sz="9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May</a:t>
            </a:r>
            <a:endParaRPr/>
          </a:p>
        </p:txBody>
      </p:sp>
      <p:sp>
        <p:nvSpPr>
          <p:cNvPr id="755" name="Google Shape;755;p9"/>
          <p:cNvSpPr txBox="1"/>
          <p:nvPr/>
        </p:nvSpPr>
        <p:spPr>
          <a:xfrm>
            <a:off x="17049750" y="4248150"/>
            <a:ext cx="9525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89" sz="9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Jun</a:t>
            </a:r>
            <a:endParaRPr/>
          </a:p>
        </p:txBody>
      </p:sp>
      <p:sp>
        <p:nvSpPr>
          <p:cNvPr id="756" name="Google Shape;756;p9"/>
          <p:cNvSpPr txBox="1"/>
          <p:nvPr/>
        </p:nvSpPr>
        <p:spPr>
          <a:xfrm>
            <a:off x="2705100" y="2590800"/>
            <a:ext cx="1143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G1</a:t>
            </a:r>
            <a:endParaRPr/>
          </a:p>
        </p:txBody>
      </p:sp>
      <p:sp>
        <p:nvSpPr>
          <p:cNvPr id="757" name="Google Shape;757;p9"/>
          <p:cNvSpPr txBox="1"/>
          <p:nvPr/>
        </p:nvSpPr>
        <p:spPr>
          <a:xfrm>
            <a:off x="2609850" y="4533900"/>
            <a:ext cx="1333500" cy="319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27 Nov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Research</a:t>
            </a:r>
            <a:endParaRPr/>
          </a:p>
        </p:txBody>
      </p:sp>
      <p:sp>
        <p:nvSpPr>
          <p:cNvPr id="758" name="Google Shape;758;p9"/>
          <p:cNvSpPr txBox="1"/>
          <p:nvPr/>
        </p:nvSpPr>
        <p:spPr>
          <a:xfrm>
            <a:off x="4549140" y="2590800"/>
            <a:ext cx="1143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G2</a:t>
            </a:r>
            <a:endParaRPr/>
          </a:p>
        </p:txBody>
      </p:sp>
      <p:sp>
        <p:nvSpPr>
          <p:cNvPr id="759" name="Google Shape;759;p9"/>
          <p:cNvSpPr txBox="1"/>
          <p:nvPr/>
        </p:nvSpPr>
        <p:spPr>
          <a:xfrm>
            <a:off x="4453890" y="4533900"/>
            <a:ext cx="13335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 Jan</a:t>
            </a:r>
            <a:endParaRPr/>
          </a:p>
          <a:p>
            <a:pPr indent="0" lvl="0" marL="0" marR="0" rtl="0" algn="l">
              <a:lnSpc>
                <a:spcPct val="13985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Design · capacity · legal</a:t>
            </a:r>
            <a:endParaRPr/>
          </a:p>
        </p:txBody>
      </p:sp>
      <p:sp>
        <p:nvSpPr>
          <p:cNvPr id="760" name="Google Shape;760;p9"/>
          <p:cNvSpPr txBox="1"/>
          <p:nvPr/>
        </p:nvSpPr>
        <p:spPr>
          <a:xfrm>
            <a:off x="9745980" y="2590800"/>
            <a:ext cx="1143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Alpha</a:t>
            </a:r>
            <a:endParaRPr/>
          </a:p>
        </p:txBody>
      </p:sp>
      <p:sp>
        <p:nvSpPr>
          <p:cNvPr id="761" name="Google Shape;761;p9"/>
          <p:cNvSpPr txBox="1"/>
          <p:nvPr/>
        </p:nvSpPr>
        <p:spPr>
          <a:xfrm>
            <a:off x="9650730" y="4533900"/>
            <a:ext cx="1333500" cy="319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 Apr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Alpha</a:t>
            </a:r>
            <a:endParaRPr/>
          </a:p>
        </p:txBody>
      </p:sp>
      <p:sp>
        <p:nvSpPr>
          <p:cNvPr id="762" name="Google Shape;762;p9"/>
          <p:cNvSpPr txBox="1"/>
          <p:nvPr/>
        </p:nvSpPr>
        <p:spPr>
          <a:xfrm>
            <a:off x="11925300" y="2590800"/>
            <a:ext cx="1143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G3</a:t>
            </a:r>
            <a:endParaRPr/>
          </a:p>
        </p:txBody>
      </p:sp>
      <p:sp>
        <p:nvSpPr>
          <p:cNvPr id="763" name="Google Shape;763;p9"/>
          <p:cNvSpPr txBox="1"/>
          <p:nvPr/>
        </p:nvSpPr>
        <p:spPr>
          <a:xfrm>
            <a:off x="11830050" y="4533900"/>
            <a:ext cx="1333500" cy="319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30 Apr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Must gate</a:t>
            </a:r>
            <a:endParaRPr/>
          </a:p>
        </p:txBody>
      </p:sp>
      <p:sp>
        <p:nvSpPr>
          <p:cNvPr id="764" name="Google Shape;764;p9"/>
          <p:cNvSpPr txBox="1"/>
          <p:nvPr/>
        </p:nvSpPr>
        <p:spPr>
          <a:xfrm>
            <a:off x="14439900" y="2590800"/>
            <a:ext cx="1143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G4</a:t>
            </a:r>
            <a:endParaRPr/>
          </a:p>
        </p:txBody>
      </p:sp>
      <p:sp>
        <p:nvSpPr>
          <p:cNvPr id="765" name="Google Shape;765;p9"/>
          <p:cNvSpPr txBox="1"/>
          <p:nvPr/>
        </p:nvSpPr>
        <p:spPr>
          <a:xfrm>
            <a:off x="14344650" y="4533900"/>
            <a:ext cx="1333500" cy="319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28 May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Beta gate</a:t>
            </a:r>
            <a:endParaRPr/>
          </a:p>
        </p:txBody>
      </p:sp>
      <p:sp>
        <p:nvSpPr>
          <p:cNvPr id="766" name="Google Shape;766;p9"/>
          <p:cNvSpPr txBox="1"/>
          <p:nvPr/>
        </p:nvSpPr>
        <p:spPr>
          <a:xfrm>
            <a:off x="16954500" y="2590800"/>
            <a:ext cx="1143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0" sz="1050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S18</a:t>
            </a:r>
            <a:endParaRPr/>
          </a:p>
        </p:txBody>
      </p:sp>
      <p:sp>
        <p:nvSpPr>
          <p:cNvPr id="767" name="Google Shape;767;p9"/>
          <p:cNvSpPr txBox="1"/>
          <p:nvPr/>
        </p:nvSpPr>
        <p:spPr>
          <a:xfrm>
            <a:off x="16859250" y="4533900"/>
            <a:ext cx="1333500" cy="319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14 Jun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Launch</a:t>
            </a:r>
            <a:endParaRPr/>
          </a:p>
        </p:txBody>
      </p:sp>
      <p:grpSp>
        <p:nvGrpSpPr>
          <p:cNvPr id="768" name="Google Shape;768;p9"/>
          <p:cNvGrpSpPr/>
          <p:nvPr/>
        </p:nvGrpSpPr>
        <p:grpSpPr>
          <a:xfrm>
            <a:off x="762000" y="6448425"/>
            <a:ext cx="4048125" cy="1552575"/>
            <a:chOff x="0" y="-38100"/>
            <a:chExt cx="5397500" cy="2070100"/>
          </a:xfrm>
        </p:grpSpPr>
        <p:sp>
          <p:nvSpPr>
            <p:cNvPr id="769" name="Google Shape;769;p9"/>
            <p:cNvSpPr/>
            <p:nvPr/>
          </p:nvSpPr>
          <p:spPr>
            <a:xfrm>
              <a:off x="0" y="0"/>
              <a:ext cx="5397500" cy="2032000"/>
            </a:xfrm>
            <a:custGeom>
              <a:rect b="b" l="l" r="r" t="t"/>
              <a:pathLst>
                <a:path extrusionOk="0" h="2032000" w="5397500">
                  <a:moveTo>
                    <a:pt x="0" y="0"/>
                  </a:moveTo>
                  <a:lnTo>
                    <a:pt x="5397500" y="0"/>
                  </a:lnTo>
                  <a:lnTo>
                    <a:pt x="53975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0" name="Google Shape;770;p9"/>
            <p:cNvSpPr txBox="1"/>
            <p:nvPr/>
          </p:nvSpPr>
          <p:spPr>
            <a:xfrm>
              <a:off x="0" y="-38100"/>
              <a:ext cx="5397500" cy="207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71" name="Google Shape;771;p9"/>
          <p:cNvGrpSpPr/>
          <p:nvPr/>
        </p:nvGrpSpPr>
        <p:grpSpPr>
          <a:xfrm>
            <a:off x="5000625" y="6448425"/>
            <a:ext cx="4048125" cy="1552575"/>
            <a:chOff x="0" y="-38100"/>
            <a:chExt cx="5397500" cy="2070100"/>
          </a:xfrm>
        </p:grpSpPr>
        <p:sp>
          <p:nvSpPr>
            <p:cNvPr id="772" name="Google Shape;772;p9"/>
            <p:cNvSpPr/>
            <p:nvPr/>
          </p:nvSpPr>
          <p:spPr>
            <a:xfrm>
              <a:off x="0" y="0"/>
              <a:ext cx="5397500" cy="2032000"/>
            </a:xfrm>
            <a:custGeom>
              <a:rect b="b" l="l" r="r" t="t"/>
              <a:pathLst>
                <a:path extrusionOk="0" h="2032000" w="5397500">
                  <a:moveTo>
                    <a:pt x="0" y="0"/>
                  </a:moveTo>
                  <a:lnTo>
                    <a:pt x="5397500" y="0"/>
                  </a:lnTo>
                  <a:lnTo>
                    <a:pt x="53975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3" name="Google Shape;773;p9"/>
            <p:cNvSpPr txBox="1"/>
            <p:nvPr/>
          </p:nvSpPr>
          <p:spPr>
            <a:xfrm>
              <a:off x="0" y="-38100"/>
              <a:ext cx="5397500" cy="207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74" name="Google Shape;774;p9"/>
          <p:cNvGrpSpPr/>
          <p:nvPr/>
        </p:nvGrpSpPr>
        <p:grpSpPr>
          <a:xfrm>
            <a:off x="9239250" y="6448425"/>
            <a:ext cx="4048125" cy="1552575"/>
            <a:chOff x="0" y="-38100"/>
            <a:chExt cx="5397500" cy="2070100"/>
          </a:xfrm>
        </p:grpSpPr>
        <p:sp>
          <p:nvSpPr>
            <p:cNvPr id="775" name="Google Shape;775;p9"/>
            <p:cNvSpPr/>
            <p:nvPr/>
          </p:nvSpPr>
          <p:spPr>
            <a:xfrm>
              <a:off x="0" y="0"/>
              <a:ext cx="5397500" cy="2032000"/>
            </a:xfrm>
            <a:custGeom>
              <a:rect b="b" l="l" r="r" t="t"/>
              <a:pathLst>
                <a:path extrusionOk="0" h="2032000" w="5397500">
                  <a:moveTo>
                    <a:pt x="0" y="0"/>
                  </a:moveTo>
                  <a:lnTo>
                    <a:pt x="5397500" y="0"/>
                  </a:lnTo>
                  <a:lnTo>
                    <a:pt x="53975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DE4DC"/>
            </a:solidFill>
            <a:ln cap="sq" cmpd="sng" w="9525">
              <a:solidFill>
                <a:srgbClr val="F2542D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6" name="Google Shape;776;p9"/>
            <p:cNvSpPr txBox="1"/>
            <p:nvPr/>
          </p:nvSpPr>
          <p:spPr>
            <a:xfrm>
              <a:off x="0" y="-38100"/>
              <a:ext cx="5397500" cy="207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77" name="Google Shape;777;p9"/>
          <p:cNvGrpSpPr/>
          <p:nvPr/>
        </p:nvGrpSpPr>
        <p:grpSpPr>
          <a:xfrm>
            <a:off x="13477875" y="6448425"/>
            <a:ext cx="4048125" cy="1552575"/>
            <a:chOff x="0" y="-38100"/>
            <a:chExt cx="5397500" cy="2070100"/>
          </a:xfrm>
        </p:grpSpPr>
        <p:sp>
          <p:nvSpPr>
            <p:cNvPr id="778" name="Google Shape;778;p9"/>
            <p:cNvSpPr/>
            <p:nvPr/>
          </p:nvSpPr>
          <p:spPr>
            <a:xfrm>
              <a:off x="0" y="0"/>
              <a:ext cx="5397500" cy="2032000"/>
            </a:xfrm>
            <a:custGeom>
              <a:rect b="b" l="l" r="r" t="t"/>
              <a:pathLst>
                <a:path extrusionOk="0" h="2032000" w="5397500">
                  <a:moveTo>
                    <a:pt x="0" y="0"/>
                  </a:moveTo>
                  <a:lnTo>
                    <a:pt x="5397500" y="0"/>
                  </a:lnTo>
                  <a:lnTo>
                    <a:pt x="53975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9" name="Google Shape;779;p9"/>
            <p:cNvSpPr txBox="1"/>
            <p:nvPr/>
          </p:nvSpPr>
          <p:spPr>
            <a:xfrm>
              <a:off x="0" y="-38100"/>
              <a:ext cx="5397500" cy="207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80" name="Google Shape;780;p9"/>
          <p:cNvSpPr txBox="1"/>
          <p:nvPr/>
        </p:nvSpPr>
        <p:spPr>
          <a:xfrm>
            <a:off x="990600" y="6734175"/>
            <a:ext cx="3590925" cy="6496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9</a:t>
            </a:r>
            <a:endParaRPr/>
          </a:p>
        </p:txBody>
      </p:sp>
      <p:sp>
        <p:nvSpPr>
          <p:cNvPr id="781" name="Google Shape;781;p9"/>
          <p:cNvSpPr txBox="1"/>
          <p:nvPr/>
        </p:nvSpPr>
        <p:spPr>
          <a:xfrm>
            <a:off x="990600" y="7486650"/>
            <a:ext cx="35909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Epics</a:t>
            </a:r>
            <a:endParaRPr/>
          </a:p>
        </p:txBody>
      </p:sp>
      <p:sp>
        <p:nvSpPr>
          <p:cNvPr id="782" name="Google Shape;782;p9"/>
          <p:cNvSpPr txBox="1"/>
          <p:nvPr/>
        </p:nvSpPr>
        <p:spPr>
          <a:xfrm>
            <a:off x="5229225" y="6734175"/>
            <a:ext cx="3590925" cy="6496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29</a:t>
            </a:r>
            <a:endParaRPr/>
          </a:p>
        </p:txBody>
      </p:sp>
      <p:sp>
        <p:nvSpPr>
          <p:cNvPr id="783" name="Google Shape;783;p9"/>
          <p:cNvSpPr txBox="1"/>
          <p:nvPr/>
        </p:nvSpPr>
        <p:spPr>
          <a:xfrm>
            <a:off x="5229225" y="7486650"/>
            <a:ext cx="35909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Stories</a:t>
            </a:r>
            <a:endParaRPr/>
          </a:p>
        </p:txBody>
      </p:sp>
      <p:sp>
        <p:nvSpPr>
          <p:cNvPr id="784" name="Google Shape;784;p9"/>
          <p:cNvSpPr txBox="1"/>
          <p:nvPr/>
        </p:nvSpPr>
        <p:spPr>
          <a:xfrm>
            <a:off x="9467850" y="6734175"/>
            <a:ext cx="3590925" cy="6496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/>
          </a:p>
        </p:txBody>
      </p:sp>
      <p:sp>
        <p:nvSpPr>
          <p:cNvPr id="785" name="Google Shape;785;p9"/>
          <p:cNvSpPr txBox="1"/>
          <p:nvPr/>
        </p:nvSpPr>
        <p:spPr>
          <a:xfrm>
            <a:off x="9467850" y="7486650"/>
            <a:ext cx="35909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New pilot stories</a:t>
            </a:r>
            <a:endParaRPr/>
          </a:p>
        </p:txBody>
      </p:sp>
      <p:sp>
        <p:nvSpPr>
          <p:cNvPr id="786" name="Google Shape;786;p9"/>
          <p:cNvSpPr txBox="1"/>
          <p:nvPr/>
        </p:nvSpPr>
        <p:spPr>
          <a:xfrm>
            <a:off x="13706475" y="6734175"/>
            <a:ext cx="3590925" cy="6496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2 + 1 + 1</a:t>
            </a:r>
            <a:endParaRPr/>
          </a:p>
        </p:txBody>
      </p:sp>
      <p:sp>
        <p:nvSpPr>
          <p:cNvPr id="787" name="Google Shape;787;p9"/>
          <p:cNvSpPr txBox="1"/>
          <p:nvPr/>
        </p:nvSpPr>
        <p:spPr>
          <a:xfrm>
            <a:off x="13706475" y="7486650"/>
            <a:ext cx="35909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Engineers · ML · PM (assumed)</a:t>
            </a:r>
            <a:endParaRPr/>
          </a:p>
        </p:txBody>
      </p:sp>
      <p:sp>
        <p:nvSpPr>
          <p:cNvPr id="788" name="Google Shape;788;p9"/>
          <p:cNvSpPr txBox="1"/>
          <p:nvPr/>
        </p:nvSpPr>
        <p:spPr>
          <a:xfrm>
            <a:off x="762000" y="8353425"/>
            <a:ext cx="16764000" cy="2076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20" sz="1200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Pilot branch tasks unscheduled · G2 capacity decision 8 Jan 2027 · Linked PRD hierarchy preserved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A4A"/>
        </a:solidFill>
      </p:bgPr>
    </p:bg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areerPilot logo" id="793" name="Google Shape;79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428150"/>
            <a:ext cx="901087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794" name="Google Shape;794;p10"/>
          <p:cNvSpPr txBox="1"/>
          <p:nvPr/>
        </p:nvSpPr>
        <p:spPr>
          <a:xfrm>
            <a:off x="4572000" y="438150"/>
            <a:ext cx="9525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52" sz="1500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 · Targets</a:t>
            </a:r>
            <a:endParaRPr sz="1500"/>
          </a:p>
        </p:txBody>
      </p:sp>
      <p:sp>
        <p:nvSpPr>
          <p:cNvPr id="795" name="Google Shape;795;p10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89" sz="1050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</a:t>
            </a:r>
            <a:endParaRPr/>
          </a:p>
        </p:txBody>
      </p:sp>
      <p:sp>
        <p:nvSpPr>
          <p:cNvPr id="796" name="Google Shape;796;p10"/>
          <p:cNvSpPr txBox="1"/>
          <p:nvPr/>
        </p:nvSpPr>
        <p:spPr>
          <a:xfrm>
            <a:off x="762000" y="9734550"/>
            <a:ext cx="114300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75" sz="975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</a:t>
            </a:r>
            <a:r>
              <a:rPr lang="en-US" spc="175" sz="975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June 27</a:t>
            </a:r>
            <a:r>
              <a:rPr lang="en-US" spc="175" sz="975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(planned)</a:t>
            </a:r>
            <a:endParaRPr/>
          </a:p>
        </p:txBody>
      </p:sp>
      <p:grpSp>
        <p:nvGrpSpPr>
          <p:cNvPr id="797" name="Google Shape;797;p10"/>
          <p:cNvGrpSpPr/>
          <p:nvPr/>
        </p:nvGrpSpPr>
        <p:grpSpPr>
          <a:xfrm>
            <a:off x="762000" y="733425"/>
            <a:ext cx="16764000" cy="38100"/>
            <a:chOff x="0" y="-38100"/>
            <a:chExt cx="22352000" cy="50800"/>
          </a:xfrm>
        </p:grpSpPr>
        <p:sp>
          <p:nvSpPr>
            <p:cNvPr id="798" name="Google Shape;798;p10"/>
            <p:cNvSpPr/>
            <p:nvPr/>
          </p:nvSpPr>
          <p:spPr>
            <a:xfrm>
              <a:off x="0" y="0"/>
              <a:ext cx="22352000" cy="12700"/>
            </a:xfrm>
            <a:custGeom>
              <a:rect b="b" l="l" r="r" t="t"/>
              <a:pathLst>
                <a:path extrusionOk="0" h="127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2C4D75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9" name="Google Shape;799;p10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00" name="Google Shape;800;p10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43" sz="1350">
                <a:solidFill>
                  <a:srgbClr val="F2542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TARGETS · NOT RESULTS</a:t>
            </a:r>
            <a:endParaRPr/>
          </a:p>
        </p:txBody>
      </p:sp>
      <p:sp>
        <p:nvSpPr>
          <p:cNvPr id="801" name="Google Shape;801;p10"/>
          <p:cNvSpPr txBox="1"/>
          <p:nvPr/>
        </p:nvSpPr>
        <p:spPr>
          <a:xfrm>
            <a:off x="762000" y="1695450"/>
            <a:ext cx="15240000" cy="1948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38" sz="6900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Useful decisions,</a:t>
            </a:r>
            <a:endParaRPr/>
          </a:p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38" sz="6900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trusted introductions.</a:t>
            </a:r>
            <a:endParaRPr/>
          </a:p>
        </p:txBody>
      </p:sp>
      <p:grpSp>
        <p:nvGrpSpPr>
          <p:cNvPr id="802" name="Google Shape;802;p10"/>
          <p:cNvGrpSpPr/>
          <p:nvPr/>
        </p:nvGrpSpPr>
        <p:grpSpPr>
          <a:xfrm>
            <a:off x="762000" y="3781425"/>
            <a:ext cx="5435600" cy="2124075"/>
            <a:chOff x="0" y="-38100"/>
            <a:chExt cx="7247467" cy="2832100"/>
          </a:xfrm>
        </p:grpSpPr>
        <p:sp>
          <p:nvSpPr>
            <p:cNvPr id="803" name="Google Shape;803;p10"/>
            <p:cNvSpPr/>
            <p:nvPr/>
          </p:nvSpPr>
          <p:spPr>
            <a:xfrm>
              <a:off x="0" y="0"/>
              <a:ext cx="7247467" cy="2794000"/>
            </a:xfrm>
            <a:custGeom>
              <a:rect b="b" l="l" r="r" t="t"/>
              <a:pathLst>
                <a:path extrusionOk="0" h="2794000" w="7247467">
                  <a:moveTo>
                    <a:pt x="0" y="0"/>
                  </a:moveTo>
                  <a:lnTo>
                    <a:pt x="7247467" y="0"/>
                  </a:lnTo>
                  <a:lnTo>
                    <a:pt x="7247467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1D3D6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4" name="Google Shape;804;p10"/>
            <p:cNvSpPr txBox="1"/>
            <p:nvPr/>
          </p:nvSpPr>
          <p:spPr>
            <a:xfrm>
              <a:off x="0" y="-38100"/>
              <a:ext cx="7247467" cy="283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05" name="Google Shape;805;p10"/>
          <p:cNvGrpSpPr/>
          <p:nvPr/>
        </p:nvGrpSpPr>
        <p:grpSpPr>
          <a:xfrm>
            <a:off x="762000" y="3781425"/>
            <a:ext cx="57150" cy="2124075"/>
            <a:chOff x="0" y="-38100"/>
            <a:chExt cx="76200" cy="2832100"/>
          </a:xfrm>
        </p:grpSpPr>
        <p:sp>
          <p:nvSpPr>
            <p:cNvPr id="806" name="Google Shape;806;p10"/>
            <p:cNvSpPr/>
            <p:nvPr/>
          </p:nvSpPr>
          <p:spPr>
            <a:xfrm>
              <a:off x="0" y="0"/>
              <a:ext cx="76200" cy="2794000"/>
            </a:xfrm>
            <a:custGeom>
              <a:rect b="b" l="l" r="r" t="t"/>
              <a:pathLst>
                <a:path extrusionOk="0" h="2794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7" name="Google Shape;807;p10"/>
            <p:cNvSpPr txBox="1"/>
            <p:nvPr/>
          </p:nvSpPr>
          <p:spPr>
            <a:xfrm>
              <a:off x="0" y="-38100"/>
              <a:ext cx="76200" cy="283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08" name="Google Shape;808;p10"/>
          <p:cNvGrpSpPr/>
          <p:nvPr/>
        </p:nvGrpSpPr>
        <p:grpSpPr>
          <a:xfrm>
            <a:off x="6426200" y="3781425"/>
            <a:ext cx="5435600" cy="2124075"/>
            <a:chOff x="0" y="-38100"/>
            <a:chExt cx="7247467" cy="2832100"/>
          </a:xfrm>
        </p:grpSpPr>
        <p:sp>
          <p:nvSpPr>
            <p:cNvPr id="809" name="Google Shape;809;p10"/>
            <p:cNvSpPr/>
            <p:nvPr/>
          </p:nvSpPr>
          <p:spPr>
            <a:xfrm>
              <a:off x="0" y="0"/>
              <a:ext cx="7247467" cy="2794000"/>
            </a:xfrm>
            <a:custGeom>
              <a:rect b="b" l="l" r="r" t="t"/>
              <a:pathLst>
                <a:path extrusionOk="0" h="2794000" w="7247467">
                  <a:moveTo>
                    <a:pt x="0" y="0"/>
                  </a:moveTo>
                  <a:lnTo>
                    <a:pt x="7247467" y="0"/>
                  </a:lnTo>
                  <a:lnTo>
                    <a:pt x="7247467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0" name="Google Shape;810;p10"/>
            <p:cNvSpPr txBox="1"/>
            <p:nvPr/>
          </p:nvSpPr>
          <p:spPr>
            <a:xfrm>
              <a:off x="0" y="-38100"/>
              <a:ext cx="7247467" cy="283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11" name="Google Shape;811;p10"/>
          <p:cNvGrpSpPr/>
          <p:nvPr/>
        </p:nvGrpSpPr>
        <p:grpSpPr>
          <a:xfrm>
            <a:off x="6426200" y="3781425"/>
            <a:ext cx="57150" cy="2124075"/>
            <a:chOff x="0" y="-38100"/>
            <a:chExt cx="76200" cy="2832100"/>
          </a:xfrm>
        </p:grpSpPr>
        <p:sp>
          <p:nvSpPr>
            <p:cNvPr id="812" name="Google Shape;812;p10"/>
            <p:cNvSpPr/>
            <p:nvPr/>
          </p:nvSpPr>
          <p:spPr>
            <a:xfrm>
              <a:off x="0" y="0"/>
              <a:ext cx="76200" cy="2794000"/>
            </a:xfrm>
            <a:custGeom>
              <a:rect b="b" l="l" r="r" t="t"/>
              <a:pathLst>
                <a:path extrusionOk="0" h="2794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3" name="Google Shape;813;p10"/>
            <p:cNvSpPr txBox="1"/>
            <p:nvPr/>
          </p:nvSpPr>
          <p:spPr>
            <a:xfrm>
              <a:off x="0" y="-38100"/>
              <a:ext cx="76200" cy="283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14" name="Google Shape;814;p10"/>
          <p:cNvGrpSpPr/>
          <p:nvPr/>
        </p:nvGrpSpPr>
        <p:grpSpPr>
          <a:xfrm>
            <a:off x="6731000" y="5495925"/>
            <a:ext cx="2857500" cy="276225"/>
            <a:chOff x="0" y="-38100"/>
            <a:chExt cx="3810000" cy="368300"/>
          </a:xfrm>
        </p:grpSpPr>
        <p:grpSp>
          <p:nvGrpSpPr>
            <p:cNvPr id="815" name="Google Shape;815;p10"/>
            <p:cNvGrpSpPr/>
            <p:nvPr/>
          </p:nvGrpSpPr>
          <p:grpSpPr>
            <a:xfrm>
              <a:off x="0" y="-38100"/>
              <a:ext cx="3810000" cy="368300"/>
              <a:chOff x="0" y="-38100"/>
              <a:chExt cx="3810000" cy="368300"/>
            </a:xfrm>
          </p:grpSpPr>
          <p:sp>
            <p:nvSpPr>
              <p:cNvPr id="816" name="Google Shape;816;p10"/>
              <p:cNvSpPr/>
              <p:nvPr/>
            </p:nvSpPr>
            <p:spPr>
              <a:xfrm>
                <a:off x="0" y="0"/>
                <a:ext cx="3810000" cy="330200"/>
              </a:xfrm>
              <a:custGeom>
                <a:rect b="b" l="l" r="r" t="t"/>
                <a:pathLst>
                  <a:path extrusionOk="0" h="330200" w="3810000">
                    <a:moveTo>
                      <a:pt x="0" y="0"/>
                    </a:moveTo>
                    <a:lnTo>
                      <a:pt x="3810000" y="0"/>
                    </a:lnTo>
                    <a:lnTo>
                      <a:pt x="3810000" y="330200"/>
                    </a:lnTo>
                    <a:lnTo>
                      <a:pt x="0" y="330200"/>
                    </a:lnTo>
                    <a:close/>
                  </a:path>
                </a:pathLst>
              </a:custGeom>
              <a:solidFill>
                <a:srgbClr val="FDE4DC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7" name="Google Shape;817;p10"/>
              <p:cNvSpPr txBox="1"/>
              <p:nvPr/>
            </p:nvSpPr>
            <p:spPr>
              <a:xfrm>
                <a:off x="0" y="-38100"/>
                <a:ext cx="38100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l">
                  <a:lnSpc>
                    <a:spcPct val="932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818" name="Google Shape;818;p10"/>
            <p:cNvSpPr txBox="1"/>
            <p:nvPr/>
          </p:nvSpPr>
          <p:spPr>
            <a:xfrm>
              <a:off x="152400" y="69850"/>
              <a:ext cx="3505200" cy="19177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pc="179" sz="900">
                  <a:solidFill>
                    <a:srgbClr val="F2542D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PROPOSED · UNVALIDATED</a:t>
              </a:r>
              <a:endParaRPr/>
            </a:p>
          </p:txBody>
        </p:sp>
      </p:grpSp>
      <p:grpSp>
        <p:nvGrpSpPr>
          <p:cNvPr id="819" name="Google Shape;819;p10"/>
          <p:cNvGrpSpPr/>
          <p:nvPr/>
        </p:nvGrpSpPr>
        <p:grpSpPr>
          <a:xfrm>
            <a:off x="12090400" y="3781425"/>
            <a:ext cx="5435600" cy="2124075"/>
            <a:chOff x="0" y="-38100"/>
            <a:chExt cx="7247467" cy="2832100"/>
          </a:xfrm>
        </p:grpSpPr>
        <p:sp>
          <p:nvSpPr>
            <p:cNvPr id="820" name="Google Shape;820;p10"/>
            <p:cNvSpPr/>
            <p:nvPr/>
          </p:nvSpPr>
          <p:spPr>
            <a:xfrm>
              <a:off x="0" y="0"/>
              <a:ext cx="7247467" cy="2794000"/>
            </a:xfrm>
            <a:custGeom>
              <a:rect b="b" l="l" r="r" t="t"/>
              <a:pathLst>
                <a:path extrusionOk="0" h="2794000" w="7247467">
                  <a:moveTo>
                    <a:pt x="0" y="0"/>
                  </a:moveTo>
                  <a:lnTo>
                    <a:pt x="7247467" y="0"/>
                  </a:lnTo>
                  <a:lnTo>
                    <a:pt x="7247467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1" name="Google Shape;821;p10"/>
            <p:cNvSpPr txBox="1"/>
            <p:nvPr/>
          </p:nvSpPr>
          <p:spPr>
            <a:xfrm>
              <a:off x="0" y="-38100"/>
              <a:ext cx="7247467" cy="283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22" name="Google Shape;822;p10"/>
          <p:cNvGrpSpPr/>
          <p:nvPr/>
        </p:nvGrpSpPr>
        <p:grpSpPr>
          <a:xfrm>
            <a:off x="12090400" y="3781425"/>
            <a:ext cx="57150" cy="2124075"/>
            <a:chOff x="0" y="-38100"/>
            <a:chExt cx="76200" cy="2832100"/>
          </a:xfrm>
        </p:grpSpPr>
        <p:sp>
          <p:nvSpPr>
            <p:cNvPr id="823" name="Google Shape;823;p10"/>
            <p:cNvSpPr/>
            <p:nvPr/>
          </p:nvSpPr>
          <p:spPr>
            <a:xfrm>
              <a:off x="0" y="0"/>
              <a:ext cx="76200" cy="2794000"/>
            </a:xfrm>
            <a:custGeom>
              <a:rect b="b" l="l" r="r" t="t"/>
              <a:pathLst>
                <a:path extrusionOk="0" h="2794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4" name="Google Shape;824;p10"/>
            <p:cNvSpPr txBox="1"/>
            <p:nvPr/>
          </p:nvSpPr>
          <p:spPr>
            <a:xfrm>
              <a:off x="0" y="-38100"/>
              <a:ext cx="76200" cy="283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25" name="Google Shape;825;p10"/>
          <p:cNvGrpSpPr/>
          <p:nvPr/>
        </p:nvGrpSpPr>
        <p:grpSpPr>
          <a:xfrm>
            <a:off x="12395200" y="5495925"/>
            <a:ext cx="2857500" cy="276225"/>
            <a:chOff x="0" y="-38100"/>
            <a:chExt cx="3810000" cy="368300"/>
          </a:xfrm>
        </p:grpSpPr>
        <p:grpSp>
          <p:nvGrpSpPr>
            <p:cNvPr id="826" name="Google Shape;826;p10"/>
            <p:cNvGrpSpPr/>
            <p:nvPr/>
          </p:nvGrpSpPr>
          <p:grpSpPr>
            <a:xfrm>
              <a:off x="0" y="-38100"/>
              <a:ext cx="3810000" cy="368300"/>
              <a:chOff x="0" y="-38100"/>
              <a:chExt cx="3810000" cy="368300"/>
            </a:xfrm>
          </p:grpSpPr>
          <p:sp>
            <p:nvSpPr>
              <p:cNvPr id="827" name="Google Shape;827;p10"/>
              <p:cNvSpPr/>
              <p:nvPr/>
            </p:nvSpPr>
            <p:spPr>
              <a:xfrm>
                <a:off x="0" y="0"/>
                <a:ext cx="3810000" cy="330200"/>
              </a:xfrm>
              <a:custGeom>
                <a:rect b="b" l="l" r="r" t="t"/>
                <a:pathLst>
                  <a:path extrusionOk="0" h="330200" w="3810000">
                    <a:moveTo>
                      <a:pt x="0" y="0"/>
                    </a:moveTo>
                    <a:lnTo>
                      <a:pt x="3810000" y="0"/>
                    </a:lnTo>
                    <a:lnTo>
                      <a:pt x="3810000" y="330200"/>
                    </a:lnTo>
                    <a:lnTo>
                      <a:pt x="0" y="330200"/>
                    </a:lnTo>
                    <a:close/>
                  </a:path>
                </a:pathLst>
              </a:custGeom>
              <a:solidFill>
                <a:srgbClr val="FDE4DC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28" name="Google Shape;828;p10"/>
              <p:cNvSpPr txBox="1"/>
              <p:nvPr/>
            </p:nvSpPr>
            <p:spPr>
              <a:xfrm>
                <a:off x="0" y="-38100"/>
                <a:ext cx="38100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l">
                  <a:lnSpc>
                    <a:spcPct val="932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829" name="Google Shape;829;p10"/>
            <p:cNvSpPr txBox="1"/>
            <p:nvPr/>
          </p:nvSpPr>
          <p:spPr>
            <a:xfrm>
              <a:off x="152400" y="69850"/>
              <a:ext cx="3505200" cy="19177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pc="179" sz="900">
                  <a:solidFill>
                    <a:srgbClr val="F2542D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PROPOSED · UNVALIDATED</a:t>
              </a:r>
              <a:endParaRPr/>
            </a:p>
          </p:txBody>
        </p:sp>
      </p:grpSp>
      <p:grpSp>
        <p:nvGrpSpPr>
          <p:cNvPr id="830" name="Google Shape;830;p10"/>
          <p:cNvGrpSpPr/>
          <p:nvPr/>
        </p:nvGrpSpPr>
        <p:grpSpPr>
          <a:xfrm>
            <a:off x="762000" y="6105525"/>
            <a:ext cx="5435600" cy="2124075"/>
            <a:chOff x="0" y="-38100"/>
            <a:chExt cx="7247467" cy="2832100"/>
          </a:xfrm>
        </p:grpSpPr>
        <p:sp>
          <p:nvSpPr>
            <p:cNvPr id="831" name="Google Shape;831;p10"/>
            <p:cNvSpPr/>
            <p:nvPr/>
          </p:nvSpPr>
          <p:spPr>
            <a:xfrm>
              <a:off x="0" y="0"/>
              <a:ext cx="7247467" cy="2794000"/>
            </a:xfrm>
            <a:custGeom>
              <a:rect b="b" l="l" r="r" t="t"/>
              <a:pathLst>
                <a:path extrusionOk="0" h="2794000" w="7247467">
                  <a:moveTo>
                    <a:pt x="0" y="0"/>
                  </a:moveTo>
                  <a:lnTo>
                    <a:pt x="7247467" y="0"/>
                  </a:lnTo>
                  <a:lnTo>
                    <a:pt x="7247467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1D3D6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2" name="Google Shape;832;p10"/>
            <p:cNvSpPr txBox="1"/>
            <p:nvPr/>
          </p:nvSpPr>
          <p:spPr>
            <a:xfrm>
              <a:off x="0" y="-38100"/>
              <a:ext cx="7247467" cy="283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33" name="Google Shape;833;p10"/>
          <p:cNvGrpSpPr/>
          <p:nvPr/>
        </p:nvGrpSpPr>
        <p:grpSpPr>
          <a:xfrm>
            <a:off x="762000" y="6105525"/>
            <a:ext cx="57150" cy="2124075"/>
            <a:chOff x="0" y="-38100"/>
            <a:chExt cx="76200" cy="2832100"/>
          </a:xfrm>
        </p:grpSpPr>
        <p:sp>
          <p:nvSpPr>
            <p:cNvPr id="834" name="Google Shape;834;p10"/>
            <p:cNvSpPr/>
            <p:nvPr/>
          </p:nvSpPr>
          <p:spPr>
            <a:xfrm>
              <a:off x="0" y="0"/>
              <a:ext cx="76200" cy="2794000"/>
            </a:xfrm>
            <a:custGeom>
              <a:rect b="b" l="l" r="r" t="t"/>
              <a:pathLst>
                <a:path extrusionOk="0" h="2794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5" name="Google Shape;835;p10"/>
            <p:cNvSpPr txBox="1"/>
            <p:nvPr/>
          </p:nvSpPr>
          <p:spPr>
            <a:xfrm>
              <a:off x="0" y="-38100"/>
              <a:ext cx="76200" cy="283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36" name="Google Shape;836;p10"/>
          <p:cNvGrpSpPr/>
          <p:nvPr/>
        </p:nvGrpSpPr>
        <p:grpSpPr>
          <a:xfrm>
            <a:off x="6426200" y="6105525"/>
            <a:ext cx="5435600" cy="2124075"/>
            <a:chOff x="0" y="-38100"/>
            <a:chExt cx="7247467" cy="2832100"/>
          </a:xfrm>
        </p:grpSpPr>
        <p:sp>
          <p:nvSpPr>
            <p:cNvPr id="837" name="Google Shape;837;p10"/>
            <p:cNvSpPr/>
            <p:nvPr/>
          </p:nvSpPr>
          <p:spPr>
            <a:xfrm>
              <a:off x="0" y="0"/>
              <a:ext cx="7247467" cy="2794000"/>
            </a:xfrm>
            <a:custGeom>
              <a:rect b="b" l="l" r="r" t="t"/>
              <a:pathLst>
                <a:path extrusionOk="0" h="2794000" w="7247467">
                  <a:moveTo>
                    <a:pt x="0" y="0"/>
                  </a:moveTo>
                  <a:lnTo>
                    <a:pt x="7247467" y="0"/>
                  </a:lnTo>
                  <a:lnTo>
                    <a:pt x="7247467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1D3D6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8" name="Google Shape;838;p10"/>
            <p:cNvSpPr txBox="1"/>
            <p:nvPr/>
          </p:nvSpPr>
          <p:spPr>
            <a:xfrm>
              <a:off x="0" y="-38100"/>
              <a:ext cx="7247467" cy="283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39" name="Google Shape;839;p10"/>
          <p:cNvGrpSpPr/>
          <p:nvPr/>
        </p:nvGrpSpPr>
        <p:grpSpPr>
          <a:xfrm>
            <a:off x="6426200" y="6105525"/>
            <a:ext cx="57150" cy="2124075"/>
            <a:chOff x="0" y="-38100"/>
            <a:chExt cx="76200" cy="2832100"/>
          </a:xfrm>
        </p:grpSpPr>
        <p:sp>
          <p:nvSpPr>
            <p:cNvPr id="840" name="Google Shape;840;p10"/>
            <p:cNvSpPr/>
            <p:nvPr/>
          </p:nvSpPr>
          <p:spPr>
            <a:xfrm>
              <a:off x="0" y="0"/>
              <a:ext cx="76200" cy="2794000"/>
            </a:xfrm>
            <a:custGeom>
              <a:rect b="b" l="l" r="r" t="t"/>
              <a:pathLst>
                <a:path extrusionOk="0" h="2794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1" name="Google Shape;841;p10"/>
            <p:cNvSpPr txBox="1"/>
            <p:nvPr/>
          </p:nvSpPr>
          <p:spPr>
            <a:xfrm>
              <a:off x="0" y="-38100"/>
              <a:ext cx="76200" cy="283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42" name="Google Shape;842;p10"/>
          <p:cNvGrpSpPr/>
          <p:nvPr/>
        </p:nvGrpSpPr>
        <p:grpSpPr>
          <a:xfrm>
            <a:off x="12090400" y="6105525"/>
            <a:ext cx="5435600" cy="2124075"/>
            <a:chOff x="0" y="-38100"/>
            <a:chExt cx="7247467" cy="2832100"/>
          </a:xfrm>
        </p:grpSpPr>
        <p:sp>
          <p:nvSpPr>
            <p:cNvPr id="843" name="Google Shape;843;p10"/>
            <p:cNvSpPr/>
            <p:nvPr/>
          </p:nvSpPr>
          <p:spPr>
            <a:xfrm>
              <a:off x="0" y="0"/>
              <a:ext cx="7247467" cy="2794000"/>
            </a:xfrm>
            <a:custGeom>
              <a:rect b="b" l="l" r="r" t="t"/>
              <a:pathLst>
                <a:path extrusionOk="0" h="2794000" w="7247467">
                  <a:moveTo>
                    <a:pt x="0" y="0"/>
                  </a:moveTo>
                  <a:lnTo>
                    <a:pt x="7247467" y="0"/>
                  </a:lnTo>
                  <a:lnTo>
                    <a:pt x="7247467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4" name="Google Shape;844;p10"/>
            <p:cNvSpPr txBox="1"/>
            <p:nvPr/>
          </p:nvSpPr>
          <p:spPr>
            <a:xfrm>
              <a:off x="0" y="-38100"/>
              <a:ext cx="7247467" cy="283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45" name="Google Shape;845;p10"/>
          <p:cNvGrpSpPr/>
          <p:nvPr/>
        </p:nvGrpSpPr>
        <p:grpSpPr>
          <a:xfrm>
            <a:off x="12090400" y="6105525"/>
            <a:ext cx="57150" cy="2124075"/>
            <a:chOff x="0" y="-38100"/>
            <a:chExt cx="76200" cy="2832100"/>
          </a:xfrm>
        </p:grpSpPr>
        <p:sp>
          <p:nvSpPr>
            <p:cNvPr id="846" name="Google Shape;846;p10"/>
            <p:cNvSpPr/>
            <p:nvPr/>
          </p:nvSpPr>
          <p:spPr>
            <a:xfrm>
              <a:off x="0" y="0"/>
              <a:ext cx="76200" cy="2794000"/>
            </a:xfrm>
            <a:custGeom>
              <a:rect b="b" l="l" r="r" t="t"/>
              <a:pathLst>
                <a:path extrusionOk="0" h="2794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7" name="Google Shape;847;p10"/>
            <p:cNvSpPr txBox="1"/>
            <p:nvPr/>
          </p:nvSpPr>
          <p:spPr>
            <a:xfrm>
              <a:off x="0" y="-38100"/>
              <a:ext cx="76200" cy="283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48" name="Google Shape;848;p10"/>
          <p:cNvGrpSpPr/>
          <p:nvPr/>
        </p:nvGrpSpPr>
        <p:grpSpPr>
          <a:xfrm>
            <a:off x="12395200" y="7820025"/>
            <a:ext cx="2857500" cy="276225"/>
            <a:chOff x="0" y="-38100"/>
            <a:chExt cx="3810000" cy="368300"/>
          </a:xfrm>
        </p:grpSpPr>
        <p:grpSp>
          <p:nvGrpSpPr>
            <p:cNvPr id="849" name="Google Shape;849;p10"/>
            <p:cNvGrpSpPr/>
            <p:nvPr/>
          </p:nvGrpSpPr>
          <p:grpSpPr>
            <a:xfrm>
              <a:off x="0" y="-38100"/>
              <a:ext cx="3810000" cy="368300"/>
              <a:chOff x="0" y="-38100"/>
              <a:chExt cx="3810000" cy="368300"/>
            </a:xfrm>
          </p:grpSpPr>
          <p:sp>
            <p:nvSpPr>
              <p:cNvPr id="850" name="Google Shape;850;p10"/>
              <p:cNvSpPr/>
              <p:nvPr/>
            </p:nvSpPr>
            <p:spPr>
              <a:xfrm>
                <a:off x="0" y="0"/>
                <a:ext cx="3810000" cy="330200"/>
              </a:xfrm>
              <a:custGeom>
                <a:rect b="b" l="l" r="r" t="t"/>
                <a:pathLst>
                  <a:path extrusionOk="0" h="330200" w="3810000">
                    <a:moveTo>
                      <a:pt x="0" y="0"/>
                    </a:moveTo>
                    <a:lnTo>
                      <a:pt x="3810000" y="0"/>
                    </a:lnTo>
                    <a:lnTo>
                      <a:pt x="3810000" y="330200"/>
                    </a:lnTo>
                    <a:lnTo>
                      <a:pt x="0" y="330200"/>
                    </a:lnTo>
                    <a:close/>
                  </a:path>
                </a:pathLst>
              </a:custGeom>
              <a:solidFill>
                <a:srgbClr val="FDE4DC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51" name="Google Shape;851;p10"/>
              <p:cNvSpPr txBox="1"/>
              <p:nvPr/>
            </p:nvSpPr>
            <p:spPr>
              <a:xfrm>
                <a:off x="0" y="-38100"/>
                <a:ext cx="38100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l">
                  <a:lnSpc>
                    <a:spcPct val="932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852" name="Google Shape;852;p10"/>
            <p:cNvSpPr txBox="1"/>
            <p:nvPr/>
          </p:nvSpPr>
          <p:spPr>
            <a:xfrm>
              <a:off x="152400" y="69850"/>
              <a:ext cx="3505200" cy="19177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pc="179" sz="900">
                  <a:solidFill>
                    <a:srgbClr val="F2542D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PROPOSED · UNVALIDATED</a:t>
              </a:r>
              <a:endParaRPr/>
            </a:p>
          </p:txBody>
        </p:sp>
      </p:grpSp>
      <p:sp>
        <p:nvSpPr>
          <p:cNvPr id="853" name="Google Shape;853;p10"/>
          <p:cNvSpPr txBox="1"/>
          <p:nvPr/>
        </p:nvSpPr>
        <p:spPr>
          <a:xfrm>
            <a:off x="1066800" y="4143375"/>
            <a:ext cx="4826000" cy="832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08" sz="5400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≥ 90%</a:t>
            </a:r>
            <a:endParaRPr/>
          </a:p>
        </p:txBody>
      </p:sp>
      <p:sp>
        <p:nvSpPr>
          <p:cNvPr id="854" name="Google Shape;854;p10"/>
          <p:cNvSpPr txBox="1"/>
          <p:nvPr/>
        </p:nvSpPr>
        <p:spPr>
          <a:xfrm>
            <a:off x="1066800" y="5048250"/>
            <a:ext cx="4826000" cy="221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D5DEEA"/>
                </a:solidFill>
                <a:latin typeface="Inter"/>
                <a:ea typeface="Inter"/>
                <a:cs typeface="Inter"/>
                <a:sym typeface="Inter"/>
              </a:rPr>
              <a:t>Delivered-match share with fit ≥ 90%</a:t>
            </a:r>
            <a:endParaRPr/>
          </a:p>
        </p:txBody>
      </p:sp>
      <p:sp>
        <p:nvSpPr>
          <p:cNvPr id="855" name="Google Shape;855;p10"/>
          <p:cNvSpPr txBox="1"/>
          <p:nvPr/>
        </p:nvSpPr>
        <p:spPr>
          <a:xfrm>
            <a:off x="6731000" y="4143375"/>
            <a:ext cx="4826000" cy="832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08" sz="5400">
                <a:solidFill>
                  <a:srgbClr val="F2542D"/>
                </a:solidFill>
                <a:latin typeface="Inter"/>
                <a:ea typeface="Inter"/>
                <a:cs typeface="Inter"/>
                <a:sym typeface="Inter"/>
              </a:rPr>
              <a:t>≥ 90%</a:t>
            </a:r>
            <a:endParaRPr/>
          </a:p>
        </p:txBody>
      </p:sp>
      <p:sp>
        <p:nvSpPr>
          <p:cNvPr id="856" name="Google Shape;856;p10"/>
          <p:cNvSpPr txBox="1"/>
          <p:nvPr/>
        </p:nvSpPr>
        <p:spPr>
          <a:xfrm>
            <a:off x="6731000" y="5048250"/>
            <a:ext cx="4826000" cy="221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F9B4A0"/>
                </a:solidFill>
                <a:latin typeface="Inter"/>
                <a:ea typeface="Inter"/>
                <a:cs typeface="Inter"/>
                <a:sym typeface="Inter"/>
              </a:rPr>
              <a:t>Users at 90% completeness within 7 days</a:t>
            </a:r>
            <a:endParaRPr/>
          </a:p>
        </p:txBody>
      </p:sp>
      <p:sp>
        <p:nvSpPr>
          <p:cNvPr id="857" name="Google Shape;857;p10"/>
          <p:cNvSpPr txBox="1"/>
          <p:nvPr/>
        </p:nvSpPr>
        <p:spPr>
          <a:xfrm>
            <a:off x="12395200" y="4143375"/>
            <a:ext cx="4826000" cy="832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08" sz="5400">
                <a:solidFill>
                  <a:srgbClr val="F2542D"/>
                </a:solidFill>
                <a:latin typeface="Inter"/>
                <a:ea typeface="Inter"/>
                <a:cs typeface="Inter"/>
                <a:sym typeface="Inter"/>
              </a:rPr>
              <a:t>≥ 50%</a:t>
            </a:r>
            <a:endParaRPr/>
          </a:p>
        </p:txBody>
      </p:sp>
      <p:sp>
        <p:nvSpPr>
          <p:cNvPr id="858" name="Google Shape;858;p10"/>
          <p:cNvSpPr txBox="1"/>
          <p:nvPr/>
        </p:nvSpPr>
        <p:spPr>
          <a:xfrm>
            <a:off x="12395200" y="5048250"/>
            <a:ext cx="4826000" cy="221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F9B4A0"/>
                </a:solidFill>
                <a:latin typeface="Inter"/>
                <a:ea typeface="Inter"/>
                <a:cs typeface="Inter"/>
                <a:sym typeface="Inter"/>
              </a:rPr>
              <a:t>Week-4 retention</a:t>
            </a:r>
            <a:endParaRPr/>
          </a:p>
        </p:txBody>
      </p:sp>
      <p:sp>
        <p:nvSpPr>
          <p:cNvPr id="859" name="Google Shape;859;p10"/>
          <p:cNvSpPr txBox="1"/>
          <p:nvPr/>
        </p:nvSpPr>
        <p:spPr>
          <a:xfrm>
            <a:off x="1066800" y="6467475"/>
            <a:ext cx="4826000" cy="832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08" sz="5400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100%</a:t>
            </a:r>
            <a:endParaRPr/>
          </a:p>
        </p:txBody>
      </p:sp>
      <p:sp>
        <p:nvSpPr>
          <p:cNvPr id="860" name="Google Shape;860;p10"/>
          <p:cNvSpPr txBox="1"/>
          <p:nvPr/>
        </p:nvSpPr>
        <p:spPr>
          <a:xfrm>
            <a:off x="1066800" y="7372350"/>
            <a:ext cx="4826000" cy="221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D5DEEA"/>
                </a:solidFill>
                <a:latin typeface="Inter"/>
                <a:ea typeface="Inter"/>
                <a:cs typeface="Inter"/>
                <a:sym typeface="Inter"/>
              </a:rPr>
              <a:t>Pilot eligibility</a:t>
            </a:r>
            <a:endParaRPr/>
          </a:p>
        </p:txBody>
      </p:sp>
      <p:sp>
        <p:nvSpPr>
          <p:cNvPr id="861" name="Google Shape;861;p10"/>
          <p:cNvSpPr txBox="1"/>
          <p:nvPr/>
        </p:nvSpPr>
        <p:spPr>
          <a:xfrm>
            <a:off x="6731000" y="6467475"/>
            <a:ext cx="4826000" cy="832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08" sz="5400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0</a:t>
            </a:r>
            <a:endParaRPr/>
          </a:p>
        </p:txBody>
      </p:sp>
      <p:sp>
        <p:nvSpPr>
          <p:cNvPr id="862" name="Google Shape;862;p10"/>
          <p:cNvSpPr txBox="1"/>
          <p:nvPr/>
        </p:nvSpPr>
        <p:spPr>
          <a:xfrm>
            <a:off x="6731000" y="7372350"/>
            <a:ext cx="4826000" cy="221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D5DEEA"/>
                </a:solidFill>
                <a:latin typeface="Inter"/>
                <a:ea typeface="Inter"/>
                <a:cs typeface="Inter"/>
                <a:sym typeface="Inter"/>
              </a:rPr>
              <a:t>Unauthorized disclosure</a:t>
            </a:r>
            <a:endParaRPr/>
          </a:p>
        </p:txBody>
      </p:sp>
      <p:sp>
        <p:nvSpPr>
          <p:cNvPr id="863" name="Google Shape;863;p10"/>
          <p:cNvSpPr txBox="1"/>
          <p:nvPr/>
        </p:nvSpPr>
        <p:spPr>
          <a:xfrm>
            <a:off x="12395200" y="6467475"/>
            <a:ext cx="4826000" cy="832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108" sz="5400">
                <a:solidFill>
                  <a:srgbClr val="F2542D"/>
                </a:solidFill>
                <a:latin typeface="Inter"/>
                <a:ea typeface="Inter"/>
                <a:cs typeface="Inter"/>
                <a:sym typeface="Inter"/>
              </a:rPr>
              <a:t>&lt; €0.01</a:t>
            </a:r>
            <a:endParaRPr/>
          </a:p>
        </p:txBody>
      </p:sp>
      <p:sp>
        <p:nvSpPr>
          <p:cNvPr id="864" name="Google Shape;864;p10"/>
          <p:cNvSpPr txBox="1"/>
          <p:nvPr/>
        </p:nvSpPr>
        <p:spPr>
          <a:xfrm>
            <a:off x="12395200" y="7372350"/>
            <a:ext cx="4826000" cy="221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F9B4A0"/>
                </a:solidFill>
                <a:latin typeface="Inter"/>
                <a:ea typeface="Inter"/>
                <a:cs typeface="Inter"/>
                <a:sym typeface="Inter"/>
              </a:rPr>
              <a:t>Cost per application at scale</a:t>
            </a:r>
            <a:endParaRPr/>
          </a:p>
        </p:txBody>
      </p:sp>
      <p:grpSp>
        <p:nvGrpSpPr>
          <p:cNvPr id="865" name="Google Shape;865;p10"/>
          <p:cNvGrpSpPr/>
          <p:nvPr/>
        </p:nvGrpSpPr>
        <p:grpSpPr>
          <a:xfrm>
            <a:off x="762000" y="8734425"/>
            <a:ext cx="4076700" cy="561975"/>
            <a:chOff x="0" y="-38100"/>
            <a:chExt cx="5435600" cy="749300"/>
          </a:xfrm>
        </p:grpSpPr>
        <p:sp>
          <p:nvSpPr>
            <p:cNvPr id="866" name="Google Shape;866;p10"/>
            <p:cNvSpPr/>
            <p:nvPr/>
          </p:nvSpPr>
          <p:spPr>
            <a:xfrm>
              <a:off x="0" y="0"/>
              <a:ext cx="5435600" cy="711200"/>
            </a:xfrm>
            <a:custGeom>
              <a:rect b="b" l="l" r="r" t="t"/>
              <a:pathLst>
                <a:path extrusionOk="0" h="711200" w="5435600">
                  <a:moveTo>
                    <a:pt x="0" y="0"/>
                  </a:moveTo>
                  <a:lnTo>
                    <a:pt x="5435600" y="0"/>
                  </a:lnTo>
                  <a:lnTo>
                    <a:pt x="5435600" y="711200"/>
                  </a:lnTo>
                  <a:lnTo>
                    <a:pt x="0" y="711200"/>
                  </a:lnTo>
                  <a:close/>
                </a:path>
              </a:pathLst>
            </a:custGeom>
            <a:noFill/>
            <a:ln cap="sq" cmpd="sng" w="9525">
              <a:solidFill>
                <a:srgbClr val="3F5F8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7" name="Google Shape;867;p10"/>
            <p:cNvSpPr txBox="1"/>
            <p:nvPr/>
          </p:nvSpPr>
          <p:spPr>
            <a:xfrm>
              <a:off x="0" y="-38100"/>
              <a:ext cx="54356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68" name="Google Shape;868;p10"/>
          <p:cNvGrpSpPr/>
          <p:nvPr/>
        </p:nvGrpSpPr>
        <p:grpSpPr>
          <a:xfrm>
            <a:off x="4991100" y="8734425"/>
            <a:ext cx="4076700" cy="561975"/>
            <a:chOff x="0" y="-38100"/>
            <a:chExt cx="5435600" cy="749300"/>
          </a:xfrm>
        </p:grpSpPr>
        <p:sp>
          <p:nvSpPr>
            <p:cNvPr id="869" name="Google Shape;869;p10"/>
            <p:cNvSpPr/>
            <p:nvPr/>
          </p:nvSpPr>
          <p:spPr>
            <a:xfrm>
              <a:off x="0" y="0"/>
              <a:ext cx="5435600" cy="711200"/>
            </a:xfrm>
            <a:custGeom>
              <a:rect b="b" l="l" r="r" t="t"/>
              <a:pathLst>
                <a:path extrusionOk="0" h="711200" w="5435600">
                  <a:moveTo>
                    <a:pt x="0" y="0"/>
                  </a:moveTo>
                  <a:lnTo>
                    <a:pt x="5435600" y="0"/>
                  </a:lnTo>
                  <a:lnTo>
                    <a:pt x="5435600" y="711200"/>
                  </a:lnTo>
                  <a:lnTo>
                    <a:pt x="0" y="711200"/>
                  </a:lnTo>
                  <a:close/>
                </a:path>
              </a:pathLst>
            </a:custGeom>
            <a:noFill/>
            <a:ln cap="sq" cmpd="sng" w="9525">
              <a:solidFill>
                <a:srgbClr val="3F5F8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0" name="Google Shape;870;p10"/>
            <p:cNvSpPr txBox="1"/>
            <p:nvPr/>
          </p:nvSpPr>
          <p:spPr>
            <a:xfrm>
              <a:off x="0" y="-38100"/>
              <a:ext cx="54356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1" name="Google Shape;871;p10"/>
          <p:cNvGrpSpPr/>
          <p:nvPr/>
        </p:nvGrpSpPr>
        <p:grpSpPr>
          <a:xfrm>
            <a:off x="9220200" y="8734425"/>
            <a:ext cx="4076700" cy="561975"/>
            <a:chOff x="0" y="-38100"/>
            <a:chExt cx="5435600" cy="749300"/>
          </a:xfrm>
        </p:grpSpPr>
        <p:sp>
          <p:nvSpPr>
            <p:cNvPr id="872" name="Google Shape;872;p10"/>
            <p:cNvSpPr/>
            <p:nvPr/>
          </p:nvSpPr>
          <p:spPr>
            <a:xfrm>
              <a:off x="0" y="0"/>
              <a:ext cx="5435600" cy="711200"/>
            </a:xfrm>
            <a:custGeom>
              <a:rect b="b" l="l" r="r" t="t"/>
              <a:pathLst>
                <a:path extrusionOk="0" h="711200" w="5435600">
                  <a:moveTo>
                    <a:pt x="0" y="0"/>
                  </a:moveTo>
                  <a:lnTo>
                    <a:pt x="5435600" y="0"/>
                  </a:lnTo>
                  <a:lnTo>
                    <a:pt x="5435600" y="711200"/>
                  </a:lnTo>
                  <a:lnTo>
                    <a:pt x="0" y="711200"/>
                  </a:lnTo>
                  <a:close/>
                </a:path>
              </a:pathLst>
            </a:custGeom>
            <a:noFill/>
            <a:ln cap="sq" cmpd="sng" w="9525">
              <a:solidFill>
                <a:srgbClr val="3F5F8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3" name="Google Shape;873;p10"/>
            <p:cNvSpPr txBox="1"/>
            <p:nvPr/>
          </p:nvSpPr>
          <p:spPr>
            <a:xfrm>
              <a:off x="0" y="-38100"/>
              <a:ext cx="54356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4" name="Google Shape;874;p10"/>
          <p:cNvGrpSpPr/>
          <p:nvPr/>
        </p:nvGrpSpPr>
        <p:grpSpPr>
          <a:xfrm>
            <a:off x="13449300" y="8734425"/>
            <a:ext cx="4076700" cy="561975"/>
            <a:chOff x="0" y="-38100"/>
            <a:chExt cx="5435600" cy="749300"/>
          </a:xfrm>
        </p:grpSpPr>
        <p:sp>
          <p:nvSpPr>
            <p:cNvPr id="875" name="Google Shape;875;p10"/>
            <p:cNvSpPr/>
            <p:nvPr/>
          </p:nvSpPr>
          <p:spPr>
            <a:xfrm>
              <a:off x="0" y="0"/>
              <a:ext cx="5435600" cy="711200"/>
            </a:xfrm>
            <a:custGeom>
              <a:rect b="b" l="l" r="r" t="t"/>
              <a:pathLst>
                <a:path extrusionOk="0" h="711200" w="5435600">
                  <a:moveTo>
                    <a:pt x="0" y="0"/>
                  </a:moveTo>
                  <a:lnTo>
                    <a:pt x="5435600" y="0"/>
                  </a:lnTo>
                  <a:lnTo>
                    <a:pt x="5435600" y="711200"/>
                  </a:lnTo>
                  <a:lnTo>
                    <a:pt x="0" y="711200"/>
                  </a:lnTo>
                  <a:close/>
                </a:path>
              </a:pathLst>
            </a:custGeom>
            <a:noFill/>
            <a:ln cap="sq" cmpd="sng" w="9525">
              <a:solidFill>
                <a:srgbClr val="3F5F86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6" name="Google Shape;876;p10"/>
            <p:cNvSpPr txBox="1"/>
            <p:nvPr/>
          </p:nvSpPr>
          <p:spPr>
            <a:xfrm>
              <a:off x="0" y="-38100"/>
              <a:ext cx="54356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7" name="Google Shape;877;p10"/>
          <p:cNvSpPr txBox="1"/>
          <p:nvPr/>
        </p:nvSpPr>
        <p:spPr>
          <a:xfrm>
            <a:off x="952500" y="8934450"/>
            <a:ext cx="36957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10" sz="1050">
                <a:solidFill>
                  <a:srgbClr val="D5DEE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·  Validate score quality</a:t>
            </a:r>
            <a:endParaRPr/>
          </a:p>
        </p:txBody>
      </p:sp>
      <p:sp>
        <p:nvSpPr>
          <p:cNvPr id="878" name="Google Shape;878;p10"/>
          <p:cNvSpPr txBox="1"/>
          <p:nvPr/>
        </p:nvSpPr>
        <p:spPr>
          <a:xfrm>
            <a:off x="5181600" y="8934450"/>
            <a:ext cx="36957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10" sz="1050">
                <a:solidFill>
                  <a:srgbClr val="D5DEE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·  Source coverage</a:t>
            </a:r>
            <a:endParaRPr/>
          </a:p>
        </p:txBody>
      </p:sp>
      <p:sp>
        <p:nvSpPr>
          <p:cNvPr id="879" name="Google Shape;879;p10"/>
          <p:cNvSpPr txBox="1"/>
          <p:nvPr/>
        </p:nvSpPr>
        <p:spPr>
          <a:xfrm>
            <a:off x="9410700" y="8934450"/>
            <a:ext cx="36957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10" sz="1050">
                <a:solidFill>
                  <a:srgbClr val="D5DEE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·  Eligible supply</a:t>
            </a:r>
            <a:endParaRPr/>
          </a:p>
        </p:txBody>
      </p:sp>
      <p:sp>
        <p:nvSpPr>
          <p:cNvPr id="880" name="Google Shape;880;p10"/>
          <p:cNvSpPr txBox="1"/>
          <p:nvPr/>
        </p:nvSpPr>
        <p:spPr>
          <a:xfrm>
            <a:off x="13639800" y="8934450"/>
            <a:ext cx="36957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10" sz="1050">
                <a:solidFill>
                  <a:srgbClr val="D5DEE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·  Pilot capacity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6"/>
        </a:solidFill>
      </p:bgPr>
    </p:bg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areerPilot logo" id="885" name="Google Shape;885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428150"/>
            <a:ext cx="901087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886" name="Google Shape;886;p11"/>
          <p:cNvSpPr txBox="1"/>
          <p:nvPr/>
        </p:nvSpPr>
        <p:spPr>
          <a:xfrm>
            <a:off x="4572000" y="438150"/>
            <a:ext cx="9525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52" sz="15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11 · Measurement</a:t>
            </a:r>
            <a:endParaRPr sz="1500"/>
          </a:p>
        </p:txBody>
      </p:sp>
      <p:sp>
        <p:nvSpPr>
          <p:cNvPr id="887" name="Google Shape;887;p11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89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11</a:t>
            </a:r>
            <a:endParaRPr/>
          </a:p>
        </p:txBody>
      </p:sp>
      <p:sp>
        <p:nvSpPr>
          <p:cNvPr id="888" name="Google Shape;888;p11"/>
          <p:cNvSpPr txBox="1"/>
          <p:nvPr/>
        </p:nvSpPr>
        <p:spPr>
          <a:xfrm>
            <a:off x="762000" y="9734550"/>
            <a:ext cx="114300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June 27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(planned)</a:t>
            </a:r>
            <a:endParaRPr/>
          </a:p>
        </p:txBody>
      </p:sp>
      <p:grpSp>
        <p:nvGrpSpPr>
          <p:cNvPr id="889" name="Google Shape;889;p11"/>
          <p:cNvGrpSpPr/>
          <p:nvPr/>
        </p:nvGrpSpPr>
        <p:grpSpPr>
          <a:xfrm>
            <a:off x="762000" y="733425"/>
            <a:ext cx="16764000" cy="38100"/>
            <a:chOff x="0" y="-38100"/>
            <a:chExt cx="22352000" cy="50800"/>
          </a:xfrm>
        </p:grpSpPr>
        <p:sp>
          <p:nvSpPr>
            <p:cNvPr id="890" name="Google Shape;890;p11"/>
            <p:cNvSpPr/>
            <p:nvPr/>
          </p:nvSpPr>
          <p:spPr>
            <a:xfrm>
              <a:off x="0" y="0"/>
              <a:ext cx="22352000" cy="12700"/>
            </a:xfrm>
            <a:custGeom>
              <a:rect b="b" l="l" r="r" t="t"/>
              <a:pathLst>
                <a:path extrusionOk="0" h="127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1" name="Google Shape;891;p11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92" name="Google Shape;892;p11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43" sz="13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APPENDIX</a:t>
            </a:r>
            <a:endParaRPr/>
          </a:p>
        </p:txBody>
      </p:sp>
      <p:sp>
        <p:nvSpPr>
          <p:cNvPr id="893" name="Google Shape;893;p11"/>
          <p:cNvSpPr txBox="1"/>
          <p:nvPr/>
        </p:nvSpPr>
        <p:spPr>
          <a:xfrm>
            <a:off x="762000" y="1685925"/>
            <a:ext cx="16192500" cy="6829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65" sz="4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Measurement targets.</a:t>
            </a:r>
            <a:endParaRPr/>
          </a:p>
        </p:txBody>
      </p:sp>
      <p:grpSp>
        <p:nvGrpSpPr>
          <p:cNvPr id="894" name="Google Shape;894;p11"/>
          <p:cNvGrpSpPr/>
          <p:nvPr/>
        </p:nvGrpSpPr>
        <p:grpSpPr>
          <a:xfrm>
            <a:off x="762000" y="3019425"/>
            <a:ext cx="16764000" cy="447675"/>
            <a:chOff x="0" y="-38100"/>
            <a:chExt cx="22352000" cy="596900"/>
          </a:xfrm>
        </p:grpSpPr>
        <p:sp>
          <p:nvSpPr>
            <p:cNvPr id="895" name="Google Shape;895;p11"/>
            <p:cNvSpPr/>
            <p:nvPr/>
          </p:nvSpPr>
          <p:spPr>
            <a:xfrm>
              <a:off x="0" y="0"/>
              <a:ext cx="22352000" cy="558800"/>
            </a:xfrm>
            <a:custGeom>
              <a:rect b="b" l="l" r="r" t="t"/>
              <a:pathLst>
                <a:path extrusionOk="0" h="5588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558800"/>
                  </a:lnTo>
                  <a:lnTo>
                    <a:pt x="0" y="5588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6" name="Google Shape;896;p11"/>
            <p:cNvSpPr txBox="1"/>
            <p:nvPr/>
          </p:nvSpPr>
          <p:spPr>
            <a:xfrm>
              <a:off x="0" y="-38100"/>
              <a:ext cx="22352000" cy="59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97" name="Google Shape;897;p11"/>
          <p:cNvSpPr txBox="1"/>
          <p:nvPr/>
        </p:nvSpPr>
        <p:spPr>
          <a:xfrm>
            <a:off x="990600" y="3162300"/>
            <a:ext cx="38100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E8EE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METRIC</a:t>
            </a:r>
            <a:endParaRPr/>
          </a:p>
        </p:txBody>
      </p:sp>
      <p:sp>
        <p:nvSpPr>
          <p:cNvPr id="898" name="Google Shape;898;p11"/>
          <p:cNvSpPr txBox="1"/>
          <p:nvPr/>
        </p:nvSpPr>
        <p:spPr>
          <a:xfrm>
            <a:off x="4191000" y="3162300"/>
            <a:ext cx="95250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E8EE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TARGET</a:t>
            </a:r>
            <a:endParaRPr/>
          </a:p>
        </p:txBody>
      </p:sp>
      <p:sp>
        <p:nvSpPr>
          <p:cNvPr id="899" name="Google Shape;899;p11"/>
          <p:cNvSpPr txBox="1"/>
          <p:nvPr/>
        </p:nvSpPr>
        <p:spPr>
          <a:xfrm>
            <a:off x="14287500" y="3162300"/>
            <a:ext cx="19050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E8EE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SCOPE</a:t>
            </a:r>
            <a:endParaRPr/>
          </a:p>
        </p:txBody>
      </p:sp>
      <p:grpSp>
        <p:nvGrpSpPr>
          <p:cNvPr id="900" name="Google Shape;900;p11"/>
          <p:cNvGrpSpPr/>
          <p:nvPr/>
        </p:nvGrpSpPr>
        <p:grpSpPr>
          <a:xfrm>
            <a:off x="762000" y="3971925"/>
            <a:ext cx="16764000" cy="561975"/>
            <a:chOff x="0" y="-38100"/>
            <a:chExt cx="22352000" cy="749300"/>
          </a:xfrm>
        </p:grpSpPr>
        <p:sp>
          <p:nvSpPr>
            <p:cNvPr id="901" name="Google Shape;901;p11"/>
            <p:cNvSpPr/>
            <p:nvPr/>
          </p:nvSpPr>
          <p:spPr>
            <a:xfrm>
              <a:off x="0" y="0"/>
              <a:ext cx="22352000" cy="711200"/>
            </a:xfrm>
            <a:custGeom>
              <a:rect b="b" l="l" r="r" t="t"/>
              <a:pathLst>
                <a:path extrusionOk="0" h="7112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2" name="Google Shape;902;p11"/>
            <p:cNvSpPr txBox="1"/>
            <p:nvPr/>
          </p:nvSpPr>
          <p:spPr>
            <a:xfrm>
              <a:off x="0" y="-38100"/>
              <a:ext cx="223520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3" name="Google Shape;903;p11"/>
          <p:cNvGrpSpPr/>
          <p:nvPr/>
        </p:nvGrpSpPr>
        <p:grpSpPr>
          <a:xfrm>
            <a:off x="762000" y="4505325"/>
            <a:ext cx="38100" cy="561975"/>
            <a:chOff x="0" y="-38100"/>
            <a:chExt cx="50800" cy="749300"/>
          </a:xfrm>
        </p:grpSpPr>
        <p:sp>
          <p:nvSpPr>
            <p:cNvPr id="904" name="Google Shape;904;p11"/>
            <p:cNvSpPr/>
            <p:nvPr/>
          </p:nvSpPr>
          <p:spPr>
            <a:xfrm>
              <a:off x="0" y="0"/>
              <a:ext cx="50800" cy="711200"/>
            </a:xfrm>
            <a:custGeom>
              <a:rect b="b" l="l" r="r" t="t"/>
              <a:pathLst>
                <a:path extrusionOk="0" h="711200" w="508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5" name="Google Shape;905;p11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6" name="Google Shape;906;p11"/>
          <p:cNvGrpSpPr/>
          <p:nvPr/>
        </p:nvGrpSpPr>
        <p:grpSpPr>
          <a:xfrm>
            <a:off x="762000" y="5038725"/>
            <a:ext cx="16764000" cy="561975"/>
            <a:chOff x="0" y="-38100"/>
            <a:chExt cx="22352000" cy="749300"/>
          </a:xfrm>
        </p:grpSpPr>
        <p:sp>
          <p:nvSpPr>
            <p:cNvPr id="907" name="Google Shape;907;p11"/>
            <p:cNvSpPr/>
            <p:nvPr/>
          </p:nvSpPr>
          <p:spPr>
            <a:xfrm>
              <a:off x="0" y="0"/>
              <a:ext cx="22352000" cy="711200"/>
            </a:xfrm>
            <a:custGeom>
              <a:rect b="b" l="l" r="r" t="t"/>
              <a:pathLst>
                <a:path extrusionOk="0" h="7112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8" name="Google Shape;908;p11"/>
            <p:cNvSpPr txBox="1"/>
            <p:nvPr/>
          </p:nvSpPr>
          <p:spPr>
            <a:xfrm>
              <a:off x="0" y="-38100"/>
              <a:ext cx="223520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9" name="Google Shape;909;p11"/>
          <p:cNvGrpSpPr/>
          <p:nvPr/>
        </p:nvGrpSpPr>
        <p:grpSpPr>
          <a:xfrm>
            <a:off x="762000" y="5038725"/>
            <a:ext cx="38100" cy="561975"/>
            <a:chOff x="0" y="-38100"/>
            <a:chExt cx="50800" cy="749300"/>
          </a:xfrm>
        </p:grpSpPr>
        <p:sp>
          <p:nvSpPr>
            <p:cNvPr id="910" name="Google Shape;910;p11"/>
            <p:cNvSpPr/>
            <p:nvPr/>
          </p:nvSpPr>
          <p:spPr>
            <a:xfrm>
              <a:off x="0" y="0"/>
              <a:ext cx="50800" cy="711200"/>
            </a:xfrm>
            <a:custGeom>
              <a:rect b="b" l="l" r="r" t="t"/>
              <a:pathLst>
                <a:path extrusionOk="0" h="711200" w="508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1" name="Google Shape;911;p11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2" name="Google Shape;912;p11"/>
          <p:cNvGrpSpPr/>
          <p:nvPr/>
        </p:nvGrpSpPr>
        <p:grpSpPr>
          <a:xfrm>
            <a:off x="762000" y="6105525"/>
            <a:ext cx="16764000" cy="561975"/>
            <a:chOff x="0" y="-38100"/>
            <a:chExt cx="22352000" cy="749300"/>
          </a:xfrm>
        </p:grpSpPr>
        <p:sp>
          <p:nvSpPr>
            <p:cNvPr id="913" name="Google Shape;913;p11"/>
            <p:cNvSpPr/>
            <p:nvPr/>
          </p:nvSpPr>
          <p:spPr>
            <a:xfrm>
              <a:off x="0" y="0"/>
              <a:ext cx="22352000" cy="711200"/>
            </a:xfrm>
            <a:custGeom>
              <a:rect b="b" l="l" r="r" t="t"/>
              <a:pathLst>
                <a:path extrusionOk="0" h="7112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4" name="Google Shape;914;p11"/>
            <p:cNvSpPr txBox="1"/>
            <p:nvPr/>
          </p:nvSpPr>
          <p:spPr>
            <a:xfrm>
              <a:off x="0" y="-38100"/>
              <a:ext cx="223520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5" name="Google Shape;915;p11"/>
          <p:cNvGrpSpPr/>
          <p:nvPr/>
        </p:nvGrpSpPr>
        <p:grpSpPr>
          <a:xfrm>
            <a:off x="762000" y="7172325"/>
            <a:ext cx="16764000" cy="561975"/>
            <a:chOff x="0" y="-38100"/>
            <a:chExt cx="22352000" cy="749300"/>
          </a:xfrm>
        </p:grpSpPr>
        <p:sp>
          <p:nvSpPr>
            <p:cNvPr id="916" name="Google Shape;916;p11"/>
            <p:cNvSpPr/>
            <p:nvPr/>
          </p:nvSpPr>
          <p:spPr>
            <a:xfrm>
              <a:off x="0" y="0"/>
              <a:ext cx="22352000" cy="711200"/>
            </a:xfrm>
            <a:custGeom>
              <a:rect b="b" l="l" r="r" t="t"/>
              <a:pathLst>
                <a:path extrusionOk="0" h="7112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7" name="Google Shape;917;p11"/>
            <p:cNvSpPr txBox="1"/>
            <p:nvPr/>
          </p:nvSpPr>
          <p:spPr>
            <a:xfrm>
              <a:off x="0" y="-38100"/>
              <a:ext cx="223520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8" name="Google Shape;918;p11"/>
          <p:cNvGrpSpPr/>
          <p:nvPr/>
        </p:nvGrpSpPr>
        <p:grpSpPr>
          <a:xfrm>
            <a:off x="762000" y="7172325"/>
            <a:ext cx="38100" cy="561975"/>
            <a:chOff x="0" y="-38100"/>
            <a:chExt cx="50800" cy="749300"/>
          </a:xfrm>
        </p:grpSpPr>
        <p:sp>
          <p:nvSpPr>
            <p:cNvPr id="919" name="Google Shape;919;p11"/>
            <p:cNvSpPr/>
            <p:nvPr/>
          </p:nvSpPr>
          <p:spPr>
            <a:xfrm>
              <a:off x="0" y="0"/>
              <a:ext cx="50800" cy="711200"/>
            </a:xfrm>
            <a:custGeom>
              <a:rect b="b" l="l" r="r" t="t"/>
              <a:pathLst>
                <a:path extrusionOk="0" h="711200" w="508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0" name="Google Shape;920;p11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1" name="Google Shape;921;p11"/>
          <p:cNvGrpSpPr/>
          <p:nvPr/>
        </p:nvGrpSpPr>
        <p:grpSpPr>
          <a:xfrm>
            <a:off x="762000" y="8239125"/>
            <a:ext cx="16764000" cy="561975"/>
            <a:chOff x="0" y="-38100"/>
            <a:chExt cx="22352000" cy="749300"/>
          </a:xfrm>
        </p:grpSpPr>
        <p:sp>
          <p:nvSpPr>
            <p:cNvPr id="922" name="Google Shape;922;p11"/>
            <p:cNvSpPr/>
            <p:nvPr/>
          </p:nvSpPr>
          <p:spPr>
            <a:xfrm>
              <a:off x="0" y="0"/>
              <a:ext cx="22352000" cy="711200"/>
            </a:xfrm>
            <a:custGeom>
              <a:rect b="b" l="l" r="r" t="t"/>
              <a:pathLst>
                <a:path extrusionOk="0" h="7112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3" name="Google Shape;923;p11"/>
            <p:cNvSpPr txBox="1"/>
            <p:nvPr/>
          </p:nvSpPr>
          <p:spPr>
            <a:xfrm>
              <a:off x="0" y="-38100"/>
              <a:ext cx="223520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4" name="Google Shape;924;p11"/>
          <p:cNvGrpSpPr/>
          <p:nvPr/>
        </p:nvGrpSpPr>
        <p:grpSpPr>
          <a:xfrm>
            <a:off x="762000" y="8239125"/>
            <a:ext cx="38100" cy="561975"/>
            <a:chOff x="0" y="-38100"/>
            <a:chExt cx="50800" cy="749300"/>
          </a:xfrm>
        </p:grpSpPr>
        <p:sp>
          <p:nvSpPr>
            <p:cNvPr id="925" name="Google Shape;925;p11"/>
            <p:cNvSpPr/>
            <p:nvPr/>
          </p:nvSpPr>
          <p:spPr>
            <a:xfrm>
              <a:off x="0" y="0"/>
              <a:ext cx="50800" cy="711200"/>
            </a:xfrm>
            <a:custGeom>
              <a:rect b="b" l="l" r="r" t="t"/>
              <a:pathLst>
                <a:path extrusionOk="0" h="711200" w="508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6" name="Google Shape;926;p11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7" name="Google Shape;927;p11"/>
          <p:cNvSpPr txBox="1"/>
          <p:nvPr/>
        </p:nvSpPr>
        <p:spPr>
          <a:xfrm>
            <a:off x="990600" y="3590925"/>
            <a:ext cx="381000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Match share</a:t>
            </a:r>
            <a:endParaRPr/>
          </a:p>
        </p:txBody>
      </p:sp>
      <p:sp>
        <p:nvSpPr>
          <p:cNvPr id="928" name="Google Shape;928;p11"/>
          <p:cNvSpPr txBox="1"/>
          <p:nvPr/>
        </p:nvSpPr>
        <p:spPr>
          <a:xfrm>
            <a:off x="4191000" y="3619500"/>
            <a:ext cx="99060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≥ 90% deliveries at fit ≥ 90%</a:t>
            </a:r>
            <a:endParaRPr/>
          </a:p>
        </p:txBody>
      </p:sp>
      <p:sp>
        <p:nvSpPr>
          <p:cNvPr id="929" name="Google Shape;929;p11"/>
          <p:cNvSpPr txBox="1"/>
          <p:nvPr/>
        </p:nvSpPr>
        <p:spPr>
          <a:xfrm>
            <a:off x="14287500" y="3619500"/>
            <a:ext cx="2286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57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Quality</a:t>
            </a:r>
            <a:endParaRPr/>
          </a:p>
        </p:txBody>
      </p:sp>
      <p:sp>
        <p:nvSpPr>
          <p:cNvPr id="930" name="Google Shape;930;p11"/>
          <p:cNvSpPr txBox="1"/>
          <p:nvPr/>
        </p:nvSpPr>
        <p:spPr>
          <a:xfrm>
            <a:off x="990600" y="4124325"/>
            <a:ext cx="381000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Mean fit score</a:t>
            </a:r>
            <a:endParaRPr/>
          </a:p>
        </p:txBody>
      </p:sp>
      <p:sp>
        <p:nvSpPr>
          <p:cNvPr id="931" name="Google Shape;931;p11"/>
          <p:cNvSpPr txBox="1"/>
          <p:nvPr/>
        </p:nvSpPr>
        <p:spPr>
          <a:xfrm>
            <a:off x="4191000" y="4152900"/>
            <a:ext cx="99060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≥ 90% in delivered band</a:t>
            </a:r>
            <a:endParaRPr/>
          </a:p>
        </p:txBody>
      </p:sp>
      <p:sp>
        <p:nvSpPr>
          <p:cNvPr id="932" name="Google Shape;932;p11"/>
          <p:cNvSpPr txBox="1"/>
          <p:nvPr/>
        </p:nvSpPr>
        <p:spPr>
          <a:xfrm>
            <a:off x="14287500" y="4152900"/>
            <a:ext cx="2286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57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Quality</a:t>
            </a:r>
            <a:endParaRPr/>
          </a:p>
        </p:txBody>
      </p:sp>
      <p:sp>
        <p:nvSpPr>
          <p:cNvPr id="933" name="Google Shape;933;p11"/>
          <p:cNvSpPr txBox="1"/>
          <p:nvPr/>
        </p:nvSpPr>
        <p:spPr>
          <a:xfrm>
            <a:off x="990600" y="4657725"/>
            <a:ext cx="381000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Completeness</a:t>
            </a:r>
            <a:endParaRPr/>
          </a:p>
        </p:txBody>
      </p:sp>
      <p:sp>
        <p:nvSpPr>
          <p:cNvPr id="934" name="Google Shape;934;p11"/>
          <p:cNvSpPr txBox="1"/>
          <p:nvPr/>
        </p:nvSpPr>
        <p:spPr>
          <a:xfrm>
            <a:off x="4191000" y="4686300"/>
            <a:ext cx="99060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≥ 90% users 90% complete in 7 days</a:t>
            </a:r>
            <a:endParaRPr/>
          </a:p>
        </p:txBody>
      </p:sp>
      <p:sp>
        <p:nvSpPr>
          <p:cNvPr id="935" name="Google Shape;935;p11"/>
          <p:cNvSpPr txBox="1"/>
          <p:nvPr/>
        </p:nvSpPr>
        <p:spPr>
          <a:xfrm>
            <a:off x="14287500" y="4686300"/>
            <a:ext cx="2286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57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Activation</a:t>
            </a:r>
            <a:endParaRPr/>
          </a:p>
        </p:txBody>
      </p:sp>
      <p:sp>
        <p:nvSpPr>
          <p:cNvPr id="936" name="Google Shape;936;p11"/>
          <p:cNvSpPr txBox="1"/>
          <p:nvPr/>
        </p:nvSpPr>
        <p:spPr>
          <a:xfrm>
            <a:off x="990600" y="5191125"/>
            <a:ext cx="381000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Retention</a:t>
            </a:r>
            <a:endParaRPr/>
          </a:p>
        </p:txBody>
      </p:sp>
      <p:sp>
        <p:nvSpPr>
          <p:cNvPr id="937" name="Google Shape;937;p11"/>
          <p:cNvSpPr txBox="1"/>
          <p:nvPr/>
        </p:nvSpPr>
        <p:spPr>
          <a:xfrm>
            <a:off x="4191000" y="5219700"/>
            <a:ext cx="99060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Week 4 ≥ 50% · Week 12 ≥ 35%</a:t>
            </a:r>
            <a:endParaRPr/>
          </a:p>
        </p:txBody>
      </p:sp>
      <p:sp>
        <p:nvSpPr>
          <p:cNvPr id="938" name="Google Shape;938;p11"/>
          <p:cNvSpPr txBox="1"/>
          <p:nvPr/>
        </p:nvSpPr>
        <p:spPr>
          <a:xfrm>
            <a:off x="14287500" y="5219700"/>
            <a:ext cx="2286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57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Engagement</a:t>
            </a:r>
            <a:endParaRPr/>
          </a:p>
        </p:txBody>
      </p:sp>
      <p:sp>
        <p:nvSpPr>
          <p:cNvPr id="939" name="Google Shape;939;p11"/>
          <p:cNvSpPr txBox="1"/>
          <p:nvPr/>
        </p:nvSpPr>
        <p:spPr>
          <a:xfrm>
            <a:off x="990600" y="5724525"/>
            <a:ext cx="381000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Abandonment</a:t>
            </a:r>
            <a:endParaRPr/>
          </a:p>
        </p:txBody>
      </p:sp>
      <p:sp>
        <p:nvSpPr>
          <p:cNvPr id="940" name="Google Shape;940;p11"/>
          <p:cNvSpPr txBox="1"/>
          <p:nvPr/>
        </p:nvSpPr>
        <p:spPr>
          <a:xfrm>
            <a:off x="4191000" y="5753100"/>
            <a:ext cx="99060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&lt; 25% before match · &lt; 20% unexported docs</a:t>
            </a:r>
            <a:endParaRPr/>
          </a:p>
        </p:txBody>
      </p:sp>
      <p:sp>
        <p:nvSpPr>
          <p:cNvPr id="941" name="Google Shape;941;p11"/>
          <p:cNvSpPr txBox="1"/>
          <p:nvPr/>
        </p:nvSpPr>
        <p:spPr>
          <a:xfrm>
            <a:off x="14287500" y="5753100"/>
            <a:ext cx="2286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57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Flow</a:t>
            </a:r>
            <a:endParaRPr/>
          </a:p>
        </p:txBody>
      </p:sp>
      <p:sp>
        <p:nvSpPr>
          <p:cNvPr id="942" name="Google Shape;942;p11"/>
          <p:cNvSpPr txBox="1"/>
          <p:nvPr/>
        </p:nvSpPr>
        <p:spPr>
          <a:xfrm>
            <a:off x="990600" y="6257925"/>
            <a:ext cx="381000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Interview / application</a:t>
            </a:r>
            <a:endParaRPr/>
          </a:p>
        </p:txBody>
      </p:sp>
      <p:sp>
        <p:nvSpPr>
          <p:cNvPr id="943" name="Google Shape;943;p11"/>
          <p:cNvSpPr txBox="1"/>
          <p:nvPr/>
        </p:nvSpPr>
        <p:spPr>
          <a:xfrm>
            <a:off x="4191000" y="6286500"/>
            <a:ext cx="99060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≥ 20% · high-fit band ≥ 2× sub-70 band</a:t>
            </a:r>
            <a:endParaRPr/>
          </a:p>
        </p:txBody>
      </p:sp>
      <p:sp>
        <p:nvSpPr>
          <p:cNvPr id="944" name="Google Shape;944;p11"/>
          <p:cNvSpPr txBox="1"/>
          <p:nvPr/>
        </p:nvSpPr>
        <p:spPr>
          <a:xfrm>
            <a:off x="14287500" y="6286500"/>
            <a:ext cx="2286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57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Outcome</a:t>
            </a:r>
            <a:endParaRPr/>
          </a:p>
        </p:txBody>
      </p:sp>
      <p:sp>
        <p:nvSpPr>
          <p:cNvPr id="945" name="Google Shape;945;p11"/>
          <p:cNvSpPr txBox="1"/>
          <p:nvPr/>
        </p:nvSpPr>
        <p:spPr>
          <a:xfrm>
            <a:off x="990600" y="6791325"/>
            <a:ext cx="381000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Rating accuracy</a:t>
            </a:r>
            <a:endParaRPr/>
          </a:p>
        </p:txBody>
      </p:sp>
      <p:sp>
        <p:nvSpPr>
          <p:cNvPr id="946" name="Google Shape;946;p11"/>
          <p:cNvSpPr txBox="1"/>
          <p:nvPr/>
        </p:nvSpPr>
        <p:spPr>
          <a:xfrm>
            <a:off x="4191000" y="6819900"/>
            <a:ext cx="99060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≥ 90% accurate · ≥ 60% explanation-to-decision</a:t>
            </a:r>
            <a:endParaRPr/>
          </a:p>
        </p:txBody>
      </p:sp>
      <p:sp>
        <p:nvSpPr>
          <p:cNvPr id="947" name="Google Shape;947;p11"/>
          <p:cNvSpPr txBox="1"/>
          <p:nvPr/>
        </p:nvSpPr>
        <p:spPr>
          <a:xfrm>
            <a:off x="14287500" y="6819900"/>
            <a:ext cx="2286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57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Trust</a:t>
            </a:r>
            <a:endParaRPr/>
          </a:p>
        </p:txBody>
      </p:sp>
      <p:sp>
        <p:nvSpPr>
          <p:cNvPr id="948" name="Google Shape;948;p11"/>
          <p:cNvSpPr txBox="1"/>
          <p:nvPr/>
        </p:nvSpPr>
        <p:spPr>
          <a:xfrm>
            <a:off x="990600" y="7324725"/>
            <a:ext cx="381000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Cost at scale</a:t>
            </a:r>
            <a:endParaRPr/>
          </a:p>
        </p:txBody>
      </p:sp>
      <p:sp>
        <p:nvSpPr>
          <p:cNvPr id="949" name="Google Shape;949;p11"/>
          <p:cNvSpPr txBox="1"/>
          <p:nvPr/>
        </p:nvSpPr>
        <p:spPr>
          <a:xfrm>
            <a:off x="4191000" y="7353300"/>
            <a:ext cx="99060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&lt; €0.01 per application</a:t>
            </a:r>
            <a:endParaRPr/>
          </a:p>
        </p:txBody>
      </p:sp>
      <p:sp>
        <p:nvSpPr>
          <p:cNvPr id="950" name="Google Shape;950;p11"/>
          <p:cNvSpPr txBox="1"/>
          <p:nvPr/>
        </p:nvSpPr>
        <p:spPr>
          <a:xfrm>
            <a:off x="14287500" y="7353300"/>
            <a:ext cx="2286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57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Economics</a:t>
            </a:r>
            <a:endParaRPr/>
          </a:p>
        </p:txBody>
      </p:sp>
      <p:sp>
        <p:nvSpPr>
          <p:cNvPr id="951" name="Google Shape;951;p11"/>
          <p:cNvSpPr txBox="1"/>
          <p:nvPr/>
        </p:nvSpPr>
        <p:spPr>
          <a:xfrm>
            <a:off x="990600" y="7858125"/>
            <a:ext cx="381000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Beta credits</a:t>
            </a:r>
            <a:endParaRPr/>
          </a:p>
        </p:txBody>
      </p:sp>
      <p:sp>
        <p:nvSpPr>
          <p:cNvPr id="952" name="Google Shape;952;p11"/>
          <p:cNvSpPr txBox="1"/>
          <p:nvPr/>
        </p:nvSpPr>
        <p:spPr>
          <a:xfrm>
            <a:off x="4191000" y="7886700"/>
            <a:ext cx="99060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Zero-credit-user baseline</a:t>
            </a:r>
            <a:endParaRPr/>
          </a:p>
        </p:txBody>
      </p:sp>
      <p:sp>
        <p:nvSpPr>
          <p:cNvPr id="953" name="Google Shape;953;p11"/>
          <p:cNvSpPr txBox="1"/>
          <p:nvPr/>
        </p:nvSpPr>
        <p:spPr>
          <a:xfrm>
            <a:off x="14287500" y="7886700"/>
            <a:ext cx="2286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57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Economics</a:t>
            </a:r>
            <a:endParaRPr/>
          </a:p>
        </p:txBody>
      </p:sp>
      <p:sp>
        <p:nvSpPr>
          <p:cNvPr id="954" name="Google Shape;954;p11"/>
          <p:cNvSpPr txBox="1"/>
          <p:nvPr/>
        </p:nvSpPr>
        <p:spPr>
          <a:xfrm>
            <a:off x="990600" y="8391525"/>
            <a:ext cx="381000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Wallet fake-door</a:t>
            </a:r>
            <a:endParaRPr/>
          </a:p>
        </p:txBody>
      </p:sp>
      <p:sp>
        <p:nvSpPr>
          <p:cNvPr id="955" name="Google Shape;955;p11"/>
          <p:cNvSpPr txBox="1"/>
          <p:nvPr/>
        </p:nvSpPr>
        <p:spPr>
          <a:xfrm>
            <a:off x="4191000" y="8420100"/>
            <a:ext cx="99060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≥ 20% interest</a:t>
            </a:r>
            <a:endParaRPr/>
          </a:p>
        </p:txBody>
      </p:sp>
      <p:sp>
        <p:nvSpPr>
          <p:cNvPr id="956" name="Google Shape;956;p11"/>
          <p:cNvSpPr txBox="1"/>
          <p:nvPr/>
        </p:nvSpPr>
        <p:spPr>
          <a:xfrm>
            <a:off x="14287500" y="8420100"/>
            <a:ext cx="2286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57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Economics</a:t>
            </a:r>
            <a:endParaRPr/>
          </a:p>
        </p:txBody>
      </p:sp>
      <p:sp>
        <p:nvSpPr>
          <p:cNvPr id="957" name="Google Shape;957;p11"/>
          <p:cNvSpPr txBox="1"/>
          <p:nvPr/>
        </p:nvSpPr>
        <p:spPr>
          <a:xfrm>
            <a:off x="762000" y="9010650"/>
            <a:ext cx="11430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Amber rows · proposed or revised · unvalidated at this stage.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6"/>
        </a:solidFill>
      </p:bgPr>
    </p:bg>
    <p:spTree>
      <p:nvGrpSpPr>
        <p:cNvPr id="96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areerPilot logo" id="962" name="Google Shape;96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428150"/>
            <a:ext cx="901087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963" name="Google Shape;963;p12"/>
          <p:cNvSpPr txBox="1"/>
          <p:nvPr/>
        </p:nvSpPr>
        <p:spPr>
          <a:xfrm>
            <a:off x="4572000" y="438150"/>
            <a:ext cx="9525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52" sz="15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12 · Boundaries</a:t>
            </a:r>
            <a:endParaRPr sz="1500"/>
          </a:p>
        </p:txBody>
      </p:sp>
      <p:sp>
        <p:nvSpPr>
          <p:cNvPr id="964" name="Google Shape;964;p12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89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12</a:t>
            </a:r>
            <a:endParaRPr/>
          </a:p>
        </p:txBody>
      </p:sp>
      <p:sp>
        <p:nvSpPr>
          <p:cNvPr id="965" name="Google Shape;965;p12"/>
          <p:cNvSpPr txBox="1"/>
          <p:nvPr/>
        </p:nvSpPr>
        <p:spPr>
          <a:xfrm>
            <a:off x="762000" y="9734550"/>
            <a:ext cx="114300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June 27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(planned)</a:t>
            </a:r>
            <a:endParaRPr/>
          </a:p>
        </p:txBody>
      </p:sp>
      <p:grpSp>
        <p:nvGrpSpPr>
          <p:cNvPr id="966" name="Google Shape;966;p12"/>
          <p:cNvGrpSpPr/>
          <p:nvPr/>
        </p:nvGrpSpPr>
        <p:grpSpPr>
          <a:xfrm>
            <a:off x="762000" y="733425"/>
            <a:ext cx="16764000" cy="38100"/>
            <a:chOff x="0" y="-38100"/>
            <a:chExt cx="22352000" cy="50800"/>
          </a:xfrm>
        </p:grpSpPr>
        <p:sp>
          <p:nvSpPr>
            <p:cNvPr id="967" name="Google Shape;967;p12"/>
            <p:cNvSpPr/>
            <p:nvPr/>
          </p:nvSpPr>
          <p:spPr>
            <a:xfrm>
              <a:off x="0" y="0"/>
              <a:ext cx="22352000" cy="12700"/>
            </a:xfrm>
            <a:custGeom>
              <a:rect b="b" l="l" r="r" t="t"/>
              <a:pathLst>
                <a:path extrusionOk="0" h="127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8" name="Google Shape;968;p12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69" name="Google Shape;969;p12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43" sz="13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APPENDIX</a:t>
            </a:r>
            <a:endParaRPr/>
          </a:p>
        </p:txBody>
      </p:sp>
      <p:sp>
        <p:nvSpPr>
          <p:cNvPr id="970" name="Google Shape;970;p12"/>
          <p:cNvSpPr txBox="1"/>
          <p:nvPr/>
        </p:nvSpPr>
        <p:spPr>
          <a:xfrm>
            <a:off x="762000" y="1685925"/>
            <a:ext cx="16192500" cy="6829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65" sz="4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Matching boundaries.</a:t>
            </a:r>
            <a:endParaRPr/>
          </a:p>
        </p:txBody>
      </p:sp>
      <p:sp>
        <p:nvSpPr>
          <p:cNvPr id="971" name="Google Shape;971;p12"/>
          <p:cNvSpPr txBox="1"/>
          <p:nvPr/>
        </p:nvSpPr>
        <p:spPr>
          <a:xfrm>
            <a:off x="762000" y="2428875"/>
            <a:ext cx="13335000" cy="291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1D3D63"/>
                </a:solidFill>
                <a:latin typeface="Inter"/>
                <a:ea typeface="Inter"/>
                <a:cs typeface="Inter"/>
                <a:sym typeface="Inter"/>
              </a:rPr>
              <a:t>Completeness, fit, confidence, availability, and consent are distinct gates.</a:t>
            </a:r>
            <a:endParaRPr/>
          </a:p>
        </p:txBody>
      </p:sp>
      <p:grpSp>
        <p:nvGrpSpPr>
          <p:cNvPr id="972" name="Google Shape;972;p12"/>
          <p:cNvGrpSpPr/>
          <p:nvPr/>
        </p:nvGrpSpPr>
        <p:grpSpPr>
          <a:xfrm>
            <a:off x="762000" y="3781425"/>
            <a:ext cx="8382000" cy="5172075"/>
            <a:chOff x="0" y="-38100"/>
            <a:chExt cx="11176000" cy="6896100"/>
          </a:xfrm>
        </p:grpSpPr>
        <p:sp>
          <p:nvSpPr>
            <p:cNvPr id="973" name="Google Shape;973;p12"/>
            <p:cNvSpPr/>
            <p:nvPr/>
          </p:nvSpPr>
          <p:spPr>
            <a:xfrm>
              <a:off x="0" y="0"/>
              <a:ext cx="11176000" cy="6858000"/>
            </a:xfrm>
            <a:custGeom>
              <a:rect b="b" l="l" r="r" t="t"/>
              <a:pathLst>
                <a:path extrusionOk="0" h="6858000" w="11176000">
                  <a:moveTo>
                    <a:pt x="0" y="0"/>
                  </a:moveTo>
                  <a:lnTo>
                    <a:pt x="11176000" y="0"/>
                  </a:lnTo>
                  <a:lnTo>
                    <a:pt x="11176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4" name="Google Shape;974;p12"/>
            <p:cNvSpPr txBox="1"/>
            <p:nvPr/>
          </p:nvSpPr>
          <p:spPr>
            <a:xfrm>
              <a:off x="0" y="-38100"/>
              <a:ext cx="11176000" cy="689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5" name="Google Shape;975;p12"/>
          <p:cNvGrpSpPr/>
          <p:nvPr/>
        </p:nvGrpSpPr>
        <p:grpSpPr>
          <a:xfrm>
            <a:off x="762000" y="3781425"/>
            <a:ext cx="57150" cy="5172075"/>
            <a:chOff x="0" y="-38100"/>
            <a:chExt cx="76200" cy="6896100"/>
          </a:xfrm>
        </p:grpSpPr>
        <p:sp>
          <p:nvSpPr>
            <p:cNvPr id="976" name="Google Shape;976;p12"/>
            <p:cNvSpPr/>
            <p:nvPr/>
          </p:nvSpPr>
          <p:spPr>
            <a:xfrm>
              <a:off x="0" y="0"/>
              <a:ext cx="76200" cy="6858000"/>
            </a:xfrm>
            <a:custGeom>
              <a:rect b="b" l="l" r="r" t="t"/>
              <a:pathLst>
                <a:path extrusionOk="0" h="6858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7" name="Google Shape;977;p12"/>
            <p:cNvSpPr txBox="1"/>
            <p:nvPr/>
          </p:nvSpPr>
          <p:spPr>
            <a:xfrm>
              <a:off x="0" y="-38100"/>
              <a:ext cx="76200" cy="689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8" name="Google Shape;978;p12"/>
          <p:cNvGrpSpPr/>
          <p:nvPr/>
        </p:nvGrpSpPr>
        <p:grpSpPr>
          <a:xfrm>
            <a:off x="9525000" y="3781425"/>
            <a:ext cx="8001000" cy="5172075"/>
            <a:chOff x="0" y="-38100"/>
            <a:chExt cx="10668000" cy="6896100"/>
          </a:xfrm>
        </p:grpSpPr>
        <p:sp>
          <p:nvSpPr>
            <p:cNvPr id="979" name="Google Shape;979;p12"/>
            <p:cNvSpPr/>
            <p:nvPr/>
          </p:nvSpPr>
          <p:spPr>
            <a:xfrm>
              <a:off x="0" y="0"/>
              <a:ext cx="10668000" cy="6858000"/>
            </a:xfrm>
            <a:custGeom>
              <a:rect b="b" l="l" r="r" t="t"/>
              <a:pathLst>
                <a:path extrusionOk="0" h="6858000" w="10668000">
                  <a:moveTo>
                    <a:pt x="0" y="0"/>
                  </a:moveTo>
                  <a:lnTo>
                    <a:pt x="10668000" y="0"/>
                  </a:lnTo>
                  <a:lnTo>
                    <a:pt x="10668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0" name="Google Shape;980;p12"/>
            <p:cNvSpPr txBox="1"/>
            <p:nvPr/>
          </p:nvSpPr>
          <p:spPr>
            <a:xfrm>
              <a:off x="0" y="-38100"/>
              <a:ext cx="10668000" cy="689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81" name="Google Shape;981;p12"/>
          <p:cNvGrpSpPr/>
          <p:nvPr/>
        </p:nvGrpSpPr>
        <p:grpSpPr>
          <a:xfrm>
            <a:off x="9525000" y="3781425"/>
            <a:ext cx="57150" cy="5172075"/>
            <a:chOff x="0" y="-38100"/>
            <a:chExt cx="76200" cy="6896100"/>
          </a:xfrm>
        </p:grpSpPr>
        <p:sp>
          <p:nvSpPr>
            <p:cNvPr id="982" name="Google Shape;982;p12"/>
            <p:cNvSpPr/>
            <p:nvPr/>
          </p:nvSpPr>
          <p:spPr>
            <a:xfrm>
              <a:off x="0" y="0"/>
              <a:ext cx="76200" cy="6858000"/>
            </a:xfrm>
            <a:custGeom>
              <a:rect b="b" l="l" r="r" t="t"/>
              <a:pathLst>
                <a:path extrusionOk="0" h="6858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3" name="Google Shape;983;p12"/>
            <p:cNvSpPr txBox="1"/>
            <p:nvPr/>
          </p:nvSpPr>
          <p:spPr>
            <a:xfrm>
              <a:off x="0" y="-38100"/>
              <a:ext cx="76200" cy="689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84" name="Google Shape;984;p12"/>
          <p:cNvGrpSpPr/>
          <p:nvPr/>
        </p:nvGrpSpPr>
        <p:grpSpPr>
          <a:xfrm>
            <a:off x="1143000" y="5229225"/>
            <a:ext cx="76200" cy="104775"/>
            <a:chOff x="0" y="-38100"/>
            <a:chExt cx="101600" cy="139700"/>
          </a:xfrm>
        </p:grpSpPr>
        <p:sp>
          <p:nvSpPr>
            <p:cNvPr id="985" name="Google Shape;985;p12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6" name="Google Shape;986;p12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87" name="Google Shape;987;p12"/>
          <p:cNvGrpSpPr/>
          <p:nvPr/>
        </p:nvGrpSpPr>
        <p:grpSpPr>
          <a:xfrm>
            <a:off x="1143000" y="5895975"/>
            <a:ext cx="76200" cy="104775"/>
            <a:chOff x="0" y="-38100"/>
            <a:chExt cx="101600" cy="139700"/>
          </a:xfrm>
        </p:grpSpPr>
        <p:sp>
          <p:nvSpPr>
            <p:cNvPr id="988" name="Google Shape;988;p12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9" name="Google Shape;989;p12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0" name="Google Shape;990;p12"/>
          <p:cNvGrpSpPr/>
          <p:nvPr/>
        </p:nvGrpSpPr>
        <p:grpSpPr>
          <a:xfrm>
            <a:off x="1143000" y="6562725"/>
            <a:ext cx="76200" cy="104775"/>
            <a:chOff x="0" y="-38100"/>
            <a:chExt cx="101600" cy="139700"/>
          </a:xfrm>
        </p:grpSpPr>
        <p:sp>
          <p:nvSpPr>
            <p:cNvPr id="991" name="Google Shape;991;p12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2" name="Google Shape;992;p12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3" name="Google Shape;993;p12"/>
          <p:cNvGrpSpPr/>
          <p:nvPr/>
        </p:nvGrpSpPr>
        <p:grpSpPr>
          <a:xfrm>
            <a:off x="1143000" y="7229475"/>
            <a:ext cx="76200" cy="104775"/>
            <a:chOff x="0" y="-38100"/>
            <a:chExt cx="101600" cy="139700"/>
          </a:xfrm>
        </p:grpSpPr>
        <p:sp>
          <p:nvSpPr>
            <p:cNvPr id="994" name="Google Shape;994;p12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5" name="Google Shape;995;p12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6" name="Google Shape;996;p12"/>
          <p:cNvGrpSpPr/>
          <p:nvPr/>
        </p:nvGrpSpPr>
        <p:grpSpPr>
          <a:xfrm>
            <a:off x="1143000" y="7896225"/>
            <a:ext cx="76200" cy="104775"/>
            <a:chOff x="0" y="-38100"/>
            <a:chExt cx="101600" cy="139700"/>
          </a:xfrm>
        </p:grpSpPr>
        <p:sp>
          <p:nvSpPr>
            <p:cNvPr id="997" name="Google Shape;997;p12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8" name="Google Shape;998;p12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9" name="Google Shape;999;p12"/>
          <p:cNvGrpSpPr/>
          <p:nvPr/>
        </p:nvGrpSpPr>
        <p:grpSpPr>
          <a:xfrm>
            <a:off x="9906000" y="5229225"/>
            <a:ext cx="76200" cy="104775"/>
            <a:chOff x="0" y="-38100"/>
            <a:chExt cx="101600" cy="139700"/>
          </a:xfrm>
        </p:grpSpPr>
        <p:sp>
          <p:nvSpPr>
            <p:cNvPr id="1000" name="Google Shape;1000;p12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1" name="Google Shape;1001;p12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2" name="Google Shape;1002;p12"/>
          <p:cNvGrpSpPr/>
          <p:nvPr/>
        </p:nvGrpSpPr>
        <p:grpSpPr>
          <a:xfrm>
            <a:off x="9906000" y="5800725"/>
            <a:ext cx="76200" cy="104775"/>
            <a:chOff x="0" y="-38100"/>
            <a:chExt cx="101600" cy="139700"/>
          </a:xfrm>
        </p:grpSpPr>
        <p:sp>
          <p:nvSpPr>
            <p:cNvPr id="1003" name="Google Shape;1003;p12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4" name="Google Shape;1004;p12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5" name="Google Shape;1005;p12"/>
          <p:cNvGrpSpPr/>
          <p:nvPr/>
        </p:nvGrpSpPr>
        <p:grpSpPr>
          <a:xfrm>
            <a:off x="9906000" y="6372225"/>
            <a:ext cx="76200" cy="104775"/>
            <a:chOff x="0" y="-38100"/>
            <a:chExt cx="101600" cy="139700"/>
          </a:xfrm>
        </p:grpSpPr>
        <p:sp>
          <p:nvSpPr>
            <p:cNvPr id="1006" name="Google Shape;1006;p12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7" name="Google Shape;1007;p12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8" name="Google Shape;1008;p12"/>
          <p:cNvGrpSpPr/>
          <p:nvPr/>
        </p:nvGrpSpPr>
        <p:grpSpPr>
          <a:xfrm>
            <a:off x="9906000" y="6943725"/>
            <a:ext cx="76200" cy="104775"/>
            <a:chOff x="0" y="-38100"/>
            <a:chExt cx="101600" cy="139700"/>
          </a:xfrm>
        </p:grpSpPr>
        <p:sp>
          <p:nvSpPr>
            <p:cNvPr id="1009" name="Google Shape;1009;p12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0" name="Google Shape;1010;p12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11" name="Google Shape;1011;p12"/>
          <p:cNvGrpSpPr/>
          <p:nvPr/>
        </p:nvGrpSpPr>
        <p:grpSpPr>
          <a:xfrm>
            <a:off x="9906000" y="7515225"/>
            <a:ext cx="76200" cy="104775"/>
            <a:chOff x="0" y="-38100"/>
            <a:chExt cx="101600" cy="139700"/>
          </a:xfrm>
        </p:grpSpPr>
        <p:sp>
          <p:nvSpPr>
            <p:cNvPr id="1012" name="Google Shape;1012;p12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3" name="Google Shape;1013;p12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14" name="Google Shape;1014;p12"/>
          <p:cNvGrpSpPr/>
          <p:nvPr/>
        </p:nvGrpSpPr>
        <p:grpSpPr>
          <a:xfrm>
            <a:off x="9906000" y="8086725"/>
            <a:ext cx="76200" cy="104775"/>
            <a:chOff x="0" y="-38100"/>
            <a:chExt cx="101600" cy="139700"/>
          </a:xfrm>
        </p:grpSpPr>
        <p:sp>
          <p:nvSpPr>
            <p:cNvPr id="1015" name="Google Shape;1015;p12"/>
            <p:cNvSpPr/>
            <p:nvPr/>
          </p:nvSpPr>
          <p:spPr>
            <a:xfrm>
              <a:off x="0" y="0"/>
              <a:ext cx="101600" cy="101600"/>
            </a:xfrm>
            <a:custGeom>
              <a:rect b="b" l="l" r="r" t="t"/>
              <a:pathLst>
                <a:path extrusionOk="0" h="101600" w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6" name="Google Shape;1016;p12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17" name="Google Shape;1017;p12"/>
          <p:cNvSpPr txBox="1"/>
          <p:nvPr/>
        </p:nvSpPr>
        <p:spPr>
          <a:xfrm>
            <a:off x="1143000" y="4095750"/>
            <a:ext cx="3810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52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INCLUDED</a:t>
            </a:r>
            <a:endParaRPr/>
          </a:p>
        </p:txBody>
      </p:sp>
      <p:sp>
        <p:nvSpPr>
          <p:cNvPr id="1018" name="Google Shape;1018;p12"/>
          <p:cNvSpPr txBox="1"/>
          <p:nvPr/>
        </p:nvSpPr>
        <p:spPr>
          <a:xfrm>
            <a:off x="1143000" y="4286250"/>
            <a:ext cx="6667500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What makes the shortlist</a:t>
            </a:r>
            <a:endParaRPr/>
          </a:p>
        </p:txBody>
      </p:sp>
      <p:sp>
        <p:nvSpPr>
          <p:cNvPr id="1019" name="Google Shape;1019;p12"/>
          <p:cNvSpPr txBox="1"/>
          <p:nvPr/>
        </p:nvSpPr>
        <p:spPr>
          <a:xfrm>
            <a:off x="9906000" y="4095750"/>
            <a:ext cx="3810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52" sz="1050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EXCLUDED</a:t>
            </a:r>
            <a:endParaRPr/>
          </a:p>
        </p:txBody>
      </p:sp>
      <p:sp>
        <p:nvSpPr>
          <p:cNvPr id="1020" name="Google Shape;1020;p12"/>
          <p:cNvSpPr txBox="1"/>
          <p:nvPr/>
        </p:nvSpPr>
        <p:spPr>
          <a:xfrm>
            <a:off x="9906000" y="4286250"/>
            <a:ext cx="6667500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Where candidates fall out</a:t>
            </a:r>
            <a:endParaRPr/>
          </a:p>
        </p:txBody>
      </p:sp>
      <p:sp>
        <p:nvSpPr>
          <p:cNvPr id="1021" name="Google Shape;1021;p12"/>
          <p:cNvSpPr txBox="1"/>
          <p:nvPr/>
        </p:nvSpPr>
        <p:spPr>
          <a:xfrm>
            <a:off x="1409700" y="5105400"/>
            <a:ext cx="7239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Fit ≥ 90% with high confidence</a:t>
            </a:r>
            <a:endParaRPr/>
          </a:p>
        </p:txBody>
      </p:sp>
      <p:sp>
        <p:nvSpPr>
          <p:cNvPr id="1022" name="Google Shape;1022;p12"/>
          <p:cNvSpPr txBox="1"/>
          <p:nvPr/>
        </p:nvSpPr>
        <p:spPr>
          <a:xfrm>
            <a:off x="1409700" y="5772150"/>
            <a:ext cx="7239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Completeness ≥ 90%</a:t>
            </a:r>
            <a:endParaRPr/>
          </a:p>
        </p:txBody>
      </p:sp>
      <p:sp>
        <p:nvSpPr>
          <p:cNvPr id="1023" name="Google Shape;1023;p12"/>
          <p:cNvSpPr txBox="1"/>
          <p:nvPr/>
        </p:nvSpPr>
        <p:spPr>
          <a:xfrm>
            <a:off x="1409700" y="6438900"/>
            <a:ext cx="7239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Must-haves fully met</a:t>
            </a:r>
            <a:endParaRPr/>
          </a:p>
        </p:txBody>
      </p:sp>
      <p:sp>
        <p:nvSpPr>
          <p:cNvPr id="1024" name="Google Shape;1024;p12"/>
          <p:cNvSpPr txBox="1"/>
          <p:nvPr/>
        </p:nvSpPr>
        <p:spPr>
          <a:xfrm>
            <a:off x="1409700" y="7105650"/>
            <a:ext cx="7239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Fresh immediate availability</a:t>
            </a:r>
            <a:endParaRPr/>
          </a:p>
        </p:txBody>
      </p:sp>
      <p:sp>
        <p:nvSpPr>
          <p:cNvPr id="1025" name="Google Shape;1025;p12"/>
          <p:cNvSpPr txBox="1"/>
          <p:nvPr/>
        </p:nvSpPr>
        <p:spPr>
          <a:xfrm>
            <a:off x="1409700" y="7772400"/>
            <a:ext cx="7239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Discovery opt-in on</a:t>
            </a:r>
            <a:endParaRPr/>
          </a:p>
        </p:txBody>
      </p:sp>
      <p:sp>
        <p:nvSpPr>
          <p:cNvPr id="1026" name="Google Shape;1026;p12"/>
          <p:cNvSpPr txBox="1"/>
          <p:nvPr/>
        </p:nvSpPr>
        <p:spPr>
          <a:xfrm>
            <a:off x="10172700" y="5114925"/>
            <a:ext cx="70485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89.9% fit — excluded from recommended band</a:t>
            </a:r>
            <a:endParaRPr/>
          </a:p>
        </p:txBody>
      </p:sp>
      <p:sp>
        <p:nvSpPr>
          <p:cNvPr id="1027" name="Google Shape;1027;p12"/>
          <p:cNvSpPr txBox="1"/>
          <p:nvPr/>
        </p:nvSpPr>
        <p:spPr>
          <a:xfrm>
            <a:off x="10172700" y="5686425"/>
            <a:ext cx="70485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Completeness &lt; 90% — score gated</a:t>
            </a:r>
            <a:endParaRPr/>
          </a:p>
        </p:txBody>
      </p:sp>
      <p:sp>
        <p:nvSpPr>
          <p:cNvPr id="1028" name="Google Shape;1028;p12"/>
          <p:cNvSpPr txBox="1"/>
          <p:nvPr/>
        </p:nvSpPr>
        <p:spPr>
          <a:xfrm>
            <a:off x="10172700" y="6257925"/>
            <a:ext cx="70485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Missing must-have — excluded</a:t>
            </a:r>
            <a:endParaRPr/>
          </a:p>
        </p:txBody>
      </p:sp>
      <p:sp>
        <p:nvSpPr>
          <p:cNvPr id="1029" name="Google Shape;1029;p12"/>
          <p:cNvSpPr txBox="1"/>
          <p:nvPr/>
        </p:nvSpPr>
        <p:spPr>
          <a:xfrm>
            <a:off x="10172700" y="6829425"/>
            <a:ext cx="70485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Low confidence — excluded</a:t>
            </a:r>
            <a:endParaRPr/>
          </a:p>
        </p:txBody>
      </p:sp>
      <p:sp>
        <p:nvSpPr>
          <p:cNvPr id="1030" name="Google Shape;1030;p12"/>
          <p:cNvSpPr txBox="1"/>
          <p:nvPr/>
        </p:nvSpPr>
        <p:spPr>
          <a:xfrm>
            <a:off x="10172700" y="7400925"/>
            <a:ext cx="70485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Stale / not immediately available</a:t>
            </a:r>
            <a:endParaRPr/>
          </a:p>
        </p:txBody>
      </p:sp>
      <p:sp>
        <p:nvSpPr>
          <p:cNvPr id="1031" name="Google Shape;1031;p12"/>
          <p:cNvSpPr txBox="1"/>
          <p:nvPr/>
        </p:nvSpPr>
        <p:spPr>
          <a:xfrm>
            <a:off x="10172700" y="7972425"/>
            <a:ext cx="70485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Opt-out — excluded</a:t>
            </a:r>
            <a:endParaRPr/>
          </a:p>
        </p:txBody>
      </p:sp>
      <p:sp>
        <p:nvSpPr>
          <p:cNvPr id="1032" name="Google Shape;1032;p12"/>
          <p:cNvSpPr txBox="1"/>
          <p:nvPr/>
        </p:nvSpPr>
        <p:spPr>
          <a:xfrm>
            <a:off x="762000" y="9239250"/>
            <a:ext cx="16764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02" sz="1275">
                <a:solidFill>
                  <a:srgbClr val="1D3D6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Honest empty shortlist allowed · thresholds never lowered · near-misses visible only to the candidate.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6"/>
        </a:solidFill>
      </p:bgPr>
    </p:bg>
    <p:spTree>
      <p:nvGrpSpPr>
        <p:cNvPr id="1036" name="Shape 1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areerPilot logo" id="1037" name="Google Shape;103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428150"/>
            <a:ext cx="901087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38" name="Google Shape;1038;p13"/>
          <p:cNvSpPr txBox="1"/>
          <p:nvPr/>
        </p:nvSpPr>
        <p:spPr>
          <a:xfrm>
            <a:off x="4572000" y="438150"/>
            <a:ext cx="9525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52" sz="15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13 · Backlog</a:t>
            </a:r>
            <a:endParaRPr sz="1500"/>
          </a:p>
        </p:txBody>
      </p:sp>
      <p:sp>
        <p:nvSpPr>
          <p:cNvPr id="1039" name="Google Shape;1039;p13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89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13</a:t>
            </a:r>
            <a:endParaRPr/>
          </a:p>
        </p:txBody>
      </p:sp>
      <p:sp>
        <p:nvSpPr>
          <p:cNvPr id="1040" name="Google Shape;1040;p13"/>
          <p:cNvSpPr txBox="1"/>
          <p:nvPr/>
        </p:nvSpPr>
        <p:spPr>
          <a:xfrm>
            <a:off x="762000" y="9734550"/>
            <a:ext cx="114300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June 27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(planned)</a:t>
            </a:r>
            <a:endParaRPr/>
          </a:p>
        </p:txBody>
      </p:sp>
      <p:grpSp>
        <p:nvGrpSpPr>
          <p:cNvPr id="1041" name="Google Shape;1041;p13"/>
          <p:cNvGrpSpPr/>
          <p:nvPr/>
        </p:nvGrpSpPr>
        <p:grpSpPr>
          <a:xfrm>
            <a:off x="762000" y="733425"/>
            <a:ext cx="16764000" cy="38100"/>
            <a:chOff x="0" y="-38100"/>
            <a:chExt cx="22352000" cy="50800"/>
          </a:xfrm>
        </p:grpSpPr>
        <p:sp>
          <p:nvSpPr>
            <p:cNvPr id="1042" name="Google Shape;1042;p13"/>
            <p:cNvSpPr/>
            <p:nvPr/>
          </p:nvSpPr>
          <p:spPr>
            <a:xfrm>
              <a:off x="0" y="0"/>
              <a:ext cx="22352000" cy="12700"/>
            </a:xfrm>
            <a:custGeom>
              <a:rect b="b" l="l" r="r" t="t"/>
              <a:pathLst>
                <a:path extrusionOk="0" h="127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3" name="Google Shape;1043;p13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44" name="Google Shape;1044;p13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43" sz="13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APPENDIX</a:t>
            </a:r>
            <a:endParaRPr/>
          </a:p>
        </p:txBody>
      </p:sp>
      <p:sp>
        <p:nvSpPr>
          <p:cNvPr id="1045" name="Google Shape;1045;p13"/>
          <p:cNvSpPr txBox="1"/>
          <p:nvPr/>
        </p:nvSpPr>
        <p:spPr>
          <a:xfrm>
            <a:off x="762000" y="1685925"/>
            <a:ext cx="16192500" cy="6829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65" sz="4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Backlog · compact view.</a:t>
            </a:r>
            <a:endParaRPr/>
          </a:p>
        </p:txBody>
      </p:sp>
      <p:sp>
        <p:nvSpPr>
          <p:cNvPr id="1046" name="Google Shape;1046;p13"/>
          <p:cNvSpPr txBox="1"/>
          <p:nvPr/>
        </p:nvSpPr>
        <p:spPr>
          <a:xfrm>
            <a:off x="762000" y="3028950"/>
            <a:ext cx="3810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52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EPICS · 9</a:t>
            </a:r>
            <a:endParaRPr/>
          </a:p>
        </p:txBody>
      </p:sp>
      <p:sp>
        <p:nvSpPr>
          <p:cNvPr id="1047" name="Google Shape;1047;p13"/>
          <p:cNvSpPr txBox="1"/>
          <p:nvPr/>
        </p:nvSpPr>
        <p:spPr>
          <a:xfrm>
            <a:off x="9525000" y="3028950"/>
            <a:ext cx="3810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52" sz="1050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PILOT STORIES · 7</a:t>
            </a:r>
            <a:endParaRPr/>
          </a:p>
        </p:txBody>
      </p:sp>
      <p:grpSp>
        <p:nvGrpSpPr>
          <p:cNvPr id="1048" name="Google Shape;1048;p13"/>
          <p:cNvGrpSpPr/>
          <p:nvPr/>
        </p:nvGrpSpPr>
        <p:grpSpPr>
          <a:xfrm>
            <a:off x="762000" y="3933825"/>
            <a:ext cx="8191500" cy="561975"/>
            <a:chOff x="0" y="-38100"/>
            <a:chExt cx="10922000" cy="749300"/>
          </a:xfrm>
        </p:grpSpPr>
        <p:sp>
          <p:nvSpPr>
            <p:cNvPr id="1049" name="Google Shape;1049;p13"/>
            <p:cNvSpPr/>
            <p:nvPr/>
          </p:nvSpPr>
          <p:spPr>
            <a:xfrm>
              <a:off x="0" y="0"/>
              <a:ext cx="10922000" cy="711200"/>
            </a:xfrm>
            <a:custGeom>
              <a:rect b="b" l="l" r="r" t="t"/>
              <a:pathLst>
                <a:path extrusionOk="0" h="711200" w="10922000">
                  <a:moveTo>
                    <a:pt x="0" y="0"/>
                  </a:moveTo>
                  <a:lnTo>
                    <a:pt x="10922000" y="0"/>
                  </a:lnTo>
                  <a:lnTo>
                    <a:pt x="1092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0" name="Google Shape;1050;p13"/>
            <p:cNvSpPr txBox="1"/>
            <p:nvPr/>
          </p:nvSpPr>
          <p:spPr>
            <a:xfrm>
              <a:off x="0" y="-38100"/>
              <a:ext cx="109220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51" name="Google Shape;1051;p13"/>
          <p:cNvGrpSpPr/>
          <p:nvPr/>
        </p:nvGrpSpPr>
        <p:grpSpPr>
          <a:xfrm>
            <a:off x="762000" y="5000625"/>
            <a:ext cx="8191500" cy="561975"/>
            <a:chOff x="0" y="-38100"/>
            <a:chExt cx="10922000" cy="749300"/>
          </a:xfrm>
        </p:grpSpPr>
        <p:sp>
          <p:nvSpPr>
            <p:cNvPr id="1052" name="Google Shape;1052;p13"/>
            <p:cNvSpPr/>
            <p:nvPr/>
          </p:nvSpPr>
          <p:spPr>
            <a:xfrm>
              <a:off x="0" y="0"/>
              <a:ext cx="10922000" cy="711200"/>
            </a:xfrm>
            <a:custGeom>
              <a:rect b="b" l="l" r="r" t="t"/>
              <a:pathLst>
                <a:path extrusionOk="0" h="711200" w="10922000">
                  <a:moveTo>
                    <a:pt x="0" y="0"/>
                  </a:moveTo>
                  <a:lnTo>
                    <a:pt x="10922000" y="0"/>
                  </a:lnTo>
                  <a:lnTo>
                    <a:pt x="1092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3" name="Google Shape;1053;p13"/>
            <p:cNvSpPr txBox="1"/>
            <p:nvPr/>
          </p:nvSpPr>
          <p:spPr>
            <a:xfrm>
              <a:off x="0" y="-38100"/>
              <a:ext cx="109220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54" name="Google Shape;1054;p13"/>
          <p:cNvGrpSpPr/>
          <p:nvPr/>
        </p:nvGrpSpPr>
        <p:grpSpPr>
          <a:xfrm>
            <a:off x="762000" y="6067425"/>
            <a:ext cx="8191500" cy="561975"/>
            <a:chOff x="0" y="-38100"/>
            <a:chExt cx="10922000" cy="749300"/>
          </a:xfrm>
        </p:grpSpPr>
        <p:sp>
          <p:nvSpPr>
            <p:cNvPr id="1055" name="Google Shape;1055;p13"/>
            <p:cNvSpPr/>
            <p:nvPr/>
          </p:nvSpPr>
          <p:spPr>
            <a:xfrm>
              <a:off x="0" y="0"/>
              <a:ext cx="10922000" cy="711200"/>
            </a:xfrm>
            <a:custGeom>
              <a:rect b="b" l="l" r="r" t="t"/>
              <a:pathLst>
                <a:path extrusionOk="0" h="711200" w="10922000">
                  <a:moveTo>
                    <a:pt x="0" y="0"/>
                  </a:moveTo>
                  <a:lnTo>
                    <a:pt x="10922000" y="0"/>
                  </a:lnTo>
                  <a:lnTo>
                    <a:pt x="1092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6" name="Google Shape;1056;p13"/>
            <p:cNvSpPr txBox="1"/>
            <p:nvPr/>
          </p:nvSpPr>
          <p:spPr>
            <a:xfrm>
              <a:off x="0" y="-38100"/>
              <a:ext cx="109220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57" name="Google Shape;1057;p13"/>
          <p:cNvGrpSpPr/>
          <p:nvPr/>
        </p:nvGrpSpPr>
        <p:grpSpPr>
          <a:xfrm>
            <a:off x="762000" y="7134225"/>
            <a:ext cx="8191500" cy="561975"/>
            <a:chOff x="0" y="-38100"/>
            <a:chExt cx="10922000" cy="749300"/>
          </a:xfrm>
        </p:grpSpPr>
        <p:sp>
          <p:nvSpPr>
            <p:cNvPr id="1058" name="Google Shape;1058;p13"/>
            <p:cNvSpPr/>
            <p:nvPr/>
          </p:nvSpPr>
          <p:spPr>
            <a:xfrm>
              <a:off x="0" y="0"/>
              <a:ext cx="10922000" cy="711200"/>
            </a:xfrm>
            <a:custGeom>
              <a:rect b="b" l="l" r="r" t="t"/>
              <a:pathLst>
                <a:path extrusionOk="0" h="711200" w="10922000">
                  <a:moveTo>
                    <a:pt x="0" y="0"/>
                  </a:moveTo>
                  <a:lnTo>
                    <a:pt x="10922000" y="0"/>
                  </a:lnTo>
                  <a:lnTo>
                    <a:pt x="1092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9" name="Google Shape;1059;p13"/>
            <p:cNvSpPr txBox="1"/>
            <p:nvPr/>
          </p:nvSpPr>
          <p:spPr>
            <a:xfrm>
              <a:off x="0" y="-38100"/>
              <a:ext cx="109220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60" name="Google Shape;1060;p13"/>
          <p:cNvSpPr txBox="1"/>
          <p:nvPr/>
        </p:nvSpPr>
        <p:spPr>
          <a:xfrm>
            <a:off x="952500" y="3581400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CPA-2</a:t>
            </a:r>
            <a:endParaRPr/>
          </a:p>
        </p:txBody>
      </p:sp>
      <p:sp>
        <p:nvSpPr>
          <p:cNvPr id="1061" name="Google Shape;1061;p13"/>
          <p:cNvSpPr txBox="1"/>
          <p:nvPr/>
        </p:nvSpPr>
        <p:spPr>
          <a:xfrm>
            <a:off x="2667000" y="3533775"/>
            <a:ext cx="60960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Profile</a:t>
            </a:r>
            <a:endParaRPr/>
          </a:p>
        </p:txBody>
      </p:sp>
      <p:sp>
        <p:nvSpPr>
          <p:cNvPr id="1062" name="Google Shape;1062;p13"/>
          <p:cNvSpPr txBox="1"/>
          <p:nvPr/>
        </p:nvSpPr>
        <p:spPr>
          <a:xfrm>
            <a:off x="952500" y="4114800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CPA-3</a:t>
            </a:r>
            <a:endParaRPr/>
          </a:p>
        </p:txBody>
      </p:sp>
      <p:sp>
        <p:nvSpPr>
          <p:cNvPr id="1063" name="Google Shape;1063;p13"/>
          <p:cNvSpPr txBox="1"/>
          <p:nvPr/>
        </p:nvSpPr>
        <p:spPr>
          <a:xfrm>
            <a:off x="2667000" y="4067175"/>
            <a:ext cx="60960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Discovery</a:t>
            </a:r>
            <a:endParaRPr/>
          </a:p>
        </p:txBody>
      </p:sp>
      <p:sp>
        <p:nvSpPr>
          <p:cNvPr id="1064" name="Google Shape;1064;p13"/>
          <p:cNvSpPr txBox="1"/>
          <p:nvPr/>
        </p:nvSpPr>
        <p:spPr>
          <a:xfrm>
            <a:off x="952500" y="4648200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CPA-4</a:t>
            </a:r>
            <a:endParaRPr/>
          </a:p>
        </p:txBody>
      </p:sp>
      <p:sp>
        <p:nvSpPr>
          <p:cNvPr id="1065" name="Google Shape;1065;p13"/>
          <p:cNvSpPr txBox="1"/>
          <p:nvPr/>
        </p:nvSpPr>
        <p:spPr>
          <a:xfrm>
            <a:off x="2667000" y="4600575"/>
            <a:ext cx="60960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Matching</a:t>
            </a:r>
            <a:endParaRPr/>
          </a:p>
        </p:txBody>
      </p:sp>
      <p:sp>
        <p:nvSpPr>
          <p:cNvPr id="1066" name="Google Shape;1066;p13"/>
          <p:cNvSpPr txBox="1"/>
          <p:nvPr/>
        </p:nvSpPr>
        <p:spPr>
          <a:xfrm>
            <a:off x="952500" y="5181600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CPA-5</a:t>
            </a:r>
            <a:endParaRPr/>
          </a:p>
        </p:txBody>
      </p:sp>
      <p:sp>
        <p:nvSpPr>
          <p:cNvPr id="1067" name="Google Shape;1067;p13"/>
          <p:cNvSpPr txBox="1"/>
          <p:nvPr/>
        </p:nvSpPr>
        <p:spPr>
          <a:xfrm>
            <a:off x="2667000" y="5133975"/>
            <a:ext cx="60960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Documents</a:t>
            </a:r>
            <a:endParaRPr/>
          </a:p>
        </p:txBody>
      </p:sp>
      <p:sp>
        <p:nvSpPr>
          <p:cNvPr id="1068" name="Google Shape;1068;p13"/>
          <p:cNvSpPr txBox="1"/>
          <p:nvPr/>
        </p:nvSpPr>
        <p:spPr>
          <a:xfrm>
            <a:off x="952500" y="5715000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CPA-6</a:t>
            </a:r>
            <a:endParaRPr/>
          </a:p>
        </p:txBody>
      </p:sp>
      <p:sp>
        <p:nvSpPr>
          <p:cNvPr id="1069" name="Google Shape;1069;p13"/>
          <p:cNvSpPr txBox="1"/>
          <p:nvPr/>
        </p:nvSpPr>
        <p:spPr>
          <a:xfrm>
            <a:off x="2667000" y="5667375"/>
            <a:ext cx="60960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History</a:t>
            </a:r>
            <a:endParaRPr/>
          </a:p>
        </p:txBody>
      </p:sp>
      <p:sp>
        <p:nvSpPr>
          <p:cNvPr id="1070" name="Google Shape;1070;p13"/>
          <p:cNvSpPr txBox="1"/>
          <p:nvPr/>
        </p:nvSpPr>
        <p:spPr>
          <a:xfrm>
            <a:off x="952500" y="6248400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CPA-8</a:t>
            </a:r>
            <a:endParaRPr/>
          </a:p>
        </p:txBody>
      </p:sp>
      <p:sp>
        <p:nvSpPr>
          <p:cNvPr id="1071" name="Google Shape;1071;p13"/>
          <p:cNvSpPr txBox="1"/>
          <p:nvPr/>
        </p:nvSpPr>
        <p:spPr>
          <a:xfrm>
            <a:off x="2667000" y="6200775"/>
            <a:ext cx="60960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Privacy</a:t>
            </a:r>
            <a:endParaRPr/>
          </a:p>
        </p:txBody>
      </p:sp>
      <p:sp>
        <p:nvSpPr>
          <p:cNvPr id="1072" name="Google Shape;1072;p13"/>
          <p:cNvSpPr txBox="1"/>
          <p:nvPr/>
        </p:nvSpPr>
        <p:spPr>
          <a:xfrm>
            <a:off x="952500" y="6781800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CPA-78</a:t>
            </a:r>
            <a:endParaRPr/>
          </a:p>
        </p:txBody>
      </p:sp>
      <p:sp>
        <p:nvSpPr>
          <p:cNvPr id="1073" name="Google Shape;1073;p13"/>
          <p:cNvSpPr txBox="1"/>
          <p:nvPr/>
        </p:nvSpPr>
        <p:spPr>
          <a:xfrm>
            <a:off x="2667000" y="6734175"/>
            <a:ext cx="60960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Career &amp; interview</a:t>
            </a:r>
            <a:endParaRPr/>
          </a:p>
        </p:txBody>
      </p:sp>
      <p:sp>
        <p:nvSpPr>
          <p:cNvPr id="1074" name="Google Shape;1074;p13"/>
          <p:cNvSpPr txBox="1"/>
          <p:nvPr/>
        </p:nvSpPr>
        <p:spPr>
          <a:xfrm>
            <a:off x="952500" y="7315200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CPA-88</a:t>
            </a:r>
            <a:endParaRPr/>
          </a:p>
        </p:txBody>
      </p:sp>
      <p:sp>
        <p:nvSpPr>
          <p:cNvPr id="1075" name="Google Shape;1075;p13"/>
          <p:cNvSpPr txBox="1"/>
          <p:nvPr/>
        </p:nvSpPr>
        <p:spPr>
          <a:xfrm>
            <a:off x="2667000" y="7267575"/>
            <a:ext cx="60960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Headhunter</a:t>
            </a:r>
            <a:endParaRPr/>
          </a:p>
        </p:txBody>
      </p:sp>
      <p:sp>
        <p:nvSpPr>
          <p:cNvPr id="1076" name="Google Shape;1076;p13"/>
          <p:cNvSpPr txBox="1"/>
          <p:nvPr/>
        </p:nvSpPr>
        <p:spPr>
          <a:xfrm>
            <a:off x="952500" y="7848600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CPA-89</a:t>
            </a:r>
            <a:endParaRPr/>
          </a:p>
        </p:txBody>
      </p:sp>
      <p:sp>
        <p:nvSpPr>
          <p:cNvPr id="1077" name="Google Shape;1077;p13"/>
          <p:cNvSpPr txBox="1"/>
          <p:nvPr/>
        </p:nvSpPr>
        <p:spPr>
          <a:xfrm>
            <a:off x="2667000" y="7800975"/>
            <a:ext cx="60960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Consent &amp; availability</a:t>
            </a:r>
            <a:endParaRPr/>
          </a:p>
        </p:txBody>
      </p:sp>
      <p:grpSp>
        <p:nvGrpSpPr>
          <p:cNvPr id="1078" name="Google Shape;1078;p13"/>
          <p:cNvGrpSpPr/>
          <p:nvPr/>
        </p:nvGrpSpPr>
        <p:grpSpPr>
          <a:xfrm>
            <a:off x="9525000" y="3400425"/>
            <a:ext cx="38100" cy="561975"/>
            <a:chOff x="0" y="-38100"/>
            <a:chExt cx="50800" cy="749300"/>
          </a:xfrm>
        </p:grpSpPr>
        <p:sp>
          <p:nvSpPr>
            <p:cNvPr id="1079" name="Google Shape;1079;p13"/>
            <p:cNvSpPr/>
            <p:nvPr/>
          </p:nvSpPr>
          <p:spPr>
            <a:xfrm>
              <a:off x="0" y="0"/>
              <a:ext cx="50800" cy="711200"/>
            </a:xfrm>
            <a:custGeom>
              <a:rect b="b" l="l" r="r" t="t"/>
              <a:pathLst>
                <a:path extrusionOk="0" h="711200" w="508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0" name="Google Shape;1080;p13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1" name="Google Shape;1081;p13"/>
          <p:cNvGrpSpPr/>
          <p:nvPr/>
        </p:nvGrpSpPr>
        <p:grpSpPr>
          <a:xfrm>
            <a:off x="9525000" y="3933825"/>
            <a:ext cx="8001000" cy="561975"/>
            <a:chOff x="0" y="-38100"/>
            <a:chExt cx="10668000" cy="749300"/>
          </a:xfrm>
        </p:grpSpPr>
        <p:sp>
          <p:nvSpPr>
            <p:cNvPr id="1082" name="Google Shape;1082;p13"/>
            <p:cNvSpPr/>
            <p:nvPr/>
          </p:nvSpPr>
          <p:spPr>
            <a:xfrm>
              <a:off x="0" y="0"/>
              <a:ext cx="10668000" cy="711200"/>
            </a:xfrm>
            <a:custGeom>
              <a:rect b="b" l="l" r="r" t="t"/>
              <a:pathLst>
                <a:path extrusionOk="0" h="711200" w="10668000">
                  <a:moveTo>
                    <a:pt x="0" y="0"/>
                  </a:moveTo>
                  <a:lnTo>
                    <a:pt x="10668000" y="0"/>
                  </a:lnTo>
                  <a:lnTo>
                    <a:pt x="10668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3" name="Google Shape;1083;p13"/>
            <p:cNvSpPr txBox="1"/>
            <p:nvPr/>
          </p:nvSpPr>
          <p:spPr>
            <a:xfrm>
              <a:off x="0" y="-38100"/>
              <a:ext cx="106680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4" name="Google Shape;1084;p13"/>
          <p:cNvGrpSpPr/>
          <p:nvPr/>
        </p:nvGrpSpPr>
        <p:grpSpPr>
          <a:xfrm>
            <a:off x="9525000" y="3933825"/>
            <a:ext cx="38100" cy="561975"/>
            <a:chOff x="0" y="-38100"/>
            <a:chExt cx="50800" cy="749300"/>
          </a:xfrm>
        </p:grpSpPr>
        <p:sp>
          <p:nvSpPr>
            <p:cNvPr id="1085" name="Google Shape;1085;p13"/>
            <p:cNvSpPr/>
            <p:nvPr/>
          </p:nvSpPr>
          <p:spPr>
            <a:xfrm>
              <a:off x="0" y="0"/>
              <a:ext cx="50800" cy="711200"/>
            </a:xfrm>
            <a:custGeom>
              <a:rect b="b" l="l" r="r" t="t"/>
              <a:pathLst>
                <a:path extrusionOk="0" h="711200" w="508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6" name="Google Shape;1086;p13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7" name="Google Shape;1087;p13"/>
          <p:cNvGrpSpPr/>
          <p:nvPr/>
        </p:nvGrpSpPr>
        <p:grpSpPr>
          <a:xfrm>
            <a:off x="9525000" y="4467225"/>
            <a:ext cx="38100" cy="561975"/>
            <a:chOff x="0" y="-38100"/>
            <a:chExt cx="50800" cy="749300"/>
          </a:xfrm>
        </p:grpSpPr>
        <p:sp>
          <p:nvSpPr>
            <p:cNvPr id="1088" name="Google Shape;1088;p13"/>
            <p:cNvSpPr/>
            <p:nvPr/>
          </p:nvSpPr>
          <p:spPr>
            <a:xfrm>
              <a:off x="0" y="0"/>
              <a:ext cx="50800" cy="711200"/>
            </a:xfrm>
            <a:custGeom>
              <a:rect b="b" l="l" r="r" t="t"/>
              <a:pathLst>
                <a:path extrusionOk="0" h="711200" w="508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9" name="Google Shape;1089;p13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0" name="Google Shape;1090;p13"/>
          <p:cNvGrpSpPr/>
          <p:nvPr/>
        </p:nvGrpSpPr>
        <p:grpSpPr>
          <a:xfrm>
            <a:off x="9525000" y="5000625"/>
            <a:ext cx="8001000" cy="561975"/>
            <a:chOff x="0" y="-38100"/>
            <a:chExt cx="10668000" cy="749300"/>
          </a:xfrm>
        </p:grpSpPr>
        <p:sp>
          <p:nvSpPr>
            <p:cNvPr id="1091" name="Google Shape;1091;p13"/>
            <p:cNvSpPr/>
            <p:nvPr/>
          </p:nvSpPr>
          <p:spPr>
            <a:xfrm>
              <a:off x="0" y="0"/>
              <a:ext cx="10668000" cy="711200"/>
            </a:xfrm>
            <a:custGeom>
              <a:rect b="b" l="l" r="r" t="t"/>
              <a:pathLst>
                <a:path extrusionOk="0" h="711200" w="10668000">
                  <a:moveTo>
                    <a:pt x="0" y="0"/>
                  </a:moveTo>
                  <a:lnTo>
                    <a:pt x="10668000" y="0"/>
                  </a:lnTo>
                  <a:lnTo>
                    <a:pt x="10668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2" name="Google Shape;1092;p13"/>
            <p:cNvSpPr txBox="1"/>
            <p:nvPr/>
          </p:nvSpPr>
          <p:spPr>
            <a:xfrm>
              <a:off x="0" y="-38100"/>
              <a:ext cx="106680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3" name="Google Shape;1093;p13"/>
          <p:cNvGrpSpPr/>
          <p:nvPr/>
        </p:nvGrpSpPr>
        <p:grpSpPr>
          <a:xfrm>
            <a:off x="9525000" y="5000625"/>
            <a:ext cx="38100" cy="561975"/>
            <a:chOff x="0" y="-38100"/>
            <a:chExt cx="50800" cy="749300"/>
          </a:xfrm>
        </p:grpSpPr>
        <p:sp>
          <p:nvSpPr>
            <p:cNvPr id="1094" name="Google Shape;1094;p13"/>
            <p:cNvSpPr/>
            <p:nvPr/>
          </p:nvSpPr>
          <p:spPr>
            <a:xfrm>
              <a:off x="0" y="0"/>
              <a:ext cx="50800" cy="711200"/>
            </a:xfrm>
            <a:custGeom>
              <a:rect b="b" l="l" r="r" t="t"/>
              <a:pathLst>
                <a:path extrusionOk="0" h="711200" w="508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5" name="Google Shape;1095;p13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6" name="Google Shape;1096;p13"/>
          <p:cNvGrpSpPr/>
          <p:nvPr/>
        </p:nvGrpSpPr>
        <p:grpSpPr>
          <a:xfrm>
            <a:off x="9525000" y="5534025"/>
            <a:ext cx="38100" cy="561975"/>
            <a:chOff x="0" y="-38100"/>
            <a:chExt cx="50800" cy="749300"/>
          </a:xfrm>
        </p:grpSpPr>
        <p:sp>
          <p:nvSpPr>
            <p:cNvPr id="1097" name="Google Shape;1097;p13"/>
            <p:cNvSpPr/>
            <p:nvPr/>
          </p:nvSpPr>
          <p:spPr>
            <a:xfrm>
              <a:off x="0" y="0"/>
              <a:ext cx="50800" cy="711200"/>
            </a:xfrm>
            <a:custGeom>
              <a:rect b="b" l="l" r="r" t="t"/>
              <a:pathLst>
                <a:path extrusionOk="0" h="711200" w="508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8" name="Google Shape;1098;p13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9" name="Google Shape;1099;p13"/>
          <p:cNvGrpSpPr/>
          <p:nvPr/>
        </p:nvGrpSpPr>
        <p:grpSpPr>
          <a:xfrm>
            <a:off x="9525000" y="6067425"/>
            <a:ext cx="8001000" cy="561975"/>
            <a:chOff x="0" y="-38100"/>
            <a:chExt cx="10668000" cy="749300"/>
          </a:xfrm>
        </p:grpSpPr>
        <p:sp>
          <p:nvSpPr>
            <p:cNvPr id="1100" name="Google Shape;1100;p13"/>
            <p:cNvSpPr/>
            <p:nvPr/>
          </p:nvSpPr>
          <p:spPr>
            <a:xfrm>
              <a:off x="0" y="0"/>
              <a:ext cx="10668000" cy="711200"/>
            </a:xfrm>
            <a:custGeom>
              <a:rect b="b" l="l" r="r" t="t"/>
              <a:pathLst>
                <a:path extrusionOk="0" h="711200" w="10668000">
                  <a:moveTo>
                    <a:pt x="0" y="0"/>
                  </a:moveTo>
                  <a:lnTo>
                    <a:pt x="10668000" y="0"/>
                  </a:lnTo>
                  <a:lnTo>
                    <a:pt x="10668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1" name="Google Shape;1101;p13"/>
            <p:cNvSpPr txBox="1"/>
            <p:nvPr/>
          </p:nvSpPr>
          <p:spPr>
            <a:xfrm>
              <a:off x="0" y="-38100"/>
              <a:ext cx="106680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02" name="Google Shape;1102;p13"/>
          <p:cNvGrpSpPr/>
          <p:nvPr/>
        </p:nvGrpSpPr>
        <p:grpSpPr>
          <a:xfrm>
            <a:off x="9525000" y="6067425"/>
            <a:ext cx="38100" cy="561975"/>
            <a:chOff x="0" y="-38100"/>
            <a:chExt cx="50800" cy="749300"/>
          </a:xfrm>
        </p:grpSpPr>
        <p:sp>
          <p:nvSpPr>
            <p:cNvPr id="1103" name="Google Shape;1103;p13"/>
            <p:cNvSpPr/>
            <p:nvPr/>
          </p:nvSpPr>
          <p:spPr>
            <a:xfrm>
              <a:off x="0" y="0"/>
              <a:ext cx="50800" cy="711200"/>
            </a:xfrm>
            <a:custGeom>
              <a:rect b="b" l="l" r="r" t="t"/>
              <a:pathLst>
                <a:path extrusionOk="0" h="711200" w="508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4" name="Google Shape;1104;p13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05" name="Google Shape;1105;p13"/>
          <p:cNvGrpSpPr/>
          <p:nvPr/>
        </p:nvGrpSpPr>
        <p:grpSpPr>
          <a:xfrm>
            <a:off x="9525000" y="6600825"/>
            <a:ext cx="38100" cy="561975"/>
            <a:chOff x="0" y="-38100"/>
            <a:chExt cx="50800" cy="749300"/>
          </a:xfrm>
        </p:grpSpPr>
        <p:sp>
          <p:nvSpPr>
            <p:cNvPr id="1106" name="Google Shape;1106;p13"/>
            <p:cNvSpPr/>
            <p:nvPr/>
          </p:nvSpPr>
          <p:spPr>
            <a:xfrm>
              <a:off x="0" y="0"/>
              <a:ext cx="50800" cy="711200"/>
            </a:xfrm>
            <a:custGeom>
              <a:rect b="b" l="l" r="r" t="t"/>
              <a:pathLst>
                <a:path extrusionOk="0" h="711200" w="508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7" name="Google Shape;1107;p13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08" name="Google Shape;1108;p13"/>
          <p:cNvSpPr txBox="1"/>
          <p:nvPr/>
        </p:nvSpPr>
        <p:spPr>
          <a:xfrm>
            <a:off x="9715500" y="3581400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CPA-90</a:t>
            </a:r>
            <a:endParaRPr/>
          </a:p>
        </p:txBody>
      </p:sp>
      <p:sp>
        <p:nvSpPr>
          <p:cNvPr id="1109" name="Google Shape;1109;p13"/>
          <p:cNvSpPr txBox="1"/>
          <p:nvPr/>
        </p:nvSpPr>
        <p:spPr>
          <a:xfrm>
            <a:off x="11430000" y="3533775"/>
            <a:ext cx="45720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Verification</a:t>
            </a:r>
            <a:endParaRPr/>
          </a:p>
        </p:txBody>
      </p:sp>
      <p:sp>
        <p:nvSpPr>
          <p:cNvPr id="1110" name="Google Shape;1110;p13"/>
          <p:cNvSpPr txBox="1"/>
          <p:nvPr/>
        </p:nvSpPr>
        <p:spPr>
          <a:xfrm>
            <a:off x="16192500" y="3600450"/>
            <a:ext cx="11430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MUST</a:t>
            </a:r>
            <a:endParaRPr/>
          </a:p>
        </p:txBody>
      </p:sp>
      <p:sp>
        <p:nvSpPr>
          <p:cNvPr id="1111" name="Google Shape;1111;p13"/>
          <p:cNvSpPr txBox="1"/>
          <p:nvPr/>
        </p:nvSpPr>
        <p:spPr>
          <a:xfrm>
            <a:off x="9715500" y="4114800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CPA-91</a:t>
            </a:r>
            <a:endParaRPr/>
          </a:p>
        </p:txBody>
      </p:sp>
      <p:sp>
        <p:nvSpPr>
          <p:cNvPr id="1112" name="Google Shape;1112;p13"/>
          <p:cNvSpPr txBox="1"/>
          <p:nvPr/>
        </p:nvSpPr>
        <p:spPr>
          <a:xfrm>
            <a:off x="11430000" y="4067175"/>
            <a:ext cx="45720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JD authorisation</a:t>
            </a:r>
            <a:endParaRPr/>
          </a:p>
        </p:txBody>
      </p:sp>
      <p:sp>
        <p:nvSpPr>
          <p:cNvPr id="1113" name="Google Shape;1113;p13"/>
          <p:cNvSpPr txBox="1"/>
          <p:nvPr/>
        </p:nvSpPr>
        <p:spPr>
          <a:xfrm>
            <a:off x="16192500" y="4133850"/>
            <a:ext cx="11430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MUST</a:t>
            </a:r>
            <a:endParaRPr/>
          </a:p>
        </p:txBody>
      </p:sp>
      <p:sp>
        <p:nvSpPr>
          <p:cNvPr id="1114" name="Google Shape;1114;p13"/>
          <p:cNvSpPr txBox="1"/>
          <p:nvPr/>
        </p:nvSpPr>
        <p:spPr>
          <a:xfrm>
            <a:off x="9715500" y="4648200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CPA-92</a:t>
            </a:r>
            <a:endParaRPr/>
          </a:p>
        </p:txBody>
      </p:sp>
      <p:sp>
        <p:nvSpPr>
          <p:cNvPr id="1115" name="Google Shape;1115;p13"/>
          <p:cNvSpPr txBox="1"/>
          <p:nvPr/>
        </p:nvSpPr>
        <p:spPr>
          <a:xfrm>
            <a:off x="11430000" y="4600575"/>
            <a:ext cx="45720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Consent</a:t>
            </a:r>
            <a:endParaRPr/>
          </a:p>
        </p:txBody>
      </p:sp>
      <p:sp>
        <p:nvSpPr>
          <p:cNvPr id="1116" name="Google Shape;1116;p13"/>
          <p:cNvSpPr txBox="1"/>
          <p:nvPr/>
        </p:nvSpPr>
        <p:spPr>
          <a:xfrm>
            <a:off x="16192500" y="4667250"/>
            <a:ext cx="11430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MUST</a:t>
            </a:r>
            <a:endParaRPr/>
          </a:p>
        </p:txBody>
      </p:sp>
      <p:sp>
        <p:nvSpPr>
          <p:cNvPr id="1117" name="Google Shape;1117;p13"/>
          <p:cNvSpPr txBox="1"/>
          <p:nvPr/>
        </p:nvSpPr>
        <p:spPr>
          <a:xfrm>
            <a:off x="9715500" y="5181600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CPA-93</a:t>
            </a:r>
            <a:endParaRPr/>
          </a:p>
        </p:txBody>
      </p:sp>
      <p:sp>
        <p:nvSpPr>
          <p:cNvPr id="1118" name="Google Shape;1118;p13"/>
          <p:cNvSpPr txBox="1"/>
          <p:nvPr/>
        </p:nvSpPr>
        <p:spPr>
          <a:xfrm>
            <a:off x="11430000" y="5133975"/>
            <a:ext cx="45720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Availability</a:t>
            </a:r>
            <a:endParaRPr/>
          </a:p>
        </p:txBody>
      </p:sp>
      <p:sp>
        <p:nvSpPr>
          <p:cNvPr id="1119" name="Google Shape;1119;p13"/>
          <p:cNvSpPr txBox="1"/>
          <p:nvPr/>
        </p:nvSpPr>
        <p:spPr>
          <a:xfrm>
            <a:off x="16192500" y="5200650"/>
            <a:ext cx="11430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MUST</a:t>
            </a:r>
            <a:endParaRPr/>
          </a:p>
        </p:txBody>
      </p:sp>
      <p:sp>
        <p:nvSpPr>
          <p:cNvPr id="1120" name="Google Shape;1120;p13"/>
          <p:cNvSpPr txBox="1"/>
          <p:nvPr/>
        </p:nvSpPr>
        <p:spPr>
          <a:xfrm>
            <a:off x="9715500" y="5715000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CPA-94</a:t>
            </a:r>
            <a:endParaRPr/>
          </a:p>
        </p:txBody>
      </p:sp>
      <p:sp>
        <p:nvSpPr>
          <p:cNvPr id="1121" name="Google Shape;1121;p13"/>
          <p:cNvSpPr txBox="1"/>
          <p:nvPr/>
        </p:nvSpPr>
        <p:spPr>
          <a:xfrm>
            <a:off x="11430000" y="5667375"/>
            <a:ext cx="45720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Shortlist</a:t>
            </a:r>
            <a:endParaRPr/>
          </a:p>
        </p:txBody>
      </p:sp>
      <p:sp>
        <p:nvSpPr>
          <p:cNvPr id="1122" name="Google Shape;1122;p13"/>
          <p:cNvSpPr txBox="1"/>
          <p:nvPr/>
        </p:nvSpPr>
        <p:spPr>
          <a:xfrm>
            <a:off x="16192500" y="5734050"/>
            <a:ext cx="11430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MUST</a:t>
            </a:r>
            <a:endParaRPr/>
          </a:p>
        </p:txBody>
      </p:sp>
      <p:sp>
        <p:nvSpPr>
          <p:cNvPr id="1123" name="Google Shape;1123;p13"/>
          <p:cNvSpPr txBox="1"/>
          <p:nvPr/>
        </p:nvSpPr>
        <p:spPr>
          <a:xfrm>
            <a:off x="9715500" y="6248400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CPA-95</a:t>
            </a:r>
            <a:endParaRPr/>
          </a:p>
        </p:txBody>
      </p:sp>
      <p:sp>
        <p:nvSpPr>
          <p:cNvPr id="1124" name="Google Shape;1124;p13"/>
          <p:cNvSpPr txBox="1"/>
          <p:nvPr/>
        </p:nvSpPr>
        <p:spPr>
          <a:xfrm>
            <a:off x="11430000" y="6200775"/>
            <a:ext cx="45720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CV approval</a:t>
            </a:r>
            <a:endParaRPr/>
          </a:p>
        </p:txBody>
      </p:sp>
      <p:sp>
        <p:nvSpPr>
          <p:cNvPr id="1125" name="Google Shape;1125;p13"/>
          <p:cNvSpPr txBox="1"/>
          <p:nvPr/>
        </p:nvSpPr>
        <p:spPr>
          <a:xfrm>
            <a:off x="16192500" y="6267450"/>
            <a:ext cx="11430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MUST</a:t>
            </a:r>
            <a:endParaRPr/>
          </a:p>
        </p:txBody>
      </p:sp>
      <p:sp>
        <p:nvSpPr>
          <p:cNvPr id="1126" name="Google Shape;1126;p13"/>
          <p:cNvSpPr txBox="1"/>
          <p:nvPr/>
        </p:nvSpPr>
        <p:spPr>
          <a:xfrm>
            <a:off x="9715500" y="6781800"/>
            <a:ext cx="152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112" sz="112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CPA-96</a:t>
            </a:r>
            <a:endParaRPr/>
          </a:p>
        </p:txBody>
      </p:sp>
      <p:sp>
        <p:nvSpPr>
          <p:cNvPr id="1127" name="Google Shape;1127;p13"/>
          <p:cNvSpPr txBox="1"/>
          <p:nvPr/>
        </p:nvSpPr>
        <p:spPr>
          <a:xfrm>
            <a:off x="11430000" y="6734175"/>
            <a:ext cx="45720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Outcomes</a:t>
            </a:r>
            <a:endParaRPr/>
          </a:p>
        </p:txBody>
      </p:sp>
      <p:sp>
        <p:nvSpPr>
          <p:cNvPr id="1128" name="Google Shape;1128;p13"/>
          <p:cNvSpPr txBox="1"/>
          <p:nvPr/>
        </p:nvSpPr>
        <p:spPr>
          <a:xfrm>
            <a:off x="16192500" y="6800850"/>
            <a:ext cx="11430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SHOULD</a:t>
            </a:r>
            <a:endParaRPr/>
          </a:p>
        </p:txBody>
      </p:sp>
      <p:sp>
        <p:nvSpPr>
          <p:cNvPr id="1129" name="Google Shape;1129;p13"/>
          <p:cNvSpPr txBox="1"/>
          <p:nvPr/>
        </p:nvSpPr>
        <p:spPr>
          <a:xfrm>
            <a:off x="762000" y="8743950"/>
            <a:ext cx="38100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34" sz="975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DEPENDENCIES</a:t>
            </a:r>
            <a:endParaRPr/>
          </a:p>
        </p:txBody>
      </p:sp>
      <p:sp>
        <p:nvSpPr>
          <p:cNvPr id="1130" name="Google Shape;1130;p13"/>
          <p:cNvSpPr txBox="1"/>
          <p:nvPr/>
        </p:nvSpPr>
        <p:spPr>
          <a:xfrm>
            <a:off x="762000" y="8963025"/>
            <a:ext cx="16764000" cy="2076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96" sz="120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92 → 93  +  90 → 91  converge → 94 → 95 → optional 96      ·      CPA-77 broader employer trust · post-MVP      ·      WSJF provisional, dependencies prioritized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6"/>
        </a:solidFill>
      </p:bgPr>
    </p:bg>
    <p:spTree>
      <p:nvGrpSpPr>
        <p:cNvPr id="1134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areerPilot logo" id="1135" name="Google Shape;113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428150"/>
            <a:ext cx="901087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136" name="Google Shape;1136;p14"/>
          <p:cNvSpPr txBox="1"/>
          <p:nvPr/>
        </p:nvSpPr>
        <p:spPr>
          <a:xfrm>
            <a:off x="3810000" y="397425"/>
            <a:ext cx="9525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52" sz="15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14 · Gates &amp; Risks</a:t>
            </a:r>
            <a:endParaRPr sz="1500"/>
          </a:p>
        </p:txBody>
      </p:sp>
      <p:sp>
        <p:nvSpPr>
          <p:cNvPr id="1137" name="Google Shape;1137;p14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89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14</a:t>
            </a:r>
            <a:endParaRPr/>
          </a:p>
        </p:txBody>
      </p:sp>
      <p:sp>
        <p:nvSpPr>
          <p:cNvPr id="1138" name="Google Shape;1138;p14"/>
          <p:cNvSpPr txBox="1"/>
          <p:nvPr/>
        </p:nvSpPr>
        <p:spPr>
          <a:xfrm>
            <a:off x="762000" y="9734550"/>
            <a:ext cx="114300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June 27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(planned)</a:t>
            </a:r>
            <a:endParaRPr/>
          </a:p>
        </p:txBody>
      </p:sp>
      <p:grpSp>
        <p:nvGrpSpPr>
          <p:cNvPr id="1139" name="Google Shape;1139;p14"/>
          <p:cNvGrpSpPr/>
          <p:nvPr/>
        </p:nvGrpSpPr>
        <p:grpSpPr>
          <a:xfrm>
            <a:off x="762000" y="733425"/>
            <a:ext cx="16764000" cy="38100"/>
            <a:chOff x="0" y="-38100"/>
            <a:chExt cx="22352000" cy="50800"/>
          </a:xfrm>
        </p:grpSpPr>
        <p:sp>
          <p:nvSpPr>
            <p:cNvPr id="1140" name="Google Shape;1140;p14"/>
            <p:cNvSpPr/>
            <p:nvPr/>
          </p:nvSpPr>
          <p:spPr>
            <a:xfrm>
              <a:off x="0" y="0"/>
              <a:ext cx="22352000" cy="12700"/>
            </a:xfrm>
            <a:custGeom>
              <a:rect b="b" l="l" r="r" t="t"/>
              <a:pathLst>
                <a:path extrusionOk="0" h="127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1" name="Google Shape;1141;p14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2" name="Google Shape;1142;p14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43" sz="13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APPENDIX</a:t>
            </a:r>
            <a:endParaRPr/>
          </a:p>
        </p:txBody>
      </p:sp>
      <p:sp>
        <p:nvSpPr>
          <p:cNvPr id="1143" name="Google Shape;1143;p14"/>
          <p:cNvSpPr txBox="1"/>
          <p:nvPr/>
        </p:nvSpPr>
        <p:spPr>
          <a:xfrm>
            <a:off x="762000" y="1685925"/>
            <a:ext cx="16192500" cy="6829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65" sz="4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Gates and risks.</a:t>
            </a:r>
            <a:endParaRPr/>
          </a:p>
        </p:txBody>
      </p:sp>
      <p:grpSp>
        <p:nvGrpSpPr>
          <p:cNvPr id="1144" name="Google Shape;1144;p14"/>
          <p:cNvGrpSpPr/>
          <p:nvPr/>
        </p:nvGrpSpPr>
        <p:grpSpPr>
          <a:xfrm>
            <a:off x="762000" y="3400425"/>
            <a:ext cx="8191500" cy="714375"/>
            <a:chOff x="0" y="-38100"/>
            <a:chExt cx="10922000" cy="952500"/>
          </a:xfrm>
        </p:grpSpPr>
        <p:sp>
          <p:nvSpPr>
            <p:cNvPr id="1145" name="Google Shape;1145;p14"/>
            <p:cNvSpPr/>
            <p:nvPr/>
          </p:nvSpPr>
          <p:spPr>
            <a:xfrm>
              <a:off x="0" y="0"/>
              <a:ext cx="10922000" cy="914400"/>
            </a:xfrm>
            <a:custGeom>
              <a:rect b="b" l="l" r="r" t="t"/>
              <a:pathLst>
                <a:path extrusionOk="0" h="914400" w="10922000">
                  <a:moveTo>
                    <a:pt x="0" y="0"/>
                  </a:moveTo>
                  <a:lnTo>
                    <a:pt x="10922000" y="0"/>
                  </a:lnTo>
                  <a:lnTo>
                    <a:pt x="1092200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6" name="Google Shape;1146;p14"/>
            <p:cNvSpPr txBox="1"/>
            <p:nvPr/>
          </p:nvSpPr>
          <p:spPr>
            <a:xfrm>
              <a:off x="0" y="-38100"/>
              <a:ext cx="10922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7" name="Google Shape;1147;p14"/>
          <p:cNvGrpSpPr/>
          <p:nvPr/>
        </p:nvGrpSpPr>
        <p:grpSpPr>
          <a:xfrm>
            <a:off x="952500" y="3552825"/>
            <a:ext cx="381000" cy="409575"/>
            <a:chOff x="0" y="-38100"/>
            <a:chExt cx="508000" cy="546100"/>
          </a:xfrm>
        </p:grpSpPr>
        <p:sp>
          <p:nvSpPr>
            <p:cNvPr id="1148" name="Google Shape;1148;p14"/>
            <p:cNvSpPr/>
            <p:nvPr/>
          </p:nvSpPr>
          <p:spPr>
            <a:xfrm>
              <a:off x="0" y="0"/>
              <a:ext cx="508000" cy="508000"/>
            </a:xfrm>
            <a:custGeom>
              <a:rect b="b" l="l" r="r" t="t"/>
              <a:pathLst>
                <a:path extrusionOk="0" h="508000" w="508000">
                  <a:moveTo>
                    <a:pt x="254000" y="0"/>
                  </a:moveTo>
                  <a:cubicBezTo>
                    <a:pt x="394280" y="0"/>
                    <a:pt x="508000" y="113720"/>
                    <a:pt x="508000" y="254000"/>
                  </a:cubicBezTo>
                  <a:cubicBezTo>
                    <a:pt x="508000" y="394280"/>
                    <a:pt x="394280" y="508000"/>
                    <a:pt x="254000" y="508000"/>
                  </a:cubicBezTo>
                  <a:cubicBezTo>
                    <a:pt x="113720" y="508000"/>
                    <a:pt x="0" y="394280"/>
                    <a:pt x="0" y="254000"/>
                  </a:cubicBez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9" name="Google Shape;1149;p14"/>
            <p:cNvSpPr txBox="1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50" name="Google Shape;1150;p14"/>
          <p:cNvGrpSpPr/>
          <p:nvPr/>
        </p:nvGrpSpPr>
        <p:grpSpPr>
          <a:xfrm>
            <a:off x="762000" y="4219575"/>
            <a:ext cx="8191500" cy="714375"/>
            <a:chOff x="0" y="-38100"/>
            <a:chExt cx="10922000" cy="952500"/>
          </a:xfrm>
        </p:grpSpPr>
        <p:sp>
          <p:nvSpPr>
            <p:cNvPr id="1151" name="Google Shape;1151;p14"/>
            <p:cNvSpPr/>
            <p:nvPr/>
          </p:nvSpPr>
          <p:spPr>
            <a:xfrm>
              <a:off x="0" y="0"/>
              <a:ext cx="10922000" cy="914400"/>
            </a:xfrm>
            <a:custGeom>
              <a:rect b="b" l="l" r="r" t="t"/>
              <a:pathLst>
                <a:path extrusionOk="0" h="914400" w="10922000">
                  <a:moveTo>
                    <a:pt x="0" y="0"/>
                  </a:moveTo>
                  <a:lnTo>
                    <a:pt x="10922000" y="0"/>
                  </a:lnTo>
                  <a:lnTo>
                    <a:pt x="1092200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2" name="Google Shape;1152;p14"/>
            <p:cNvSpPr txBox="1"/>
            <p:nvPr/>
          </p:nvSpPr>
          <p:spPr>
            <a:xfrm>
              <a:off x="0" y="-38100"/>
              <a:ext cx="10922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53" name="Google Shape;1153;p14"/>
          <p:cNvGrpSpPr/>
          <p:nvPr/>
        </p:nvGrpSpPr>
        <p:grpSpPr>
          <a:xfrm>
            <a:off x="952500" y="4371975"/>
            <a:ext cx="381000" cy="409575"/>
            <a:chOff x="0" y="-38100"/>
            <a:chExt cx="508000" cy="546100"/>
          </a:xfrm>
        </p:grpSpPr>
        <p:sp>
          <p:nvSpPr>
            <p:cNvPr id="1154" name="Google Shape;1154;p14"/>
            <p:cNvSpPr/>
            <p:nvPr/>
          </p:nvSpPr>
          <p:spPr>
            <a:xfrm>
              <a:off x="0" y="0"/>
              <a:ext cx="508000" cy="508000"/>
            </a:xfrm>
            <a:custGeom>
              <a:rect b="b" l="l" r="r" t="t"/>
              <a:pathLst>
                <a:path extrusionOk="0" h="508000" w="508000">
                  <a:moveTo>
                    <a:pt x="254000" y="0"/>
                  </a:moveTo>
                  <a:cubicBezTo>
                    <a:pt x="394280" y="0"/>
                    <a:pt x="508000" y="113720"/>
                    <a:pt x="508000" y="254000"/>
                  </a:cubicBezTo>
                  <a:cubicBezTo>
                    <a:pt x="508000" y="394280"/>
                    <a:pt x="394280" y="508000"/>
                    <a:pt x="254000" y="508000"/>
                  </a:cubicBezTo>
                  <a:cubicBezTo>
                    <a:pt x="113720" y="508000"/>
                    <a:pt x="0" y="394280"/>
                    <a:pt x="0" y="254000"/>
                  </a:cubicBez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5" name="Google Shape;1155;p14"/>
            <p:cNvSpPr txBox="1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56" name="Google Shape;1156;p14"/>
          <p:cNvGrpSpPr/>
          <p:nvPr/>
        </p:nvGrpSpPr>
        <p:grpSpPr>
          <a:xfrm>
            <a:off x="762000" y="5038725"/>
            <a:ext cx="8191500" cy="714375"/>
            <a:chOff x="0" y="-38100"/>
            <a:chExt cx="10922000" cy="952500"/>
          </a:xfrm>
        </p:grpSpPr>
        <p:sp>
          <p:nvSpPr>
            <p:cNvPr id="1157" name="Google Shape;1157;p14"/>
            <p:cNvSpPr/>
            <p:nvPr/>
          </p:nvSpPr>
          <p:spPr>
            <a:xfrm>
              <a:off x="0" y="0"/>
              <a:ext cx="10922000" cy="914400"/>
            </a:xfrm>
            <a:custGeom>
              <a:rect b="b" l="l" r="r" t="t"/>
              <a:pathLst>
                <a:path extrusionOk="0" h="914400" w="10922000">
                  <a:moveTo>
                    <a:pt x="0" y="0"/>
                  </a:moveTo>
                  <a:lnTo>
                    <a:pt x="10922000" y="0"/>
                  </a:lnTo>
                  <a:lnTo>
                    <a:pt x="1092200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8" name="Google Shape;1158;p14"/>
            <p:cNvSpPr txBox="1"/>
            <p:nvPr/>
          </p:nvSpPr>
          <p:spPr>
            <a:xfrm>
              <a:off x="0" y="-38100"/>
              <a:ext cx="10922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59" name="Google Shape;1159;p14"/>
          <p:cNvGrpSpPr/>
          <p:nvPr/>
        </p:nvGrpSpPr>
        <p:grpSpPr>
          <a:xfrm>
            <a:off x="952500" y="5191125"/>
            <a:ext cx="381000" cy="409575"/>
            <a:chOff x="0" y="-38100"/>
            <a:chExt cx="508000" cy="546100"/>
          </a:xfrm>
        </p:grpSpPr>
        <p:sp>
          <p:nvSpPr>
            <p:cNvPr id="1160" name="Google Shape;1160;p14"/>
            <p:cNvSpPr/>
            <p:nvPr/>
          </p:nvSpPr>
          <p:spPr>
            <a:xfrm>
              <a:off x="0" y="0"/>
              <a:ext cx="508000" cy="508000"/>
            </a:xfrm>
            <a:custGeom>
              <a:rect b="b" l="l" r="r" t="t"/>
              <a:pathLst>
                <a:path extrusionOk="0" h="508000" w="508000">
                  <a:moveTo>
                    <a:pt x="254000" y="0"/>
                  </a:moveTo>
                  <a:cubicBezTo>
                    <a:pt x="394280" y="0"/>
                    <a:pt x="508000" y="113720"/>
                    <a:pt x="508000" y="254000"/>
                  </a:cubicBezTo>
                  <a:cubicBezTo>
                    <a:pt x="508000" y="394280"/>
                    <a:pt x="394280" y="508000"/>
                    <a:pt x="254000" y="508000"/>
                  </a:cubicBezTo>
                  <a:cubicBezTo>
                    <a:pt x="113720" y="508000"/>
                    <a:pt x="0" y="394280"/>
                    <a:pt x="0" y="254000"/>
                  </a:cubicBez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1" name="Google Shape;1161;p14"/>
            <p:cNvSpPr txBox="1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62" name="Google Shape;1162;p14"/>
          <p:cNvGrpSpPr/>
          <p:nvPr/>
        </p:nvGrpSpPr>
        <p:grpSpPr>
          <a:xfrm>
            <a:off x="762000" y="5857875"/>
            <a:ext cx="8191500" cy="714375"/>
            <a:chOff x="0" y="-38100"/>
            <a:chExt cx="10922000" cy="952500"/>
          </a:xfrm>
        </p:grpSpPr>
        <p:sp>
          <p:nvSpPr>
            <p:cNvPr id="1163" name="Google Shape;1163;p14"/>
            <p:cNvSpPr/>
            <p:nvPr/>
          </p:nvSpPr>
          <p:spPr>
            <a:xfrm>
              <a:off x="0" y="0"/>
              <a:ext cx="10922000" cy="914400"/>
            </a:xfrm>
            <a:custGeom>
              <a:rect b="b" l="l" r="r" t="t"/>
              <a:pathLst>
                <a:path extrusionOk="0" h="914400" w="10922000">
                  <a:moveTo>
                    <a:pt x="0" y="0"/>
                  </a:moveTo>
                  <a:lnTo>
                    <a:pt x="10922000" y="0"/>
                  </a:lnTo>
                  <a:lnTo>
                    <a:pt x="1092200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4" name="Google Shape;1164;p14"/>
            <p:cNvSpPr txBox="1"/>
            <p:nvPr/>
          </p:nvSpPr>
          <p:spPr>
            <a:xfrm>
              <a:off x="0" y="-38100"/>
              <a:ext cx="10922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65" name="Google Shape;1165;p14"/>
          <p:cNvGrpSpPr/>
          <p:nvPr/>
        </p:nvGrpSpPr>
        <p:grpSpPr>
          <a:xfrm>
            <a:off x="952500" y="6010275"/>
            <a:ext cx="381000" cy="409575"/>
            <a:chOff x="0" y="-38100"/>
            <a:chExt cx="508000" cy="546100"/>
          </a:xfrm>
        </p:grpSpPr>
        <p:sp>
          <p:nvSpPr>
            <p:cNvPr id="1166" name="Google Shape;1166;p14"/>
            <p:cNvSpPr/>
            <p:nvPr/>
          </p:nvSpPr>
          <p:spPr>
            <a:xfrm>
              <a:off x="0" y="0"/>
              <a:ext cx="508000" cy="508000"/>
            </a:xfrm>
            <a:custGeom>
              <a:rect b="b" l="l" r="r" t="t"/>
              <a:pathLst>
                <a:path extrusionOk="0" h="508000" w="508000">
                  <a:moveTo>
                    <a:pt x="254000" y="0"/>
                  </a:moveTo>
                  <a:cubicBezTo>
                    <a:pt x="394280" y="0"/>
                    <a:pt x="508000" y="113720"/>
                    <a:pt x="508000" y="254000"/>
                  </a:cubicBezTo>
                  <a:cubicBezTo>
                    <a:pt x="508000" y="394280"/>
                    <a:pt x="394280" y="508000"/>
                    <a:pt x="254000" y="508000"/>
                  </a:cubicBezTo>
                  <a:cubicBezTo>
                    <a:pt x="113720" y="508000"/>
                    <a:pt x="0" y="394280"/>
                    <a:pt x="0" y="254000"/>
                  </a:cubicBez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7" name="Google Shape;1167;p14"/>
            <p:cNvSpPr txBox="1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68" name="Google Shape;1168;p14"/>
          <p:cNvGrpSpPr/>
          <p:nvPr/>
        </p:nvGrpSpPr>
        <p:grpSpPr>
          <a:xfrm>
            <a:off x="762000" y="6677025"/>
            <a:ext cx="8191500" cy="714375"/>
            <a:chOff x="0" y="-38100"/>
            <a:chExt cx="10922000" cy="952500"/>
          </a:xfrm>
        </p:grpSpPr>
        <p:sp>
          <p:nvSpPr>
            <p:cNvPr id="1169" name="Google Shape;1169;p14"/>
            <p:cNvSpPr/>
            <p:nvPr/>
          </p:nvSpPr>
          <p:spPr>
            <a:xfrm>
              <a:off x="0" y="0"/>
              <a:ext cx="10922000" cy="914400"/>
            </a:xfrm>
            <a:custGeom>
              <a:rect b="b" l="l" r="r" t="t"/>
              <a:pathLst>
                <a:path extrusionOk="0" h="914400" w="10922000">
                  <a:moveTo>
                    <a:pt x="0" y="0"/>
                  </a:moveTo>
                  <a:lnTo>
                    <a:pt x="10922000" y="0"/>
                  </a:lnTo>
                  <a:lnTo>
                    <a:pt x="1092200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0" name="Google Shape;1170;p14"/>
            <p:cNvSpPr txBox="1"/>
            <p:nvPr/>
          </p:nvSpPr>
          <p:spPr>
            <a:xfrm>
              <a:off x="0" y="-38100"/>
              <a:ext cx="10922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71" name="Google Shape;1171;p14"/>
          <p:cNvGrpSpPr/>
          <p:nvPr/>
        </p:nvGrpSpPr>
        <p:grpSpPr>
          <a:xfrm>
            <a:off x="952500" y="6829425"/>
            <a:ext cx="381000" cy="409575"/>
            <a:chOff x="0" y="-38100"/>
            <a:chExt cx="508000" cy="546100"/>
          </a:xfrm>
        </p:grpSpPr>
        <p:sp>
          <p:nvSpPr>
            <p:cNvPr id="1172" name="Google Shape;1172;p14"/>
            <p:cNvSpPr/>
            <p:nvPr/>
          </p:nvSpPr>
          <p:spPr>
            <a:xfrm>
              <a:off x="0" y="0"/>
              <a:ext cx="508000" cy="508000"/>
            </a:xfrm>
            <a:custGeom>
              <a:rect b="b" l="l" r="r" t="t"/>
              <a:pathLst>
                <a:path extrusionOk="0" h="508000" w="508000">
                  <a:moveTo>
                    <a:pt x="254000" y="0"/>
                  </a:moveTo>
                  <a:cubicBezTo>
                    <a:pt x="394280" y="0"/>
                    <a:pt x="508000" y="113720"/>
                    <a:pt x="508000" y="254000"/>
                  </a:cubicBezTo>
                  <a:cubicBezTo>
                    <a:pt x="508000" y="394280"/>
                    <a:pt x="394280" y="508000"/>
                    <a:pt x="254000" y="508000"/>
                  </a:cubicBezTo>
                  <a:cubicBezTo>
                    <a:pt x="113720" y="508000"/>
                    <a:pt x="0" y="394280"/>
                    <a:pt x="0" y="254000"/>
                  </a:cubicBez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3" name="Google Shape;1173;p14"/>
            <p:cNvSpPr txBox="1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74" name="Google Shape;1174;p14"/>
          <p:cNvGrpSpPr/>
          <p:nvPr/>
        </p:nvGrpSpPr>
        <p:grpSpPr>
          <a:xfrm>
            <a:off x="762000" y="7496175"/>
            <a:ext cx="8191500" cy="714375"/>
            <a:chOff x="0" y="-38100"/>
            <a:chExt cx="10922000" cy="952500"/>
          </a:xfrm>
        </p:grpSpPr>
        <p:sp>
          <p:nvSpPr>
            <p:cNvPr id="1175" name="Google Shape;1175;p14"/>
            <p:cNvSpPr/>
            <p:nvPr/>
          </p:nvSpPr>
          <p:spPr>
            <a:xfrm>
              <a:off x="0" y="0"/>
              <a:ext cx="10922000" cy="914400"/>
            </a:xfrm>
            <a:custGeom>
              <a:rect b="b" l="l" r="r" t="t"/>
              <a:pathLst>
                <a:path extrusionOk="0" h="914400" w="10922000">
                  <a:moveTo>
                    <a:pt x="0" y="0"/>
                  </a:moveTo>
                  <a:lnTo>
                    <a:pt x="10922000" y="0"/>
                  </a:lnTo>
                  <a:lnTo>
                    <a:pt x="1092200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FDE4DC"/>
            </a:solidFill>
            <a:ln cap="sq" cmpd="sng" w="9525">
              <a:solidFill>
                <a:srgbClr val="F2542D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6" name="Google Shape;1176;p14"/>
            <p:cNvSpPr txBox="1"/>
            <p:nvPr/>
          </p:nvSpPr>
          <p:spPr>
            <a:xfrm>
              <a:off x="0" y="-38100"/>
              <a:ext cx="10922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77" name="Google Shape;1177;p14"/>
          <p:cNvGrpSpPr/>
          <p:nvPr/>
        </p:nvGrpSpPr>
        <p:grpSpPr>
          <a:xfrm>
            <a:off x="952500" y="7648575"/>
            <a:ext cx="381000" cy="409575"/>
            <a:chOff x="0" y="-38100"/>
            <a:chExt cx="508000" cy="546100"/>
          </a:xfrm>
        </p:grpSpPr>
        <p:sp>
          <p:nvSpPr>
            <p:cNvPr id="1178" name="Google Shape;1178;p14"/>
            <p:cNvSpPr/>
            <p:nvPr/>
          </p:nvSpPr>
          <p:spPr>
            <a:xfrm>
              <a:off x="0" y="0"/>
              <a:ext cx="508000" cy="508000"/>
            </a:xfrm>
            <a:custGeom>
              <a:rect b="b" l="l" r="r" t="t"/>
              <a:pathLst>
                <a:path extrusionOk="0" h="508000" w="508000">
                  <a:moveTo>
                    <a:pt x="254000" y="0"/>
                  </a:moveTo>
                  <a:cubicBezTo>
                    <a:pt x="394280" y="0"/>
                    <a:pt x="508000" y="113720"/>
                    <a:pt x="508000" y="254000"/>
                  </a:cubicBezTo>
                  <a:cubicBezTo>
                    <a:pt x="508000" y="394280"/>
                    <a:pt x="394280" y="508000"/>
                    <a:pt x="254000" y="508000"/>
                  </a:cubicBezTo>
                  <a:cubicBezTo>
                    <a:pt x="113720" y="508000"/>
                    <a:pt x="0" y="394280"/>
                    <a:pt x="0" y="254000"/>
                  </a:cubicBez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9" name="Google Shape;1179;p14"/>
            <p:cNvSpPr txBox="1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80" name="Google Shape;1180;p14"/>
          <p:cNvSpPr txBox="1"/>
          <p:nvPr/>
        </p:nvSpPr>
        <p:spPr>
          <a:xfrm>
            <a:off x="762000" y="3028950"/>
            <a:ext cx="3810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52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GATES &amp; DATES</a:t>
            </a:r>
            <a:endParaRPr/>
          </a:p>
        </p:txBody>
      </p:sp>
      <p:sp>
        <p:nvSpPr>
          <p:cNvPr id="1181" name="Google Shape;1181;p14"/>
          <p:cNvSpPr txBox="1"/>
          <p:nvPr/>
        </p:nvSpPr>
        <p:spPr>
          <a:xfrm>
            <a:off x="1524000" y="3495675"/>
            <a:ext cx="3810000" cy="310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27 Nov 2026</a:t>
            </a:r>
            <a:endParaRPr/>
          </a:p>
        </p:txBody>
      </p:sp>
      <p:sp>
        <p:nvSpPr>
          <p:cNvPr id="1182" name="Google Shape;1182;p14"/>
          <p:cNvSpPr txBox="1"/>
          <p:nvPr/>
        </p:nvSpPr>
        <p:spPr>
          <a:xfrm>
            <a:off x="1524000" y="3829050"/>
            <a:ext cx="5715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Research</a:t>
            </a:r>
            <a:endParaRPr/>
          </a:p>
        </p:txBody>
      </p:sp>
      <p:sp>
        <p:nvSpPr>
          <p:cNvPr id="1183" name="Google Shape;1183;p14"/>
          <p:cNvSpPr txBox="1"/>
          <p:nvPr/>
        </p:nvSpPr>
        <p:spPr>
          <a:xfrm>
            <a:off x="1524000" y="4314825"/>
            <a:ext cx="3810000" cy="310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8 Jan 2027</a:t>
            </a:r>
            <a:endParaRPr/>
          </a:p>
        </p:txBody>
      </p:sp>
      <p:sp>
        <p:nvSpPr>
          <p:cNvPr id="1184" name="Google Shape;1184;p14"/>
          <p:cNvSpPr txBox="1"/>
          <p:nvPr/>
        </p:nvSpPr>
        <p:spPr>
          <a:xfrm>
            <a:off x="1524000" y="4648200"/>
            <a:ext cx="5715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Design · capacity · legal</a:t>
            </a:r>
            <a:endParaRPr/>
          </a:p>
        </p:txBody>
      </p:sp>
      <p:sp>
        <p:nvSpPr>
          <p:cNvPr id="1185" name="Google Shape;1185;p14"/>
          <p:cNvSpPr txBox="1"/>
          <p:nvPr/>
        </p:nvSpPr>
        <p:spPr>
          <a:xfrm>
            <a:off x="1524000" y="5133975"/>
            <a:ext cx="3810000" cy="310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2 Apr 2027</a:t>
            </a:r>
            <a:endParaRPr/>
          </a:p>
        </p:txBody>
      </p:sp>
      <p:sp>
        <p:nvSpPr>
          <p:cNvPr id="1186" name="Google Shape;1186;p14"/>
          <p:cNvSpPr txBox="1"/>
          <p:nvPr/>
        </p:nvSpPr>
        <p:spPr>
          <a:xfrm>
            <a:off x="1524000" y="5467350"/>
            <a:ext cx="5715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Alpha</a:t>
            </a:r>
            <a:endParaRPr/>
          </a:p>
        </p:txBody>
      </p:sp>
      <p:sp>
        <p:nvSpPr>
          <p:cNvPr id="1187" name="Google Shape;1187;p14"/>
          <p:cNvSpPr txBox="1"/>
          <p:nvPr/>
        </p:nvSpPr>
        <p:spPr>
          <a:xfrm>
            <a:off x="1524000" y="5953125"/>
            <a:ext cx="3810000" cy="310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30 Apr 2027</a:t>
            </a:r>
            <a:endParaRPr/>
          </a:p>
        </p:txBody>
      </p:sp>
      <p:sp>
        <p:nvSpPr>
          <p:cNvPr id="1188" name="Google Shape;1188;p14"/>
          <p:cNvSpPr txBox="1"/>
          <p:nvPr/>
        </p:nvSpPr>
        <p:spPr>
          <a:xfrm>
            <a:off x="1524000" y="6286500"/>
            <a:ext cx="5715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Must gate</a:t>
            </a:r>
            <a:endParaRPr/>
          </a:p>
        </p:txBody>
      </p:sp>
      <p:sp>
        <p:nvSpPr>
          <p:cNvPr id="1189" name="Google Shape;1189;p14"/>
          <p:cNvSpPr txBox="1"/>
          <p:nvPr/>
        </p:nvSpPr>
        <p:spPr>
          <a:xfrm>
            <a:off x="1524000" y="6772275"/>
            <a:ext cx="3810000" cy="310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28 May 2027</a:t>
            </a:r>
            <a:endParaRPr/>
          </a:p>
        </p:txBody>
      </p:sp>
      <p:sp>
        <p:nvSpPr>
          <p:cNvPr id="1190" name="Google Shape;1190;p14"/>
          <p:cNvSpPr txBox="1"/>
          <p:nvPr/>
        </p:nvSpPr>
        <p:spPr>
          <a:xfrm>
            <a:off x="1524000" y="7105650"/>
            <a:ext cx="5715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Beta gate</a:t>
            </a:r>
            <a:endParaRPr/>
          </a:p>
        </p:txBody>
      </p:sp>
      <p:sp>
        <p:nvSpPr>
          <p:cNvPr id="1191" name="Google Shape;1191;p14"/>
          <p:cNvSpPr txBox="1"/>
          <p:nvPr/>
        </p:nvSpPr>
        <p:spPr>
          <a:xfrm>
            <a:off x="1524000" y="7591425"/>
            <a:ext cx="3810000" cy="310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14 Jun 2027</a:t>
            </a:r>
            <a:endParaRPr/>
          </a:p>
        </p:txBody>
      </p:sp>
      <p:sp>
        <p:nvSpPr>
          <p:cNvPr id="1192" name="Google Shape;1192;p14"/>
          <p:cNvSpPr txBox="1"/>
          <p:nvPr/>
        </p:nvSpPr>
        <p:spPr>
          <a:xfrm>
            <a:off x="1524000" y="7924800"/>
            <a:ext cx="5715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Target launch</a:t>
            </a:r>
            <a:endParaRPr/>
          </a:p>
        </p:txBody>
      </p:sp>
      <p:grpSp>
        <p:nvGrpSpPr>
          <p:cNvPr id="1193" name="Google Shape;1193;p14"/>
          <p:cNvGrpSpPr/>
          <p:nvPr/>
        </p:nvGrpSpPr>
        <p:grpSpPr>
          <a:xfrm>
            <a:off x="9525000" y="3400425"/>
            <a:ext cx="8001000" cy="828675"/>
            <a:chOff x="0" y="-38100"/>
            <a:chExt cx="10668000" cy="1104900"/>
          </a:xfrm>
        </p:grpSpPr>
        <p:sp>
          <p:nvSpPr>
            <p:cNvPr id="1194" name="Google Shape;1194;p14"/>
            <p:cNvSpPr/>
            <p:nvPr/>
          </p:nvSpPr>
          <p:spPr>
            <a:xfrm>
              <a:off x="0" y="0"/>
              <a:ext cx="10668000" cy="1066800"/>
            </a:xfrm>
            <a:custGeom>
              <a:rect b="b" l="l" r="r" t="t"/>
              <a:pathLst>
                <a:path extrusionOk="0" h="1066800" w="10668000">
                  <a:moveTo>
                    <a:pt x="0" y="0"/>
                  </a:moveTo>
                  <a:lnTo>
                    <a:pt x="10668000" y="0"/>
                  </a:lnTo>
                  <a:lnTo>
                    <a:pt x="106680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5" name="Google Shape;1195;p14"/>
            <p:cNvSpPr txBox="1"/>
            <p:nvPr/>
          </p:nvSpPr>
          <p:spPr>
            <a:xfrm>
              <a:off x="0" y="-38100"/>
              <a:ext cx="106680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96" name="Google Shape;1196;p14"/>
          <p:cNvGrpSpPr/>
          <p:nvPr/>
        </p:nvGrpSpPr>
        <p:grpSpPr>
          <a:xfrm>
            <a:off x="9525000" y="3400425"/>
            <a:ext cx="38100" cy="828675"/>
            <a:chOff x="0" y="-38100"/>
            <a:chExt cx="50800" cy="1104900"/>
          </a:xfrm>
        </p:grpSpPr>
        <p:sp>
          <p:nvSpPr>
            <p:cNvPr id="1197" name="Google Shape;1197;p14"/>
            <p:cNvSpPr/>
            <p:nvPr/>
          </p:nvSpPr>
          <p:spPr>
            <a:xfrm>
              <a:off x="0" y="0"/>
              <a:ext cx="50800" cy="1066800"/>
            </a:xfrm>
            <a:custGeom>
              <a:rect b="b" l="l" r="r" t="t"/>
              <a:pathLst>
                <a:path extrusionOk="0" h="1066800" w="50800">
                  <a:moveTo>
                    <a:pt x="0" y="0"/>
                  </a:moveTo>
                  <a:lnTo>
                    <a:pt x="50800" y="0"/>
                  </a:lnTo>
                  <a:lnTo>
                    <a:pt x="508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8" name="Google Shape;1198;p14"/>
            <p:cNvSpPr txBox="1"/>
            <p:nvPr/>
          </p:nvSpPr>
          <p:spPr>
            <a:xfrm>
              <a:off x="0" y="-38100"/>
              <a:ext cx="508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99" name="Google Shape;1199;p14"/>
          <p:cNvGrpSpPr/>
          <p:nvPr/>
        </p:nvGrpSpPr>
        <p:grpSpPr>
          <a:xfrm>
            <a:off x="9525000" y="4352925"/>
            <a:ext cx="8001000" cy="828675"/>
            <a:chOff x="0" y="-38100"/>
            <a:chExt cx="10668000" cy="1104900"/>
          </a:xfrm>
        </p:grpSpPr>
        <p:sp>
          <p:nvSpPr>
            <p:cNvPr id="1200" name="Google Shape;1200;p14"/>
            <p:cNvSpPr/>
            <p:nvPr/>
          </p:nvSpPr>
          <p:spPr>
            <a:xfrm>
              <a:off x="0" y="0"/>
              <a:ext cx="10668000" cy="1066800"/>
            </a:xfrm>
            <a:custGeom>
              <a:rect b="b" l="l" r="r" t="t"/>
              <a:pathLst>
                <a:path extrusionOk="0" h="1066800" w="10668000">
                  <a:moveTo>
                    <a:pt x="0" y="0"/>
                  </a:moveTo>
                  <a:lnTo>
                    <a:pt x="10668000" y="0"/>
                  </a:lnTo>
                  <a:lnTo>
                    <a:pt x="106680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1" name="Google Shape;1201;p14"/>
            <p:cNvSpPr txBox="1"/>
            <p:nvPr/>
          </p:nvSpPr>
          <p:spPr>
            <a:xfrm>
              <a:off x="0" y="-38100"/>
              <a:ext cx="106680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02" name="Google Shape;1202;p14"/>
          <p:cNvGrpSpPr/>
          <p:nvPr/>
        </p:nvGrpSpPr>
        <p:grpSpPr>
          <a:xfrm>
            <a:off x="9525000" y="4352925"/>
            <a:ext cx="38100" cy="828675"/>
            <a:chOff x="0" y="-38100"/>
            <a:chExt cx="50800" cy="1104900"/>
          </a:xfrm>
        </p:grpSpPr>
        <p:sp>
          <p:nvSpPr>
            <p:cNvPr id="1203" name="Google Shape;1203;p14"/>
            <p:cNvSpPr/>
            <p:nvPr/>
          </p:nvSpPr>
          <p:spPr>
            <a:xfrm>
              <a:off x="0" y="0"/>
              <a:ext cx="50800" cy="1066800"/>
            </a:xfrm>
            <a:custGeom>
              <a:rect b="b" l="l" r="r" t="t"/>
              <a:pathLst>
                <a:path extrusionOk="0" h="1066800" w="50800">
                  <a:moveTo>
                    <a:pt x="0" y="0"/>
                  </a:moveTo>
                  <a:lnTo>
                    <a:pt x="50800" y="0"/>
                  </a:lnTo>
                  <a:lnTo>
                    <a:pt x="508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4" name="Google Shape;1204;p14"/>
            <p:cNvSpPr txBox="1"/>
            <p:nvPr/>
          </p:nvSpPr>
          <p:spPr>
            <a:xfrm>
              <a:off x="0" y="-38100"/>
              <a:ext cx="508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05" name="Google Shape;1205;p14"/>
          <p:cNvGrpSpPr/>
          <p:nvPr/>
        </p:nvGrpSpPr>
        <p:grpSpPr>
          <a:xfrm>
            <a:off x="9525000" y="5305425"/>
            <a:ext cx="8001000" cy="828675"/>
            <a:chOff x="0" y="-38100"/>
            <a:chExt cx="10668000" cy="1104900"/>
          </a:xfrm>
        </p:grpSpPr>
        <p:sp>
          <p:nvSpPr>
            <p:cNvPr id="1206" name="Google Shape;1206;p14"/>
            <p:cNvSpPr/>
            <p:nvPr/>
          </p:nvSpPr>
          <p:spPr>
            <a:xfrm>
              <a:off x="0" y="0"/>
              <a:ext cx="10668000" cy="1066800"/>
            </a:xfrm>
            <a:custGeom>
              <a:rect b="b" l="l" r="r" t="t"/>
              <a:pathLst>
                <a:path extrusionOk="0" h="1066800" w="10668000">
                  <a:moveTo>
                    <a:pt x="0" y="0"/>
                  </a:moveTo>
                  <a:lnTo>
                    <a:pt x="10668000" y="0"/>
                  </a:lnTo>
                  <a:lnTo>
                    <a:pt x="106680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7" name="Google Shape;1207;p14"/>
            <p:cNvSpPr txBox="1"/>
            <p:nvPr/>
          </p:nvSpPr>
          <p:spPr>
            <a:xfrm>
              <a:off x="0" y="-38100"/>
              <a:ext cx="106680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08" name="Google Shape;1208;p14"/>
          <p:cNvGrpSpPr/>
          <p:nvPr/>
        </p:nvGrpSpPr>
        <p:grpSpPr>
          <a:xfrm>
            <a:off x="9525000" y="5305425"/>
            <a:ext cx="38100" cy="828675"/>
            <a:chOff x="0" y="-38100"/>
            <a:chExt cx="50800" cy="1104900"/>
          </a:xfrm>
        </p:grpSpPr>
        <p:sp>
          <p:nvSpPr>
            <p:cNvPr id="1209" name="Google Shape;1209;p14"/>
            <p:cNvSpPr/>
            <p:nvPr/>
          </p:nvSpPr>
          <p:spPr>
            <a:xfrm>
              <a:off x="0" y="0"/>
              <a:ext cx="50800" cy="1066800"/>
            </a:xfrm>
            <a:custGeom>
              <a:rect b="b" l="l" r="r" t="t"/>
              <a:pathLst>
                <a:path extrusionOk="0" h="1066800" w="50800">
                  <a:moveTo>
                    <a:pt x="0" y="0"/>
                  </a:moveTo>
                  <a:lnTo>
                    <a:pt x="50800" y="0"/>
                  </a:lnTo>
                  <a:lnTo>
                    <a:pt x="508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0" name="Google Shape;1210;p14"/>
            <p:cNvSpPr txBox="1"/>
            <p:nvPr/>
          </p:nvSpPr>
          <p:spPr>
            <a:xfrm>
              <a:off x="0" y="-38100"/>
              <a:ext cx="508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1" name="Google Shape;1211;p14"/>
          <p:cNvGrpSpPr/>
          <p:nvPr/>
        </p:nvGrpSpPr>
        <p:grpSpPr>
          <a:xfrm>
            <a:off x="9525000" y="6257925"/>
            <a:ext cx="8001000" cy="828675"/>
            <a:chOff x="0" y="-38100"/>
            <a:chExt cx="10668000" cy="1104900"/>
          </a:xfrm>
        </p:grpSpPr>
        <p:sp>
          <p:nvSpPr>
            <p:cNvPr id="1212" name="Google Shape;1212;p14"/>
            <p:cNvSpPr/>
            <p:nvPr/>
          </p:nvSpPr>
          <p:spPr>
            <a:xfrm>
              <a:off x="0" y="0"/>
              <a:ext cx="10668000" cy="1066800"/>
            </a:xfrm>
            <a:custGeom>
              <a:rect b="b" l="l" r="r" t="t"/>
              <a:pathLst>
                <a:path extrusionOk="0" h="1066800" w="10668000">
                  <a:moveTo>
                    <a:pt x="0" y="0"/>
                  </a:moveTo>
                  <a:lnTo>
                    <a:pt x="10668000" y="0"/>
                  </a:lnTo>
                  <a:lnTo>
                    <a:pt x="106680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3" name="Google Shape;1213;p14"/>
            <p:cNvSpPr txBox="1"/>
            <p:nvPr/>
          </p:nvSpPr>
          <p:spPr>
            <a:xfrm>
              <a:off x="0" y="-38100"/>
              <a:ext cx="106680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4" name="Google Shape;1214;p14"/>
          <p:cNvGrpSpPr/>
          <p:nvPr/>
        </p:nvGrpSpPr>
        <p:grpSpPr>
          <a:xfrm>
            <a:off x="9525000" y="6257925"/>
            <a:ext cx="38100" cy="828675"/>
            <a:chOff x="0" y="-38100"/>
            <a:chExt cx="50800" cy="1104900"/>
          </a:xfrm>
        </p:grpSpPr>
        <p:sp>
          <p:nvSpPr>
            <p:cNvPr id="1215" name="Google Shape;1215;p14"/>
            <p:cNvSpPr/>
            <p:nvPr/>
          </p:nvSpPr>
          <p:spPr>
            <a:xfrm>
              <a:off x="0" y="0"/>
              <a:ext cx="50800" cy="1066800"/>
            </a:xfrm>
            <a:custGeom>
              <a:rect b="b" l="l" r="r" t="t"/>
              <a:pathLst>
                <a:path extrusionOk="0" h="1066800" w="50800">
                  <a:moveTo>
                    <a:pt x="0" y="0"/>
                  </a:moveTo>
                  <a:lnTo>
                    <a:pt x="50800" y="0"/>
                  </a:lnTo>
                  <a:lnTo>
                    <a:pt x="508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F2542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6" name="Google Shape;1216;p14"/>
            <p:cNvSpPr txBox="1"/>
            <p:nvPr/>
          </p:nvSpPr>
          <p:spPr>
            <a:xfrm>
              <a:off x="0" y="-38100"/>
              <a:ext cx="508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7" name="Google Shape;1217;p14"/>
          <p:cNvGrpSpPr/>
          <p:nvPr/>
        </p:nvGrpSpPr>
        <p:grpSpPr>
          <a:xfrm>
            <a:off x="9525000" y="7210425"/>
            <a:ext cx="8001000" cy="828675"/>
            <a:chOff x="0" y="-38100"/>
            <a:chExt cx="10668000" cy="1104900"/>
          </a:xfrm>
        </p:grpSpPr>
        <p:sp>
          <p:nvSpPr>
            <p:cNvPr id="1218" name="Google Shape;1218;p14"/>
            <p:cNvSpPr/>
            <p:nvPr/>
          </p:nvSpPr>
          <p:spPr>
            <a:xfrm>
              <a:off x="0" y="0"/>
              <a:ext cx="10668000" cy="1066800"/>
            </a:xfrm>
            <a:custGeom>
              <a:rect b="b" l="l" r="r" t="t"/>
              <a:pathLst>
                <a:path extrusionOk="0" h="1066800" w="10668000">
                  <a:moveTo>
                    <a:pt x="0" y="0"/>
                  </a:moveTo>
                  <a:lnTo>
                    <a:pt x="10668000" y="0"/>
                  </a:lnTo>
                  <a:lnTo>
                    <a:pt x="106680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9" name="Google Shape;1219;p14"/>
            <p:cNvSpPr txBox="1"/>
            <p:nvPr/>
          </p:nvSpPr>
          <p:spPr>
            <a:xfrm>
              <a:off x="0" y="-38100"/>
              <a:ext cx="106680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0" name="Google Shape;1220;p14"/>
          <p:cNvGrpSpPr/>
          <p:nvPr/>
        </p:nvGrpSpPr>
        <p:grpSpPr>
          <a:xfrm>
            <a:off x="9525000" y="7210425"/>
            <a:ext cx="38100" cy="828675"/>
            <a:chOff x="0" y="-38100"/>
            <a:chExt cx="50800" cy="1104900"/>
          </a:xfrm>
        </p:grpSpPr>
        <p:sp>
          <p:nvSpPr>
            <p:cNvPr id="1221" name="Google Shape;1221;p14"/>
            <p:cNvSpPr/>
            <p:nvPr/>
          </p:nvSpPr>
          <p:spPr>
            <a:xfrm>
              <a:off x="0" y="0"/>
              <a:ext cx="50800" cy="1066800"/>
            </a:xfrm>
            <a:custGeom>
              <a:rect b="b" l="l" r="r" t="t"/>
              <a:pathLst>
                <a:path extrusionOk="0" h="1066800" w="50800">
                  <a:moveTo>
                    <a:pt x="0" y="0"/>
                  </a:moveTo>
                  <a:lnTo>
                    <a:pt x="50800" y="0"/>
                  </a:lnTo>
                  <a:lnTo>
                    <a:pt x="508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2" name="Google Shape;1222;p14"/>
            <p:cNvSpPr txBox="1"/>
            <p:nvPr/>
          </p:nvSpPr>
          <p:spPr>
            <a:xfrm>
              <a:off x="0" y="-38100"/>
              <a:ext cx="508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23" name="Google Shape;1223;p14"/>
          <p:cNvSpPr txBox="1"/>
          <p:nvPr/>
        </p:nvSpPr>
        <p:spPr>
          <a:xfrm>
            <a:off x="9525000" y="3028950"/>
            <a:ext cx="3810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52" sz="1050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RISKS &amp; MITIGATIONS</a:t>
            </a:r>
            <a:endParaRPr/>
          </a:p>
        </p:txBody>
      </p:sp>
      <p:sp>
        <p:nvSpPr>
          <p:cNvPr id="1224" name="Google Shape;1224;p14"/>
          <p:cNvSpPr txBox="1"/>
          <p:nvPr/>
        </p:nvSpPr>
        <p:spPr>
          <a:xfrm>
            <a:off x="9753600" y="3495675"/>
            <a:ext cx="7620000" cy="310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Eligible supply</a:t>
            </a:r>
            <a:endParaRPr/>
          </a:p>
        </p:txBody>
      </p:sp>
      <p:sp>
        <p:nvSpPr>
          <p:cNvPr id="1225" name="Google Shape;1225;p14"/>
          <p:cNvSpPr txBox="1"/>
          <p:nvPr/>
        </p:nvSpPr>
        <p:spPr>
          <a:xfrm>
            <a:off x="9753600" y="3867150"/>
            <a:ext cx="7620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89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Mitigate · Coverage + quality validation</a:t>
            </a:r>
            <a:endParaRPr/>
          </a:p>
        </p:txBody>
      </p:sp>
      <p:sp>
        <p:nvSpPr>
          <p:cNvPr id="1226" name="Google Shape;1226;p14"/>
          <p:cNvSpPr txBox="1"/>
          <p:nvPr/>
        </p:nvSpPr>
        <p:spPr>
          <a:xfrm>
            <a:off x="9753600" y="4448175"/>
            <a:ext cx="7620000" cy="310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Gate abandonment</a:t>
            </a:r>
            <a:endParaRPr/>
          </a:p>
        </p:txBody>
      </p:sp>
      <p:sp>
        <p:nvSpPr>
          <p:cNvPr id="1227" name="Google Shape;1227;p14"/>
          <p:cNvSpPr txBox="1"/>
          <p:nvPr/>
        </p:nvSpPr>
        <p:spPr>
          <a:xfrm>
            <a:off x="9753600" y="4819650"/>
            <a:ext cx="7620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89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Mitigate · UX research · drop-off instrumentation</a:t>
            </a:r>
            <a:endParaRPr/>
          </a:p>
        </p:txBody>
      </p:sp>
      <p:sp>
        <p:nvSpPr>
          <p:cNvPr id="1228" name="Google Shape;1228;p14"/>
          <p:cNvSpPr txBox="1"/>
          <p:nvPr/>
        </p:nvSpPr>
        <p:spPr>
          <a:xfrm>
            <a:off x="9753600" y="5400675"/>
            <a:ext cx="7620000" cy="310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Stale availability</a:t>
            </a:r>
            <a:endParaRPr/>
          </a:p>
        </p:txBody>
      </p:sp>
      <p:sp>
        <p:nvSpPr>
          <p:cNvPr id="1229" name="Google Shape;1229;p14"/>
          <p:cNvSpPr txBox="1"/>
          <p:nvPr/>
        </p:nvSpPr>
        <p:spPr>
          <a:xfrm>
            <a:off x="9753600" y="5772150"/>
            <a:ext cx="7620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89" sz="112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Mitigate · Fresh checks · 7-day proposed</a:t>
            </a:r>
            <a:endParaRPr/>
          </a:p>
        </p:txBody>
      </p:sp>
      <p:sp>
        <p:nvSpPr>
          <p:cNvPr id="1230" name="Google Shape;1230;p14"/>
          <p:cNvSpPr txBox="1"/>
          <p:nvPr/>
        </p:nvSpPr>
        <p:spPr>
          <a:xfrm>
            <a:off x="9753600" y="6353175"/>
            <a:ext cx="7620000" cy="310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Cost / capacity</a:t>
            </a:r>
            <a:endParaRPr/>
          </a:p>
        </p:txBody>
      </p:sp>
      <p:sp>
        <p:nvSpPr>
          <p:cNvPr id="1231" name="Google Shape;1231;p14"/>
          <p:cNvSpPr txBox="1"/>
          <p:nvPr/>
        </p:nvSpPr>
        <p:spPr>
          <a:xfrm>
            <a:off x="9753600" y="6724650"/>
            <a:ext cx="7620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89" sz="112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Mitigate · Scope gates · G2 decision</a:t>
            </a:r>
            <a:endParaRPr/>
          </a:p>
        </p:txBody>
      </p:sp>
      <p:sp>
        <p:nvSpPr>
          <p:cNvPr id="1232" name="Google Shape;1232;p14"/>
          <p:cNvSpPr txBox="1"/>
          <p:nvPr/>
        </p:nvSpPr>
        <p:spPr>
          <a:xfrm>
            <a:off x="9753600" y="7305675"/>
            <a:ext cx="7620000" cy="310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Fairness, consent</a:t>
            </a:r>
            <a:endParaRPr/>
          </a:p>
        </p:txBody>
      </p:sp>
      <p:sp>
        <p:nvSpPr>
          <p:cNvPr id="1233" name="Google Shape;1233;p14"/>
          <p:cNvSpPr txBox="1"/>
          <p:nvPr/>
        </p:nvSpPr>
        <p:spPr>
          <a:xfrm>
            <a:off x="9753600" y="7677150"/>
            <a:ext cx="7620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89" sz="11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Mitigate · Expert review · protected-attribute exclusion</a:t>
            </a:r>
            <a:endParaRPr/>
          </a:p>
        </p:txBody>
      </p:sp>
      <p:sp>
        <p:nvSpPr>
          <p:cNvPr id="1234" name="Google Shape;1234;p14"/>
          <p:cNvSpPr txBox="1"/>
          <p:nvPr/>
        </p:nvSpPr>
        <p:spPr>
          <a:xfrm>
            <a:off x="762000" y="9220200"/>
            <a:ext cx="16764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12" sz="112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Beta ≈ 500 Germany users assumed  ·  Pilot 5 verified recruiters proposed · dates unset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6"/>
        </a:solidFill>
      </p:bgPr>
    </p:bg>
    <p:spTree>
      <p:nvGrpSpPr>
        <p:cNvPr id="1242" name="Shape 1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areerPilot logo" id="1243" name="Google Shape;124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428150"/>
            <a:ext cx="901087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244" name="Google Shape;1244;p15"/>
          <p:cNvSpPr txBox="1"/>
          <p:nvPr/>
        </p:nvSpPr>
        <p:spPr>
          <a:xfrm>
            <a:off x="4572000" y="438150"/>
            <a:ext cx="9525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52" sz="150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15 · FAQ &amp; Sources</a:t>
            </a:r>
            <a:endParaRPr sz="1500"/>
          </a:p>
        </p:txBody>
      </p:sp>
      <p:sp>
        <p:nvSpPr>
          <p:cNvPr id="1245" name="Google Shape;1245;p15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89" sz="1050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15</a:t>
            </a:r>
            <a:endParaRPr/>
          </a:p>
        </p:txBody>
      </p:sp>
      <p:sp>
        <p:nvSpPr>
          <p:cNvPr id="1246" name="Google Shape;1246;p15"/>
          <p:cNvSpPr txBox="1"/>
          <p:nvPr/>
        </p:nvSpPr>
        <p:spPr>
          <a:xfrm>
            <a:off x="762000" y="9734550"/>
            <a:ext cx="114300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June 27</a:t>
            </a:r>
            <a:r>
              <a:rPr lang="en-US" spc="175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(planned)</a:t>
            </a:r>
            <a:endParaRPr/>
          </a:p>
        </p:txBody>
      </p:sp>
      <p:grpSp>
        <p:nvGrpSpPr>
          <p:cNvPr id="1247" name="Google Shape;1247;p15"/>
          <p:cNvGrpSpPr/>
          <p:nvPr/>
        </p:nvGrpSpPr>
        <p:grpSpPr>
          <a:xfrm>
            <a:off x="762000" y="733425"/>
            <a:ext cx="16764000" cy="38100"/>
            <a:chOff x="0" y="-38100"/>
            <a:chExt cx="22352000" cy="50800"/>
          </a:xfrm>
        </p:grpSpPr>
        <p:sp>
          <p:nvSpPr>
            <p:cNvPr id="1248" name="Google Shape;1248;p15"/>
            <p:cNvSpPr/>
            <p:nvPr/>
          </p:nvSpPr>
          <p:spPr>
            <a:xfrm>
              <a:off x="0" y="0"/>
              <a:ext cx="22352000" cy="12700"/>
            </a:xfrm>
            <a:custGeom>
              <a:rect b="b" l="l" r="r" t="t"/>
              <a:pathLst>
                <a:path extrusionOk="0" h="12700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9" name="Google Shape;1249;p15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50" name="Google Shape;1250;p15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43" sz="13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APPENDIX · FAQ &amp; SOURCES</a:t>
            </a:r>
            <a:endParaRPr/>
          </a:p>
        </p:txBody>
      </p:sp>
      <p:sp>
        <p:nvSpPr>
          <p:cNvPr id="1251" name="Google Shape;1251;p15"/>
          <p:cNvSpPr txBox="1"/>
          <p:nvPr/>
        </p:nvSpPr>
        <p:spPr>
          <a:xfrm>
            <a:off x="762000" y="1685925"/>
            <a:ext cx="16192500" cy="6829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-65" sz="4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Pricing, data, references.</a:t>
            </a:r>
            <a:endParaRPr/>
          </a:p>
        </p:txBody>
      </p:sp>
      <p:grpSp>
        <p:nvGrpSpPr>
          <p:cNvPr id="1252" name="Google Shape;1252;p15"/>
          <p:cNvGrpSpPr/>
          <p:nvPr/>
        </p:nvGrpSpPr>
        <p:grpSpPr>
          <a:xfrm>
            <a:off x="762000" y="3209925"/>
            <a:ext cx="8382000" cy="4219575"/>
            <a:chOff x="0" y="-38100"/>
            <a:chExt cx="11176000" cy="5626100"/>
          </a:xfrm>
        </p:grpSpPr>
        <p:sp>
          <p:nvSpPr>
            <p:cNvPr id="1253" name="Google Shape;1253;p15"/>
            <p:cNvSpPr/>
            <p:nvPr/>
          </p:nvSpPr>
          <p:spPr>
            <a:xfrm>
              <a:off x="0" y="0"/>
              <a:ext cx="11176000" cy="5588000"/>
            </a:xfrm>
            <a:custGeom>
              <a:rect b="b" l="l" r="r" t="t"/>
              <a:pathLst>
                <a:path extrusionOk="0" h="5588000" w="11176000">
                  <a:moveTo>
                    <a:pt x="0" y="0"/>
                  </a:moveTo>
                  <a:lnTo>
                    <a:pt x="11176000" y="0"/>
                  </a:lnTo>
                  <a:lnTo>
                    <a:pt x="11176000" y="5588000"/>
                  </a:lnTo>
                  <a:lnTo>
                    <a:pt x="0" y="5588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4" name="Google Shape;1254;p15"/>
            <p:cNvSpPr txBox="1"/>
            <p:nvPr/>
          </p:nvSpPr>
          <p:spPr>
            <a:xfrm>
              <a:off x="0" y="-38100"/>
              <a:ext cx="11176000" cy="562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5" name="Google Shape;1255;p15"/>
          <p:cNvGrpSpPr/>
          <p:nvPr/>
        </p:nvGrpSpPr>
        <p:grpSpPr>
          <a:xfrm>
            <a:off x="762000" y="3209925"/>
            <a:ext cx="57150" cy="4219575"/>
            <a:chOff x="0" y="-38100"/>
            <a:chExt cx="76200" cy="5626100"/>
          </a:xfrm>
        </p:grpSpPr>
        <p:sp>
          <p:nvSpPr>
            <p:cNvPr id="1256" name="Google Shape;1256;p15"/>
            <p:cNvSpPr/>
            <p:nvPr/>
          </p:nvSpPr>
          <p:spPr>
            <a:xfrm>
              <a:off x="0" y="0"/>
              <a:ext cx="76200" cy="5588000"/>
            </a:xfrm>
            <a:custGeom>
              <a:rect b="b" l="l" r="r" t="t"/>
              <a:pathLst>
                <a:path extrusionOk="0" h="5588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5588000"/>
                  </a:lnTo>
                  <a:lnTo>
                    <a:pt x="0" y="5588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7" name="Google Shape;1257;p15"/>
            <p:cNvSpPr txBox="1"/>
            <p:nvPr/>
          </p:nvSpPr>
          <p:spPr>
            <a:xfrm>
              <a:off x="0" y="-38100"/>
              <a:ext cx="76200" cy="562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58" name="Google Shape;1258;p15"/>
          <p:cNvSpPr txBox="1"/>
          <p:nvPr/>
        </p:nvSpPr>
        <p:spPr>
          <a:xfrm>
            <a:off x="1143000" y="3524250"/>
            <a:ext cx="3810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52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PRICING</a:t>
            </a:r>
            <a:endParaRPr/>
          </a:p>
        </p:txBody>
      </p:sp>
      <p:sp>
        <p:nvSpPr>
          <p:cNvPr id="1259" name="Google Shape;1259;p15"/>
          <p:cNvSpPr txBox="1"/>
          <p:nvPr/>
        </p:nvSpPr>
        <p:spPr>
          <a:xfrm>
            <a:off x="1143000" y="3981450"/>
            <a:ext cx="72390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5" sz="90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FREE</a:t>
            </a:r>
            <a:endParaRPr/>
          </a:p>
        </p:txBody>
      </p:sp>
      <p:sp>
        <p:nvSpPr>
          <p:cNvPr id="1260" name="Google Shape;1260;p15"/>
          <p:cNvSpPr txBox="1"/>
          <p:nvPr/>
        </p:nvSpPr>
        <p:spPr>
          <a:xfrm>
            <a:off x="1143000" y="4133850"/>
            <a:ext cx="7239000" cy="3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10 daily credits</a:t>
            </a:r>
            <a:endParaRPr/>
          </a:p>
        </p:txBody>
      </p:sp>
      <p:sp>
        <p:nvSpPr>
          <p:cNvPr id="1261" name="Google Shape;1261;p15"/>
          <p:cNvSpPr txBox="1"/>
          <p:nvPr/>
        </p:nvSpPr>
        <p:spPr>
          <a:xfrm>
            <a:off x="1143000" y="4800600"/>
            <a:ext cx="72390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5" sz="900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PROPOSED · post-launch</a:t>
            </a:r>
            <a:endParaRPr/>
          </a:p>
        </p:txBody>
      </p:sp>
      <p:sp>
        <p:nvSpPr>
          <p:cNvPr id="1262" name="Google Shape;1262;p15"/>
          <p:cNvSpPr txBox="1"/>
          <p:nvPr/>
        </p:nvSpPr>
        <p:spPr>
          <a:xfrm>
            <a:off x="1143000" y="4953000"/>
            <a:ext cx="7239000" cy="3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€10 top-up pack</a:t>
            </a:r>
            <a:endParaRPr/>
          </a:p>
        </p:txBody>
      </p:sp>
      <p:sp>
        <p:nvSpPr>
          <p:cNvPr id="1263" name="Google Shape;1263;p15"/>
          <p:cNvSpPr txBox="1"/>
          <p:nvPr/>
        </p:nvSpPr>
        <p:spPr>
          <a:xfrm>
            <a:off x="1143000" y="5619750"/>
            <a:ext cx="72390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5" sz="900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PROPOSED · post-launch</a:t>
            </a:r>
            <a:endParaRPr/>
          </a:p>
        </p:txBody>
      </p:sp>
      <p:sp>
        <p:nvSpPr>
          <p:cNvPr id="1264" name="Google Shape;1264;p15"/>
          <p:cNvSpPr txBox="1"/>
          <p:nvPr/>
        </p:nvSpPr>
        <p:spPr>
          <a:xfrm>
            <a:off x="1143000" y="5772150"/>
            <a:ext cx="7239000" cy="3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€0.99 / 10 credits, non-expiring</a:t>
            </a:r>
            <a:endParaRPr/>
          </a:p>
        </p:txBody>
      </p:sp>
      <p:sp>
        <p:nvSpPr>
          <p:cNvPr id="1265" name="Google Shape;1265;p15"/>
          <p:cNvSpPr txBox="1"/>
          <p:nvPr/>
        </p:nvSpPr>
        <p:spPr>
          <a:xfrm>
            <a:off x="1143000" y="6438900"/>
            <a:ext cx="723900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15" sz="900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RECRUITER PRICING</a:t>
            </a:r>
            <a:endParaRPr/>
          </a:p>
        </p:txBody>
      </p:sp>
      <p:sp>
        <p:nvSpPr>
          <p:cNvPr id="1266" name="Google Shape;1266;p15"/>
          <p:cNvSpPr txBox="1"/>
          <p:nvPr/>
        </p:nvSpPr>
        <p:spPr>
          <a:xfrm>
            <a:off x="1143000" y="6591300"/>
            <a:ext cx="7239000" cy="3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TBD</a:t>
            </a:r>
            <a:endParaRPr/>
          </a:p>
        </p:txBody>
      </p:sp>
      <p:grpSp>
        <p:nvGrpSpPr>
          <p:cNvPr id="1267" name="Google Shape;1267;p15"/>
          <p:cNvGrpSpPr/>
          <p:nvPr/>
        </p:nvGrpSpPr>
        <p:grpSpPr>
          <a:xfrm>
            <a:off x="9525000" y="3209925"/>
            <a:ext cx="8001000" cy="1933575"/>
            <a:chOff x="0" y="-38100"/>
            <a:chExt cx="10668000" cy="2578100"/>
          </a:xfrm>
        </p:grpSpPr>
        <p:sp>
          <p:nvSpPr>
            <p:cNvPr id="1268" name="Google Shape;1268;p15"/>
            <p:cNvSpPr/>
            <p:nvPr/>
          </p:nvSpPr>
          <p:spPr>
            <a:xfrm>
              <a:off x="0" y="0"/>
              <a:ext cx="10668000" cy="2540000"/>
            </a:xfrm>
            <a:custGeom>
              <a:rect b="b" l="l" r="r" t="t"/>
              <a:pathLst>
                <a:path extrusionOk="0" h="2540000" w="10668000">
                  <a:moveTo>
                    <a:pt x="0" y="0"/>
                  </a:moveTo>
                  <a:lnTo>
                    <a:pt x="10668000" y="0"/>
                  </a:lnTo>
                  <a:lnTo>
                    <a:pt x="10668000" y="2540000"/>
                  </a:lnTo>
                  <a:lnTo>
                    <a:pt x="0" y="2540000"/>
                  </a:lnTo>
                  <a:close/>
                </a:path>
              </a:pathLst>
            </a:custGeom>
            <a:solidFill>
              <a:srgbClr val="FFFFFF"/>
            </a:solidFill>
            <a:ln cap="sq" cmpd="sng" w="9525">
              <a:solidFill>
                <a:srgbClr val="D5DEEA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9" name="Google Shape;1269;p15"/>
            <p:cNvSpPr txBox="1"/>
            <p:nvPr/>
          </p:nvSpPr>
          <p:spPr>
            <a:xfrm>
              <a:off x="0" y="-38100"/>
              <a:ext cx="10668000" cy="257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0" name="Google Shape;1270;p15"/>
          <p:cNvGrpSpPr/>
          <p:nvPr/>
        </p:nvGrpSpPr>
        <p:grpSpPr>
          <a:xfrm>
            <a:off x="9525000" y="3209925"/>
            <a:ext cx="57150" cy="1933575"/>
            <a:chOff x="0" y="-38100"/>
            <a:chExt cx="76200" cy="2578100"/>
          </a:xfrm>
        </p:grpSpPr>
        <p:sp>
          <p:nvSpPr>
            <p:cNvPr id="1271" name="Google Shape;1271;p15"/>
            <p:cNvSpPr/>
            <p:nvPr/>
          </p:nvSpPr>
          <p:spPr>
            <a:xfrm>
              <a:off x="0" y="0"/>
              <a:ext cx="76200" cy="2540000"/>
            </a:xfrm>
            <a:custGeom>
              <a:rect b="b" l="l" r="r" t="t"/>
              <a:pathLst>
                <a:path extrusionOk="0" h="2540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2540000"/>
                  </a:lnTo>
                  <a:lnTo>
                    <a:pt x="0" y="25400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2" name="Google Shape;1272;p15"/>
            <p:cNvSpPr txBox="1"/>
            <p:nvPr/>
          </p:nvSpPr>
          <p:spPr>
            <a:xfrm>
              <a:off x="0" y="-38100"/>
              <a:ext cx="76200" cy="257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3" name="Google Shape;1273;p15"/>
          <p:cNvGrpSpPr/>
          <p:nvPr/>
        </p:nvGrpSpPr>
        <p:grpSpPr>
          <a:xfrm>
            <a:off x="9906000" y="3895725"/>
            <a:ext cx="57150" cy="85725"/>
            <a:chOff x="0" y="-38100"/>
            <a:chExt cx="76200" cy="114300"/>
          </a:xfrm>
        </p:grpSpPr>
        <p:sp>
          <p:nvSpPr>
            <p:cNvPr id="1274" name="Google Shape;1274;p15"/>
            <p:cNvSpPr/>
            <p:nvPr/>
          </p:nvSpPr>
          <p:spPr>
            <a:xfrm>
              <a:off x="0" y="0"/>
              <a:ext cx="76200" cy="76200"/>
            </a:xfrm>
            <a:custGeom>
              <a:rect b="b" l="l" r="r" t="t"/>
              <a:pathLst>
                <a:path extrusionOk="0" h="76200" w="76200">
                  <a:moveTo>
                    <a:pt x="0" y="0"/>
                  </a:moveTo>
                  <a:lnTo>
                    <a:pt x="76200" y="0"/>
                  </a:ln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5" name="Google Shape;1275;p15"/>
            <p:cNvSpPr txBox="1"/>
            <p:nvPr/>
          </p:nvSpPr>
          <p:spPr>
            <a:xfrm>
              <a:off x="0" y="-38100"/>
              <a:ext cx="76200" cy="1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6" name="Google Shape;1276;p15"/>
          <p:cNvGrpSpPr/>
          <p:nvPr/>
        </p:nvGrpSpPr>
        <p:grpSpPr>
          <a:xfrm>
            <a:off x="9906000" y="4295775"/>
            <a:ext cx="57150" cy="85725"/>
            <a:chOff x="0" y="-38100"/>
            <a:chExt cx="76200" cy="114300"/>
          </a:xfrm>
        </p:grpSpPr>
        <p:sp>
          <p:nvSpPr>
            <p:cNvPr id="1277" name="Google Shape;1277;p15"/>
            <p:cNvSpPr/>
            <p:nvPr/>
          </p:nvSpPr>
          <p:spPr>
            <a:xfrm>
              <a:off x="0" y="0"/>
              <a:ext cx="76200" cy="76200"/>
            </a:xfrm>
            <a:custGeom>
              <a:rect b="b" l="l" r="r" t="t"/>
              <a:pathLst>
                <a:path extrusionOk="0" h="76200" w="76200">
                  <a:moveTo>
                    <a:pt x="0" y="0"/>
                  </a:moveTo>
                  <a:lnTo>
                    <a:pt x="76200" y="0"/>
                  </a:ln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8" name="Google Shape;1278;p15"/>
            <p:cNvSpPr txBox="1"/>
            <p:nvPr/>
          </p:nvSpPr>
          <p:spPr>
            <a:xfrm>
              <a:off x="0" y="-38100"/>
              <a:ext cx="76200" cy="1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9" name="Google Shape;1279;p15"/>
          <p:cNvGrpSpPr/>
          <p:nvPr/>
        </p:nvGrpSpPr>
        <p:grpSpPr>
          <a:xfrm>
            <a:off x="9906000" y="4695825"/>
            <a:ext cx="57150" cy="85725"/>
            <a:chOff x="0" y="-38100"/>
            <a:chExt cx="76200" cy="114300"/>
          </a:xfrm>
        </p:grpSpPr>
        <p:sp>
          <p:nvSpPr>
            <p:cNvPr id="1280" name="Google Shape;1280;p15"/>
            <p:cNvSpPr/>
            <p:nvPr/>
          </p:nvSpPr>
          <p:spPr>
            <a:xfrm>
              <a:off x="0" y="0"/>
              <a:ext cx="76200" cy="76200"/>
            </a:xfrm>
            <a:custGeom>
              <a:rect b="b" l="l" r="r" t="t"/>
              <a:pathLst>
                <a:path extrusionOk="0" h="76200" w="76200">
                  <a:moveTo>
                    <a:pt x="0" y="0"/>
                  </a:moveTo>
                  <a:lnTo>
                    <a:pt x="76200" y="0"/>
                  </a:ln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1" name="Google Shape;1281;p15"/>
            <p:cNvSpPr txBox="1"/>
            <p:nvPr/>
          </p:nvSpPr>
          <p:spPr>
            <a:xfrm>
              <a:off x="0" y="-38100"/>
              <a:ext cx="76200" cy="1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2" name="Google Shape;1282;p15"/>
          <p:cNvSpPr txBox="1"/>
          <p:nvPr/>
        </p:nvSpPr>
        <p:spPr>
          <a:xfrm>
            <a:off x="9906000" y="3409950"/>
            <a:ext cx="3810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52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DATA SOURCES</a:t>
            </a:r>
            <a:endParaRPr/>
          </a:p>
        </p:txBody>
      </p:sp>
      <p:sp>
        <p:nvSpPr>
          <p:cNvPr id="1283" name="Google Shape;1283;p15"/>
          <p:cNvSpPr txBox="1"/>
          <p:nvPr/>
        </p:nvSpPr>
        <p:spPr>
          <a:xfrm>
            <a:off x="10096500" y="3781425"/>
            <a:ext cx="72390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Approved Bundesagentur public lists</a:t>
            </a:r>
            <a:endParaRPr/>
          </a:p>
        </p:txBody>
      </p:sp>
      <p:sp>
        <p:nvSpPr>
          <p:cNvPr id="1284" name="Google Shape;1284;p15"/>
          <p:cNvSpPr txBox="1"/>
          <p:nvPr/>
        </p:nvSpPr>
        <p:spPr>
          <a:xfrm>
            <a:off x="10096500" y="4181475"/>
            <a:ext cx="72390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Source-terms gate · no scraping</a:t>
            </a:r>
            <a:endParaRPr/>
          </a:p>
        </p:txBody>
      </p:sp>
      <p:sp>
        <p:nvSpPr>
          <p:cNvPr id="1285" name="Google Shape;1285;p15"/>
          <p:cNvSpPr txBox="1"/>
          <p:nvPr/>
        </p:nvSpPr>
        <p:spPr>
          <a:xfrm>
            <a:off x="10096500" y="4581525"/>
            <a:ext cx="72390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CV shared only after specific candidate approval</a:t>
            </a:r>
            <a:endParaRPr/>
          </a:p>
        </p:txBody>
      </p:sp>
      <p:grpSp>
        <p:nvGrpSpPr>
          <p:cNvPr id="1286" name="Google Shape;1286;p15"/>
          <p:cNvGrpSpPr/>
          <p:nvPr/>
        </p:nvGrpSpPr>
        <p:grpSpPr>
          <a:xfrm>
            <a:off x="9525000" y="5305425"/>
            <a:ext cx="8001000" cy="2124075"/>
            <a:chOff x="0" y="-38100"/>
            <a:chExt cx="10668000" cy="2832100"/>
          </a:xfrm>
        </p:grpSpPr>
        <p:sp>
          <p:nvSpPr>
            <p:cNvPr id="1287" name="Google Shape;1287;p15"/>
            <p:cNvSpPr/>
            <p:nvPr/>
          </p:nvSpPr>
          <p:spPr>
            <a:xfrm>
              <a:off x="0" y="0"/>
              <a:ext cx="10668000" cy="2794000"/>
            </a:xfrm>
            <a:custGeom>
              <a:rect b="b" l="l" r="r" t="t"/>
              <a:pathLst>
                <a:path extrusionOk="0" h="2794000" w="10668000">
                  <a:moveTo>
                    <a:pt x="0" y="0"/>
                  </a:moveTo>
                  <a:lnTo>
                    <a:pt x="10668000" y="0"/>
                  </a:lnTo>
                  <a:lnTo>
                    <a:pt x="10668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DCE4E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8" name="Google Shape;1288;p15"/>
            <p:cNvSpPr txBox="1"/>
            <p:nvPr/>
          </p:nvSpPr>
          <p:spPr>
            <a:xfrm>
              <a:off x="0" y="-38100"/>
              <a:ext cx="10668000" cy="283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89" name="Google Shape;1289;p15"/>
          <p:cNvGrpSpPr/>
          <p:nvPr/>
        </p:nvGrpSpPr>
        <p:grpSpPr>
          <a:xfrm>
            <a:off x="9906000" y="6010275"/>
            <a:ext cx="57150" cy="85725"/>
            <a:chOff x="0" y="-38100"/>
            <a:chExt cx="76200" cy="114300"/>
          </a:xfrm>
        </p:grpSpPr>
        <p:sp>
          <p:nvSpPr>
            <p:cNvPr id="1290" name="Google Shape;1290;p15"/>
            <p:cNvSpPr/>
            <p:nvPr/>
          </p:nvSpPr>
          <p:spPr>
            <a:xfrm>
              <a:off x="0" y="0"/>
              <a:ext cx="76200" cy="76200"/>
            </a:xfrm>
            <a:custGeom>
              <a:rect b="b" l="l" r="r" t="t"/>
              <a:pathLst>
                <a:path extrusionOk="0" h="76200" w="76200">
                  <a:moveTo>
                    <a:pt x="0" y="0"/>
                  </a:moveTo>
                  <a:lnTo>
                    <a:pt x="76200" y="0"/>
                  </a:ln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1" name="Google Shape;1291;p15"/>
            <p:cNvSpPr txBox="1"/>
            <p:nvPr/>
          </p:nvSpPr>
          <p:spPr>
            <a:xfrm>
              <a:off x="0" y="-38100"/>
              <a:ext cx="76200" cy="1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92" name="Google Shape;1292;p15"/>
          <p:cNvGrpSpPr/>
          <p:nvPr/>
        </p:nvGrpSpPr>
        <p:grpSpPr>
          <a:xfrm>
            <a:off x="13525500" y="6010275"/>
            <a:ext cx="57150" cy="85725"/>
            <a:chOff x="0" y="-38100"/>
            <a:chExt cx="76200" cy="114300"/>
          </a:xfrm>
        </p:grpSpPr>
        <p:sp>
          <p:nvSpPr>
            <p:cNvPr id="1293" name="Google Shape;1293;p15"/>
            <p:cNvSpPr/>
            <p:nvPr/>
          </p:nvSpPr>
          <p:spPr>
            <a:xfrm>
              <a:off x="0" y="0"/>
              <a:ext cx="76200" cy="76200"/>
            </a:xfrm>
            <a:custGeom>
              <a:rect b="b" l="l" r="r" t="t"/>
              <a:pathLst>
                <a:path extrusionOk="0" h="76200" w="76200">
                  <a:moveTo>
                    <a:pt x="0" y="0"/>
                  </a:moveTo>
                  <a:lnTo>
                    <a:pt x="76200" y="0"/>
                  </a:ln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4" name="Google Shape;1294;p15"/>
            <p:cNvSpPr txBox="1"/>
            <p:nvPr/>
          </p:nvSpPr>
          <p:spPr>
            <a:xfrm>
              <a:off x="0" y="-38100"/>
              <a:ext cx="76200" cy="1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95" name="Google Shape;1295;p15"/>
          <p:cNvGrpSpPr/>
          <p:nvPr/>
        </p:nvGrpSpPr>
        <p:grpSpPr>
          <a:xfrm>
            <a:off x="9906000" y="6543675"/>
            <a:ext cx="57150" cy="85725"/>
            <a:chOff x="0" y="-38100"/>
            <a:chExt cx="76200" cy="114300"/>
          </a:xfrm>
        </p:grpSpPr>
        <p:sp>
          <p:nvSpPr>
            <p:cNvPr id="1296" name="Google Shape;1296;p15"/>
            <p:cNvSpPr/>
            <p:nvPr/>
          </p:nvSpPr>
          <p:spPr>
            <a:xfrm>
              <a:off x="0" y="0"/>
              <a:ext cx="76200" cy="76200"/>
            </a:xfrm>
            <a:custGeom>
              <a:rect b="b" l="l" r="r" t="t"/>
              <a:pathLst>
                <a:path extrusionOk="0" h="76200" w="76200">
                  <a:moveTo>
                    <a:pt x="0" y="0"/>
                  </a:moveTo>
                  <a:lnTo>
                    <a:pt x="76200" y="0"/>
                  </a:ln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7" name="Google Shape;1297;p15"/>
            <p:cNvSpPr txBox="1"/>
            <p:nvPr/>
          </p:nvSpPr>
          <p:spPr>
            <a:xfrm>
              <a:off x="0" y="-38100"/>
              <a:ext cx="76200" cy="1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98" name="Google Shape;1298;p15"/>
          <p:cNvGrpSpPr/>
          <p:nvPr/>
        </p:nvGrpSpPr>
        <p:grpSpPr>
          <a:xfrm>
            <a:off x="13525500" y="6543675"/>
            <a:ext cx="57150" cy="85725"/>
            <a:chOff x="0" y="-38100"/>
            <a:chExt cx="76200" cy="114300"/>
          </a:xfrm>
        </p:grpSpPr>
        <p:sp>
          <p:nvSpPr>
            <p:cNvPr id="1299" name="Google Shape;1299;p15"/>
            <p:cNvSpPr/>
            <p:nvPr/>
          </p:nvSpPr>
          <p:spPr>
            <a:xfrm>
              <a:off x="0" y="0"/>
              <a:ext cx="76200" cy="76200"/>
            </a:xfrm>
            <a:custGeom>
              <a:rect b="b" l="l" r="r" t="t"/>
              <a:pathLst>
                <a:path extrusionOk="0" h="76200" w="76200">
                  <a:moveTo>
                    <a:pt x="0" y="0"/>
                  </a:moveTo>
                  <a:lnTo>
                    <a:pt x="76200" y="0"/>
                  </a:ln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F2A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0" name="Google Shape;1300;p15"/>
            <p:cNvSpPr txBox="1"/>
            <p:nvPr/>
          </p:nvSpPr>
          <p:spPr>
            <a:xfrm>
              <a:off x="0" y="-38100"/>
              <a:ext cx="76200" cy="1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01" name="Google Shape;1301;p15"/>
          <p:cNvSpPr txBox="1"/>
          <p:nvPr/>
        </p:nvSpPr>
        <p:spPr>
          <a:xfrm>
            <a:off x="9906000" y="5505450"/>
            <a:ext cx="7239000" cy="173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52" sz="1050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REFERENCES  ·  LINKS IN SPEAKER NOTES</a:t>
            </a:r>
            <a:endParaRPr/>
          </a:p>
        </p:txBody>
      </p:sp>
      <p:sp>
        <p:nvSpPr>
          <p:cNvPr id="1302" name="Google Shape;1302;p15"/>
          <p:cNvSpPr txBox="1"/>
          <p:nvPr/>
        </p:nvSpPr>
        <p:spPr>
          <a:xfrm>
            <a:off x="10096500" y="5886450"/>
            <a:ext cx="34290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u="sng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PRD · see notes</a:t>
            </a:r>
            <a:endParaRPr/>
          </a:p>
        </p:txBody>
      </p:sp>
      <p:sp>
        <p:nvSpPr>
          <p:cNvPr id="1303" name="Google Shape;1303;p15"/>
          <p:cNvSpPr txBox="1"/>
          <p:nvPr/>
        </p:nvSpPr>
        <p:spPr>
          <a:xfrm>
            <a:off x="13716000" y="5886450"/>
            <a:ext cx="34290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u="sng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Jira board · see notes</a:t>
            </a:r>
            <a:endParaRPr/>
          </a:p>
        </p:txBody>
      </p:sp>
      <p:sp>
        <p:nvSpPr>
          <p:cNvPr id="1304" name="Google Shape;1304;p15"/>
          <p:cNvSpPr txBox="1"/>
          <p:nvPr/>
        </p:nvSpPr>
        <p:spPr>
          <a:xfrm>
            <a:off x="10096500" y="6419850"/>
            <a:ext cx="34290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u="sng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Persona flows · Figma</a:t>
            </a:r>
            <a:endParaRPr/>
          </a:p>
        </p:txBody>
      </p:sp>
      <p:sp>
        <p:nvSpPr>
          <p:cNvPr id="1305" name="Google Shape;1305;p15"/>
          <p:cNvSpPr txBox="1"/>
          <p:nvPr/>
        </p:nvSpPr>
        <p:spPr>
          <a:xfrm>
            <a:off x="13716000" y="6419850"/>
            <a:ext cx="3429000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u="sng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Roadmap · Figma</a:t>
            </a:r>
            <a:endParaRPr/>
          </a:p>
        </p:txBody>
      </p:sp>
      <p:sp>
        <p:nvSpPr>
          <p:cNvPr id="1306" name="Google Shape;1306;p15"/>
          <p:cNvSpPr txBox="1"/>
          <p:nvPr/>
        </p:nvSpPr>
        <p:spPr>
          <a:xfrm>
            <a:off x="762000" y="9220200"/>
            <a:ext cx="16764000" cy="1657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pc="292" sz="9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SOURCE SYNTHESIS DATE  ·  6 OCTOBER 2026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>Dan</dc:creator>
</cp:coreProperties>
</file>