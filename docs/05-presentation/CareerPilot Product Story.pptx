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nter" panose="020B0604020202020204" charset="0"/>
      <p:regular r:id="rId18"/>
    </p:embeddedFont>
    <p:embeddedFont>
      <p:font typeface="JetBrains Mono" panose="020B0604020202020204" charset="0"/>
      <p:regular r:id="rId19"/>
    </p:embeddedFont>
    <p:embeddedFont>
      <p:font typeface="JetBrains Mono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7" d="100"/>
          <a:sy n="97" d="100"/>
        </p:scale>
        <p:origin x="114" y="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Links: PRD — (internal URL); Jira — (internal URL); Persona flows Figma — (internal URL); Roadmap Figma — (internal URL). Pricing figures (€10 top-up and €0.99/10 credits) are proposed, post-launch. Recruiter pricing is to be determined.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xhere.com/en/photo/605773" TargetMode="External"/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ickpik.com/macaw-parrot-bird-pet-wildlife-tropical-3625" TargetMode="External"/><Relationship Id="rId5" Type="http://schemas.openxmlformats.org/officeDocument/2006/relationships/image" Target="../media/image4.jpg"/><Relationship Id="rId10" Type="http://schemas.openxmlformats.org/officeDocument/2006/relationships/hyperlink" Target="https://pixabay.com/en/billy-goat-goats-animal-farm-1321014/" TargetMode="External"/><Relationship Id="rId4" Type="http://schemas.openxmlformats.org/officeDocument/2006/relationships/hyperlink" Target="https://commons.wikimedia.org/wiki/File:Lappet-faced_vulture_1.jpg" TargetMode="External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87500" y="1333500"/>
            <a:ext cx="3238500" cy="3238500"/>
            <a:chOff x="0" y="0"/>
            <a:chExt cx="4318000" cy="4318000"/>
          </a:xfrm>
        </p:grpSpPr>
        <p:pic>
          <p:nvPicPr>
            <p:cNvPr id="3" name="Reticle motif" descr="CareerPilot reticl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318000" cy="4318000"/>
            </a:xfrm>
            <a:prstGeom prst="rect">
              <a:avLst/>
            </a:prstGeom>
          </p:spPr>
        </p:pic>
      </p:grpSp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Cover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62000" y="1695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 STORY · MVP DELIVERY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2266950"/>
            <a:ext cx="14287500" cy="283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 clear route from</a:t>
            </a:r>
          </a:p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discovery to</a:t>
            </a:r>
          </a:p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application.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2000" y="6048375"/>
            <a:ext cx="11430000" cy="68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D3D63"/>
                </a:solidFill>
                <a:latin typeface="Inter"/>
                <a:ea typeface="Inter"/>
                <a:cs typeface="Inter"/>
                <a:sym typeface="Inter"/>
              </a:rPr>
              <a:t>Guiding candidates from job discovery through fit explanation,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D3D63"/>
                </a:solidFill>
                <a:latin typeface="Inter"/>
                <a:ea typeface="Inter"/>
                <a:cs typeface="Inter"/>
                <a:sym typeface="Inter"/>
              </a:rPr>
              <a:t>document review, and application.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" y="7781925"/>
            <a:ext cx="1905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LOCALE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2000" y="8010525"/>
            <a:ext cx="28575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Germany · DE / 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00500" y="7781925"/>
            <a:ext cx="2857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LAUNCH (PLANNED)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00500" y="8010525"/>
            <a:ext cx="28575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14 June 2027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0" y="7781925"/>
            <a:ext cx="2857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BRANCH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0" y="8010525"/>
            <a:ext cx="47625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Verified-recruiter pilot (invitation-only)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52450" y="9001125"/>
            <a:ext cx="95250" cy="95250"/>
            <a:chOff x="0" y="0"/>
            <a:chExt cx="127000" cy="127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cubicBezTo>
                    <a:pt x="127000" y="98570"/>
                    <a:pt x="98570" y="127000"/>
                    <a:pt x="63500" y="127000"/>
                  </a:cubicBez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2609850" y="9048750"/>
            <a:ext cx="95250" cy="0"/>
          </a:xfrm>
          <a:prstGeom prst="line">
            <a:avLst/>
          </a:prstGeom>
          <a:ln w="19050" cap="flat">
            <a:solidFill>
              <a:srgbClr val="0F2A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23" name="Group 23"/>
          <p:cNvGrpSpPr/>
          <p:nvPr/>
        </p:nvGrpSpPr>
        <p:grpSpPr>
          <a:xfrm>
            <a:off x="2743200" y="9001125"/>
            <a:ext cx="95250" cy="95250"/>
            <a:chOff x="0" y="0"/>
            <a:chExt cx="127000" cy="127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cubicBezTo>
                    <a:pt x="127000" y="98570"/>
                    <a:pt x="98570" y="127000"/>
                    <a:pt x="63500" y="127000"/>
                  </a:cubicBez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5" name="AutoShape 25"/>
          <p:cNvSpPr/>
          <p:nvPr/>
        </p:nvSpPr>
        <p:spPr>
          <a:xfrm>
            <a:off x="4800600" y="9048750"/>
            <a:ext cx="95250" cy="0"/>
          </a:xfrm>
          <a:prstGeom prst="line">
            <a:avLst/>
          </a:prstGeom>
          <a:ln w="19050" cap="flat">
            <a:solidFill>
              <a:srgbClr val="0F2A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26" name="Group 26"/>
          <p:cNvGrpSpPr/>
          <p:nvPr/>
        </p:nvGrpSpPr>
        <p:grpSpPr>
          <a:xfrm>
            <a:off x="4933950" y="9001125"/>
            <a:ext cx="95250" cy="95250"/>
            <a:chOff x="0" y="0"/>
            <a:chExt cx="127000" cy="127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cubicBezTo>
                    <a:pt x="127000" y="98570"/>
                    <a:pt x="98570" y="127000"/>
                    <a:pt x="63500" y="127000"/>
                  </a:cubicBez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8" name="AutoShape 28"/>
          <p:cNvSpPr/>
          <p:nvPr/>
        </p:nvSpPr>
        <p:spPr>
          <a:xfrm>
            <a:off x="6991350" y="9048750"/>
            <a:ext cx="95250" cy="0"/>
          </a:xfrm>
          <a:prstGeom prst="line">
            <a:avLst/>
          </a:prstGeom>
          <a:ln w="19050" cap="flat">
            <a:solidFill>
              <a:srgbClr val="0F2A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29" name="Group 29"/>
          <p:cNvGrpSpPr/>
          <p:nvPr/>
        </p:nvGrpSpPr>
        <p:grpSpPr>
          <a:xfrm>
            <a:off x="7124700" y="9001125"/>
            <a:ext cx="95250" cy="95250"/>
            <a:chOff x="0" y="0"/>
            <a:chExt cx="127000" cy="127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cubicBezTo>
                    <a:pt x="127000" y="98570"/>
                    <a:pt x="98570" y="127000"/>
                    <a:pt x="63500" y="127000"/>
                  </a:cubicBezTo>
                  <a:cubicBezTo>
                    <a:pt x="28430" y="127000"/>
                    <a:pt x="0" y="98570"/>
                    <a:pt x="0" y="63500"/>
                  </a:cubicBez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62000" y="8934450"/>
            <a:ext cx="2286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68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Candidate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52750" y="8934450"/>
            <a:ext cx="2286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68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Explained fit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43500" y="8934450"/>
            <a:ext cx="2286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68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Reviewed docs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34250" y="8934450"/>
            <a:ext cx="2286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68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ILLUSTRATIVE SCENARIO · LENA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95450"/>
            <a:ext cx="11430000" cy="194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Fragmented search,</a:t>
            </a:r>
          </a:p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personal decisions.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4305300"/>
            <a:ext cx="781050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1D3D63"/>
                </a:solidFill>
                <a:latin typeface="Inter"/>
                <a:ea typeface="Inter"/>
                <a:cs typeface="Inter"/>
                <a:sym typeface="Inter"/>
              </a:rPr>
              <a:t>“I see hundreds of roles. I can't tell which fit, I rewrite my CV every time, and I lose track after I apply.”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7210425"/>
            <a:ext cx="3810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96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What's needed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2000" y="7467600"/>
            <a:ext cx="7239000" cy="624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An explanation of fit — and a reliable next step the candidate controls.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715500" y="1714500"/>
            <a:ext cx="7810500" cy="1428750"/>
            <a:chOff x="0" y="0"/>
            <a:chExt cx="10414000" cy="190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14000" cy="1905000"/>
            </a:xfrm>
            <a:custGeom>
              <a:avLst/>
              <a:gdLst/>
              <a:ahLst/>
              <a:cxnLst/>
              <a:rect l="l" t="t" r="r" b="b"/>
              <a:pathLst>
                <a:path w="10414000" h="1905000">
                  <a:moveTo>
                    <a:pt x="0" y="0"/>
                  </a:moveTo>
                  <a:lnTo>
                    <a:pt x="10414000" y="0"/>
                  </a:lnTo>
                  <a:lnTo>
                    <a:pt x="1041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414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15500" y="1714500"/>
            <a:ext cx="57150" cy="1428750"/>
            <a:chOff x="0" y="0"/>
            <a:chExt cx="76200" cy="1905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382250" y="3238500"/>
            <a:ext cx="6477000" cy="1428750"/>
            <a:chOff x="0" y="0"/>
            <a:chExt cx="8636000" cy="190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36000" cy="1905000"/>
            </a:xfrm>
            <a:custGeom>
              <a:avLst/>
              <a:gdLst/>
              <a:ahLst/>
              <a:cxnLst/>
              <a:rect l="l" t="t" r="r" b="b"/>
              <a:pathLst>
                <a:path w="8636000" h="1905000">
                  <a:moveTo>
                    <a:pt x="0" y="0"/>
                  </a:moveTo>
                  <a:lnTo>
                    <a:pt x="8636000" y="0"/>
                  </a:lnTo>
                  <a:lnTo>
                    <a:pt x="8636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636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382250" y="3238500"/>
            <a:ext cx="57150" cy="1428750"/>
            <a:chOff x="0" y="0"/>
            <a:chExt cx="76200" cy="1905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049000" y="4762500"/>
            <a:ext cx="5143500" cy="1428750"/>
            <a:chOff x="0" y="0"/>
            <a:chExt cx="6858000" cy="1905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58000" cy="1905000"/>
            </a:xfrm>
            <a:custGeom>
              <a:avLst/>
              <a:gdLst/>
              <a:ahLst/>
              <a:cxnLst/>
              <a:rect l="l" t="t" r="r" b="b"/>
              <a:pathLst>
                <a:path w="6858000" h="1905000">
                  <a:moveTo>
                    <a:pt x="0" y="0"/>
                  </a:moveTo>
                  <a:lnTo>
                    <a:pt x="6858000" y="0"/>
                  </a:lnTo>
                  <a:lnTo>
                    <a:pt x="6858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858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049000" y="4762500"/>
            <a:ext cx="57150" cy="1428750"/>
            <a:chOff x="0" y="0"/>
            <a:chExt cx="76200" cy="1905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15750" y="6286500"/>
            <a:ext cx="3810000" cy="1428750"/>
            <a:chOff x="0" y="0"/>
            <a:chExt cx="5080000" cy="1905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80000" cy="1905000"/>
            </a:xfrm>
            <a:custGeom>
              <a:avLst/>
              <a:gdLst/>
              <a:ahLst/>
              <a:cxnLst/>
              <a:rect l="l" t="t" r="r" b="b"/>
              <a:pathLst>
                <a:path w="5080000" h="1905000">
                  <a:moveTo>
                    <a:pt x="0" y="0"/>
                  </a:moveTo>
                  <a:lnTo>
                    <a:pt x="5080000" y="0"/>
                  </a:lnTo>
                  <a:lnTo>
                    <a:pt x="508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08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715750" y="6286500"/>
            <a:ext cx="57150" cy="1428750"/>
            <a:chOff x="0" y="0"/>
            <a:chExt cx="76200" cy="1905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6200" cy="1905000"/>
            </a:xfrm>
            <a:custGeom>
              <a:avLst/>
              <a:gdLst/>
              <a:ahLst/>
              <a:cxnLst/>
              <a:rect l="l" t="t" r="r" b="b"/>
              <a:pathLst>
                <a:path w="76200" h="19050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982200" y="190500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82200" y="2066925"/>
            <a:ext cx="72390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Noisy vacancies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982200" y="2533650"/>
            <a:ext cx="7239000" cy="20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lang="en-US" sz="1275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Thousands of listings, little signal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648950" y="342900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648950" y="3590925"/>
            <a:ext cx="59055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Uncertain fit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48950" y="4057650"/>
            <a:ext cx="5905500" cy="20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lang="en-US" sz="1275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No reason, no confidence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15700" y="495300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15700" y="5114925"/>
            <a:ext cx="45720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Repeated submissions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315700" y="5581650"/>
            <a:ext cx="4572000" cy="20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lang="en-US" sz="1275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Rewriting CV &amp; cover for each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982450" y="647700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F9B4A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982450" y="6638925"/>
            <a:ext cx="32385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Lost follow-up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982450" y="7105650"/>
            <a:ext cx="3238500" cy="20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lang="en-US" sz="1275">
                <a:solidFill>
                  <a:srgbClr val="D5DEEA"/>
                </a:solidFill>
                <a:latin typeface="Inter"/>
                <a:ea typeface="Inter"/>
                <a:cs typeface="Inter"/>
                <a:sym typeface="Inter"/>
              </a:rPr>
              <a:t>No single place to track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Personas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85925"/>
            <a:ext cx="16192500" cy="68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spc="-6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Four personas, one foundation.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3048000"/>
            <a:ext cx="4000500" cy="5143500"/>
            <a:chOff x="0" y="0"/>
            <a:chExt cx="5334000" cy="6858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0" cy="6858000"/>
            </a:xfrm>
            <a:custGeom>
              <a:avLst/>
              <a:gdLst/>
              <a:ahLst/>
              <a:cxnLst/>
              <a:rect l="l" t="t" r="r" b="b"/>
              <a:pathLst>
                <a:path w="5334000" h="6858000">
                  <a:moveTo>
                    <a:pt x="0" y="0"/>
                  </a:moveTo>
                  <a:lnTo>
                    <a:pt x="5334000" y="0"/>
                  </a:lnTo>
                  <a:lnTo>
                    <a:pt x="5334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3340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3048000"/>
            <a:ext cx="4000500" cy="76200"/>
            <a:chOff x="0" y="0"/>
            <a:chExt cx="5334000" cy="10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0" cy="101600"/>
            </a:xfrm>
            <a:custGeom>
              <a:avLst/>
              <a:gdLst/>
              <a:ahLst/>
              <a:cxnLst/>
              <a:rect l="l" t="t" r="r" b="b"/>
              <a:pathLst>
                <a:path w="5334000" h="101600">
                  <a:moveTo>
                    <a:pt x="0" y="0"/>
                  </a:moveTo>
                  <a:lnTo>
                    <a:pt x="5334000" y="0"/>
                  </a:lnTo>
                  <a:lnTo>
                    <a:pt x="533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33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6800" y="3505200"/>
            <a:ext cx="914400" cy="914400"/>
            <a:chOff x="0" y="0"/>
            <a:chExt cx="121920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273" y="0"/>
                    <a:pt x="1219200" y="272927"/>
                    <a:pt x="1219200" y="609600"/>
                  </a:cubicBezTo>
                  <a:cubicBezTo>
                    <a:pt x="1219200" y="946273"/>
                    <a:pt x="946273" y="1219200"/>
                    <a:pt x="609600" y="1219200"/>
                  </a:cubicBezTo>
                  <a:cubicBezTo>
                    <a:pt x="272927" y="1219200"/>
                    <a:pt x="0" y="946273"/>
                    <a:pt x="0" y="609600"/>
                  </a:cubicBez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E8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192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53000" y="3048000"/>
            <a:ext cx="4000500" cy="5143500"/>
            <a:chOff x="0" y="0"/>
            <a:chExt cx="5334000" cy="6858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34000" cy="6858000"/>
            </a:xfrm>
            <a:custGeom>
              <a:avLst/>
              <a:gdLst/>
              <a:ahLst/>
              <a:cxnLst/>
              <a:rect l="l" t="t" r="r" b="b"/>
              <a:pathLst>
                <a:path w="5334000" h="6858000">
                  <a:moveTo>
                    <a:pt x="0" y="0"/>
                  </a:moveTo>
                  <a:lnTo>
                    <a:pt x="5334000" y="0"/>
                  </a:lnTo>
                  <a:lnTo>
                    <a:pt x="5334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3340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53000" y="3048000"/>
            <a:ext cx="4000500" cy="76200"/>
            <a:chOff x="0" y="0"/>
            <a:chExt cx="5334000" cy="101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334000" cy="101600"/>
            </a:xfrm>
            <a:custGeom>
              <a:avLst/>
              <a:gdLst/>
              <a:ahLst/>
              <a:cxnLst/>
              <a:rect l="l" t="t" r="r" b="b"/>
              <a:pathLst>
                <a:path w="5334000" h="101600">
                  <a:moveTo>
                    <a:pt x="0" y="0"/>
                  </a:moveTo>
                  <a:lnTo>
                    <a:pt x="5334000" y="0"/>
                  </a:lnTo>
                  <a:lnTo>
                    <a:pt x="533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533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57800" y="3505200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273" y="0"/>
                    <a:pt x="1219200" y="272927"/>
                    <a:pt x="1219200" y="609600"/>
                  </a:cubicBezTo>
                  <a:cubicBezTo>
                    <a:pt x="1219200" y="946273"/>
                    <a:pt x="946273" y="1219200"/>
                    <a:pt x="609600" y="1219200"/>
                  </a:cubicBezTo>
                  <a:cubicBezTo>
                    <a:pt x="272927" y="1219200"/>
                    <a:pt x="0" y="946273"/>
                    <a:pt x="0" y="609600"/>
                  </a:cubicBez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E8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2192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44000" y="3048000"/>
            <a:ext cx="4000500" cy="5143500"/>
            <a:chOff x="0" y="0"/>
            <a:chExt cx="5334000" cy="6858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34000" cy="6858000"/>
            </a:xfrm>
            <a:custGeom>
              <a:avLst/>
              <a:gdLst/>
              <a:ahLst/>
              <a:cxnLst/>
              <a:rect l="l" t="t" r="r" b="b"/>
              <a:pathLst>
                <a:path w="5334000" h="6858000">
                  <a:moveTo>
                    <a:pt x="0" y="0"/>
                  </a:moveTo>
                  <a:lnTo>
                    <a:pt x="5334000" y="0"/>
                  </a:lnTo>
                  <a:lnTo>
                    <a:pt x="5334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3340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0" y="3048000"/>
            <a:ext cx="4000500" cy="76200"/>
            <a:chOff x="0" y="0"/>
            <a:chExt cx="5334000" cy="101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334000" cy="101600"/>
            </a:xfrm>
            <a:custGeom>
              <a:avLst/>
              <a:gdLst/>
              <a:ahLst/>
              <a:cxnLst/>
              <a:rect l="l" t="t" r="r" b="b"/>
              <a:pathLst>
                <a:path w="5334000" h="101600">
                  <a:moveTo>
                    <a:pt x="0" y="0"/>
                  </a:moveTo>
                  <a:lnTo>
                    <a:pt x="5334000" y="0"/>
                  </a:lnTo>
                  <a:lnTo>
                    <a:pt x="533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33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48800" y="3505200"/>
            <a:ext cx="914400" cy="914400"/>
            <a:chOff x="0" y="0"/>
            <a:chExt cx="121920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273" y="0"/>
                    <a:pt x="1219200" y="272927"/>
                    <a:pt x="1219200" y="609600"/>
                  </a:cubicBezTo>
                  <a:cubicBezTo>
                    <a:pt x="1219200" y="946273"/>
                    <a:pt x="946273" y="1219200"/>
                    <a:pt x="609600" y="1219200"/>
                  </a:cubicBezTo>
                  <a:cubicBezTo>
                    <a:pt x="272927" y="1219200"/>
                    <a:pt x="0" y="946273"/>
                    <a:pt x="0" y="609600"/>
                  </a:cubicBez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E8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2192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335000" y="3048000"/>
            <a:ext cx="4000500" cy="5143500"/>
            <a:chOff x="0" y="0"/>
            <a:chExt cx="5334000" cy="6858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334000" cy="6858000"/>
            </a:xfrm>
            <a:custGeom>
              <a:avLst/>
              <a:gdLst/>
              <a:ahLst/>
              <a:cxnLst/>
              <a:rect l="l" t="t" r="r" b="b"/>
              <a:pathLst>
                <a:path w="5334000" h="6858000">
                  <a:moveTo>
                    <a:pt x="0" y="0"/>
                  </a:moveTo>
                  <a:lnTo>
                    <a:pt x="5334000" y="0"/>
                  </a:lnTo>
                  <a:lnTo>
                    <a:pt x="5334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53340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335000" y="3048000"/>
            <a:ext cx="4000500" cy="76200"/>
            <a:chOff x="0" y="0"/>
            <a:chExt cx="5334000" cy="101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34000" cy="101600"/>
            </a:xfrm>
            <a:custGeom>
              <a:avLst/>
              <a:gdLst/>
              <a:ahLst/>
              <a:cxnLst/>
              <a:rect l="l" t="t" r="r" b="b"/>
              <a:pathLst>
                <a:path w="5334000" h="101600">
                  <a:moveTo>
                    <a:pt x="0" y="0"/>
                  </a:moveTo>
                  <a:lnTo>
                    <a:pt x="5334000" y="0"/>
                  </a:lnTo>
                  <a:lnTo>
                    <a:pt x="533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33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639800" y="3505200"/>
            <a:ext cx="914400" cy="914400"/>
            <a:chOff x="0" y="0"/>
            <a:chExt cx="12192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273" y="0"/>
                    <a:pt x="1219200" y="272927"/>
                    <a:pt x="1219200" y="609600"/>
                  </a:cubicBezTo>
                  <a:cubicBezTo>
                    <a:pt x="1219200" y="946273"/>
                    <a:pt x="946273" y="1219200"/>
                    <a:pt x="609600" y="1219200"/>
                  </a:cubicBezTo>
                  <a:cubicBezTo>
                    <a:pt x="272927" y="1219200"/>
                    <a:pt x="0" y="946273"/>
                    <a:pt x="0" y="609600"/>
                  </a:cubicBez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DE4D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2192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66800" y="4648200"/>
            <a:ext cx="33909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179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CANDIDATE · SENIOR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66800" y="4781550"/>
            <a:ext cx="339090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Markus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66800" y="5448300"/>
            <a:ext cx="33909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Selective senior engineer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66800" y="6267450"/>
            <a:ext cx="33909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Few worthwhile roles per month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66800" y="7029450"/>
            <a:ext cx="33909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Needs reasons, not noise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57800" y="4648200"/>
            <a:ext cx="33909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179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CANDIDATE · GRADUATE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257800" y="4781550"/>
            <a:ext cx="339090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Lena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257800" y="5448300"/>
            <a:ext cx="33909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Recent graduate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257800" y="6267450"/>
            <a:ext cx="33909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Strong transferable skills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257800" y="7029450"/>
            <a:ext cx="33909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Needs explained fit &amp; gaps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48800" y="4648200"/>
            <a:ext cx="33909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179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CANDIDATE · EXPAT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48800" y="4781550"/>
            <a:ext cx="339090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Andrei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448800" y="5448300"/>
            <a:ext cx="33909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Multilingual expat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448800" y="6267450"/>
            <a:ext cx="33909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DE/EN CV &amp; cover letter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448800" y="7029450"/>
            <a:ext cx="33909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Controls who sees what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639800" y="4648200"/>
            <a:ext cx="33909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179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RECRUITER · PILOT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639800" y="4781550"/>
            <a:ext cx="339090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Sofia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639800" y="5448300"/>
            <a:ext cx="33909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Verified headhunter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639800" y="6267450"/>
            <a:ext cx="33909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Wants high-fit, available now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639800" y="7029450"/>
            <a:ext cx="33909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Invitation-only, authorised JD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762000" y="8572500"/>
            <a:ext cx="16764000" cy="533400"/>
            <a:chOff x="0" y="0"/>
            <a:chExt cx="22352000" cy="7112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2352000" cy="711200"/>
            </a:xfrm>
            <a:custGeom>
              <a:avLst/>
              <a:gdLst/>
              <a:ahLst/>
              <a:cxnLst/>
              <a:rect l="l" t="t" r="r" b="b"/>
              <a:pathLst>
                <a:path w="22352000" h="711200">
                  <a:moveTo>
                    <a:pt x="0" y="0"/>
                  </a:moveTo>
                  <a:lnTo>
                    <a:pt x="22352000" y="0"/>
                  </a:lnTo>
                  <a:lnTo>
                    <a:pt x="2235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2235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762000" y="8734425"/>
            <a:ext cx="16764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 spc="36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ONE PLATFORM · EXPLAINED MATCHING · CANDIDATE CONTROL</a:t>
            </a:r>
          </a:p>
        </p:txBody>
      </p:sp>
      <p:pic>
        <p:nvPicPr>
          <p:cNvPr id="8960" name="Picture 8959">
            <a:extLst>
              <a:ext uri="{FF2B5EF4-FFF2-40B4-BE49-F238E27FC236}">
                <a16:creationId xmlns:a16="http://schemas.microsoft.com/office/drawing/2014/main" id="{D248828C-1F20-5370-15D9-6D42AA39C24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439775" y="3191828"/>
            <a:ext cx="1332000" cy="1332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8963" name="Picture 8962">
            <a:extLst>
              <a:ext uri="{FF2B5EF4-FFF2-40B4-BE49-F238E27FC236}">
                <a16:creationId xmlns:a16="http://schemas.microsoft.com/office/drawing/2014/main" id="{CEAD7323-9925-04EC-901C-0478228943E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2709" r="14791"/>
          <a:stretch>
            <a:fillRect/>
          </a:stretch>
        </p:blipFill>
        <p:spPr>
          <a:xfrm>
            <a:off x="9258300" y="3169480"/>
            <a:ext cx="1332000" cy="1332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8965" name="Picture 8964">
            <a:extLst>
              <a:ext uri="{FF2B5EF4-FFF2-40B4-BE49-F238E27FC236}">
                <a16:creationId xmlns:a16="http://schemas.microsoft.com/office/drawing/2014/main" id="{88652996-CBD5-767F-CD3E-206DD2E98435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077794" y="3153728"/>
            <a:ext cx="1332000" cy="1332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972" name="Picture 8971">
            <a:extLst>
              <a:ext uri="{FF2B5EF4-FFF2-40B4-BE49-F238E27FC236}">
                <a16:creationId xmlns:a16="http://schemas.microsoft.com/office/drawing/2014/main" id="{95E2742D-5D77-2D1F-7DF2-A459C842BAFA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 l="15000" t="9311" r="53551" b="41862"/>
          <a:stretch>
            <a:fillRect/>
          </a:stretch>
        </p:blipFill>
        <p:spPr>
          <a:xfrm>
            <a:off x="952500" y="3171825"/>
            <a:ext cx="1332000" cy="1332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Journey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CANDIDATE-CONTROLLED JOURNEY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85925"/>
            <a:ext cx="15240000" cy="68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spc="-6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Upload, understand, prepare, apply.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3048000"/>
            <a:ext cx="4048125" cy="1714500"/>
            <a:chOff x="0" y="0"/>
            <a:chExt cx="5397500" cy="228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97500" cy="2286000"/>
            </a:xfrm>
            <a:custGeom>
              <a:avLst/>
              <a:gdLst/>
              <a:ahLst/>
              <a:cxnLst/>
              <a:rect l="l" t="t" r="r" b="b"/>
              <a:pathLst>
                <a:path w="5397500" h="2286000">
                  <a:moveTo>
                    <a:pt x="0" y="0"/>
                  </a:moveTo>
                  <a:lnTo>
                    <a:pt x="5397500" y="0"/>
                  </a:lnTo>
                  <a:lnTo>
                    <a:pt x="5397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3975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3048000"/>
            <a:ext cx="38100" cy="1714500"/>
            <a:chOff x="0" y="0"/>
            <a:chExt cx="50800" cy="2286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00" cy="2286000"/>
            </a:xfrm>
            <a:custGeom>
              <a:avLst/>
              <a:gdLst/>
              <a:ahLst/>
              <a:cxnLst/>
              <a:rect l="l" t="t" r="r" b="b"/>
              <a:pathLst>
                <a:path w="50800" h="2286000">
                  <a:moveTo>
                    <a:pt x="0" y="0"/>
                  </a:moveTo>
                  <a:lnTo>
                    <a:pt x="50800" y="0"/>
                  </a:lnTo>
                  <a:lnTo>
                    <a:pt x="5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08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4829175" y="3905250"/>
            <a:ext cx="1524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18" name="Group 18"/>
          <p:cNvGrpSpPr/>
          <p:nvPr/>
        </p:nvGrpSpPr>
        <p:grpSpPr>
          <a:xfrm>
            <a:off x="5000625" y="3048000"/>
            <a:ext cx="4048125" cy="1714500"/>
            <a:chOff x="0" y="0"/>
            <a:chExt cx="5397500" cy="2286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97500" cy="2286000"/>
            </a:xfrm>
            <a:custGeom>
              <a:avLst/>
              <a:gdLst/>
              <a:ahLst/>
              <a:cxnLst/>
              <a:rect l="l" t="t" r="r" b="b"/>
              <a:pathLst>
                <a:path w="5397500" h="2286000">
                  <a:moveTo>
                    <a:pt x="0" y="0"/>
                  </a:moveTo>
                  <a:lnTo>
                    <a:pt x="5397500" y="0"/>
                  </a:lnTo>
                  <a:lnTo>
                    <a:pt x="5397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3975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000625" y="3048000"/>
            <a:ext cx="38100" cy="1714500"/>
            <a:chOff x="0" y="0"/>
            <a:chExt cx="50800" cy="2286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800" cy="2286000"/>
            </a:xfrm>
            <a:custGeom>
              <a:avLst/>
              <a:gdLst/>
              <a:ahLst/>
              <a:cxnLst/>
              <a:rect l="l" t="t" r="r" b="b"/>
              <a:pathLst>
                <a:path w="50800" h="2286000">
                  <a:moveTo>
                    <a:pt x="0" y="0"/>
                  </a:moveTo>
                  <a:lnTo>
                    <a:pt x="50800" y="0"/>
                  </a:lnTo>
                  <a:lnTo>
                    <a:pt x="5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08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9067800" y="3905250"/>
            <a:ext cx="1524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25" name="Group 25"/>
          <p:cNvGrpSpPr/>
          <p:nvPr/>
        </p:nvGrpSpPr>
        <p:grpSpPr>
          <a:xfrm>
            <a:off x="9239250" y="3048000"/>
            <a:ext cx="4048125" cy="1714500"/>
            <a:chOff x="0" y="0"/>
            <a:chExt cx="5397500" cy="2286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97500" cy="2286000"/>
            </a:xfrm>
            <a:custGeom>
              <a:avLst/>
              <a:gdLst/>
              <a:ahLst/>
              <a:cxnLst/>
              <a:rect l="l" t="t" r="r" b="b"/>
              <a:pathLst>
                <a:path w="5397500" h="2286000">
                  <a:moveTo>
                    <a:pt x="0" y="0"/>
                  </a:moveTo>
                  <a:lnTo>
                    <a:pt x="5397500" y="0"/>
                  </a:lnTo>
                  <a:lnTo>
                    <a:pt x="5397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3975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239250" y="3048000"/>
            <a:ext cx="38100" cy="1714500"/>
            <a:chOff x="0" y="0"/>
            <a:chExt cx="50800" cy="2286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800" cy="2286000"/>
            </a:xfrm>
            <a:custGeom>
              <a:avLst/>
              <a:gdLst/>
              <a:ahLst/>
              <a:cxnLst/>
              <a:rect l="l" t="t" r="r" b="b"/>
              <a:pathLst>
                <a:path w="50800" h="2286000">
                  <a:moveTo>
                    <a:pt x="0" y="0"/>
                  </a:moveTo>
                  <a:lnTo>
                    <a:pt x="50800" y="0"/>
                  </a:lnTo>
                  <a:lnTo>
                    <a:pt x="5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08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1" name="AutoShape 31"/>
          <p:cNvSpPr/>
          <p:nvPr/>
        </p:nvSpPr>
        <p:spPr>
          <a:xfrm>
            <a:off x="13306425" y="3905250"/>
            <a:ext cx="1524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32" name="Group 32"/>
          <p:cNvGrpSpPr/>
          <p:nvPr/>
        </p:nvGrpSpPr>
        <p:grpSpPr>
          <a:xfrm>
            <a:off x="13477875" y="3048000"/>
            <a:ext cx="4048125" cy="1714500"/>
            <a:chOff x="0" y="0"/>
            <a:chExt cx="5397500" cy="2286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397500" cy="2286000"/>
            </a:xfrm>
            <a:custGeom>
              <a:avLst/>
              <a:gdLst/>
              <a:ahLst/>
              <a:cxnLst/>
              <a:rect l="l" t="t" r="r" b="b"/>
              <a:pathLst>
                <a:path w="5397500" h="2286000">
                  <a:moveTo>
                    <a:pt x="0" y="0"/>
                  </a:moveTo>
                  <a:lnTo>
                    <a:pt x="5397500" y="0"/>
                  </a:lnTo>
                  <a:lnTo>
                    <a:pt x="5397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3975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477875" y="3048000"/>
            <a:ext cx="38100" cy="1714500"/>
            <a:chOff x="0" y="0"/>
            <a:chExt cx="50800" cy="2286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800" cy="2286000"/>
            </a:xfrm>
            <a:custGeom>
              <a:avLst/>
              <a:gdLst/>
              <a:ahLst/>
              <a:cxnLst/>
              <a:rect l="l" t="t" r="r" b="b"/>
              <a:pathLst>
                <a:path w="50800" h="2286000">
                  <a:moveTo>
                    <a:pt x="0" y="0"/>
                  </a:moveTo>
                  <a:lnTo>
                    <a:pt x="50800" y="0"/>
                  </a:lnTo>
                  <a:lnTo>
                    <a:pt x="5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08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5143500"/>
            <a:ext cx="4048125" cy="1714500"/>
            <a:chOff x="0" y="0"/>
            <a:chExt cx="5397500" cy="2286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397500" cy="2286000"/>
            </a:xfrm>
            <a:custGeom>
              <a:avLst/>
              <a:gdLst/>
              <a:ahLst/>
              <a:cxnLst/>
              <a:rect l="l" t="t" r="r" b="b"/>
              <a:pathLst>
                <a:path w="5397500" h="2286000">
                  <a:moveTo>
                    <a:pt x="0" y="0"/>
                  </a:moveTo>
                  <a:lnTo>
                    <a:pt x="5397500" y="0"/>
                  </a:lnTo>
                  <a:lnTo>
                    <a:pt x="5397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53975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5143500"/>
            <a:ext cx="38100" cy="1714500"/>
            <a:chOff x="0" y="0"/>
            <a:chExt cx="50800" cy="2286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0800" cy="2286000"/>
            </a:xfrm>
            <a:custGeom>
              <a:avLst/>
              <a:gdLst/>
              <a:ahLst/>
              <a:cxnLst/>
              <a:rect l="l" t="t" r="r" b="b"/>
              <a:pathLst>
                <a:path w="50800" h="2286000">
                  <a:moveTo>
                    <a:pt x="0" y="0"/>
                  </a:moveTo>
                  <a:lnTo>
                    <a:pt x="50800" y="0"/>
                  </a:lnTo>
                  <a:lnTo>
                    <a:pt x="5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08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" name="AutoShape 44"/>
          <p:cNvSpPr/>
          <p:nvPr/>
        </p:nvSpPr>
        <p:spPr>
          <a:xfrm>
            <a:off x="4829175" y="6000750"/>
            <a:ext cx="1524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45" name="Group 45"/>
          <p:cNvGrpSpPr/>
          <p:nvPr/>
        </p:nvGrpSpPr>
        <p:grpSpPr>
          <a:xfrm>
            <a:off x="5000625" y="5143500"/>
            <a:ext cx="4048125" cy="1714500"/>
            <a:chOff x="0" y="0"/>
            <a:chExt cx="5397500" cy="2286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397500" cy="2286000"/>
            </a:xfrm>
            <a:custGeom>
              <a:avLst/>
              <a:gdLst/>
              <a:ahLst/>
              <a:cxnLst/>
              <a:rect l="l" t="t" r="r" b="b"/>
              <a:pathLst>
                <a:path w="5397500" h="2286000">
                  <a:moveTo>
                    <a:pt x="0" y="0"/>
                  </a:moveTo>
                  <a:lnTo>
                    <a:pt x="5397500" y="0"/>
                  </a:lnTo>
                  <a:lnTo>
                    <a:pt x="5397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53975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000625" y="5143500"/>
            <a:ext cx="38100" cy="1714500"/>
            <a:chOff x="0" y="0"/>
            <a:chExt cx="50800" cy="2286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0800" cy="2286000"/>
            </a:xfrm>
            <a:custGeom>
              <a:avLst/>
              <a:gdLst/>
              <a:ahLst/>
              <a:cxnLst/>
              <a:rect l="l" t="t" r="r" b="b"/>
              <a:pathLst>
                <a:path w="50800" h="2286000">
                  <a:moveTo>
                    <a:pt x="0" y="0"/>
                  </a:moveTo>
                  <a:lnTo>
                    <a:pt x="50800" y="0"/>
                  </a:lnTo>
                  <a:lnTo>
                    <a:pt x="5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508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" name="AutoShape 51"/>
          <p:cNvSpPr/>
          <p:nvPr/>
        </p:nvSpPr>
        <p:spPr>
          <a:xfrm>
            <a:off x="9067800" y="6000750"/>
            <a:ext cx="1524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52" name="Group 52"/>
          <p:cNvGrpSpPr/>
          <p:nvPr/>
        </p:nvGrpSpPr>
        <p:grpSpPr>
          <a:xfrm>
            <a:off x="9239250" y="5143500"/>
            <a:ext cx="4048125" cy="1714500"/>
            <a:chOff x="0" y="0"/>
            <a:chExt cx="5397500" cy="2286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397500" cy="2286000"/>
            </a:xfrm>
            <a:custGeom>
              <a:avLst/>
              <a:gdLst/>
              <a:ahLst/>
              <a:cxnLst/>
              <a:rect l="l" t="t" r="r" b="b"/>
              <a:pathLst>
                <a:path w="5397500" h="2286000">
                  <a:moveTo>
                    <a:pt x="0" y="0"/>
                  </a:moveTo>
                  <a:lnTo>
                    <a:pt x="5397500" y="0"/>
                  </a:lnTo>
                  <a:lnTo>
                    <a:pt x="5397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53975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239250" y="5143500"/>
            <a:ext cx="38100" cy="1714500"/>
            <a:chOff x="0" y="0"/>
            <a:chExt cx="50800" cy="2286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0800" cy="2286000"/>
            </a:xfrm>
            <a:custGeom>
              <a:avLst/>
              <a:gdLst/>
              <a:ahLst/>
              <a:cxnLst/>
              <a:rect l="l" t="t" r="r" b="b"/>
              <a:pathLst>
                <a:path w="50800" h="2286000">
                  <a:moveTo>
                    <a:pt x="0" y="0"/>
                  </a:moveTo>
                  <a:lnTo>
                    <a:pt x="50800" y="0"/>
                  </a:lnTo>
                  <a:lnTo>
                    <a:pt x="5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508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8" name="AutoShape 58"/>
          <p:cNvSpPr/>
          <p:nvPr/>
        </p:nvSpPr>
        <p:spPr>
          <a:xfrm>
            <a:off x="13306425" y="6000750"/>
            <a:ext cx="1524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59" name="Group 59"/>
          <p:cNvGrpSpPr/>
          <p:nvPr/>
        </p:nvGrpSpPr>
        <p:grpSpPr>
          <a:xfrm>
            <a:off x="13477875" y="5143500"/>
            <a:ext cx="4048125" cy="1714500"/>
            <a:chOff x="0" y="0"/>
            <a:chExt cx="5397500" cy="22860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397500" cy="2286000"/>
            </a:xfrm>
            <a:custGeom>
              <a:avLst/>
              <a:gdLst/>
              <a:ahLst/>
              <a:cxnLst/>
              <a:rect l="l" t="t" r="r" b="b"/>
              <a:pathLst>
                <a:path w="5397500" h="2286000">
                  <a:moveTo>
                    <a:pt x="0" y="0"/>
                  </a:moveTo>
                  <a:lnTo>
                    <a:pt x="5397500" y="0"/>
                  </a:lnTo>
                  <a:lnTo>
                    <a:pt x="5397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53975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477875" y="5143500"/>
            <a:ext cx="38100" cy="1714500"/>
            <a:chOff x="0" y="0"/>
            <a:chExt cx="50800" cy="2286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0800" cy="2286000"/>
            </a:xfrm>
            <a:custGeom>
              <a:avLst/>
              <a:gdLst/>
              <a:ahLst/>
              <a:cxnLst/>
              <a:rect l="l" t="t" r="r" b="b"/>
              <a:pathLst>
                <a:path w="50800" h="2286000">
                  <a:moveTo>
                    <a:pt x="0" y="0"/>
                  </a:moveTo>
                  <a:lnTo>
                    <a:pt x="50800" y="0"/>
                  </a:lnTo>
                  <a:lnTo>
                    <a:pt x="5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508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5" name="AutoShape 65"/>
          <p:cNvSpPr/>
          <p:nvPr/>
        </p:nvSpPr>
        <p:spPr>
          <a:xfrm>
            <a:off x="17430750" y="4857750"/>
            <a:ext cx="0" cy="19050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Box 66"/>
          <p:cNvSpPr txBox="1"/>
          <p:nvPr/>
        </p:nvSpPr>
        <p:spPr>
          <a:xfrm>
            <a:off x="952500" y="321945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52500" y="3495675"/>
            <a:ext cx="366712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Upload CV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52500" y="4171950"/>
            <a:ext cx="36671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 / EN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191125" y="321945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191125" y="3495675"/>
            <a:ext cx="366712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Check parsed profile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191125" y="4171950"/>
            <a:ext cx="36671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Edit &amp; confirm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429750" y="321945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429750" y="3495675"/>
            <a:ext cx="366712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Discover roles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429750" y="4171950"/>
            <a:ext cx="36671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Bundesagentur lists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3668375" y="321945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668375" y="3495675"/>
            <a:ext cx="366712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Fit &amp; why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3668375" y="4171950"/>
            <a:ext cx="36671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Free score + reasons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52500" y="531495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52500" y="5591175"/>
            <a:ext cx="366712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Prepare strategy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2500" y="6267450"/>
            <a:ext cx="36671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credit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191125" y="531495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191125" y="5591175"/>
            <a:ext cx="366712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Review CV / cover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191125" y="6267450"/>
            <a:ext cx="36671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credit each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429750" y="531495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429750" y="5591175"/>
            <a:ext cx="366712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Apply on portal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429750" y="6267450"/>
            <a:ext cx="36671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Employer site · no auto-apply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3668375" y="5314950"/>
            <a:ext cx="571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3668375" y="5591175"/>
            <a:ext cx="366712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Confirm &amp; track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3668375" y="6267450"/>
            <a:ext cx="36671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Status history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762000" y="7239000"/>
            <a:ext cx="3230880" cy="1047750"/>
            <a:chOff x="0" y="0"/>
            <a:chExt cx="4307840" cy="13970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307840" cy="1397000"/>
            </a:xfrm>
            <a:custGeom>
              <a:avLst/>
              <a:gdLst/>
              <a:ahLst/>
              <a:cxnLst/>
              <a:rect l="l" t="t" r="r" b="b"/>
              <a:pathLst>
                <a:path w="4307840" h="1397000">
                  <a:moveTo>
                    <a:pt x="0" y="0"/>
                  </a:moveTo>
                  <a:lnTo>
                    <a:pt x="4307840" y="0"/>
                  </a:lnTo>
                  <a:lnTo>
                    <a:pt x="430784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430784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4145280" y="7239000"/>
            <a:ext cx="3230880" cy="1047750"/>
            <a:chOff x="0" y="0"/>
            <a:chExt cx="4307840" cy="13970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307840" cy="1397000"/>
            </a:xfrm>
            <a:custGeom>
              <a:avLst/>
              <a:gdLst/>
              <a:ahLst/>
              <a:cxnLst/>
              <a:rect l="l" t="t" r="r" b="b"/>
              <a:pathLst>
                <a:path w="4307840" h="1397000">
                  <a:moveTo>
                    <a:pt x="0" y="0"/>
                  </a:moveTo>
                  <a:lnTo>
                    <a:pt x="4307840" y="0"/>
                  </a:lnTo>
                  <a:lnTo>
                    <a:pt x="430784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430784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528560" y="7239000"/>
            <a:ext cx="3230880" cy="1047750"/>
            <a:chOff x="0" y="0"/>
            <a:chExt cx="4307840" cy="13970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307840" cy="1397000"/>
            </a:xfrm>
            <a:custGeom>
              <a:avLst/>
              <a:gdLst/>
              <a:ahLst/>
              <a:cxnLst/>
              <a:rect l="l" t="t" r="r" b="b"/>
              <a:pathLst>
                <a:path w="4307840" h="1397000">
                  <a:moveTo>
                    <a:pt x="0" y="0"/>
                  </a:moveTo>
                  <a:lnTo>
                    <a:pt x="4307840" y="0"/>
                  </a:lnTo>
                  <a:lnTo>
                    <a:pt x="430784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430784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911840" y="7239000"/>
            <a:ext cx="3230880" cy="1047750"/>
            <a:chOff x="0" y="0"/>
            <a:chExt cx="4307840" cy="13970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4307840" cy="1397000"/>
            </a:xfrm>
            <a:custGeom>
              <a:avLst/>
              <a:gdLst/>
              <a:ahLst/>
              <a:cxnLst/>
              <a:rect l="l" t="t" r="r" b="b"/>
              <a:pathLst>
                <a:path w="4307840" h="1397000">
                  <a:moveTo>
                    <a:pt x="0" y="0"/>
                  </a:moveTo>
                  <a:lnTo>
                    <a:pt x="4307840" y="0"/>
                  </a:lnTo>
                  <a:lnTo>
                    <a:pt x="430784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DE4D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430784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4295120" y="7239000"/>
            <a:ext cx="3230880" cy="1047750"/>
            <a:chOff x="0" y="0"/>
            <a:chExt cx="4307840" cy="13970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4307840" cy="1397000"/>
            </a:xfrm>
            <a:custGeom>
              <a:avLst/>
              <a:gdLst/>
              <a:ahLst/>
              <a:cxnLst/>
              <a:rect l="l" t="t" r="r" b="b"/>
              <a:pathLst>
                <a:path w="4307840" h="1397000">
                  <a:moveTo>
                    <a:pt x="0" y="0"/>
                  </a:moveTo>
                  <a:lnTo>
                    <a:pt x="4307840" y="0"/>
                  </a:lnTo>
                  <a:lnTo>
                    <a:pt x="430784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430784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933450" y="7391400"/>
            <a:ext cx="288798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215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GATE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33450" y="7629525"/>
            <a:ext cx="2887980" cy="22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3"/>
              </a:lnSpc>
            </a:pPr>
            <a:r>
              <a:rPr lang="en-US" sz="1275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Completeness ≥ 90% before scoring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316730" y="7391400"/>
            <a:ext cx="288798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215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FREE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316730" y="7629525"/>
            <a:ext cx="2887980" cy="22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3"/>
              </a:lnSpc>
            </a:pPr>
            <a:r>
              <a:rPr lang="en-US" sz="1275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Scoring &amp; explanation always free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700010" y="7391400"/>
            <a:ext cx="288798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215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CREDITS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700010" y="7629525"/>
            <a:ext cx="2887980" cy="22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3"/>
              </a:lnSpc>
            </a:pPr>
            <a:r>
              <a:rPr lang="en-US" sz="1275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Prepare · CV · Cover — 1 each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1083290" y="7391400"/>
            <a:ext cx="288798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215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PROPOSED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083290" y="7629525"/>
            <a:ext cx="2887980" cy="22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3"/>
              </a:lnSpc>
            </a:pPr>
            <a:r>
              <a:rPr lang="en-US" sz="1275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Interview prep · Should · 1 credit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4466570" y="7391400"/>
            <a:ext cx="288798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215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POLICY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466570" y="7629525"/>
            <a:ext cx="2887980" cy="22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3"/>
              </a:lnSpc>
            </a:pPr>
            <a:r>
              <a:rPr lang="en-US" sz="1275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No auto-apply · human decision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Fit Card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EXPLAINED MATCHING · ILLUSTRATIVE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95450"/>
            <a:ext cx="8572500" cy="194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 high score</a:t>
            </a:r>
          </a:p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needs evidence.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4762500"/>
            <a:ext cx="3657600" cy="331470"/>
            <a:chOff x="0" y="0"/>
            <a:chExt cx="3810000" cy="44196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3810000" cy="330200"/>
              <a:chOff x="0" y="0"/>
              <a:chExt cx="3810000" cy="330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8100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3302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330200"/>
                    </a:lnTo>
                    <a:lnTo>
                      <a:pt x="0" y="330200"/>
                    </a:lnTo>
                    <a:close/>
                  </a:path>
                </a:pathLst>
              </a:custGeom>
              <a:solidFill>
                <a:srgbClr val="FDE4D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8100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52400" y="69850"/>
              <a:ext cx="3505200" cy="372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55"/>
                </a:lnSpc>
              </a:pPr>
              <a:r>
                <a:rPr lang="en-US" sz="825" b="1" spc="165">
                  <a:solidFill>
                    <a:srgbClr val="B83A1C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GATE · FIT ≥ 90% RECOMMENDED BAND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62000" y="4238625"/>
            <a:ext cx="7810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dirty="0">
                <a:solidFill>
                  <a:srgbClr val="1D3D63"/>
                </a:solidFill>
                <a:latin typeface="Inter"/>
                <a:ea typeface="Inter"/>
                <a:cs typeface="Inter"/>
                <a:sym typeface="Inter"/>
              </a:rPr>
              <a:t>Score ≠ hiring probability. Weights unvalidated; protected attributes excluded.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" y="5505450"/>
            <a:ext cx="381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SCORING CRITERIA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62000" y="6000750"/>
            <a:ext cx="76200" cy="76200"/>
            <a:chOff x="0" y="0"/>
            <a:chExt cx="101600" cy="101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cubicBezTo>
                    <a:pt x="101600" y="78856"/>
                    <a:pt x="78856" y="101600"/>
                    <a:pt x="50800" y="101600"/>
                  </a:cubicBez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6419850"/>
            <a:ext cx="76200" cy="76200"/>
            <a:chOff x="0" y="0"/>
            <a:chExt cx="101600" cy="101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cubicBezTo>
                    <a:pt x="101600" y="78856"/>
                    <a:pt x="78856" y="101600"/>
                    <a:pt x="50800" y="101600"/>
                  </a:cubicBez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6838950"/>
            <a:ext cx="76200" cy="76200"/>
            <a:chOff x="0" y="0"/>
            <a:chExt cx="101600" cy="101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cubicBezTo>
                    <a:pt x="101600" y="78856"/>
                    <a:pt x="78856" y="101600"/>
                    <a:pt x="50800" y="101600"/>
                  </a:cubicBez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7258050"/>
            <a:ext cx="76200" cy="76200"/>
            <a:chOff x="0" y="0"/>
            <a:chExt cx="101600" cy="101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cubicBezTo>
                    <a:pt x="101600" y="78856"/>
                    <a:pt x="78856" y="101600"/>
                    <a:pt x="50800" y="101600"/>
                  </a:cubicBez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7677150"/>
            <a:ext cx="76200" cy="76200"/>
            <a:chOff x="0" y="0"/>
            <a:chExt cx="101600" cy="101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cubicBezTo>
                    <a:pt x="101600" y="78856"/>
                    <a:pt x="78856" y="101600"/>
                    <a:pt x="50800" y="101600"/>
                  </a:cubicBez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8096250"/>
            <a:ext cx="76200" cy="76200"/>
            <a:chOff x="0" y="0"/>
            <a:chExt cx="101600" cy="101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cubicBezTo>
                    <a:pt x="101600" y="78856"/>
                    <a:pt x="78856" y="101600"/>
                    <a:pt x="50800" y="101600"/>
                  </a:cubicBez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47750" y="5867400"/>
            <a:ext cx="2857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Skills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7750" y="6286500"/>
            <a:ext cx="2857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Experience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750" y="6705600"/>
            <a:ext cx="2857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Domain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7750" y="7124700"/>
            <a:ext cx="2857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Languages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7750" y="7543800"/>
            <a:ext cx="2857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7750" y="7962900"/>
            <a:ext cx="2857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Education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62000" y="8953500"/>
            <a:ext cx="3657600" cy="247650"/>
            <a:chOff x="0" y="0"/>
            <a:chExt cx="3810000" cy="3302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3810000" cy="330200"/>
              <a:chOff x="0" y="0"/>
              <a:chExt cx="3810000" cy="330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38100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3302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330200"/>
                    </a:lnTo>
                    <a:lnTo>
                      <a:pt x="0" y="330200"/>
                    </a:lnTo>
                    <a:close/>
                  </a:path>
                </a:pathLst>
              </a:custGeom>
              <a:solidFill>
                <a:srgbClr val="FDE4D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38100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52400" y="69850"/>
              <a:ext cx="3505200" cy="191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900" b="1" spc="179">
                  <a:solidFill>
                    <a:srgbClr val="B83A1C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US3 · EXPLAINS SCORES &lt; 70%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906000" y="1714500"/>
            <a:ext cx="7620000" cy="7239000"/>
            <a:chOff x="0" y="0"/>
            <a:chExt cx="10160000" cy="9652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160000" cy="9652000"/>
            </a:xfrm>
            <a:custGeom>
              <a:avLst/>
              <a:gdLst/>
              <a:ahLst/>
              <a:cxnLst/>
              <a:rect l="l" t="t" r="r" b="b"/>
              <a:pathLst>
                <a:path w="10160000" h="96520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160000" cy="969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363200" y="2171700"/>
            <a:ext cx="2095500" cy="2095500"/>
            <a:chOff x="0" y="0"/>
            <a:chExt cx="2794000" cy="2794000"/>
          </a:xfrm>
        </p:grpSpPr>
        <p:pic>
          <p:nvPicPr>
            <p:cNvPr id="45" name="Reticle motif" descr="CareerPilot reticl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794000" cy="2794000"/>
            </a:xfrm>
            <a:prstGeom prst="rect">
              <a:avLst/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0" y="-38100"/>
              <a:ext cx="2794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2763500" y="2152650"/>
            <a:ext cx="3810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FIT SCORE · ILLUSTRATIVE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763500" y="2400300"/>
            <a:ext cx="4381500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Senior Backend Engineer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763500" y="3238500"/>
            <a:ext cx="4381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Confidence  ·  High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763500" y="3524250"/>
            <a:ext cx="4381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Recommended band · Fit ≥ 90%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363200" y="4743450"/>
            <a:ext cx="32385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STRENGTHS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363200" y="4991100"/>
            <a:ext cx="3238500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Python, PostgreSQL, distributed systems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363200" y="5562600"/>
            <a:ext cx="3238500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7 yrs in fintech · DE B2, EN C1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906500" y="4743450"/>
            <a:ext cx="32385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GAPS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906500" y="4991100"/>
            <a:ext cx="3238500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Limited Kubernetes production exposure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906500" y="5562600"/>
            <a:ext cx="3238500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No prior team lead responsibility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363200" y="6457950"/>
            <a:ext cx="66675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MUST-HAVES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363200" y="6724650"/>
            <a:ext cx="66675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56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EU work authorisation   ✓     Backend ≥ 5y   ✓     DE on-site 2d/wk   ✓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0210800" y="7524750"/>
            <a:ext cx="7010400" cy="1047750"/>
            <a:chOff x="0" y="0"/>
            <a:chExt cx="9347200" cy="13970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347200" cy="1397000"/>
            </a:xfrm>
            <a:custGeom>
              <a:avLst/>
              <a:gdLst/>
              <a:ahLst/>
              <a:cxnLst/>
              <a:rect l="l" t="t" r="r" b="b"/>
              <a:pathLst>
                <a:path w="9347200" h="1397000">
                  <a:moveTo>
                    <a:pt x="0" y="0"/>
                  </a:moveTo>
                  <a:lnTo>
                    <a:pt x="9347200" y="0"/>
                  </a:lnTo>
                  <a:lnTo>
                    <a:pt x="93472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DE4D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93472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0363200" y="7696200"/>
            <a:ext cx="6667500" cy="35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05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Caveat · Weights unvalidated; protected attributes excluded; score is not hiring probability.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· Recruiter Pilot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C4D7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11430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F254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VERIFIED-RECRUITER PILOT · INVITATION ONLY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95450"/>
            <a:ext cx="14287500" cy="194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Sofia brings</a:t>
            </a:r>
          </a:p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the job description.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4000500"/>
            <a:ext cx="16764000" cy="723900"/>
            <a:chOff x="0" y="0"/>
            <a:chExt cx="22352000" cy="965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352000" cy="965200"/>
            </a:xfrm>
            <a:custGeom>
              <a:avLst/>
              <a:gdLst/>
              <a:ahLst/>
              <a:cxnLst/>
              <a:rect l="l" t="t" r="r" b="b"/>
              <a:pathLst>
                <a:path w="22352000" h="965200">
                  <a:moveTo>
                    <a:pt x="0" y="0"/>
                  </a:moveTo>
                  <a:lnTo>
                    <a:pt x="22352000" y="0"/>
                  </a:lnTo>
                  <a:lnTo>
                    <a:pt x="22352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1D3D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352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4000500"/>
            <a:ext cx="57150" cy="723900"/>
            <a:chOff x="0" y="0"/>
            <a:chExt cx="76200" cy="965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200" cy="965200"/>
            </a:xfrm>
            <a:custGeom>
              <a:avLst/>
              <a:gdLst/>
              <a:ahLst/>
              <a:cxnLst/>
              <a:rect l="l" t="t" r="r" b="b"/>
              <a:pathLst>
                <a:path w="76200" h="965200">
                  <a:moveTo>
                    <a:pt x="0" y="0"/>
                  </a:moveTo>
                  <a:lnTo>
                    <a:pt x="76200" y="0"/>
                  </a:lnTo>
                  <a:lnTo>
                    <a:pt x="762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62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19250" y="4800600"/>
            <a:ext cx="15049500" cy="723900"/>
            <a:chOff x="0" y="0"/>
            <a:chExt cx="20066000" cy="965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066000" cy="965200"/>
            </a:xfrm>
            <a:custGeom>
              <a:avLst/>
              <a:gdLst/>
              <a:ahLst/>
              <a:cxnLst/>
              <a:rect l="l" t="t" r="r" b="b"/>
              <a:pathLst>
                <a:path w="20066000" h="965200">
                  <a:moveTo>
                    <a:pt x="0" y="0"/>
                  </a:moveTo>
                  <a:lnTo>
                    <a:pt x="20066000" y="0"/>
                  </a:lnTo>
                  <a:lnTo>
                    <a:pt x="20066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1D3D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066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19250" y="4800600"/>
            <a:ext cx="57150" cy="723900"/>
            <a:chOff x="0" y="0"/>
            <a:chExt cx="76200" cy="965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6200" cy="965200"/>
            </a:xfrm>
            <a:custGeom>
              <a:avLst/>
              <a:gdLst/>
              <a:ahLst/>
              <a:cxnLst/>
              <a:rect l="l" t="t" r="r" b="b"/>
              <a:pathLst>
                <a:path w="76200" h="965200">
                  <a:moveTo>
                    <a:pt x="0" y="0"/>
                  </a:moveTo>
                  <a:lnTo>
                    <a:pt x="76200" y="0"/>
                  </a:lnTo>
                  <a:lnTo>
                    <a:pt x="762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62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476500" y="5600700"/>
            <a:ext cx="13335000" cy="723900"/>
            <a:chOff x="0" y="0"/>
            <a:chExt cx="17780000" cy="965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780000" cy="965200"/>
            </a:xfrm>
            <a:custGeom>
              <a:avLst/>
              <a:gdLst/>
              <a:ahLst/>
              <a:cxnLst/>
              <a:rect l="l" t="t" r="r" b="b"/>
              <a:pathLst>
                <a:path w="17780000" h="965200">
                  <a:moveTo>
                    <a:pt x="0" y="0"/>
                  </a:moveTo>
                  <a:lnTo>
                    <a:pt x="17780000" y="0"/>
                  </a:lnTo>
                  <a:lnTo>
                    <a:pt x="1778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1D3D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778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476500" y="5600700"/>
            <a:ext cx="57150" cy="723900"/>
            <a:chOff x="0" y="0"/>
            <a:chExt cx="76200" cy="965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6200" cy="965200"/>
            </a:xfrm>
            <a:custGeom>
              <a:avLst/>
              <a:gdLst/>
              <a:ahLst/>
              <a:cxnLst/>
              <a:rect l="l" t="t" r="r" b="b"/>
              <a:pathLst>
                <a:path w="76200" h="965200">
                  <a:moveTo>
                    <a:pt x="0" y="0"/>
                  </a:moveTo>
                  <a:lnTo>
                    <a:pt x="76200" y="0"/>
                  </a:lnTo>
                  <a:lnTo>
                    <a:pt x="762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62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33750" y="6400800"/>
            <a:ext cx="11620500" cy="723900"/>
            <a:chOff x="0" y="0"/>
            <a:chExt cx="15494000" cy="965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494000" cy="965200"/>
            </a:xfrm>
            <a:custGeom>
              <a:avLst/>
              <a:gdLst/>
              <a:ahLst/>
              <a:cxnLst/>
              <a:rect l="l" t="t" r="r" b="b"/>
              <a:pathLst>
                <a:path w="15494000" h="965200">
                  <a:moveTo>
                    <a:pt x="0" y="0"/>
                  </a:moveTo>
                  <a:lnTo>
                    <a:pt x="15494000" y="0"/>
                  </a:lnTo>
                  <a:lnTo>
                    <a:pt x="1549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1D3D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5494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33750" y="6400800"/>
            <a:ext cx="57150" cy="723900"/>
            <a:chOff x="0" y="0"/>
            <a:chExt cx="76200" cy="965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200" cy="965200"/>
            </a:xfrm>
            <a:custGeom>
              <a:avLst/>
              <a:gdLst/>
              <a:ahLst/>
              <a:cxnLst/>
              <a:rect l="l" t="t" r="r" b="b"/>
              <a:pathLst>
                <a:path w="76200" h="965200">
                  <a:moveTo>
                    <a:pt x="0" y="0"/>
                  </a:moveTo>
                  <a:lnTo>
                    <a:pt x="76200" y="0"/>
                  </a:lnTo>
                  <a:lnTo>
                    <a:pt x="762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62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191000" y="7200900"/>
            <a:ext cx="9906000" cy="723900"/>
            <a:chOff x="0" y="0"/>
            <a:chExt cx="13208000" cy="965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208000" cy="965200"/>
            </a:xfrm>
            <a:custGeom>
              <a:avLst/>
              <a:gdLst/>
              <a:ahLst/>
              <a:cxnLst/>
              <a:rect l="l" t="t" r="r" b="b"/>
              <a:pathLst>
                <a:path w="13208000" h="965200">
                  <a:moveTo>
                    <a:pt x="0" y="0"/>
                  </a:moveTo>
                  <a:lnTo>
                    <a:pt x="13208000" y="0"/>
                  </a:lnTo>
                  <a:lnTo>
                    <a:pt x="13208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1D3D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3208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191000" y="7200900"/>
            <a:ext cx="57150" cy="723900"/>
            <a:chOff x="0" y="0"/>
            <a:chExt cx="76200" cy="965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6200" cy="965200"/>
            </a:xfrm>
            <a:custGeom>
              <a:avLst/>
              <a:gdLst/>
              <a:ahLst/>
              <a:cxnLst/>
              <a:rect l="l" t="t" r="r" b="b"/>
              <a:pathLst>
                <a:path w="76200" h="965200">
                  <a:moveTo>
                    <a:pt x="0" y="0"/>
                  </a:moveTo>
                  <a:lnTo>
                    <a:pt x="76200" y="0"/>
                  </a:lnTo>
                  <a:lnTo>
                    <a:pt x="762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762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048250" y="8001000"/>
            <a:ext cx="8191500" cy="723900"/>
            <a:chOff x="0" y="0"/>
            <a:chExt cx="10922000" cy="965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22000" cy="965200"/>
            </a:xfrm>
            <a:custGeom>
              <a:avLst/>
              <a:gdLst/>
              <a:ahLst/>
              <a:cxnLst/>
              <a:rect l="l" t="t" r="r" b="b"/>
              <a:pathLst>
                <a:path w="10922000" h="965200">
                  <a:moveTo>
                    <a:pt x="0" y="0"/>
                  </a:moveTo>
                  <a:lnTo>
                    <a:pt x="10922000" y="0"/>
                  </a:lnTo>
                  <a:lnTo>
                    <a:pt x="10922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922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048250" y="8001000"/>
            <a:ext cx="57150" cy="723900"/>
            <a:chOff x="0" y="0"/>
            <a:chExt cx="76200" cy="965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6200" cy="965200"/>
            </a:xfrm>
            <a:custGeom>
              <a:avLst/>
              <a:gdLst/>
              <a:ahLst/>
              <a:cxnLst/>
              <a:rect l="l" t="t" r="r" b="b"/>
              <a:pathLst>
                <a:path w="76200" h="965200">
                  <a:moveTo>
                    <a:pt x="0" y="0"/>
                  </a:moveTo>
                  <a:lnTo>
                    <a:pt x="76200" y="0"/>
                  </a:lnTo>
                  <a:lnTo>
                    <a:pt x="762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762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90600" y="4086225"/>
            <a:ext cx="163068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1  Authorised JD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90600" y="4419600"/>
            <a:ext cx="163068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Confirmed by verified recruiter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847850" y="4886325"/>
            <a:ext cx="145923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2  Opted-in profiles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47850" y="5219700"/>
            <a:ext cx="145923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Discovery opt-in required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05100" y="5686425"/>
            <a:ext cx="128778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3  Completeness ≥ 90%  &amp;  CV–JD fit ≥ 90%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705100" y="6019800"/>
            <a:ext cx="128778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Dual gate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562350" y="6486525"/>
            <a:ext cx="111633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4  Must-haves met · high confidence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562350" y="6819900"/>
            <a:ext cx="111633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Hard filters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419600" y="7286625"/>
            <a:ext cx="94488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5  Fresh immediate availability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419600" y="7620000"/>
            <a:ext cx="94488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Separate filter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276850" y="8086725"/>
            <a:ext cx="77343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6  Explained, pseudonymised shortlist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276850" y="8420100"/>
            <a:ext cx="77343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E8E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 CV, contact or history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62000" y="922020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F2542D"/>
                </a:solidFill>
                <a:latin typeface="Inter"/>
                <a:ea typeface="Inter"/>
                <a:cs typeface="Inter"/>
                <a:sym typeface="Inter"/>
              </a:rPr>
              <a:t>Empty result never lowers thresholds — honest zero allowed.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477500" y="9220200"/>
            <a:ext cx="7239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9FB0C8"/>
                </a:solidFill>
                <a:latin typeface="Inter"/>
                <a:ea typeface="Inter"/>
                <a:cs typeface="Inter"/>
                <a:sym typeface="Inter"/>
              </a:rPr>
              <a:t>Broad employer search · post-launch (CPA-77)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· Consent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CONSENT &amp; RECRUITER ACCESS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85925"/>
            <a:ext cx="16192500" cy="68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spc="-6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 match is an invitation.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2438400"/>
            <a:ext cx="11430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D3D63"/>
                </a:solidFill>
                <a:latin typeface="Inter"/>
                <a:ea typeface="Inter"/>
                <a:cs typeface="Inter"/>
                <a:sym typeface="Inter"/>
              </a:rPr>
              <a:t>The candidate decides what is shared, with whom, and for how long.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62000" y="4000500"/>
            <a:ext cx="3162300" cy="2286000"/>
            <a:chOff x="0" y="0"/>
            <a:chExt cx="4216400" cy="3048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16400" cy="3048000"/>
            </a:xfrm>
            <a:custGeom>
              <a:avLst/>
              <a:gdLst/>
              <a:ahLst/>
              <a:cxnLst/>
              <a:rect l="l" t="t" r="r" b="b"/>
              <a:pathLst>
                <a:path w="4216400" h="3048000">
                  <a:moveTo>
                    <a:pt x="0" y="0"/>
                  </a:moveTo>
                  <a:lnTo>
                    <a:pt x="4216400" y="0"/>
                  </a:lnTo>
                  <a:lnTo>
                    <a:pt x="42164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2164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0600" y="4229100"/>
            <a:ext cx="419100" cy="419100"/>
            <a:chOff x="0" y="0"/>
            <a:chExt cx="558800" cy="558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962400" y="5143500"/>
            <a:ext cx="2286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19" name="Group 19"/>
          <p:cNvGrpSpPr/>
          <p:nvPr/>
        </p:nvGrpSpPr>
        <p:grpSpPr>
          <a:xfrm>
            <a:off x="4229100" y="4000500"/>
            <a:ext cx="3162300" cy="2286000"/>
            <a:chOff x="0" y="0"/>
            <a:chExt cx="4216400" cy="3048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216400" cy="3048000"/>
            </a:xfrm>
            <a:custGeom>
              <a:avLst/>
              <a:gdLst/>
              <a:ahLst/>
              <a:cxnLst/>
              <a:rect l="l" t="t" r="r" b="b"/>
              <a:pathLst>
                <a:path w="4216400" h="3048000">
                  <a:moveTo>
                    <a:pt x="0" y="0"/>
                  </a:moveTo>
                  <a:lnTo>
                    <a:pt x="4216400" y="0"/>
                  </a:lnTo>
                  <a:lnTo>
                    <a:pt x="42164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2164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57700" y="4229100"/>
            <a:ext cx="419100" cy="419100"/>
            <a:chOff x="0" y="0"/>
            <a:chExt cx="558800" cy="558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7429500" y="5143500"/>
            <a:ext cx="2286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26" name="Group 26"/>
          <p:cNvGrpSpPr/>
          <p:nvPr/>
        </p:nvGrpSpPr>
        <p:grpSpPr>
          <a:xfrm>
            <a:off x="7696200" y="4000500"/>
            <a:ext cx="3162300" cy="2286000"/>
            <a:chOff x="0" y="0"/>
            <a:chExt cx="4216400" cy="3048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16400" cy="3048000"/>
            </a:xfrm>
            <a:custGeom>
              <a:avLst/>
              <a:gdLst/>
              <a:ahLst/>
              <a:cxnLst/>
              <a:rect l="l" t="t" r="r" b="b"/>
              <a:pathLst>
                <a:path w="4216400" h="3048000">
                  <a:moveTo>
                    <a:pt x="0" y="0"/>
                  </a:moveTo>
                  <a:lnTo>
                    <a:pt x="4216400" y="0"/>
                  </a:lnTo>
                  <a:lnTo>
                    <a:pt x="42164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2164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24800" y="4229100"/>
            <a:ext cx="419100" cy="419100"/>
            <a:chOff x="0" y="0"/>
            <a:chExt cx="558800" cy="558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>
            <a:off x="10896600" y="5143500"/>
            <a:ext cx="2286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33" name="Group 33"/>
          <p:cNvGrpSpPr/>
          <p:nvPr/>
        </p:nvGrpSpPr>
        <p:grpSpPr>
          <a:xfrm>
            <a:off x="11163300" y="4000500"/>
            <a:ext cx="3162300" cy="2286000"/>
            <a:chOff x="0" y="0"/>
            <a:chExt cx="4216400" cy="3048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16400" cy="3048000"/>
            </a:xfrm>
            <a:custGeom>
              <a:avLst/>
              <a:gdLst/>
              <a:ahLst/>
              <a:cxnLst/>
              <a:rect l="l" t="t" r="r" b="b"/>
              <a:pathLst>
                <a:path w="4216400" h="3048000">
                  <a:moveTo>
                    <a:pt x="0" y="0"/>
                  </a:moveTo>
                  <a:lnTo>
                    <a:pt x="4216400" y="0"/>
                  </a:lnTo>
                  <a:lnTo>
                    <a:pt x="42164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DE4DC"/>
            </a:solidFill>
            <a:ln w="9525" cap="sq">
              <a:solidFill>
                <a:srgbClr val="F2542D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2164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391900" y="4229100"/>
            <a:ext cx="419100" cy="419100"/>
            <a:chOff x="0" y="0"/>
            <a:chExt cx="558800" cy="558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AutoShape 39"/>
          <p:cNvSpPr/>
          <p:nvPr/>
        </p:nvSpPr>
        <p:spPr>
          <a:xfrm>
            <a:off x="14363700" y="5143500"/>
            <a:ext cx="228600" cy="0"/>
          </a:xfrm>
          <a:prstGeom prst="line">
            <a:avLst/>
          </a:prstGeom>
          <a:ln w="19050" cap="flat">
            <a:solidFill>
              <a:srgbClr val="1D3D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40" name="Group 40"/>
          <p:cNvGrpSpPr/>
          <p:nvPr/>
        </p:nvGrpSpPr>
        <p:grpSpPr>
          <a:xfrm>
            <a:off x="14630400" y="4000500"/>
            <a:ext cx="3162300" cy="2286000"/>
            <a:chOff x="0" y="0"/>
            <a:chExt cx="4216400" cy="3048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16400" cy="3048000"/>
            </a:xfrm>
            <a:custGeom>
              <a:avLst/>
              <a:gdLst/>
              <a:ahLst/>
              <a:cxnLst/>
              <a:rect l="l" t="t" r="r" b="b"/>
              <a:pathLst>
                <a:path w="4216400" h="3048000">
                  <a:moveTo>
                    <a:pt x="0" y="0"/>
                  </a:moveTo>
                  <a:lnTo>
                    <a:pt x="4216400" y="0"/>
                  </a:lnTo>
                  <a:lnTo>
                    <a:pt x="42164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DE4DC"/>
            </a:solidFill>
            <a:ln w="9525" cap="sq">
              <a:solidFill>
                <a:srgbClr val="F2542D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2164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859000" y="4229100"/>
            <a:ext cx="419100" cy="419100"/>
            <a:chOff x="0" y="0"/>
            <a:chExt cx="558800" cy="558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90600" y="4829175"/>
            <a:ext cx="27051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Discovery opt-in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90600" y="5495925"/>
            <a:ext cx="27051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Off by default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57700" y="4829175"/>
            <a:ext cx="27051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Named request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457700" y="5495925"/>
            <a:ext cx="27051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Specific recruiter + JD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24800" y="4829175"/>
            <a:ext cx="27051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Preview &amp; approve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24800" y="5495925"/>
            <a:ext cx="27051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Candidate picks CV version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91900" y="4829175"/>
            <a:ext cx="27051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Scoped, expiring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391900" y="5495925"/>
            <a:ext cx="27051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Audited access · proposed 7-day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859000" y="4829175"/>
            <a:ext cx="27051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Revoke future access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859000" y="5495925"/>
            <a:ext cx="27051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Downloaded copies can't be recalled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62000" y="7429500"/>
            <a:ext cx="5384800" cy="1428750"/>
            <a:chOff x="0" y="0"/>
            <a:chExt cx="7179733" cy="19050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179733" cy="1905000"/>
            </a:xfrm>
            <a:custGeom>
              <a:avLst/>
              <a:gdLst/>
              <a:ahLst/>
              <a:cxnLst/>
              <a:rect l="l" t="t" r="r" b="b"/>
              <a:pathLst>
                <a:path w="7179733" h="1905000">
                  <a:moveTo>
                    <a:pt x="0" y="0"/>
                  </a:moveTo>
                  <a:lnTo>
                    <a:pt x="7179733" y="0"/>
                  </a:lnTo>
                  <a:lnTo>
                    <a:pt x="7179733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7179733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451600" y="7429500"/>
            <a:ext cx="5384800" cy="1428750"/>
            <a:chOff x="0" y="0"/>
            <a:chExt cx="7179733" cy="19050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179733" cy="1905000"/>
            </a:xfrm>
            <a:custGeom>
              <a:avLst/>
              <a:gdLst/>
              <a:ahLst/>
              <a:cxnLst/>
              <a:rect l="l" t="t" r="r" b="b"/>
              <a:pathLst>
                <a:path w="7179733" h="1905000">
                  <a:moveTo>
                    <a:pt x="0" y="0"/>
                  </a:moveTo>
                  <a:lnTo>
                    <a:pt x="7179733" y="0"/>
                  </a:lnTo>
                  <a:lnTo>
                    <a:pt x="7179733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7179733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141200" y="7429500"/>
            <a:ext cx="5384800" cy="1428750"/>
            <a:chOff x="0" y="0"/>
            <a:chExt cx="7179733" cy="1905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179733" cy="1905000"/>
            </a:xfrm>
            <a:custGeom>
              <a:avLst/>
              <a:gdLst/>
              <a:ahLst/>
              <a:cxnLst/>
              <a:rect l="l" t="t" r="r" b="b"/>
              <a:pathLst>
                <a:path w="7179733" h="1905000">
                  <a:moveTo>
                    <a:pt x="0" y="0"/>
                  </a:moveTo>
                  <a:lnTo>
                    <a:pt x="7179733" y="0"/>
                  </a:lnTo>
                  <a:lnTo>
                    <a:pt x="7179733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DE4D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7179733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990600" y="7639050"/>
            <a:ext cx="49276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NO BULK CV EXPORT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90600" y="7962900"/>
            <a:ext cx="4927600" cy="284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Human decisions only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680200" y="7639050"/>
            <a:ext cx="49276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AUDITED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680200" y="7962900"/>
            <a:ext cx="4927600" cy="284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Every access logged for candidate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369800" y="7639050"/>
            <a:ext cx="49276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PROPOSED 7-DAY FRESHNESS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369800" y="7962900"/>
            <a:ext cx="4927600" cy="284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Access expires automatically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·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95450"/>
            <a:ext cx="14287500" cy="194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Focused MVP;</a:t>
            </a:r>
          </a:p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gated pilot.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4933950"/>
            <a:ext cx="76200" cy="76200"/>
            <a:chOff x="0" y="0"/>
            <a:chExt cx="101600" cy="101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5657850"/>
            <a:ext cx="76200" cy="76200"/>
            <a:chOff x="0" y="0"/>
            <a:chExt cx="101600" cy="10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6381750"/>
            <a:ext cx="76200" cy="76200"/>
            <a:chOff x="0" y="0"/>
            <a:chExt cx="101600" cy="101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7105650"/>
            <a:ext cx="76200" cy="76200"/>
            <a:chOff x="0" y="0"/>
            <a:chExt cx="101600" cy="101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7829550"/>
            <a:ext cx="76200" cy="76200"/>
            <a:chOff x="0" y="0"/>
            <a:chExt cx="101600" cy="101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0" y="4933950"/>
            <a:ext cx="76200" cy="76200"/>
            <a:chOff x="0" y="0"/>
            <a:chExt cx="101600" cy="101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0" y="5657850"/>
            <a:ext cx="76200" cy="76200"/>
            <a:chOff x="0" y="0"/>
            <a:chExt cx="101600" cy="101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25000" y="6381750"/>
            <a:ext cx="76200" cy="76200"/>
            <a:chOff x="0" y="0"/>
            <a:chExt cx="101600" cy="101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25000" y="7105650"/>
            <a:ext cx="76200" cy="76200"/>
            <a:chOff x="0" y="0"/>
            <a:chExt cx="101600" cy="101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25000" y="7829550"/>
            <a:ext cx="76200" cy="76200"/>
            <a:chOff x="0" y="0"/>
            <a:chExt cx="101600" cy="101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762000" y="4362450"/>
            <a:ext cx="476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CORE MVP · GERMANY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25000" y="4362450"/>
            <a:ext cx="476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PILOT &amp; COMMERCIAL · PROPOSED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7750" y="4705350"/>
            <a:ext cx="809625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Germany DE / EN responsive web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47750" y="5429250"/>
            <a:ext cx="809625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Approved public Bundesagentur job lists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7750" y="6153150"/>
            <a:ext cx="809625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Explainable matching with gates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7750" y="6877050"/>
            <a:ext cx="809625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Reviewed CV &amp; cover letter (DE/EN)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7750" y="7600950"/>
            <a:ext cx="809625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Application tracking · privacy by design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10750" y="4714875"/>
            <a:ext cx="809625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1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Invitation-only verified-recruiter pilot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810750" y="5438775"/>
            <a:ext cx="809625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1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Unscheduled · pending estimates, capacity, specialist reviews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810750" y="6162675"/>
            <a:ext cx="809625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Free 10 daily credits · wallet coming soon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810750" y="6886575"/>
            <a:ext cx="809625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1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Investor-funded assumption · recruiter pricing TBD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810750" y="7610475"/>
            <a:ext cx="809625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1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Top-ups, ads, broad employer search · post-launch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9144000" y="4381500"/>
            <a:ext cx="9525" cy="4572000"/>
            <a:chOff x="0" y="0"/>
            <a:chExt cx="12700" cy="6096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700" cy="6096000"/>
            </a:xfrm>
            <a:custGeom>
              <a:avLst/>
              <a:gdLst/>
              <a:ahLst/>
              <a:cxnLst/>
              <a:rect l="l" t="t" r="r" b="b"/>
              <a:pathLst>
                <a:path w="12700" h="6096000">
                  <a:moveTo>
                    <a:pt x="0" y="0"/>
                  </a:moveTo>
                  <a:lnTo>
                    <a:pt x="12700" y="0"/>
                  </a:lnTo>
                  <a:lnTo>
                    <a:pt x="127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2700" cy="613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· Roadmap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BACKLOG TO DELIVERY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85925"/>
            <a:ext cx="16192500" cy="68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spc="-6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Oct 2026 → 14 June 2027.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3429000"/>
            <a:ext cx="1844040" cy="609600"/>
            <a:chOff x="0" y="0"/>
            <a:chExt cx="245872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58720" cy="812800"/>
            </a:xfrm>
            <a:custGeom>
              <a:avLst/>
              <a:gdLst/>
              <a:ahLst/>
              <a:cxnLst/>
              <a:rect l="l" t="t" r="r" b="b"/>
              <a:pathLst>
                <a:path w="2458720" h="812800">
                  <a:moveTo>
                    <a:pt x="0" y="0"/>
                  </a:moveTo>
                  <a:lnTo>
                    <a:pt x="2458720" y="0"/>
                  </a:lnTo>
                  <a:lnTo>
                    <a:pt x="245872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5872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06040" y="3429000"/>
            <a:ext cx="3688080" cy="609600"/>
            <a:chOff x="0" y="0"/>
            <a:chExt cx="491744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17440" cy="812800"/>
            </a:xfrm>
            <a:custGeom>
              <a:avLst/>
              <a:gdLst/>
              <a:ahLst/>
              <a:cxnLst/>
              <a:rect l="l" t="t" r="r" b="b"/>
              <a:pathLst>
                <a:path w="4917440" h="812800">
                  <a:moveTo>
                    <a:pt x="0" y="0"/>
                  </a:moveTo>
                  <a:lnTo>
                    <a:pt x="4917440" y="0"/>
                  </a:lnTo>
                  <a:lnTo>
                    <a:pt x="491744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9174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94120" y="3429000"/>
            <a:ext cx="6202680" cy="609600"/>
            <a:chOff x="0" y="0"/>
            <a:chExt cx="827024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70240" cy="812800"/>
            </a:xfrm>
            <a:custGeom>
              <a:avLst/>
              <a:gdLst/>
              <a:ahLst/>
              <a:cxnLst/>
              <a:rect l="l" t="t" r="r" b="b"/>
              <a:pathLst>
                <a:path w="8270240" h="812800">
                  <a:moveTo>
                    <a:pt x="0" y="0"/>
                  </a:moveTo>
                  <a:lnTo>
                    <a:pt x="8270240" y="0"/>
                  </a:lnTo>
                  <a:lnTo>
                    <a:pt x="827024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D3D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2702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96800" y="3429000"/>
            <a:ext cx="3688080" cy="609600"/>
            <a:chOff x="0" y="0"/>
            <a:chExt cx="491744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17440" cy="812800"/>
            </a:xfrm>
            <a:custGeom>
              <a:avLst/>
              <a:gdLst/>
              <a:ahLst/>
              <a:cxnLst/>
              <a:rect l="l" t="t" r="r" b="b"/>
              <a:pathLst>
                <a:path w="4917440" h="812800">
                  <a:moveTo>
                    <a:pt x="0" y="0"/>
                  </a:moveTo>
                  <a:lnTo>
                    <a:pt x="4917440" y="0"/>
                  </a:lnTo>
                  <a:lnTo>
                    <a:pt x="491744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9174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84880" y="3429000"/>
            <a:ext cx="1341120" cy="609600"/>
            <a:chOff x="0" y="0"/>
            <a:chExt cx="178816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88160" cy="812800"/>
            </a:xfrm>
            <a:custGeom>
              <a:avLst/>
              <a:gdLst/>
              <a:ahLst/>
              <a:cxnLst/>
              <a:rect l="l" t="t" r="r" b="b"/>
              <a:pathLst>
                <a:path w="1788160" h="812800">
                  <a:moveTo>
                    <a:pt x="0" y="0"/>
                  </a:moveTo>
                  <a:lnTo>
                    <a:pt x="1788160" y="0"/>
                  </a:lnTo>
                  <a:lnTo>
                    <a:pt x="178816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78816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52475" y="4114800"/>
            <a:ext cx="19050" cy="95250"/>
            <a:chOff x="0" y="0"/>
            <a:chExt cx="25400" cy="127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" cy="127000"/>
            </a:xfrm>
            <a:custGeom>
              <a:avLst/>
              <a:gdLst/>
              <a:ahLst/>
              <a:cxnLst/>
              <a:rect l="l" t="t" r="r" b="b"/>
              <a:pathLst>
                <a:path w="25400" h="1270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B6B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54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847975" y="4114800"/>
            <a:ext cx="19050" cy="95250"/>
            <a:chOff x="0" y="0"/>
            <a:chExt cx="25400" cy="127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5400" cy="127000"/>
            </a:xfrm>
            <a:custGeom>
              <a:avLst/>
              <a:gdLst/>
              <a:ahLst/>
              <a:cxnLst/>
              <a:rect l="l" t="t" r="r" b="b"/>
              <a:pathLst>
                <a:path w="25400" h="1270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B6B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54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943475" y="4114800"/>
            <a:ext cx="19050" cy="95250"/>
            <a:chOff x="0" y="0"/>
            <a:chExt cx="25400" cy="127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400" cy="127000"/>
            </a:xfrm>
            <a:custGeom>
              <a:avLst/>
              <a:gdLst/>
              <a:ahLst/>
              <a:cxnLst/>
              <a:rect l="l" t="t" r="r" b="b"/>
              <a:pathLst>
                <a:path w="25400" h="1270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B6B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54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38975" y="4114800"/>
            <a:ext cx="19050" cy="95250"/>
            <a:chOff x="0" y="0"/>
            <a:chExt cx="25400" cy="127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5400" cy="127000"/>
            </a:xfrm>
            <a:custGeom>
              <a:avLst/>
              <a:gdLst/>
              <a:ahLst/>
              <a:cxnLst/>
              <a:rect l="l" t="t" r="r" b="b"/>
              <a:pathLst>
                <a:path w="25400" h="1270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B6B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54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34475" y="4114800"/>
            <a:ext cx="19050" cy="95250"/>
            <a:chOff x="0" y="0"/>
            <a:chExt cx="25400" cy="127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5400" cy="127000"/>
            </a:xfrm>
            <a:custGeom>
              <a:avLst/>
              <a:gdLst/>
              <a:ahLst/>
              <a:cxnLst/>
              <a:rect l="l" t="t" r="r" b="b"/>
              <a:pathLst>
                <a:path w="25400" h="1270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B6B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54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229975" y="4114800"/>
            <a:ext cx="19050" cy="95250"/>
            <a:chOff x="0" y="0"/>
            <a:chExt cx="25400" cy="127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5400" cy="127000"/>
            </a:xfrm>
            <a:custGeom>
              <a:avLst/>
              <a:gdLst/>
              <a:ahLst/>
              <a:cxnLst/>
              <a:rect l="l" t="t" r="r" b="b"/>
              <a:pathLst>
                <a:path w="25400" h="1270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B6B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254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325475" y="4114800"/>
            <a:ext cx="19050" cy="95250"/>
            <a:chOff x="0" y="0"/>
            <a:chExt cx="25400" cy="1270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5400" cy="127000"/>
            </a:xfrm>
            <a:custGeom>
              <a:avLst/>
              <a:gdLst/>
              <a:ahLst/>
              <a:cxnLst/>
              <a:rect l="l" t="t" r="r" b="b"/>
              <a:pathLst>
                <a:path w="25400" h="1270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B6B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254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420975" y="4114800"/>
            <a:ext cx="19050" cy="95250"/>
            <a:chOff x="0" y="0"/>
            <a:chExt cx="25400" cy="1270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5400" cy="127000"/>
            </a:xfrm>
            <a:custGeom>
              <a:avLst/>
              <a:gdLst/>
              <a:ahLst/>
              <a:cxnLst/>
              <a:rect l="l" t="t" r="r" b="b"/>
              <a:pathLst>
                <a:path w="25400" h="1270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B6B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254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7516475" y="4114800"/>
            <a:ext cx="19050" cy="95250"/>
            <a:chOff x="0" y="0"/>
            <a:chExt cx="25400" cy="127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5400" cy="127000"/>
            </a:xfrm>
            <a:custGeom>
              <a:avLst/>
              <a:gdLst/>
              <a:ahLst/>
              <a:cxnLst/>
              <a:rect l="l" t="t" r="r" b="b"/>
              <a:pathLst>
                <a:path w="25400" h="127000">
                  <a:moveTo>
                    <a:pt x="0" y="0"/>
                  </a:moveTo>
                  <a:lnTo>
                    <a:pt x="25400" y="0"/>
                  </a:lnTo>
                  <a:lnTo>
                    <a:pt x="254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5B6B8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54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267075" y="3048000"/>
            <a:ext cx="19050" cy="1428750"/>
            <a:chOff x="0" y="0"/>
            <a:chExt cx="25400" cy="1905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400" cy="1905000"/>
            </a:xfrm>
            <a:custGeom>
              <a:avLst/>
              <a:gdLst/>
              <a:ahLst/>
              <a:cxnLst/>
              <a:rect l="l" t="t" r="r" b="b"/>
              <a:pathLst>
                <a:path w="25400" h="1905000">
                  <a:moveTo>
                    <a:pt x="0" y="0"/>
                  </a:moveTo>
                  <a:lnTo>
                    <a:pt x="25400" y="0"/>
                  </a:lnTo>
                  <a:lnTo>
                    <a:pt x="254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254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181350" y="2971800"/>
            <a:ext cx="190500" cy="190500"/>
            <a:chOff x="0" y="0"/>
            <a:chExt cx="254000" cy="2540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111115" y="3048000"/>
            <a:ext cx="19050" cy="1428750"/>
            <a:chOff x="0" y="0"/>
            <a:chExt cx="25400" cy="19050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5400" cy="1905000"/>
            </a:xfrm>
            <a:custGeom>
              <a:avLst/>
              <a:gdLst/>
              <a:ahLst/>
              <a:cxnLst/>
              <a:rect l="l" t="t" r="r" b="b"/>
              <a:pathLst>
                <a:path w="25400" h="1905000">
                  <a:moveTo>
                    <a:pt x="0" y="0"/>
                  </a:moveTo>
                  <a:lnTo>
                    <a:pt x="25400" y="0"/>
                  </a:lnTo>
                  <a:lnTo>
                    <a:pt x="254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254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25390" y="2971800"/>
            <a:ext cx="190500" cy="190500"/>
            <a:chOff x="0" y="0"/>
            <a:chExt cx="254000" cy="254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307955" y="3048000"/>
            <a:ext cx="19050" cy="1428750"/>
            <a:chOff x="0" y="0"/>
            <a:chExt cx="25400" cy="19050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5400" cy="1905000"/>
            </a:xfrm>
            <a:custGeom>
              <a:avLst/>
              <a:gdLst/>
              <a:ahLst/>
              <a:cxnLst/>
              <a:rect l="l" t="t" r="r" b="b"/>
              <a:pathLst>
                <a:path w="25400" h="1905000">
                  <a:moveTo>
                    <a:pt x="0" y="0"/>
                  </a:moveTo>
                  <a:lnTo>
                    <a:pt x="25400" y="0"/>
                  </a:lnTo>
                  <a:lnTo>
                    <a:pt x="254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254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222230" y="2971800"/>
            <a:ext cx="190500" cy="190500"/>
            <a:chOff x="0" y="0"/>
            <a:chExt cx="254000" cy="2540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487275" y="3048000"/>
            <a:ext cx="19050" cy="1428750"/>
            <a:chOff x="0" y="0"/>
            <a:chExt cx="25400" cy="19050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5400" cy="1905000"/>
            </a:xfrm>
            <a:custGeom>
              <a:avLst/>
              <a:gdLst/>
              <a:ahLst/>
              <a:cxnLst/>
              <a:rect l="l" t="t" r="r" b="b"/>
              <a:pathLst>
                <a:path w="25400" h="1905000">
                  <a:moveTo>
                    <a:pt x="0" y="0"/>
                  </a:moveTo>
                  <a:lnTo>
                    <a:pt x="25400" y="0"/>
                  </a:lnTo>
                  <a:lnTo>
                    <a:pt x="254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254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401550" y="2971800"/>
            <a:ext cx="190500" cy="190500"/>
            <a:chOff x="0" y="0"/>
            <a:chExt cx="254000" cy="2540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5001875" y="3048000"/>
            <a:ext cx="19050" cy="1428750"/>
            <a:chOff x="0" y="0"/>
            <a:chExt cx="25400" cy="19050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5400" cy="1905000"/>
            </a:xfrm>
            <a:custGeom>
              <a:avLst/>
              <a:gdLst/>
              <a:ahLst/>
              <a:cxnLst/>
              <a:rect l="l" t="t" r="r" b="b"/>
              <a:pathLst>
                <a:path w="25400" h="1905000">
                  <a:moveTo>
                    <a:pt x="0" y="0"/>
                  </a:moveTo>
                  <a:lnTo>
                    <a:pt x="25400" y="0"/>
                  </a:lnTo>
                  <a:lnTo>
                    <a:pt x="254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254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916150" y="2971800"/>
            <a:ext cx="190500" cy="190500"/>
            <a:chOff x="0" y="0"/>
            <a:chExt cx="254000" cy="2540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516475" y="3048000"/>
            <a:ext cx="19050" cy="1428750"/>
            <a:chOff x="0" y="0"/>
            <a:chExt cx="25400" cy="19050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400" cy="1905000"/>
            </a:xfrm>
            <a:custGeom>
              <a:avLst/>
              <a:gdLst/>
              <a:ahLst/>
              <a:cxnLst/>
              <a:rect l="l" t="t" r="r" b="b"/>
              <a:pathLst>
                <a:path w="25400" h="1905000">
                  <a:moveTo>
                    <a:pt x="0" y="0"/>
                  </a:moveTo>
                  <a:lnTo>
                    <a:pt x="25400" y="0"/>
                  </a:lnTo>
                  <a:lnTo>
                    <a:pt x="254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54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7430750" y="2971800"/>
            <a:ext cx="190500" cy="190500"/>
            <a:chOff x="0" y="0"/>
            <a:chExt cx="254000" cy="2540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914400" y="3619500"/>
            <a:ext cx="153924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E8EE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RESEARCH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758440" y="3619500"/>
            <a:ext cx="338328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E8EE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DESIGN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446520" y="3619500"/>
            <a:ext cx="589788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E8EE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CORE BUILD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2649200" y="3619500"/>
            <a:ext cx="338328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E8EE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BETA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6337280" y="3619500"/>
            <a:ext cx="103632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10">
                <a:solidFill>
                  <a:srgbClr val="E8EE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LAUNCH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285750" y="4248150"/>
            <a:ext cx="9525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 26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381250" y="4248150"/>
            <a:ext cx="9525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Nov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4476750" y="4248150"/>
            <a:ext cx="9525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572250" y="4248150"/>
            <a:ext cx="9525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Jan 27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667750" y="4248150"/>
            <a:ext cx="9525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Feb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763250" y="4248150"/>
            <a:ext cx="9525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2858750" y="4248150"/>
            <a:ext cx="9525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Apr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4954250" y="4248150"/>
            <a:ext cx="9525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May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7049750" y="4248150"/>
            <a:ext cx="9525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Jun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2705100" y="2590800"/>
            <a:ext cx="1143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G1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609850" y="4533900"/>
            <a:ext cx="1333500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27 Nov</a:t>
            </a:r>
          </a:p>
          <a:p>
            <a:pPr algn="l">
              <a:lnSpc>
                <a:spcPts val="1155"/>
              </a:lnSpc>
            </a:pPr>
            <a:r>
              <a:rPr lang="en-US" sz="82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549140" y="2590800"/>
            <a:ext cx="1143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G2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453890" y="4533900"/>
            <a:ext cx="1333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b="1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8 Jan</a:t>
            </a:r>
          </a:p>
          <a:p>
            <a:pPr algn="l">
              <a:lnSpc>
                <a:spcPts val="944"/>
              </a:lnSpc>
            </a:pPr>
            <a:r>
              <a:rPr lang="en-US" sz="6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Design · capacity · legal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745980" y="2590800"/>
            <a:ext cx="1143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Alpha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9650730" y="4533900"/>
            <a:ext cx="1333500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 Apr</a:t>
            </a:r>
          </a:p>
          <a:p>
            <a:pPr algn="l">
              <a:lnSpc>
                <a:spcPts val="1155"/>
              </a:lnSpc>
            </a:pPr>
            <a:r>
              <a:rPr lang="en-US" sz="82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Alpha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1925300" y="2590800"/>
            <a:ext cx="1143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G3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1830050" y="4533900"/>
            <a:ext cx="1333500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30 Apr</a:t>
            </a:r>
          </a:p>
          <a:p>
            <a:pPr algn="l">
              <a:lnSpc>
                <a:spcPts val="1155"/>
              </a:lnSpc>
            </a:pPr>
            <a:r>
              <a:rPr lang="en-US" sz="82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Must gate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4439900" y="2590800"/>
            <a:ext cx="1143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 b="1" spc="210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G4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4344650" y="4533900"/>
            <a:ext cx="1333500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28 May</a:t>
            </a:r>
          </a:p>
          <a:p>
            <a:pPr algn="l">
              <a:lnSpc>
                <a:spcPts val="1155"/>
              </a:lnSpc>
            </a:pPr>
            <a:r>
              <a:rPr lang="en-US" sz="82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Beta gate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6954500" y="2590800"/>
            <a:ext cx="1143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 b="1" spc="210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S18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6859250" y="4533900"/>
            <a:ext cx="1333500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14 Jun</a:t>
            </a:r>
          </a:p>
          <a:p>
            <a:pPr algn="l">
              <a:lnSpc>
                <a:spcPts val="1155"/>
              </a:lnSpc>
            </a:pPr>
            <a:r>
              <a:rPr lang="en-US" sz="82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Launch</a:t>
            </a:r>
          </a:p>
        </p:txBody>
      </p:sp>
      <p:grpSp>
        <p:nvGrpSpPr>
          <p:cNvPr id="115" name="Group 115"/>
          <p:cNvGrpSpPr/>
          <p:nvPr/>
        </p:nvGrpSpPr>
        <p:grpSpPr>
          <a:xfrm>
            <a:off x="762000" y="6477000"/>
            <a:ext cx="4048125" cy="1524000"/>
            <a:chOff x="0" y="0"/>
            <a:chExt cx="5397500" cy="203200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5397500" cy="2032000"/>
            </a:xfrm>
            <a:custGeom>
              <a:avLst/>
              <a:gdLst/>
              <a:ahLst/>
              <a:cxnLst/>
              <a:rect l="l" t="t" r="r" b="b"/>
              <a:pathLst>
                <a:path w="5397500" h="2032000">
                  <a:moveTo>
                    <a:pt x="0" y="0"/>
                  </a:moveTo>
                  <a:lnTo>
                    <a:pt x="5397500" y="0"/>
                  </a:lnTo>
                  <a:lnTo>
                    <a:pt x="53975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0" y="-38100"/>
              <a:ext cx="53975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5000625" y="6477000"/>
            <a:ext cx="4048125" cy="1524000"/>
            <a:chOff x="0" y="0"/>
            <a:chExt cx="5397500" cy="203200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5397500" cy="2032000"/>
            </a:xfrm>
            <a:custGeom>
              <a:avLst/>
              <a:gdLst/>
              <a:ahLst/>
              <a:cxnLst/>
              <a:rect l="l" t="t" r="r" b="b"/>
              <a:pathLst>
                <a:path w="5397500" h="2032000">
                  <a:moveTo>
                    <a:pt x="0" y="0"/>
                  </a:moveTo>
                  <a:lnTo>
                    <a:pt x="5397500" y="0"/>
                  </a:lnTo>
                  <a:lnTo>
                    <a:pt x="53975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0" y="-38100"/>
              <a:ext cx="53975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239250" y="6477000"/>
            <a:ext cx="4048125" cy="1524000"/>
            <a:chOff x="0" y="0"/>
            <a:chExt cx="5397500" cy="20320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5397500" cy="2032000"/>
            </a:xfrm>
            <a:custGeom>
              <a:avLst/>
              <a:gdLst/>
              <a:ahLst/>
              <a:cxnLst/>
              <a:rect l="l" t="t" r="r" b="b"/>
              <a:pathLst>
                <a:path w="5397500" h="2032000">
                  <a:moveTo>
                    <a:pt x="0" y="0"/>
                  </a:moveTo>
                  <a:lnTo>
                    <a:pt x="5397500" y="0"/>
                  </a:lnTo>
                  <a:lnTo>
                    <a:pt x="53975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DE4DC"/>
            </a:solidFill>
            <a:ln w="9525" cap="sq">
              <a:solidFill>
                <a:srgbClr val="F2542D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0" y="-38100"/>
              <a:ext cx="53975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3477875" y="6477000"/>
            <a:ext cx="4048125" cy="1524000"/>
            <a:chOff x="0" y="0"/>
            <a:chExt cx="5397500" cy="20320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5397500" cy="2032000"/>
            </a:xfrm>
            <a:custGeom>
              <a:avLst/>
              <a:gdLst/>
              <a:ahLst/>
              <a:cxnLst/>
              <a:rect l="l" t="t" r="r" b="b"/>
              <a:pathLst>
                <a:path w="5397500" h="2032000">
                  <a:moveTo>
                    <a:pt x="0" y="0"/>
                  </a:moveTo>
                  <a:lnTo>
                    <a:pt x="5397500" y="0"/>
                  </a:lnTo>
                  <a:lnTo>
                    <a:pt x="53975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0" y="-38100"/>
              <a:ext cx="53975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7" name="TextBox 127"/>
          <p:cNvSpPr txBox="1"/>
          <p:nvPr/>
        </p:nvSpPr>
        <p:spPr>
          <a:xfrm>
            <a:off x="990600" y="6734175"/>
            <a:ext cx="3590925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990600" y="7486650"/>
            <a:ext cx="35909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Epics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229225" y="6734175"/>
            <a:ext cx="3590925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229225" y="7486650"/>
            <a:ext cx="35909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Stories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467850" y="6734175"/>
            <a:ext cx="3590925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1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9467850" y="7486650"/>
            <a:ext cx="35909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pilot stories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3706475" y="6734175"/>
            <a:ext cx="3590925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2 + 1 + 1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3706475" y="7486650"/>
            <a:ext cx="3590925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Engineers · ML · PM (assumed)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762000" y="8353425"/>
            <a:ext cx="16764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spc="120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Pilot branch tasks unscheduled · G2 capacity decision 8 Jan 2027 · Linked PRD hierarchy preserved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· Targets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9FB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C4D7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F254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TARGETS · NOT 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95450"/>
            <a:ext cx="15240000" cy="194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Useful decisions,</a:t>
            </a:r>
          </a:p>
          <a:p>
            <a:pPr algn="l">
              <a:lnSpc>
                <a:spcPts val="7038"/>
              </a:lnSpc>
            </a:pPr>
            <a:r>
              <a:rPr lang="en-US" sz="6900" b="1" spc="-138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trusted introductions.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3810000"/>
            <a:ext cx="5435600" cy="2095500"/>
            <a:chOff x="0" y="0"/>
            <a:chExt cx="7247467" cy="279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47467" cy="2794000"/>
            </a:xfrm>
            <a:custGeom>
              <a:avLst/>
              <a:gdLst/>
              <a:ahLst/>
              <a:cxnLst/>
              <a:rect l="l" t="t" r="r" b="b"/>
              <a:pathLst>
                <a:path w="7247467" h="2794000">
                  <a:moveTo>
                    <a:pt x="0" y="0"/>
                  </a:moveTo>
                  <a:lnTo>
                    <a:pt x="7247467" y="0"/>
                  </a:lnTo>
                  <a:lnTo>
                    <a:pt x="7247467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D3D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247467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3810000"/>
            <a:ext cx="57150" cy="2095500"/>
            <a:chOff x="0" y="0"/>
            <a:chExt cx="76200" cy="279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200" cy="2794000"/>
            </a:xfrm>
            <a:custGeom>
              <a:avLst/>
              <a:gdLst/>
              <a:ahLst/>
              <a:cxnLst/>
              <a:rect l="l" t="t" r="r" b="b"/>
              <a:pathLst>
                <a:path w="76200" h="27940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26200" y="3810000"/>
            <a:ext cx="5435600" cy="2095500"/>
            <a:chOff x="0" y="0"/>
            <a:chExt cx="7247467" cy="279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47467" cy="2794000"/>
            </a:xfrm>
            <a:custGeom>
              <a:avLst/>
              <a:gdLst/>
              <a:ahLst/>
              <a:cxnLst/>
              <a:rect l="l" t="t" r="r" b="b"/>
              <a:pathLst>
                <a:path w="7247467" h="2794000">
                  <a:moveTo>
                    <a:pt x="0" y="0"/>
                  </a:moveTo>
                  <a:lnTo>
                    <a:pt x="7247467" y="0"/>
                  </a:lnTo>
                  <a:lnTo>
                    <a:pt x="7247467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247467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26200" y="3810000"/>
            <a:ext cx="57150" cy="2095500"/>
            <a:chOff x="0" y="0"/>
            <a:chExt cx="76200" cy="2794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6200" cy="2794000"/>
            </a:xfrm>
            <a:custGeom>
              <a:avLst/>
              <a:gdLst/>
              <a:ahLst/>
              <a:cxnLst/>
              <a:rect l="l" t="t" r="r" b="b"/>
              <a:pathLst>
                <a:path w="76200" h="27940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31000" y="5524500"/>
            <a:ext cx="2857500" cy="247650"/>
            <a:chOff x="0" y="0"/>
            <a:chExt cx="3810000" cy="3302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3810000" cy="330200"/>
              <a:chOff x="0" y="0"/>
              <a:chExt cx="3810000" cy="330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8100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3302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330200"/>
                    </a:lnTo>
                    <a:lnTo>
                      <a:pt x="0" y="330200"/>
                    </a:lnTo>
                    <a:close/>
                  </a:path>
                </a:pathLst>
              </a:custGeom>
              <a:solidFill>
                <a:srgbClr val="FDE4D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38100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52400" y="69850"/>
              <a:ext cx="3505200" cy="191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900" b="1" spc="179">
                  <a:solidFill>
                    <a:srgbClr val="F2542D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PROPOSED · UNVALIDATED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090400" y="3810000"/>
            <a:ext cx="5435600" cy="2095500"/>
            <a:chOff x="0" y="0"/>
            <a:chExt cx="7247467" cy="2794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47467" cy="2794000"/>
            </a:xfrm>
            <a:custGeom>
              <a:avLst/>
              <a:gdLst/>
              <a:ahLst/>
              <a:cxnLst/>
              <a:rect l="l" t="t" r="r" b="b"/>
              <a:pathLst>
                <a:path w="7247467" h="2794000">
                  <a:moveTo>
                    <a:pt x="0" y="0"/>
                  </a:moveTo>
                  <a:lnTo>
                    <a:pt x="7247467" y="0"/>
                  </a:lnTo>
                  <a:lnTo>
                    <a:pt x="7247467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7247467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090400" y="3810000"/>
            <a:ext cx="57150" cy="2095500"/>
            <a:chOff x="0" y="0"/>
            <a:chExt cx="76200" cy="279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6200" cy="2794000"/>
            </a:xfrm>
            <a:custGeom>
              <a:avLst/>
              <a:gdLst/>
              <a:ahLst/>
              <a:cxnLst/>
              <a:rect l="l" t="t" r="r" b="b"/>
              <a:pathLst>
                <a:path w="76200" h="27940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395200" y="5524500"/>
            <a:ext cx="2857500" cy="247650"/>
            <a:chOff x="0" y="0"/>
            <a:chExt cx="3810000" cy="3302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3810000" cy="330200"/>
              <a:chOff x="0" y="0"/>
              <a:chExt cx="3810000" cy="330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8100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3302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330200"/>
                    </a:lnTo>
                    <a:lnTo>
                      <a:pt x="0" y="330200"/>
                    </a:lnTo>
                    <a:close/>
                  </a:path>
                </a:pathLst>
              </a:custGeom>
              <a:solidFill>
                <a:srgbClr val="FDE4D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38100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52400" y="69850"/>
              <a:ext cx="3505200" cy="191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900" b="1" spc="179">
                  <a:solidFill>
                    <a:srgbClr val="F2542D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PROPOSED · UNVALIDATED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6134100"/>
            <a:ext cx="5435600" cy="2095500"/>
            <a:chOff x="0" y="0"/>
            <a:chExt cx="7247467" cy="2794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247467" cy="2794000"/>
            </a:xfrm>
            <a:custGeom>
              <a:avLst/>
              <a:gdLst/>
              <a:ahLst/>
              <a:cxnLst/>
              <a:rect l="l" t="t" r="r" b="b"/>
              <a:pathLst>
                <a:path w="7247467" h="2794000">
                  <a:moveTo>
                    <a:pt x="0" y="0"/>
                  </a:moveTo>
                  <a:lnTo>
                    <a:pt x="7247467" y="0"/>
                  </a:lnTo>
                  <a:lnTo>
                    <a:pt x="7247467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D3D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7247467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6134100"/>
            <a:ext cx="57150" cy="2095500"/>
            <a:chOff x="0" y="0"/>
            <a:chExt cx="76200" cy="2794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6200" cy="2794000"/>
            </a:xfrm>
            <a:custGeom>
              <a:avLst/>
              <a:gdLst/>
              <a:ahLst/>
              <a:cxnLst/>
              <a:rect l="l" t="t" r="r" b="b"/>
              <a:pathLst>
                <a:path w="76200" h="27940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426200" y="6134100"/>
            <a:ext cx="5435600" cy="2095500"/>
            <a:chOff x="0" y="0"/>
            <a:chExt cx="7247467" cy="2794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247467" cy="2794000"/>
            </a:xfrm>
            <a:custGeom>
              <a:avLst/>
              <a:gdLst/>
              <a:ahLst/>
              <a:cxnLst/>
              <a:rect l="l" t="t" r="r" b="b"/>
              <a:pathLst>
                <a:path w="7247467" h="2794000">
                  <a:moveTo>
                    <a:pt x="0" y="0"/>
                  </a:moveTo>
                  <a:lnTo>
                    <a:pt x="7247467" y="0"/>
                  </a:lnTo>
                  <a:lnTo>
                    <a:pt x="7247467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D3D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7247467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26200" y="6134100"/>
            <a:ext cx="57150" cy="2095500"/>
            <a:chOff x="0" y="0"/>
            <a:chExt cx="76200" cy="2794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6200" cy="2794000"/>
            </a:xfrm>
            <a:custGeom>
              <a:avLst/>
              <a:gdLst/>
              <a:ahLst/>
              <a:cxnLst/>
              <a:rect l="l" t="t" r="r" b="b"/>
              <a:pathLst>
                <a:path w="76200" h="27940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090400" y="6134100"/>
            <a:ext cx="5435600" cy="2095500"/>
            <a:chOff x="0" y="0"/>
            <a:chExt cx="7247467" cy="2794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247467" cy="2794000"/>
            </a:xfrm>
            <a:custGeom>
              <a:avLst/>
              <a:gdLst/>
              <a:ahLst/>
              <a:cxnLst/>
              <a:rect l="l" t="t" r="r" b="b"/>
              <a:pathLst>
                <a:path w="7247467" h="2794000">
                  <a:moveTo>
                    <a:pt x="0" y="0"/>
                  </a:moveTo>
                  <a:lnTo>
                    <a:pt x="7247467" y="0"/>
                  </a:lnTo>
                  <a:lnTo>
                    <a:pt x="7247467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7247467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090400" y="6134100"/>
            <a:ext cx="57150" cy="2095500"/>
            <a:chOff x="0" y="0"/>
            <a:chExt cx="76200" cy="2794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6200" cy="2794000"/>
            </a:xfrm>
            <a:custGeom>
              <a:avLst/>
              <a:gdLst/>
              <a:ahLst/>
              <a:cxnLst/>
              <a:rect l="l" t="t" r="r" b="b"/>
              <a:pathLst>
                <a:path w="76200" h="27940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395200" y="7848600"/>
            <a:ext cx="2857500" cy="247650"/>
            <a:chOff x="0" y="0"/>
            <a:chExt cx="3810000" cy="330200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3810000" cy="330200"/>
              <a:chOff x="0" y="0"/>
              <a:chExt cx="3810000" cy="3302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38100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3302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330200"/>
                    </a:lnTo>
                    <a:lnTo>
                      <a:pt x="0" y="330200"/>
                    </a:lnTo>
                    <a:close/>
                  </a:path>
                </a:pathLst>
              </a:custGeom>
              <a:solidFill>
                <a:srgbClr val="FDE4D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38100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152400" y="69850"/>
              <a:ext cx="3505200" cy="191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900" b="1" spc="179">
                  <a:solidFill>
                    <a:srgbClr val="F2542D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PROPOSED · UNVALIDATED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066800" y="4143375"/>
            <a:ext cx="482600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1" spc="-108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≥ 90%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66800" y="5048250"/>
            <a:ext cx="4826000" cy="22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D5DEEA"/>
                </a:solidFill>
                <a:latin typeface="Inter"/>
                <a:ea typeface="Inter"/>
                <a:cs typeface="Inter"/>
                <a:sym typeface="Inter"/>
              </a:rPr>
              <a:t>Delivered-match share with fit ≥ 90%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731000" y="4143375"/>
            <a:ext cx="482600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1" spc="-108">
                <a:solidFill>
                  <a:srgbClr val="F2542D"/>
                </a:solidFill>
                <a:latin typeface="Inter"/>
                <a:ea typeface="Inter"/>
                <a:cs typeface="Inter"/>
                <a:sym typeface="Inter"/>
              </a:rPr>
              <a:t>≥ 90%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731000" y="5048250"/>
            <a:ext cx="4826000" cy="22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9B4A0"/>
                </a:solidFill>
                <a:latin typeface="Inter"/>
                <a:ea typeface="Inter"/>
                <a:cs typeface="Inter"/>
                <a:sym typeface="Inter"/>
              </a:rPr>
              <a:t>Users at 90% completeness within 7 days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395200" y="4143375"/>
            <a:ext cx="482600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1" spc="-108">
                <a:solidFill>
                  <a:srgbClr val="F2542D"/>
                </a:solidFill>
                <a:latin typeface="Inter"/>
                <a:ea typeface="Inter"/>
                <a:cs typeface="Inter"/>
                <a:sym typeface="Inter"/>
              </a:rPr>
              <a:t>≥ 50%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395200" y="5048250"/>
            <a:ext cx="4826000" cy="22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9B4A0"/>
                </a:solidFill>
                <a:latin typeface="Inter"/>
                <a:ea typeface="Inter"/>
                <a:cs typeface="Inter"/>
                <a:sym typeface="Inter"/>
              </a:rPr>
              <a:t>Week-4 retention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66800" y="6467475"/>
            <a:ext cx="482600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1" spc="-108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66800" y="7372350"/>
            <a:ext cx="4826000" cy="22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D5DEEA"/>
                </a:solidFill>
                <a:latin typeface="Inter"/>
                <a:ea typeface="Inter"/>
                <a:cs typeface="Inter"/>
                <a:sym typeface="Inter"/>
              </a:rPr>
              <a:t>Pilot eligibility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731000" y="6467475"/>
            <a:ext cx="482600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1" spc="-108">
                <a:solidFill>
                  <a:srgbClr val="E8EEF6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731000" y="7372350"/>
            <a:ext cx="4826000" cy="22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D5DEEA"/>
                </a:solidFill>
                <a:latin typeface="Inter"/>
                <a:ea typeface="Inter"/>
                <a:cs typeface="Inter"/>
                <a:sym typeface="Inter"/>
              </a:rPr>
              <a:t>Unauthorized disclosure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395200" y="6467475"/>
            <a:ext cx="4826000" cy="8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1" spc="-108">
                <a:solidFill>
                  <a:srgbClr val="F2542D"/>
                </a:solidFill>
                <a:latin typeface="Inter"/>
                <a:ea typeface="Inter"/>
                <a:cs typeface="Inter"/>
                <a:sym typeface="Inter"/>
              </a:rPr>
              <a:t>&lt; €0.01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395200" y="7372350"/>
            <a:ext cx="4826000" cy="22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9B4A0"/>
                </a:solidFill>
                <a:latin typeface="Inter"/>
                <a:ea typeface="Inter"/>
                <a:cs typeface="Inter"/>
                <a:sym typeface="Inter"/>
              </a:rPr>
              <a:t>Cost per application at scale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762000" y="8763000"/>
            <a:ext cx="4076700" cy="533400"/>
            <a:chOff x="0" y="0"/>
            <a:chExt cx="5435600" cy="7112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435600" cy="711200"/>
            </a:xfrm>
            <a:custGeom>
              <a:avLst/>
              <a:gdLst/>
              <a:ahLst/>
              <a:cxnLst/>
              <a:rect l="l" t="t" r="r" b="b"/>
              <a:pathLst>
                <a:path w="5435600" h="711200">
                  <a:moveTo>
                    <a:pt x="0" y="0"/>
                  </a:moveTo>
                  <a:lnTo>
                    <a:pt x="5435600" y="0"/>
                  </a:lnTo>
                  <a:lnTo>
                    <a:pt x="5435600" y="711200"/>
                  </a:lnTo>
                  <a:lnTo>
                    <a:pt x="0" y="711200"/>
                  </a:lnTo>
                  <a:close/>
                </a:path>
              </a:pathLst>
            </a:custGeom>
            <a:ln w="9525" cap="sq">
              <a:solidFill>
                <a:srgbClr val="3F5F86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54356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4991100" y="8763000"/>
            <a:ext cx="4076700" cy="533400"/>
            <a:chOff x="0" y="0"/>
            <a:chExt cx="5435600" cy="7112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35600" cy="711200"/>
            </a:xfrm>
            <a:custGeom>
              <a:avLst/>
              <a:gdLst/>
              <a:ahLst/>
              <a:cxnLst/>
              <a:rect l="l" t="t" r="r" b="b"/>
              <a:pathLst>
                <a:path w="5435600" h="711200">
                  <a:moveTo>
                    <a:pt x="0" y="0"/>
                  </a:moveTo>
                  <a:lnTo>
                    <a:pt x="5435600" y="0"/>
                  </a:lnTo>
                  <a:lnTo>
                    <a:pt x="5435600" y="711200"/>
                  </a:lnTo>
                  <a:lnTo>
                    <a:pt x="0" y="711200"/>
                  </a:lnTo>
                  <a:close/>
                </a:path>
              </a:pathLst>
            </a:custGeom>
            <a:ln w="9525" cap="sq">
              <a:solidFill>
                <a:srgbClr val="3F5F86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54356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220200" y="8763000"/>
            <a:ext cx="4076700" cy="533400"/>
            <a:chOff x="0" y="0"/>
            <a:chExt cx="5435600" cy="7112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435600" cy="711200"/>
            </a:xfrm>
            <a:custGeom>
              <a:avLst/>
              <a:gdLst/>
              <a:ahLst/>
              <a:cxnLst/>
              <a:rect l="l" t="t" r="r" b="b"/>
              <a:pathLst>
                <a:path w="5435600" h="711200">
                  <a:moveTo>
                    <a:pt x="0" y="0"/>
                  </a:moveTo>
                  <a:lnTo>
                    <a:pt x="5435600" y="0"/>
                  </a:lnTo>
                  <a:lnTo>
                    <a:pt x="5435600" y="711200"/>
                  </a:lnTo>
                  <a:lnTo>
                    <a:pt x="0" y="711200"/>
                  </a:lnTo>
                  <a:close/>
                </a:path>
              </a:pathLst>
            </a:custGeom>
            <a:ln w="9525" cap="sq">
              <a:solidFill>
                <a:srgbClr val="3F5F86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54356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449300" y="8763000"/>
            <a:ext cx="4076700" cy="533400"/>
            <a:chOff x="0" y="0"/>
            <a:chExt cx="5435600" cy="7112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435600" cy="711200"/>
            </a:xfrm>
            <a:custGeom>
              <a:avLst/>
              <a:gdLst/>
              <a:ahLst/>
              <a:cxnLst/>
              <a:rect l="l" t="t" r="r" b="b"/>
              <a:pathLst>
                <a:path w="5435600" h="711200">
                  <a:moveTo>
                    <a:pt x="0" y="0"/>
                  </a:moveTo>
                  <a:lnTo>
                    <a:pt x="5435600" y="0"/>
                  </a:lnTo>
                  <a:lnTo>
                    <a:pt x="5435600" y="711200"/>
                  </a:lnTo>
                  <a:lnTo>
                    <a:pt x="0" y="711200"/>
                  </a:lnTo>
                  <a:close/>
                </a:path>
              </a:pathLst>
            </a:custGeom>
            <a:ln w="9525" cap="sq">
              <a:solidFill>
                <a:srgbClr val="3F5F86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54356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952500" y="8934450"/>
            <a:ext cx="36957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D5DEE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·  Validate score quality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181600" y="8934450"/>
            <a:ext cx="36957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D5DEE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·  Source coverage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410700" y="8934450"/>
            <a:ext cx="36957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D5DEE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·  Eligible supply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3639800" y="8934450"/>
            <a:ext cx="36957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D5DEE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·  Pilot capacity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· Measurement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APPENDIX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85925"/>
            <a:ext cx="16192500" cy="68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spc="-6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Measurement targets.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3048000"/>
            <a:ext cx="16764000" cy="419100"/>
            <a:chOff x="0" y="0"/>
            <a:chExt cx="223520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352000" cy="558800"/>
            </a:xfrm>
            <a:custGeom>
              <a:avLst/>
              <a:gdLst/>
              <a:ahLst/>
              <a:cxnLst/>
              <a:rect l="l" t="t" r="r" b="b"/>
              <a:pathLst>
                <a:path w="22352000" h="558800">
                  <a:moveTo>
                    <a:pt x="0" y="0"/>
                  </a:moveTo>
                  <a:lnTo>
                    <a:pt x="22352000" y="0"/>
                  </a:lnTo>
                  <a:lnTo>
                    <a:pt x="22352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352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90600" y="3162300"/>
            <a:ext cx="381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E8EE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METRIC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91000" y="3162300"/>
            <a:ext cx="9525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E8EE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TARGET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87500" y="3162300"/>
            <a:ext cx="1905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E8EE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SCOPE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4000500"/>
            <a:ext cx="16764000" cy="533400"/>
            <a:chOff x="0" y="0"/>
            <a:chExt cx="223520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352000" cy="711200"/>
            </a:xfrm>
            <a:custGeom>
              <a:avLst/>
              <a:gdLst/>
              <a:ahLst/>
              <a:cxnLst/>
              <a:rect l="l" t="t" r="r" b="b"/>
              <a:pathLst>
                <a:path w="22352000" h="711200">
                  <a:moveTo>
                    <a:pt x="0" y="0"/>
                  </a:moveTo>
                  <a:lnTo>
                    <a:pt x="22352000" y="0"/>
                  </a:lnTo>
                  <a:lnTo>
                    <a:pt x="2235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235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533900"/>
            <a:ext cx="38100" cy="533400"/>
            <a:chOff x="0" y="0"/>
            <a:chExt cx="50800" cy="711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5067300"/>
            <a:ext cx="16764000" cy="533400"/>
            <a:chOff x="0" y="0"/>
            <a:chExt cx="22352000" cy="711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352000" cy="711200"/>
            </a:xfrm>
            <a:custGeom>
              <a:avLst/>
              <a:gdLst/>
              <a:ahLst/>
              <a:cxnLst/>
              <a:rect l="l" t="t" r="r" b="b"/>
              <a:pathLst>
                <a:path w="22352000" h="711200">
                  <a:moveTo>
                    <a:pt x="0" y="0"/>
                  </a:moveTo>
                  <a:lnTo>
                    <a:pt x="22352000" y="0"/>
                  </a:lnTo>
                  <a:lnTo>
                    <a:pt x="2235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235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5067300"/>
            <a:ext cx="38100" cy="533400"/>
            <a:chOff x="0" y="0"/>
            <a:chExt cx="50800" cy="711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6134100"/>
            <a:ext cx="16764000" cy="533400"/>
            <a:chOff x="0" y="0"/>
            <a:chExt cx="22352000" cy="711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352000" cy="711200"/>
            </a:xfrm>
            <a:custGeom>
              <a:avLst/>
              <a:gdLst/>
              <a:ahLst/>
              <a:cxnLst/>
              <a:rect l="l" t="t" r="r" b="b"/>
              <a:pathLst>
                <a:path w="22352000" h="711200">
                  <a:moveTo>
                    <a:pt x="0" y="0"/>
                  </a:moveTo>
                  <a:lnTo>
                    <a:pt x="22352000" y="0"/>
                  </a:lnTo>
                  <a:lnTo>
                    <a:pt x="2235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235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7200900"/>
            <a:ext cx="16764000" cy="533400"/>
            <a:chOff x="0" y="0"/>
            <a:chExt cx="22352000" cy="711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352000" cy="711200"/>
            </a:xfrm>
            <a:custGeom>
              <a:avLst/>
              <a:gdLst/>
              <a:ahLst/>
              <a:cxnLst/>
              <a:rect l="l" t="t" r="r" b="b"/>
              <a:pathLst>
                <a:path w="22352000" h="711200">
                  <a:moveTo>
                    <a:pt x="0" y="0"/>
                  </a:moveTo>
                  <a:lnTo>
                    <a:pt x="22352000" y="0"/>
                  </a:lnTo>
                  <a:lnTo>
                    <a:pt x="2235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235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7200900"/>
            <a:ext cx="38100" cy="533400"/>
            <a:chOff x="0" y="0"/>
            <a:chExt cx="50800" cy="711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8267700"/>
            <a:ext cx="16764000" cy="533400"/>
            <a:chOff x="0" y="0"/>
            <a:chExt cx="22352000" cy="711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2352000" cy="711200"/>
            </a:xfrm>
            <a:custGeom>
              <a:avLst/>
              <a:gdLst/>
              <a:ahLst/>
              <a:cxnLst/>
              <a:rect l="l" t="t" r="r" b="b"/>
              <a:pathLst>
                <a:path w="22352000" h="711200">
                  <a:moveTo>
                    <a:pt x="0" y="0"/>
                  </a:moveTo>
                  <a:lnTo>
                    <a:pt x="22352000" y="0"/>
                  </a:lnTo>
                  <a:lnTo>
                    <a:pt x="2235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235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8267700"/>
            <a:ext cx="38100" cy="533400"/>
            <a:chOff x="0" y="0"/>
            <a:chExt cx="50800" cy="711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90600" y="35909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Match share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91000" y="36195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≥ 90% deliveries at fit ≥ 90%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287500" y="36195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Quality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90600" y="41243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Mean fit score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191000" y="41529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≥ 90% in delivered band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287500" y="41529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Quality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90600" y="46577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Completeness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191000" y="46863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≥ 90% users 90% complete in 7 days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287500" y="46863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Activation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90600" y="51911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Retention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191000" y="52197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Week 4 ≥ 50% · Week 12 ≥ 35%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287500" y="52197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Engagement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90600" y="57245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Abandonment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191000" y="57531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&lt; 25% before match · &lt; 20% unexported docs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287500" y="57531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90600" y="62579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Interview / application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191000" y="62865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≥ 20% · high-fit band ≥ 2× sub-70 band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287500" y="62865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Outcome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90600" y="67913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Rating accuracy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191000" y="68199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≥ 90% accurate · ≥ 60% explanation-to-decision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287500" y="68199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Trust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90600" y="73247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Cost at scale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191000" y="73533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&lt; €0.01 per application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287500" y="73533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Economics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90600" y="78581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Beta credits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191000" y="78867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Zero-credit-user baseline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287500" y="78867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Economics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90600" y="8391525"/>
            <a:ext cx="3810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Wallet fake-door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191000" y="8420100"/>
            <a:ext cx="9906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≥ 20% interest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4287500" y="8420100"/>
            <a:ext cx="2286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157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Economics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62000" y="9010650"/>
            <a:ext cx="11430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Amber rows · proposed or revised · unvalidated at this stage.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· Boundaries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APPENDIX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85925"/>
            <a:ext cx="16192500" cy="68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spc="-6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Matching boundaries.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2428875"/>
            <a:ext cx="133350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D3D63"/>
                </a:solidFill>
                <a:latin typeface="Inter"/>
                <a:ea typeface="Inter"/>
                <a:cs typeface="Inter"/>
                <a:sym typeface="Inter"/>
              </a:rPr>
              <a:t>Completeness, fit, confidence, availability, and consent are distinct gates.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62000" y="3810000"/>
            <a:ext cx="8382000" cy="5143500"/>
            <a:chOff x="0" y="0"/>
            <a:chExt cx="11176000" cy="6858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76000" cy="6858000"/>
            </a:xfrm>
            <a:custGeom>
              <a:avLst/>
              <a:gdLst/>
              <a:ahLst/>
              <a:cxnLst/>
              <a:rect l="l" t="t" r="r" b="b"/>
              <a:pathLst>
                <a:path w="11176000" h="6858000">
                  <a:moveTo>
                    <a:pt x="0" y="0"/>
                  </a:moveTo>
                  <a:lnTo>
                    <a:pt x="11176000" y="0"/>
                  </a:lnTo>
                  <a:lnTo>
                    <a:pt x="11176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1760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3810000"/>
            <a:ext cx="57150" cy="5143500"/>
            <a:chOff x="0" y="0"/>
            <a:chExt cx="76200" cy="6858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0" y="0"/>
                  </a:moveTo>
                  <a:lnTo>
                    <a:pt x="76200" y="0"/>
                  </a:lnTo>
                  <a:lnTo>
                    <a:pt x="76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62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25000" y="3810000"/>
            <a:ext cx="8001000" cy="5143500"/>
            <a:chOff x="0" y="0"/>
            <a:chExt cx="10668000" cy="6858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68000" cy="6858000"/>
            </a:xfrm>
            <a:custGeom>
              <a:avLst/>
              <a:gdLst/>
              <a:ahLst/>
              <a:cxnLst/>
              <a:rect l="l" t="t" r="r" b="b"/>
              <a:pathLst>
                <a:path w="10668000" h="6858000">
                  <a:moveTo>
                    <a:pt x="0" y="0"/>
                  </a:moveTo>
                  <a:lnTo>
                    <a:pt x="10668000" y="0"/>
                  </a:lnTo>
                  <a:lnTo>
                    <a:pt x="10668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6680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25000" y="3810000"/>
            <a:ext cx="57150" cy="5143500"/>
            <a:chOff x="0" y="0"/>
            <a:chExt cx="76200" cy="6858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0" y="0"/>
                  </a:moveTo>
                  <a:lnTo>
                    <a:pt x="76200" y="0"/>
                  </a:lnTo>
                  <a:lnTo>
                    <a:pt x="76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62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43000" y="5257800"/>
            <a:ext cx="76200" cy="76200"/>
            <a:chOff x="0" y="0"/>
            <a:chExt cx="101600" cy="101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43000" y="5924550"/>
            <a:ext cx="76200" cy="76200"/>
            <a:chOff x="0" y="0"/>
            <a:chExt cx="101600" cy="101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43000" y="6591300"/>
            <a:ext cx="76200" cy="76200"/>
            <a:chOff x="0" y="0"/>
            <a:chExt cx="101600" cy="101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0" y="7258050"/>
            <a:ext cx="76200" cy="76200"/>
            <a:chOff x="0" y="0"/>
            <a:chExt cx="101600" cy="101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43000" y="7924800"/>
            <a:ext cx="76200" cy="76200"/>
            <a:chOff x="0" y="0"/>
            <a:chExt cx="101600" cy="1016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06000" y="5257800"/>
            <a:ext cx="76200" cy="76200"/>
            <a:chOff x="0" y="0"/>
            <a:chExt cx="101600" cy="1016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06000" y="5829300"/>
            <a:ext cx="76200" cy="76200"/>
            <a:chOff x="0" y="0"/>
            <a:chExt cx="101600" cy="101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906000" y="6400800"/>
            <a:ext cx="76200" cy="76200"/>
            <a:chOff x="0" y="0"/>
            <a:chExt cx="101600" cy="101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906000" y="6972300"/>
            <a:ext cx="76200" cy="76200"/>
            <a:chOff x="0" y="0"/>
            <a:chExt cx="101600" cy="101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906000" y="7543800"/>
            <a:ext cx="76200" cy="76200"/>
            <a:chOff x="0" y="0"/>
            <a:chExt cx="101600" cy="1016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906000" y="8115300"/>
            <a:ext cx="76200" cy="76200"/>
            <a:chOff x="0" y="0"/>
            <a:chExt cx="101600" cy="1016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43000" y="4095750"/>
            <a:ext cx="3810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INCLUDED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3000" y="4286250"/>
            <a:ext cx="6667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What makes the shortlist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906000" y="4095750"/>
            <a:ext cx="3810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EXCLUDED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906000" y="4286250"/>
            <a:ext cx="6667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Where candidates fall out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09700" y="5105400"/>
            <a:ext cx="7239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Fit ≥ 90% with high confidence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09700" y="5772150"/>
            <a:ext cx="7239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Completeness ≥ 90%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09700" y="6438900"/>
            <a:ext cx="7239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Must-haves fully met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09700" y="7105650"/>
            <a:ext cx="7239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Fresh immediate availability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409700" y="7772400"/>
            <a:ext cx="7239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Discovery opt-in on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172700" y="5114925"/>
            <a:ext cx="7048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89.9% fit — excluded from recommended band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172700" y="5686425"/>
            <a:ext cx="7048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Completeness &lt; 90% — score gated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172700" y="6257925"/>
            <a:ext cx="7048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Missing must-have — excluded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172700" y="6829425"/>
            <a:ext cx="7048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Low confidence — excluded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172700" y="7400925"/>
            <a:ext cx="7048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Stale / not immediately available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172700" y="7972425"/>
            <a:ext cx="7048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Opt-out — excluded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62000" y="9239250"/>
            <a:ext cx="16764000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 spc="102">
                <a:solidFill>
                  <a:srgbClr val="1D3D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Honest empty shortlist allowed · thresholds never lowered · near-misses visible only to the candidate.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· Backlog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APPENDIX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85925"/>
            <a:ext cx="16192500" cy="68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spc="-6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Backlog · compact view.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3028950"/>
            <a:ext cx="3810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EPICS · 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5000" y="3028950"/>
            <a:ext cx="3810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PILOT STORIES · 7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62000" y="3962400"/>
            <a:ext cx="8191500" cy="533400"/>
            <a:chOff x="0" y="0"/>
            <a:chExt cx="109220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22000" cy="711200"/>
            </a:xfrm>
            <a:custGeom>
              <a:avLst/>
              <a:gdLst/>
              <a:ahLst/>
              <a:cxnLst/>
              <a:rect l="l" t="t" r="r" b="b"/>
              <a:pathLst>
                <a:path w="10922000" h="711200">
                  <a:moveTo>
                    <a:pt x="0" y="0"/>
                  </a:moveTo>
                  <a:lnTo>
                    <a:pt x="10922000" y="0"/>
                  </a:lnTo>
                  <a:lnTo>
                    <a:pt x="1092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92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5029200"/>
            <a:ext cx="8191500" cy="533400"/>
            <a:chOff x="0" y="0"/>
            <a:chExt cx="109220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22000" cy="711200"/>
            </a:xfrm>
            <a:custGeom>
              <a:avLst/>
              <a:gdLst/>
              <a:ahLst/>
              <a:cxnLst/>
              <a:rect l="l" t="t" r="r" b="b"/>
              <a:pathLst>
                <a:path w="10922000" h="711200">
                  <a:moveTo>
                    <a:pt x="0" y="0"/>
                  </a:moveTo>
                  <a:lnTo>
                    <a:pt x="10922000" y="0"/>
                  </a:lnTo>
                  <a:lnTo>
                    <a:pt x="1092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92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6096000"/>
            <a:ext cx="8191500" cy="533400"/>
            <a:chOff x="0" y="0"/>
            <a:chExt cx="109220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22000" cy="711200"/>
            </a:xfrm>
            <a:custGeom>
              <a:avLst/>
              <a:gdLst/>
              <a:ahLst/>
              <a:cxnLst/>
              <a:rect l="l" t="t" r="r" b="b"/>
              <a:pathLst>
                <a:path w="10922000" h="711200">
                  <a:moveTo>
                    <a:pt x="0" y="0"/>
                  </a:moveTo>
                  <a:lnTo>
                    <a:pt x="10922000" y="0"/>
                  </a:lnTo>
                  <a:lnTo>
                    <a:pt x="1092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92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7162800"/>
            <a:ext cx="8191500" cy="533400"/>
            <a:chOff x="0" y="0"/>
            <a:chExt cx="10922000" cy="711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22000" cy="711200"/>
            </a:xfrm>
            <a:custGeom>
              <a:avLst/>
              <a:gdLst/>
              <a:ahLst/>
              <a:cxnLst/>
              <a:rect l="l" t="t" r="r" b="b"/>
              <a:pathLst>
                <a:path w="10922000" h="711200">
                  <a:moveTo>
                    <a:pt x="0" y="0"/>
                  </a:moveTo>
                  <a:lnTo>
                    <a:pt x="10922000" y="0"/>
                  </a:lnTo>
                  <a:lnTo>
                    <a:pt x="1092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922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52500" y="35814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67000" y="3533775"/>
            <a:ext cx="6096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Profile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2500" y="41148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67000" y="4067175"/>
            <a:ext cx="6096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Discovery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2500" y="46482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67000" y="4600575"/>
            <a:ext cx="6096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Matching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2500" y="51816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67000" y="5133975"/>
            <a:ext cx="6096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Documents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2500" y="57150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67000" y="5667375"/>
            <a:ext cx="6096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History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2500" y="62484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67000" y="6200775"/>
            <a:ext cx="6096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Privacy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2500" y="67818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CPA-78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667000" y="6734175"/>
            <a:ext cx="6096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Career &amp; interview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2500" y="73152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CPA-88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667000" y="7267575"/>
            <a:ext cx="6096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Headhunter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2500" y="78486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CPA-89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667000" y="7800975"/>
            <a:ext cx="6096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Consent &amp; availability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525000" y="3429000"/>
            <a:ext cx="38100" cy="533400"/>
            <a:chOff x="0" y="0"/>
            <a:chExt cx="50800" cy="711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25000" y="3962400"/>
            <a:ext cx="8001000" cy="533400"/>
            <a:chOff x="0" y="0"/>
            <a:chExt cx="10668000" cy="711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668000" cy="711200"/>
            </a:xfrm>
            <a:custGeom>
              <a:avLst/>
              <a:gdLst/>
              <a:ahLst/>
              <a:cxnLst/>
              <a:rect l="l" t="t" r="r" b="b"/>
              <a:pathLst>
                <a:path w="10668000" h="711200">
                  <a:moveTo>
                    <a:pt x="0" y="0"/>
                  </a:moveTo>
                  <a:lnTo>
                    <a:pt x="10668000" y="0"/>
                  </a:lnTo>
                  <a:lnTo>
                    <a:pt x="10668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0668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525000" y="3962400"/>
            <a:ext cx="38100" cy="533400"/>
            <a:chOff x="0" y="0"/>
            <a:chExt cx="50800" cy="711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525000" y="4495800"/>
            <a:ext cx="38100" cy="533400"/>
            <a:chOff x="0" y="0"/>
            <a:chExt cx="50800" cy="711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525000" y="5029200"/>
            <a:ext cx="8001000" cy="533400"/>
            <a:chOff x="0" y="0"/>
            <a:chExt cx="10668000" cy="7112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668000" cy="711200"/>
            </a:xfrm>
            <a:custGeom>
              <a:avLst/>
              <a:gdLst/>
              <a:ahLst/>
              <a:cxnLst/>
              <a:rect l="l" t="t" r="r" b="b"/>
              <a:pathLst>
                <a:path w="10668000" h="711200">
                  <a:moveTo>
                    <a:pt x="0" y="0"/>
                  </a:moveTo>
                  <a:lnTo>
                    <a:pt x="10668000" y="0"/>
                  </a:lnTo>
                  <a:lnTo>
                    <a:pt x="10668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0668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525000" y="5029200"/>
            <a:ext cx="38100" cy="533400"/>
            <a:chOff x="0" y="0"/>
            <a:chExt cx="50800" cy="7112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525000" y="5562600"/>
            <a:ext cx="38100" cy="533400"/>
            <a:chOff x="0" y="0"/>
            <a:chExt cx="50800" cy="7112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525000" y="6096000"/>
            <a:ext cx="8001000" cy="533400"/>
            <a:chOff x="0" y="0"/>
            <a:chExt cx="10668000" cy="7112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668000" cy="711200"/>
            </a:xfrm>
            <a:custGeom>
              <a:avLst/>
              <a:gdLst/>
              <a:ahLst/>
              <a:cxnLst/>
              <a:rect l="l" t="t" r="r" b="b"/>
              <a:pathLst>
                <a:path w="10668000" h="711200">
                  <a:moveTo>
                    <a:pt x="0" y="0"/>
                  </a:moveTo>
                  <a:lnTo>
                    <a:pt x="10668000" y="0"/>
                  </a:lnTo>
                  <a:lnTo>
                    <a:pt x="10668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0668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525000" y="6096000"/>
            <a:ext cx="38100" cy="533400"/>
            <a:chOff x="0" y="0"/>
            <a:chExt cx="50800" cy="7112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525000" y="6629400"/>
            <a:ext cx="38100" cy="533400"/>
            <a:chOff x="0" y="0"/>
            <a:chExt cx="50800" cy="7112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0800" cy="711200"/>
            </a:xfrm>
            <a:custGeom>
              <a:avLst/>
              <a:gdLst/>
              <a:ahLst/>
              <a:cxnLst/>
              <a:rect l="l" t="t" r="r" b="b"/>
              <a:pathLst>
                <a:path w="50800" h="711200">
                  <a:moveTo>
                    <a:pt x="0" y="0"/>
                  </a:moveTo>
                  <a:lnTo>
                    <a:pt x="50800" y="0"/>
                  </a:lnTo>
                  <a:lnTo>
                    <a:pt x="50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508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715500" y="35814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CPA-90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430000" y="3533775"/>
            <a:ext cx="4572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Verification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6192500" y="3600450"/>
            <a:ext cx="1143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4"/>
              </a:lnSpc>
            </a:pPr>
            <a:r>
              <a:rPr lang="en-US" sz="975" b="1" spc="234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MUST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715500" y="41148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CPA-91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430000" y="4067175"/>
            <a:ext cx="4572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JD authorisation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6192500" y="4133850"/>
            <a:ext cx="1143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4"/>
              </a:lnSpc>
            </a:pPr>
            <a:r>
              <a:rPr lang="en-US" sz="975" b="1" spc="234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MUST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715500" y="46482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CPA-92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430000" y="4600575"/>
            <a:ext cx="4572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Consent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6192500" y="4667250"/>
            <a:ext cx="1143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4"/>
              </a:lnSpc>
            </a:pPr>
            <a:r>
              <a:rPr lang="en-US" sz="975" b="1" spc="234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MUST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715500" y="51816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CPA-93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30000" y="5133975"/>
            <a:ext cx="4572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Availability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6192500" y="5200650"/>
            <a:ext cx="1143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4"/>
              </a:lnSpc>
            </a:pPr>
            <a:r>
              <a:rPr lang="en-US" sz="975" b="1" spc="234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MUST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715500" y="57150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CPA-94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430000" y="5667375"/>
            <a:ext cx="4572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Shortlist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6192500" y="5734050"/>
            <a:ext cx="1143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4"/>
              </a:lnSpc>
            </a:pPr>
            <a:r>
              <a:rPr lang="en-US" sz="975" b="1" spc="234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MUST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715500" y="62484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CPA-95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430000" y="6200775"/>
            <a:ext cx="4572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CV approval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6192500" y="6267450"/>
            <a:ext cx="1143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4"/>
              </a:lnSpc>
            </a:pPr>
            <a:r>
              <a:rPr lang="en-US" sz="975" b="1" spc="234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MUST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715500" y="6781800"/>
            <a:ext cx="152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 spc="11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CPA-96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1430000" y="6734175"/>
            <a:ext cx="45720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Outcomes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6192500" y="6800850"/>
            <a:ext cx="1143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4"/>
              </a:lnSpc>
            </a:pPr>
            <a:r>
              <a:rPr lang="en-US" sz="975" b="1" spc="234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SHOULD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62000" y="8743950"/>
            <a:ext cx="381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b="1" spc="234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DEPENDENCIES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62000" y="8963025"/>
            <a:ext cx="16764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92 → 93  +  90 → 91  converge → 94 → 95 → optional 96      ·      CPA-77 broader employer trust · post-MVP      ·      WSJF provisional, dependencies prioritized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· Gates &amp; Risks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APPENDIX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85925"/>
            <a:ext cx="16192500" cy="68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spc="-6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Gates and risks.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3429000"/>
            <a:ext cx="8191500" cy="685800"/>
            <a:chOff x="0" y="0"/>
            <a:chExt cx="1092200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22000" cy="914400"/>
            </a:xfrm>
            <a:custGeom>
              <a:avLst/>
              <a:gdLst/>
              <a:ahLst/>
              <a:cxnLst/>
              <a:rect l="l" t="t" r="r" b="b"/>
              <a:pathLst>
                <a:path w="10922000" h="914400">
                  <a:moveTo>
                    <a:pt x="0" y="0"/>
                  </a:moveTo>
                  <a:lnTo>
                    <a:pt x="10922000" y="0"/>
                  </a:lnTo>
                  <a:lnTo>
                    <a:pt x="1092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92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2500" y="3581400"/>
            <a:ext cx="381000" cy="381000"/>
            <a:chOff x="0" y="0"/>
            <a:chExt cx="508000" cy="508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4248150"/>
            <a:ext cx="8191500" cy="685800"/>
            <a:chOff x="0" y="0"/>
            <a:chExt cx="1092200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22000" cy="914400"/>
            </a:xfrm>
            <a:custGeom>
              <a:avLst/>
              <a:gdLst/>
              <a:ahLst/>
              <a:cxnLst/>
              <a:rect l="l" t="t" r="r" b="b"/>
              <a:pathLst>
                <a:path w="10922000" h="914400">
                  <a:moveTo>
                    <a:pt x="0" y="0"/>
                  </a:moveTo>
                  <a:lnTo>
                    <a:pt x="10922000" y="0"/>
                  </a:lnTo>
                  <a:lnTo>
                    <a:pt x="1092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92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" y="4400550"/>
            <a:ext cx="381000" cy="381000"/>
            <a:chOff x="0" y="0"/>
            <a:chExt cx="508000" cy="508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5067300"/>
            <a:ext cx="8191500" cy="685800"/>
            <a:chOff x="0" y="0"/>
            <a:chExt cx="109220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22000" cy="914400"/>
            </a:xfrm>
            <a:custGeom>
              <a:avLst/>
              <a:gdLst/>
              <a:ahLst/>
              <a:cxnLst/>
              <a:rect l="l" t="t" r="r" b="b"/>
              <a:pathLst>
                <a:path w="10922000" h="914400">
                  <a:moveTo>
                    <a:pt x="0" y="0"/>
                  </a:moveTo>
                  <a:lnTo>
                    <a:pt x="10922000" y="0"/>
                  </a:lnTo>
                  <a:lnTo>
                    <a:pt x="1092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92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5219700"/>
            <a:ext cx="381000" cy="381000"/>
            <a:chOff x="0" y="0"/>
            <a:chExt cx="508000" cy="508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5886450"/>
            <a:ext cx="8191500" cy="685800"/>
            <a:chOff x="0" y="0"/>
            <a:chExt cx="1092200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22000" cy="914400"/>
            </a:xfrm>
            <a:custGeom>
              <a:avLst/>
              <a:gdLst/>
              <a:ahLst/>
              <a:cxnLst/>
              <a:rect l="l" t="t" r="r" b="b"/>
              <a:pathLst>
                <a:path w="10922000" h="914400">
                  <a:moveTo>
                    <a:pt x="0" y="0"/>
                  </a:moveTo>
                  <a:lnTo>
                    <a:pt x="10922000" y="0"/>
                  </a:lnTo>
                  <a:lnTo>
                    <a:pt x="1092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092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2500" y="6038850"/>
            <a:ext cx="381000" cy="381000"/>
            <a:chOff x="0" y="0"/>
            <a:chExt cx="508000" cy="508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6705600"/>
            <a:ext cx="8191500" cy="685800"/>
            <a:chOff x="0" y="0"/>
            <a:chExt cx="1092200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22000" cy="914400"/>
            </a:xfrm>
            <a:custGeom>
              <a:avLst/>
              <a:gdLst/>
              <a:ahLst/>
              <a:cxnLst/>
              <a:rect l="l" t="t" r="r" b="b"/>
              <a:pathLst>
                <a:path w="10922000" h="914400">
                  <a:moveTo>
                    <a:pt x="0" y="0"/>
                  </a:moveTo>
                  <a:lnTo>
                    <a:pt x="10922000" y="0"/>
                  </a:lnTo>
                  <a:lnTo>
                    <a:pt x="1092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2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2500" y="6858000"/>
            <a:ext cx="381000" cy="381000"/>
            <a:chOff x="0" y="0"/>
            <a:chExt cx="508000" cy="508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7524750"/>
            <a:ext cx="8191500" cy="685800"/>
            <a:chOff x="0" y="0"/>
            <a:chExt cx="10922000" cy="914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22000" cy="914400"/>
            </a:xfrm>
            <a:custGeom>
              <a:avLst/>
              <a:gdLst/>
              <a:ahLst/>
              <a:cxnLst/>
              <a:rect l="l" t="t" r="r" b="b"/>
              <a:pathLst>
                <a:path w="10922000" h="914400">
                  <a:moveTo>
                    <a:pt x="0" y="0"/>
                  </a:moveTo>
                  <a:lnTo>
                    <a:pt x="10922000" y="0"/>
                  </a:lnTo>
                  <a:lnTo>
                    <a:pt x="1092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DE4DC"/>
            </a:solidFill>
            <a:ln w="9525" cap="sq">
              <a:solidFill>
                <a:srgbClr val="F2542D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92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2500" y="7677150"/>
            <a:ext cx="381000" cy="381000"/>
            <a:chOff x="0" y="0"/>
            <a:chExt cx="508000" cy="5080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62000" y="3028950"/>
            <a:ext cx="3810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GATES &amp; DATES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24000" y="3495675"/>
            <a:ext cx="381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27 Nov 2026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24000" y="3829050"/>
            <a:ext cx="571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24000" y="4314825"/>
            <a:ext cx="381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8 Jan 2027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24000" y="4648200"/>
            <a:ext cx="571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Design · capacity · legal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24000" y="5133975"/>
            <a:ext cx="381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2 Apr 2027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24000" y="5467350"/>
            <a:ext cx="571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Alpha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524000" y="5953125"/>
            <a:ext cx="381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30 Apr 2027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524000" y="6286500"/>
            <a:ext cx="571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Must gate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524000" y="6772275"/>
            <a:ext cx="381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28 May 2027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24000" y="7105650"/>
            <a:ext cx="571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Beta gate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24000" y="7591425"/>
            <a:ext cx="381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14 Jun 2027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24000" y="7924800"/>
            <a:ext cx="5715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 launch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9525000" y="3429000"/>
            <a:ext cx="8001000" cy="800100"/>
            <a:chOff x="0" y="0"/>
            <a:chExt cx="10668000" cy="1066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668000" cy="1066800"/>
            </a:xfrm>
            <a:custGeom>
              <a:avLst/>
              <a:gdLst/>
              <a:ahLst/>
              <a:cxnLst/>
              <a:rect l="l" t="t" r="r" b="b"/>
              <a:pathLst>
                <a:path w="10668000" h="1066800">
                  <a:moveTo>
                    <a:pt x="0" y="0"/>
                  </a:moveTo>
                  <a:lnTo>
                    <a:pt x="10668000" y="0"/>
                  </a:lnTo>
                  <a:lnTo>
                    <a:pt x="106680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06680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525000" y="3429000"/>
            <a:ext cx="38100" cy="800100"/>
            <a:chOff x="0" y="0"/>
            <a:chExt cx="50800" cy="1066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0800" cy="1066800"/>
            </a:xfrm>
            <a:custGeom>
              <a:avLst/>
              <a:gdLst/>
              <a:ahLst/>
              <a:cxnLst/>
              <a:rect l="l" t="t" r="r" b="b"/>
              <a:pathLst>
                <a:path w="50800" h="1066800">
                  <a:moveTo>
                    <a:pt x="0" y="0"/>
                  </a:moveTo>
                  <a:lnTo>
                    <a:pt x="50800" y="0"/>
                  </a:lnTo>
                  <a:lnTo>
                    <a:pt x="50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508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525000" y="4381500"/>
            <a:ext cx="8001000" cy="800100"/>
            <a:chOff x="0" y="0"/>
            <a:chExt cx="10668000" cy="1066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668000" cy="1066800"/>
            </a:xfrm>
            <a:custGeom>
              <a:avLst/>
              <a:gdLst/>
              <a:ahLst/>
              <a:cxnLst/>
              <a:rect l="l" t="t" r="r" b="b"/>
              <a:pathLst>
                <a:path w="10668000" h="1066800">
                  <a:moveTo>
                    <a:pt x="0" y="0"/>
                  </a:moveTo>
                  <a:lnTo>
                    <a:pt x="10668000" y="0"/>
                  </a:lnTo>
                  <a:lnTo>
                    <a:pt x="106680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06680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525000" y="4381500"/>
            <a:ext cx="38100" cy="800100"/>
            <a:chOff x="0" y="0"/>
            <a:chExt cx="50800" cy="1066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0800" cy="1066800"/>
            </a:xfrm>
            <a:custGeom>
              <a:avLst/>
              <a:gdLst/>
              <a:ahLst/>
              <a:cxnLst/>
              <a:rect l="l" t="t" r="r" b="b"/>
              <a:pathLst>
                <a:path w="50800" h="1066800">
                  <a:moveTo>
                    <a:pt x="0" y="0"/>
                  </a:moveTo>
                  <a:lnTo>
                    <a:pt x="50800" y="0"/>
                  </a:lnTo>
                  <a:lnTo>
                    <a:pt x="50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508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525000" y="5334000"/>
            <a:ext cx="8001000" cy="800100"/>
            <a:chOff x="0" y="0"/>
            <a:chExt cx="10668000" cy="1066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668000" cy="1066800"/>
            </a:xfrm>
            <a:custGeom>
              <a:avLst/>
              <a:gdLst/>
              <a:ahLst/>
              <a:cxnLst/>
              <a:rect l="l" t="t" r="r" b="b"/>
              <a:pathLst>
                <a:path w="10668000" h="1066800">
                  <a:moveTo>
                    <a:pt x="0" y="0"/>
                  </a:moveTo>
                  <a:lnTo>
                    <a:pt x="10668000" y="0"/>
                  </a:lnTo>
                  <a:lnTo>
                    <a:pt x="106680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106680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525000" y="5334000"/>
            <a:ext cx="38100" cy="800100"/>
            <a:chOff x="0" y="0"/>
            <a:chExt cx="50800" cy="1066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0800" cy="1066800"/>
            </a:xfrm>
            <a:custGeom>
              <a:avLst/>
              <a:gdLst/>
              <a:ahLst/>
              <a:cxnLst/>
              <a:rect l="l" t="t" r="r" b="b"/>
              <a:pathLst>
                <a:path w="50800" h="1066800">
                  <a:moveTo>
                    <a:pt x="0" y="0"/>
                  </a:moveTo>
                  <a:lnTo>
                    <a:pt x="50800" y="0"/>
                  </a:lnTo>
                  <a:lnTo>
                    <a:pt x="50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508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525000" y="6286500"/>
            <a:ext cx="8001000" cy="800100"/>
            <a:chOff x="0" y="0"/>
            <a:chExt cx="10668000" cy="1066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0668000" cy="1066800"/>
            </a:xfrm>
            <a:custGeom>
              <a:avLst/>
              <a:gdLst/>
              <a:ahLst/>
              <a:cxnLst/>
              <a:rect l="l" t="t" r="r" b="b"/>
              <a:pathLst>
                <a:path w="10668000" h="1066800">
                  <a:moveTo>
                    <a:pt x="0" y="0"/>
                  </a:moveTo>
                  <a:lnTo>
                    <a:pt x="10668000" y="0"/>
                  </a:lnTo>
                  <a:lnTo>
                    <a:pt x="106680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106680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525000" y="6286500"/>
            <a:ext cx="38100" cy="800100"/>
            <a:chOff x="0" y="0"/>
            <a:chExt cx="50800" cy="1066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0800" cy="1066800"/>
            </a:xfrm>
            <a:custGeom>
              <a:avLst/>
              <a:gdLst/>
              <a:ahLst/>
              <a:cxnLst/>
              <a:rect l="l" t="t" r="r" b="b"/>
              <a:pathLst>
                <a:path w="50800" h="1066800">
                  <a:moveTo>
                    <a:pt x="0" y="0"/>
                  </a:moveTo>
                  <a:lnTo>
                    <a:pt x="50800" y="0"/>
                  </a:lnTo>
                  <a:lnTo>
                    <a:pt x="50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F2542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508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525000" y="7239000"/>
            <a:ext cx="8001000" cy="800100"/>
            <a:chOff x="0" y="0"/>
            <a:chExt cx="10668000" cy="10668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668000" cy="1066800"/>
            </a:xfrm>
            <a:custGeom>
              <a:avLst/>
              <a:gdLst/>
              <a:ahLst/>
              <a:cxnLst/>
              <a:rect l="l" t="t" r="r" b="b"/>
              <a:pathLst>
                <a:path w="10668000" h="1066800">
                  <a:moveTo>
                    <a:pt x="0" y="0"/>
                  </a:moveTo>
                  <a:lnTo>
                    <a:pt x="10668000" y="0"/>
                  </a:lnTo>
                  <a:lnTo>
                    <a:pt x="106680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106680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525000" y="7239000"/>
            <a:ext cx="38100" cy="800100"/>
            <a:chOff x="0" y="0"/>
            <a:chExt cx="50800" cy="10668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50800" cy="1066800"/>
            </a:xfrm>
            <a:custGeom>
              <a:avLst/>
              <a:gdLst/>
              <a:ahLst/>
              <a:cxnLst/>
              <a:rect l="l" t="t" r="r" b="b"/>
              <a:pathLst>
                <a:path w="50800" h="1066800">
                  <a:moveTo>
                    <a:pt x="0" y="0"/>
                  </a:moveTo>
                  <a:lnTo>
                    <a:pt x="50800" y="0"/>
                  </a:lnTo>
                  <a:lnTo>
                    <a:pt x="50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508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9525000" y="3028950"/>
            <a:ext cx="3810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RISKS &amp; MITIGATIONS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753600" y="3495675"/>
            <a:ext cx="762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Eligible supply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753600" y="3867150"/>
            <a:ext cx="7620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Mitigate · Coverage + quality validation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753600" y="4448175"/>
            <a:ext cx="762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Gate abandonment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753600" y="4819650"/>
            <a:ext cx="7620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Mitigate · UX research · drop-off instrumentation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9753600" y="5400675"/>
            <a:ext cx="762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Stale availability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753600" y="5772150"/>
            <a:ext cx="7620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Mitigate · Fresh checks · 7-day proposed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753600" y="6353175"/>
            <a:ext cx="762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Cost / capacity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753600" y="6724650"/>
            <a:ext cx="7620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Mitigate · Scope gates · G2 decision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9753600" y="7305675"/>
            <a:ext cx="7620000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Fairness, consent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9753600" y="7677150"/>
            <a:ext cx="7620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Mitigate · Expert review · protected-attribute exclusion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62000" y="9220200"/>
            <a:ext cx="16764000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spc="112">
                <a:solidFill>
                  <a:srgbClr val="B83A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Beta ≈ 500 Germany users assumed  ·  Pilot 5 verified recruiters proposed · dates unset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CareerPilot logo" descr="CareerPilo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8150"/>
            <a:ext cx="901087" cy="182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438150"/>
            <a:ext cx="952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· FAQ &amp; Sources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438150"/>
            <a:ext cx="95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189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734550"/>
            <a:ext cx="11430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175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Germany MVP · Public launch target 14 June 2027 (planned)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762000"/>
            <a:ext cx="16764000" cy="9525"/>
            <a:chOff x="0" y="0"/>
            <a:chExt cx="22352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2700"/>
            </a:xfrm>
            <a:custGeom>
              <a:avLst/>
              <a:gdLst/>
              <a:ahLst/>
              <a:cxnLst/>
              <a:rect l="l" t="t" r="r" b="b"/>
              <a:pathLst>
                <a:path w="22352000" h="127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5DE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352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13144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43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APPENDIX · FAQ &amp; SOURCES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1685925"/>
            <a:ext cx="16192500" cy="68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 spc="-6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Pricing, data, references.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3238500"/>
            <a:ext cx="8382000" cy="4191000"/>
            <a:chOff x="0" y="0"/>
            <a:chExt cx="11176000" cy="5588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76000" cy="5588000"/>
            </a:xfrm>
            <a:custGeom>
              <a:avLst/>
              <a:gdLst/>
              <a:ahLst/>
              <a:cxnLst/>
              <a:rect l="l" t="t" r="r" b="b"/>
              <a:pathLst>
                <a:path w="11176000" h="5588000">
                  <a:moveTo>
                    <a:pt x="0" y="0"/>
                  </a:moveTo>
                  <a:lnTo>
                    <a:pt x="11176000" y="0"/>
                  </a:lnTo>
                  <a:lnTo>
                    <a:pt x="11176000" y="5588000"/>
                  </a:lnTo>
                  <a:lnTo>
                    <a:pt x="0" y="558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176000" cy="562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3238500"/>
            <a:ext cx="57150" cy="4191000"/>
            <a:chOff x="0" y="0"/>
            <a:chExt cx="76200" cy="5588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200" cy="5588000"/>
            </a:xfrm>
            <a:custGeom>
              <a:avLst/>
              <a:gdLst/>
              <a:ahLst/>
              <a:cxnLst/>
              <a:rect l="l" t="t" r="r" b="b"/>
              <a:pathLst>
                <a:path w="76200" h="5588000">
                  <a:moveTo>
                    <a:pt x="0" y="0"/>
                  </a:moveTo>
                  <a:lnTo>
                    <a:pt x="76200" y="0"/>
                  </a:lnTo>
                  <a:lnTo>
                    <a:pt x="76200" y="5588000"/>
                  </a:lnTo>
                  <a:lnTo>
                    <a:pt x="0" y="5588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6200" cy="562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3000" y="3524250"/>
            <a:ext cx="3810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PRICING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3981450"/>
            <a:ext cx="72390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215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FREE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4133850"/>
            <a:ext cx="7239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10 daily credits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000" y="4800600"/>
            <a:ext cx="72390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215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PROPOSED · post-launch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4953000"/>
            <a:ext cx="7239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€10 top-up pack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3000" y="5619750"/>
            <a:ext cx="72390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215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PROPOSED · post-launch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3000" y="5772150"/>
            <a:ext cx="7239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€0.99 / 10 credits, non-expiring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3000" y="6438900"/>
            <a:ext cx="7239000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215">
                <a:solidFill>
                  <a:srgbClr val="B83A1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RECRUITER PRICING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3000" y="6591300"/>
            <a:ext cx="72390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B83A1C"/>
                </a:solidFill>
                <a:latin typeface="Inter"/>
                <a:ea typeface="Inter"/>
                <a:cs typeface="Inter"/>
                <a:sym typeface="Inter"/>
              </a:rPr>
              <a:t>TBD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525000" y="3238500"/>
            <a:ext cx="8001000" cy="1905000"/>
            <a:chOff x="0" y="0"/>
            <a:chExt cx="10668000" cy="254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68000" cy="2540000"/>
            </a:xfrm>
            <a:custGeom>
              <a:avLst/>
              <a:gdLst/>
              <a:ahLst/>
              <a:cxnLst/>
              <a:rect l="l" t="t" r="r" b="b"/>
              <a:pathLst>
                <a:path w="10668000" h="2540000">
                  <a:moveTo>
                    <a:pt x="0" y="0"/>
                  </a:moveTo>
                  <a:lnTo>
                    <a:pt x="10668000" y="0"/>
                  </a:lnTo>
                  <a:lnTo>
                    <a:pt x="10668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EE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668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0" y="3238500"/>
            <a:ext cx="57150" cy="1905000"/>
            <a:chOff x="0" y="0"/>
            <a:chExt cx="76200" cy="254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200" cy="2540000"/>
            </a:xfrm>
            <a:custGeom>
              <a:avLst/>
              <a:gdLst/>
              <a:ahLst/>
              <a:cxnLst/>
              <a:rect l="l" t="t" r="r" b="b"/>
              <a:pathLst>
                <a:path w="76200" h="2540000">
                  <a:moveTo>
                    <a:pt x="0" y="0"/>
                  </a:moveTo>
                  <a:lnTo>
                    <a:pt x="76200" y="0"/>
                  </a:lnTo>
                  <a:lnTo>
                    <a:pt x="762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62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906000" y="3924300"/>
            <a:ext cx="57150" cy="57150"/>
            <a:chOff x="0" y="0"/>
            <a:chExt cx="76200" cy="76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06000" y="4324350"/>
            <a:ext cx="57150" cy="57150"/>
            <a:chOff x="0" y="0"/>
            <a:chExt cx="76200" cy="76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906000" y="4724400"/>
            <a:ext cx="57150" cy="57150"/>
            <a:chOff x="0" y="0"/>
            <a:chExt cx="76200" cy="76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906000" y="3409950"/>
            <a:ext cx="3810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DATA SOURCES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96500" y="3781425"/>
            <a:ext cx="72390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Approved Bundesagentur public lists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096500" y="4181475"/>
            <a:ext cx="72390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Source-terms gate · no scraping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096500" y="4581525"/>
            <a:ext cx="72390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CV shared only after specific candidate approval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9525000" y="5334000"/>
            <a:ext cx="8001000" cy="2095500"/>
            <a:chOff x="0" y="0"/>
            <a:chExt cx="10668000" cy="2794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668000" cy="2794000"/>
            </a:xfrm>
            <a:custGeom>
              <a:avLst/>
              <a:gdLst/>
              <a:ahLst/>
              <a:cxnLst/>
              <a:rect l="l" t="t" r="r" b="b"/>
              <a:pathLst>
                <a:path w="10668000" h="2794000">
                  <a:moveTo>
                    <a:pt x="0" y="0"/>
                  </a:moveTo>
                  <a:lnTo>
                    <a:pt x="10668000" y="0"/>
                  </a:lnTo>
                  <a:lnTo>
                    <a:pt x="1066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DCE4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0668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906000" y="6038850"/>
            <a:ext cx="57150" cy="57150"/>
            <a:chOff x="0" y="0"/>
            <a:chExt cx="76200" cy="76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525500" y="6038850"/>
            <a:ext cx="57150" cy="57150"/>
            <a:chOff x="0" y="0"/>
            <a:chExt cx="76200" cy="76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906000" y="6572250"/>
            <a:ext cx="57150" cy="57150"/>
            <a:chOff x="0" y="0"/>
            <a:chExt cx="76200" cy="762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525500" y="6572250"/>
            <a:ext cx="57150" cy="57150"/>
            <a:chOff x="0" y="0"/>
            <a:chExt cx="76200" cy="76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F2A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9906000" y="5505450"/>
            <a:ext cx="7239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 spc="252">
                <a:solidFill>
                  <a:srgbClr val="0F2A4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REFERENCES  ·  LINKS IN SPEAKER NOTES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96500" y="5886450"/>
            <a:ext cx="3429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u="sng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PRD · see notes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716000" y="5886450"/>
            <a:ext cx="3429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u="sng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Jira board · see notes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096500" y="6419850"/>
            <a:ext cx="3429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u="sng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Persona flows · Figma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716000" y="6419850"/>
            <a:ext cx="3429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u="sng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Roadmap · Figma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62000" y="9220200"/>
            <a:ext cx="16764000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5" spc="292">
                <a:solidFill>
                  <a:srgbClr val="5B6B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 SYNTHESIS DATE  ·  6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1655</Words>
  <Application>Microsoft Office PowerPoint</Application>
  <PresentationFormat>Custom</PresentationFormat>
  <Paragraphs>431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JetBrains Mono Bold</vt:lpstr>
      <vt:lpstr>JetBrains Mono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CareerPilot Product Story</dc:title>
  <dc:creator>Dan</dc:creator>
  <cp:lastModifiedBy>Dan Glogoveanu</cp:lastModifiedBy>
  <cp:revision>3</cp:revision>
  <dcterms:created xsi:type="dcterms:W3CDTF">2006-08-16T00:00:00Z</dcterms:created>
  <dcterms:modified xsi:type="dcterms:W3CDTF">2026-10-07T16:10:59Z</dcterms:modified>
  <dc:identifier>DAHXP-1d1Yo</dc:identifier>
</cp:coreProperties>
</file>