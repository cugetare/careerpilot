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6858000" cx="12192000"/>
  <p:notesSz cx="6858000" cy="12192000"/>
  <p:embeddedFontLst>
    <p:embeddedFont>
      <p:font typeface="Inter"/>
      <p:regular r:id="rId22"/>
      <p:bold r:id="rId23"/>
      <p:italic r:id="rId24"/>
      <p:boldItalic r:id="rId25"/>
    </p:embeddedFont>
    <p:embeddedFont>
      <p:font typeface="JetBrains Mono"/>
      <p:regular r:id="rId26"/>
      <p:bold r:id="rId27"/>
      <p:italic r:id="rId28"/>
      <p:boldItalic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0" roundtripDataSignature="AMtx7mjSFBs38XHXluovTp0BchpQGZn1C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55AD317-4925-4BC8-8E0B-B8CEDDE1BA60}">
  <a:tblStyle styleId="{355AD317-4925-4BC8-8E0B-B8CEDDE1BA6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Inter-regular.fntdata"/><Relationship Id="rId21" Type="http://schemas.openxmlformats.org/officeDocument/2006/relationships/slide" Target="slides/slide16.xml"/><Relationship Id="rId24" Type="http://schemas.openxmlformats.org/officeDocument/2006/relationships/font" Target="fonts/Inter-italic.fntdata"/><Relationship Id="rId23" Type="http://schemas.openxmlformats.org/officeDocument/2006/relationships/font" Target="fonts/Inter-bold.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JetBrainsMono-regular.fntdata"/><Relationship Id="rId25" Type="http://schemas.openxmlformats.org/officeDocument/2006/relationships/font" Target="fonts/Inter-boldItalic.fntdata"/><Relationship Id="rId28" Type="http://schemas.openxmlformats.org/officeDocument/2006/relationships/font" Target="fonts/JetBrainsMono-italic.fntdata"/><Relationship Id="rId27" Type="http://schemas.openxmlformats.org/officeDocument/2006/relationships/font" Target="fonts/JetBrainsMono-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JetBrainsMono-boldItalic.fntdata"/><Relationship Id="rId7" Type="http://schemas.openxmlformats.org/officeDocument/2006/relationships/slide" Target="slides/slide2.xml"/><Relationship Id="rId8" Type="http://schemas.openxmlformats.org/officeDocument/2006/relationships/slide" Target="slides/slide3.xml"/><Relationship Id="rId30" Type="http://customschemas.google.com/relationships/presentationmetadata" Target="meta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 name="Google Shape;31;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One line: CareerPilot tells job seekers whether they fit a job and why.</a:t>
            </a:r>
            <a:endParaRPr/>
          </a:p>
        </p:txBody>
      </p:sp>
      <p:sp>
        <p:nvSpPr>
          <p:cNvPr id="32" name="Google Shape;32;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Meet Lena. 24, master's in Leipzig, 40+ applications, 3 interviews. Five boards every morning, same question each time: do I actually qualify? Boards rank by who paid, CV tools tell her which keywords to copy. She applies blindly or talks herself out of jobs, and loses track of where she applied.</a:t>
            </a:r>
            <a:endParaRPr/>
          </a:p>
        </p:txBody>
      </p:sp>
      <p:sp>
        <p:nvSpPr>
          <p:cNvPr id="48" name="Google Shape;4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Lena isn't alone. Markus: 60 alerts a week, no time for 59. Andrei: three languages, needs the real language requirement, has met fake recruiters. Sofia, a verified headhunter, wants available candidates who really fit her client's job, without trawling CV databases.</a:t>
            </a:r>
            <a:endParaRPr/>
          </a:p>
        </p:txBody>
      </p:sp>
      <p:sp>
        <p:nvSpPr>
          <p:cNvPr id="82" name="Google Shape;8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h3c811332169675b0_3_32:notes"/>
          <p:cNvSpPr txBox="1"/>
          <p:nvPr>
            <p:ph idx="1" type="body"/>
          </p:nvPr>
        </p:nvSpPr>
        <p:spPr>
          <a:xfrm>
            <a:off x="914400" y="4334933"/>
            <a:ext cx="7315200" cy="41085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6" name="Google Shape;116;h3c811332169675b0_3_32:notes"/>
          <p:cNvSpPr/>
          <p:nvPr>
            <p:ph idx="2" type="sldImg"/>
          </p:nvPr>
        </p:nvSpPr>
        <p:spPr>
          <a:xfrm>
            <a:off x="2857500" y="683684"/>
            <a:ext cx="3429000" cy="34227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Jobscan compares wording, so you score higher by copying keywords. Teal similar, plus a tracker. Huntr tracks, doesn't advise. JobCopilot applies for you: volume, not choice. Job boards rank what is paid for. None separates a real fit gap from missing data. That's our gap.</a:t>
            </a:r>
            <a:endParaRPr/>
          </a:p>
        </p:txBody>
      </p:sp>
      <p:sp>
        <p:nvSpPr>
          <p:cNvPr id="194" name="Google Shape;194;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Upload CV once, preferences once, one weekly digest from the Bundesagentur lists. Every job: score and why it fits, free, plus how it's calculated. Prepare costs one credit: gaps, risks, a strategy. Then CV and cover letter in the ad's language, every change approved. Apply on the employer site; it lands in her history. No completeness gate, always ten jobs, nobody pays for ranking.</a:t>
            </a:r>
            <a:endParaRPr/>
          </a:p>
        </p:txBody>
      </p:sp>
      <p:sp>
        <p:nvSpPr>
          <p:cNvPr id="232" name="Google Shape;23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1" name="Google Shape;29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score is a weighted sum of six criteria: skills 35, experience 25, role 15, education 10, languages 10, location 5. The points add up to the score. An unmet must-have caps the score just below your minimum fit, but the job stays visible. Completeness never hides scores; it sets confidence. Not a hiring probability.</a:t>
            </a:r>
            <a:endParaRPr/>
          </a:p>
        </p:txBody>
      </p:sp>
      <p:sp>
        <p:nvSpPr>
          <p:cNvPr id="292" name="Google Shape;29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6" name="Google Shape;34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script in the narrative doc: 9 steps, about 2 minutes. Say once that all data is illustrative. If short on time, skip step 9.</a:t>
            </a:r>
            <a:endParaRPr/>
          </a:p>
        </p:txBody>
      </p:sp>
      <p:sp>
        <p:nvSpPr>
          <p:cNvPr id="347" name="Google Shape;34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2" name="Google Shape;38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Investor-funded MVP, free within 10 credits a day. Matching, why it fits, how it is calculated and applying on the employer site are always free. Credits pay for the tools that make an application stronger: Prepare (fit analysis and strategy), CV, cover letter and interview prep, one each, so fully preparing one application is 4 credits. After launch: top up a prepaid wallet from €10, 10 credits for 99 cents, never expire. Cost target under 1 cent per fully prepared application. Later employers pay for ads and talent search. Credits never buy ranking.</a:t>
            </a:r>
            <a:endParaRPr/>
          </a:p>
        </p:txBody>
      </p:sp>
      <p:sp>
        <p:nvSpPr>
          <p:cNvPr id="383" name="Google Shape;38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7" name="Google Shape;4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Invitation-only pilot. Verified headhunters submit an authorised job description and get an explained shortlist of opted-in candidates with at least 90% fit and confirmed availability. No CV until the candidate approves that recruiter and that job. Empty result is allowed; we never lower 90%.</a:t>
            </a:r>
            <a:endParaRPr/>
          </a:p>
        </p:txBody>
      </p:sp>
      <p:sp>
        <p:nvSpPr>
          <p:cNvPr id="408" name="Google Shape;4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 name="Google Shape;43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Validate until November: 15 interviews, scoring prototype. Design until January with legal review. Build January to April, alpha 2 April. Closed beta in May with about 500 users. Public launch 14 June 2027, fixed by investors. Cut scope, never the date.</a:t>
            </a:r>
            <a:endParaRPr/>
          </a:p>
        </p:txBody>
      </p:sp>
      <p:sp>
        <p:nvSpPr>
          <p:cNvPr id="439" name="Google Shape;43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Above all: applications in the 90%-plus band should reach interviews at least twice as often as those below 70%. Then trust, week-4 retention, and cost under one cent.</a:t>
            </a:r>
            <a:endParaRPr/>
          </a:p>
        </p:txBody>
      </p:sp>
      <p:sp>
        <p:nvSpPr>
          <p:cNvPr id="491" name="Google Shape;491;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 name="Google Shape;51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Remember Lena and her 40 applications? With CareerPilot she sends five, to jobs she knows she fits, and she knows why. Does the job fit you? Here's why. Thank you.</a:t>
            </a:r>
            <a:endParaRPr/>
          </a:p>
        </p:txBody>
      </p:sp>
      <p:sp>
        <p:nvSpPr>
          <p:cNvPr id="512" name="Google Shape;51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4" name="Google Shape;52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3" name="Google Shape;53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4" name="Google Shape;53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 name="Google Shape;54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4" name="Google Shape;54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0F2A4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E8EEF6"/>
        </a:solidFill>
      </p:bgPr>
    </p:bg>
    <p:spTree>
      <p:nvGrpSpPr>
        <p:cNvPr id="12" name="Shape 12"/>
        <p:cNvGrpSpPr/>
        <p:nvPr/>
      </p:nvGrpSpPr>
      <p:grpSpPr>
        <a:xfrm>
          <a:off x="0" y="0"/>
          <a:ext cx="0" cy="0"/>
          <a:chOff x="0" y="0"/>
          <a:chExt cx="0" cy="0"/>
        </a:xfrm>
      </p:grpSpPr>
      <p:pic>
        <p:nvPicPr>
          <p:cNvPr descr="/tmp/claude-0/-home-claude/d1b11841-31a5-5c6c-8b8a-2c68ca1b0a7c/scratchpad/deck/img/logo-navy.png" id="13" name="Google Shape;13;p18"/>
          <p:cNvPicPr preferRelativeResize="0"/>
          <p:nvPr/>
        </p:nvPicPr>
        <p:blipFill rotWithShape="1">
          <a:blip r:embed="rId2">
            <a:alphaModFix/>
          </a:blip>
          <a:srcRect b="0" l="0" r="0" t="0"/>
          <a:stretch/>
        </p:blipFill>
        <p:spPr>
          <a:xfrm>
            <a:off x="548640" y="292608"/>
            <a:ext cx="1353312" cy="274320"/>
          </a:xfrm>
          <a:prstGeom prst="rect">
            <a:avLst/>
          </a:prstGeom>
          <a:noFill/>
          <a:ln>
            <a:noFill/>
          </a:ln>
        </p:spPr>
      </p:pic>
      <p:sp>
        <p:nvSpPr>
          <p:cNvPr id="14" name="Google Shape;14;p18"/>
          <p:cNvSpPr/>
          <p:nvPr/>
        </p:nvSpPr>
        <p:spPr>
          <a:xfrm>
            <a:off x="548640" y="6400800"/>
            <a:ext cx="9144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CareerPilot · Germany MVP · public launch 14 June 2027 (planned) · demo with illustrative data</a:t>
            </a:r>
            <a:endParaRPr b="0" i="0" sz="1000" u="none" cap="none" strike="noStrike">
              <a:solidFill>
                <a:schemeClr val="dk1"/>
              </a:solidFill>
              <a:latin typeface="Arial"/>
              <a:ea typeface="Arial"/>
              <a:cs typeface="Arial"/>
              <a:sym typeface="Arial"/>
            </a:endParaRPr>
          </a:p>
        </p:txBody>
      </p:sp>
      <p:sp>
        <p:nvSpPr>
          <p:cNvPr id="15" name="Google Shape;15;p18"/>
          <p:cNvSpPr txBox="1"/>
          <p:nvPr>
            <p:ph idx="1" type="body"/>
          </p:nvPr>
        </p:nvSpPr>
        <p:spPr>
          <a:xfrm>
            <a:off x="548640" y="822960"/>
            <a:ext cx="1106424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40"/>
              </a:spcBef>
              <a:spcAft>
                <a:spcPts val="0"/>
              </a:spcAft>
              <a:buClr>
                <a:schemeClr val="accent1"/>
              </a:buClr>
              <a:buSzPts val="1200"/>
              <a:buFont typeface="Arial"/>
              <a:buNone/>
              <a:defRPr b="1" i="0" spc="200" sz="1200" u="none" cap="none" strike="noStrike">
                <a:solidFill>
                  <a:schemeClr val="accent1"/>
                </a:solidFill>
                <a:latin typeface="Arial"/>
                <a:ea typeface="Arial"/>
                <a:cs typeface="Arial"/>
                <a:sym typeface="Arial"/>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6" name="Google Shape;16;p18"/>
          <p:cNvSpPr txBox="1"/>
          <p:nvPr>
            <p:ph type="title"/>
          </p:nvPr>
        </p:nvSpPr>
        <p:spPr>
          <a:xfrm>
            <a:off x="548640" y="1097280"/>
            <a:ext cx="11064240" cy="73152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3200"/>
              <a:buFont typeface="Arial"/>
              <a:buNone/>
              <a:defRPr b="1" i="0" sz="32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7" name="Google Shape;17;p18"/>
          <p:cNvSpPr txBox="1"/>
          <p:nvPr>
            <p:ph idx="12"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chemeClr val="dk2"/>
                </a:solidFill>
                <a:latin typeface="Arial"/>
                <a:ea typeface="Arial"/>
                <a:cs typeface="Arial"/>
                <a:sym typeface="Arial"/>
              </a:defRPr>
            </a:lvl1pPr>
            <a:lvl2pPr indent="0" lvl="1" marL="0" marR="0" algn="r">
              <a:spcBef>
                <a:spcPts val="0"/>
              </a:spcBef>
              <a:buNone/>
              <a:defRPr b="0" i="0" sz="1000" u="none" cap="none" strike="noStrike">
                <a:solidFill>
                  <a:schemeClr val="dk2"/>
                </a:solidFill>
                <a:latin typeface="Arial"/>
                <a:ea typeface="Arial"/>
                <a:cs typeface="Arial"/>
                <a:sym typeface="Arial"/>
              </a:defRPr>
            </a:lvl2pPr>
            <a:lvl3pPr indent="0" lvl="2" marL="0" marR="0" algn="r">
              <a:spcBef>
                <a:spcPts val="0"/>
              </a:spcBef>
              <a:buNone/>
              <a:defRPr b="0" i="0" sz="1000" u="none" cap="none" strike="noStrike">
                <a:solidFill>
                  <a:schemeClr val="dk2"/>
                </a:solidFill>
                <a:latin typeface="Arial"/>
                <a:ea typeface="Arial"/>
                <a:cs typeface="Arial"/>
                <a:sym typeface="Arial"/>
              </a:defRPr>
            </a:lvl3pPr>
            <a:lvl4pPr indent="0" lvl="3" marL="0" marR="0" algn="r">
              <a:spcBef>
                <a:spcPts val="0"/>
              </a:spcBef>
              <a:buNone/>
              <a:defRPr b="0" i="0" sz="1000" u="none" cap="none" strike="noStrike">
                <a:solidFill>
                  <a:schemeClr val="dk2"/>
                </a:solidFill>
                <a:latin typeface="Arial"/>
                <a:ea typeface="Arial"/>
                <a:cs typeface="Arial"/>
                <a:sym typeface="Arial"/>
              </a:defRPr>
            </a:lvl4pPr>
            <a:lvl5pPr indent="0" lvl="4" marL="0" marR="0" algn="r">
              <a:spcBef>
                <a:spcPts val="0"/>
              </a:spcBef>
              <a:buNone/>
              <a:defRPr b="0" i="0" sz="1000" u="none" cap="none" strike="noStrike">
                <a:solidFill>
                  <a:schemeClr val="dk2"/>
                </a:solidFill>
                <a:latin typeface="Arial"/>
                <a:ea typeface="Arial"/>
                <a:cs typeface="Arial"/>
                <a:sym typeface="Arial"/>
              </a:defRPr>
            </a:lvl5pPr>
            <a:lvl6pPr indent="0" lvl="5" marL="0" marR="0" algn="r">
              <a:spcBef>
                <a:spcPts val="0"/>
              </a:spcBef>
              <a:buNone/>
              <a:defRPr b="0" i="0" sz="1000" u="none" cap="none" strike="noStrike">
                <a:solidFill>
                  <a:schemeClr val="dk2"/>
                </a:solidFill>
                <a:latin typeface="Arial"/>
                <a:ea typeface="Arial"/>
                <a:cs typeface="Arial"/>
                <a:sym typeface="Arial"/>
              </a:defRPr>
            </a:lvl6pPr>
            <a:lvl7pPr indent="0" lvl="6" marL="0" marR="0" algn="r">
              <a:spcBef>
                <a:spcPts val="0"/>
              </a:spcBef>
              <a:buNone/>
              <a:defRPr b="0" i="0" sz="1000" u="none" cap="none" strike="noStrike">
                <a:solidFill>
                  <a:schemeClr val="dk2"/>
                </a:solidFill>
                <a:latin typeface="Arial"/>
                <a:ea typeface="Arial"/>
                <a:cs typeface="Arial"/>
                <a:sym typeface="Arial"/>
              </a:defRPr>
            </a:lvl7pPr>
            <a:lvl8pPr indent="0" lvl="7" marL="0" marR="0" algn="r">
              <a:spcBef>
                <a:spcPts val="0"/>
              </a:spcBef>
              <a:buNone/>
              <a:defRPr b="0" i="0" sz="1000" u="none" cap="none" strike="noStrike">
                <a:solidFill>
                  <a:schemeClr val="dk2"/>
                </a:solidFill>
                <a:latin typeface="Arial"/>
                <a:ea typeface="Arial"/>
                <a:cs typeface="Arial"/>
                <a:sym typeface="Arial"/>
              </a:defRPr>
            </a:lvl8pPr>
            <a:lvl9pPr indent="0" lvl="8" marL="0" marR="0" algn="r">
              <a:spcBef>
                <a:spcPts val="0"/>
              </a:spcBef>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F2A4A"/>
        </a:solidFill>
      </p:bgPr>
    </p:bg>
    <p:spTree>
      <p:nvGrpSpPr>
        <p:cNvPr id="18" name="Shape 18"/>
        <p:cNvGrpSpPr/>
        <p:nvPr/>
      </p:nvGrpSpPr>
      <p:grpSpPr>
        <a:xfrm>
          <a:off x="0" y="0"/>
          <a:ext cx="0" cy="0"/>
          <a:chOff x="0" y="0"/>
          <a:chExt cx="0" cy="0"/>
        </a:xfrm>
      </p:grpSpPr>
      <p:pic>
        <p:nvPicPr>
          <p:cNvPr descr="/tmp/claude-0/-home-claude/d1b11841-31a5-5c6c-8b8a-2c68ca1b0a7c/scratchpad/deck/img/logo-white.png" id="19" name="Google Shape;19;p19"/>
          <p:cNvPicPr preferRelativeResize="0"/>
          <p:nvPr/>
        </p:nvPicPr>
        <p:blipFill rotWithShape="1">
          <a:blip r:embed="rId2">
            <a:alphaModFix/>
          </a:blip>
          <a:srcRect b="0" l="0" r="0" t="0"/>
          <a:stretch/>
        </p:blipFill>
        <p:spPr>
          <a:xfrm>
            <a:off x="548640" y="292608"/>
            <a:ext cx="1353312" cy="274320"/>
          </a:xfrm>
          <a:prstGeom prst="rect">
            <a:avLst/>
          </a:prstGeom>
          <a:noFill/>
          <a:ln>
            <a:noFill/>
          </a:ln>
        </p:spPr>
      </p:pic>
      <p:sp>
        <p:nvSpPr>
          <p:cNvPr id="20" name="Google Shape;20;p19"/>
          <p:cNvSpPr/>
          <p:nvPr/>
        </p:nvSpPr>
        <p:spPr>
          <a:xfrm>
            <a:off x="548640" y="6400800"/>
            <a:ext cx="9144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4"/>
              </a:buClr>
              <a:buSzPts val="1000"/>
              <a:buFont typeface="Arial"/>
              <a:buNone/>
            </a:pPr>
            <a:r>
              <a:rPr b="0" i="0" lang="en-US" sz="1000" u="none" cap="none" strike="noStrike">
                <a:solidFill>
                  <a:schemeClr val="accent4"/>
                </a:solidFill>
                <a:latin typeface="Arial"/>
                <a:ea typeface="Arial"/>
                <a:cs typeface="Arial"/>
                <a:sym typeface="Arial"/>
              </a:rPr>
              <a:t>CareerPilot · Germany MVP · public launch 14 June 2027 (planned) · demo with illustrative data</a:t>
            </a:r>
            <a:endParaRPr b="0" i="0" sz="1000" u="none" cap="none" strike="noStrike">
              <a:solidFill>
                <a:schemeClr val="dk1"/>
              </a:solidFill>
              <a:latin typeface="Arial"/>
              <a:ea typeface="Arial"/>
              <a:cs typeface="Arial"/>
              <a:sym typeface="Arial"/>
            </a:endParaRPr>
          </a:p>
        </p:txBody>
      </p:sp>
      <p:sp>
        <p:nvSpPr>
          <p:cNvPr id="21" name="Google Shape;21;p19"/>
          <p:cNvSpPr txBox="1"/>
          <p:nvPr>
            <p:ph idx="1" type="body"/>
          </p:nvPr>
        </p:nvSpPr>
        <p:spPr>
          <a:xfrm>
            <a:off x="548640" y="822960"/>
            <a:ext cx="1106424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40"/>
              </a:spcBef>
              <a:spcAft>
                <a:spcPts val="0"/>
              </a:spcAft>
              <a:buClr>
                <a:schemeClr val="accent1"/>
              </a:buClr>
              <a:buSzPts val="1200"/>
              <a:buFont typeface="Arial"/>
              <a:buNone/>
              <a:defRPr b="1" i="0" spc="200" sz="1200" u="none" cap="none" strike="noStrike">
                <a:solidFill>
                  <a:schemeClr val="accent1"/>
                </a:solidFill>
                <a:latin typeface="Arial"/>
                <a:ea typeface="Arial"/>
                <a:cs typeface="Arial"/>
                <a:sym typeface="Arial"/>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22" name="Google Shape;22;p19"/>
          <p:cNvSpPr txBox="1"/>
          <p:nvPr>
            <p:ph type="title"/>
          </p:nvPr>
        </p:nvSpPr>
        <p:spPr>
          <a:xfrm>
            <a:off x="548640" y="1097280"/>
            <a:ext cx="11064240" cy="73152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3200"/>
              <a:buFont typeface="Arial"/>
              <a:buNone/>
              <a:defRPr b="1" i="0" sz="32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3" name="Google Shape;23;p19"/>
          <p:cNvSpPr txBox="1"/>
          <p:nvPr>
            <p:ph idx="12"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chemeClr val="accent4"/>
                </a:solidFill>
                <a:latin typeface="Arial"/>
                <a:ea typeface="Arial"/>
                <a:cs typeface="Arial"/>
                <a:sym typeface="Arial"/>
              </a:defRPr>
            </a:lvl1pPr>
            <a:lvl2pPr indent="0" lvl="1" marL="0" marR="0" algn="r">
              <a:spcBef>
                <a:spcPts val="0"/>
              </a:spcBef>
              <a:buNone/>
              <a:defRPr b="0" i="0" sz="1000" u="none" cap="none" strike="noStrike">
                <a:solidFill>
                  <a:schemeClr val="accent4"/>
                </a:solidFill>
                <a:latin typeface="Arial"/>
                <a:ea typeface="Arial"/>
                <a:cs typeface="Arial"/>
                <a:sym typeface="Arial"/>
              </a:defRPr>
            </a:lvl2pPr>
            <a:lvl3pPr indent="0" lvl="2" marL="0" marR="0" algn="r">
              <a:spcBef>
                <a:spcPts val="0"/>
              </a:spcBef>
              <a:buNone/>
              <a:defRPr b="0" i="0" sz="1000" u="none" cap="none" strike="noStrike">
                <a:solidFill>
                  <a:schemeClr val="accent4"/>
                </a:solidFill>
                <a:latin typeface="Arial"/>
                <a:ea typeface="Arial"/>
                <a:cs typeface="Arial"/>
                <a:sym typeface="Arial"/>
              </a:defRPr>
            </a:lvl3pPr>
            <a:lvl4pPr indent="0" lvl="3" marL="0" marR="0" algn="r">
              <a:spcBef>
                <a:spcPts val="0"/>
              </a:spcBef>
              <a:buNone/>
              <a:defRPr b="0" i="0" sz="1000" u="none" cap="none" strike="noStrike">
                <a:solidFill>
                  <a:schemeClr val="accent4"/>
                </a:solidFill>
                <a:latin typeface="Arial"/>
                <a:ea typeface="Arial"/>
                <a:cs typeface="Arial"/>
                <a:sym typeface="Arial"/>
              </a:defRPr>
            </a:lvl4pPr>
            <a:lvl5pPr indent="0" lvl="4" marL="0" marR="0" algn="r">
              <a:spcBef>
                <a:spcPts val="0"/>
              </a:spcBef>
              <a:buNone/>
              <a:defRPr b="0" i="0" sz="1000" u="none" cap="none" strike="noStrike">
                <a:solidFill>
                  <a:schemeClr val="accent4"/>
                </a:solidFill>
                <a:latin typeface="Arial"/>
                <a:ea typeface="Arial"/>
                <a:cs typeface="Arial"/>
                <a:sym typeface="Arial"/>
              </a:defRPr>
            </a:lvl5pPr>
            <a:lvl6pPr indent="0" lvl="5" marL="0" marR="0" algn="r">
              <a:spcBef>
                <a:spcPts val="0"/>
              </a:spcBef>
              <a:buNone/>
              <a:defRPr b="0" i="0" sz="1000" u="none" cap="none" strike="noStrike">
                <a:solidFill>
                  <a:schemeClr val="accent4"/>
                </a:solidFill>
                <a:latin typeface="Arial"/>
                <a:ea typeface="Arial"/>
                <a:cs typeface="Arial"/>
                <a:sym typeface="Arial"/>
              </a:defRPr>
            </a:lvl6pPr>
            <a:lvl7pPr indent="0" lvl="6" marL="0" marR="0" algn="r">
              <a:spcBef>
                <a:spcPts val="0"/>
              </a:spcBef>
              <a:buNone/>
              <a:defRPr b="0" i="0" sz="1000" u="none" cap="none" strike="noStrike">
                <a:solidFill>
                  <a:schemeClr val="accent4"/>
                </a:solidFill>
                <a:latin typeface="Arial"/>
                <a:ea typeface="Arial"/>
                <a:cs typeface="Arial"/>
                <a:sym typeface="Arial"/>
              </a:defRPr>
            </a:lvl7pPr>
            <a:lvl8pPr indent="0" lvl="7" marL="0" marR="0" algn="r">
              <a:spcBef>
                <a:spcPts val="0"/>
              </a:spcBef>
              <a:buNone/>
              <a:defRPr b="0" i="0" sz="1000" u="none" cap="none" strike="noStrike">
                <a:solidFill>
                  <a:schemeClr val="accent4"/>
                </a:solidFill>
                <a:latin typeface="Arial"/>
                <a:ea typeface="Arial"/>
                <a:cs typeface="Arial"/>
                <a:sym typeface="Arial"/>
              </a:defRPr>
            </a:lvl8pPr>
            <a:lvl9pPr indent="0" lvl="8" marL="0" marR="0" algn="r">
              <a:spcBef>
                <a:spcPts val="0"/>
              </a:spcBef>
              <a:buNone/>
              <a:defRPr b="0" i="0" sz="1000" u="none" cap="none" strike="noStrike">
                <a:solidFill>
                  <a:schemeClr val="accent4"/>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24" name="Shape 24"/>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5" name="Shape 25"/>
        <p:cNvGrpSpPr/>
        <p:nvPr/>
      </p:nvGrpSpPr>
      <p:grpSpPr>
        <a:xfrm>
          <a:off x="0" y="0"/>
          <a:ext cx="0" cy="0"/>
          <a:chOff x="0" y="0"/>
          <a:chExt cx="0" cy="0"/>
        </a:xfrm>
      </p:grpSpPr>
      <p:sp>
        <p:nvSpPr>
          <p:cNvPr id="26" name="Google Shape;26;h3c811332169675b0_3_189"/>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sz="900"/>
            </a:lvl1pPr>
            <a:lvl2pPr lvl="1" algn="l">
              <a:spcBef>
                <a:spcPts val="0"/>
              </a:spcBef>
              <a:spcAft>
                <a:spcPts val="0"/>
              </a:spcAft>
              <a:buSzPts val="900"/>
              <a:buNone/>
              <a:defRPr sz="900"/>
            </a:lvl2pPr>
            <a:lvl3pPr lvl="2" algn="l">
              <a:spcBef>
                <a:spcPts val="0"/>
              </a:spcBef>
              <a:spcAft>
                <a:spcPts val="0"/>
              </a:spcAft>
              <a:buSzPts val="900"/>
              <a:buNone/>
              <a:defRPr sz="900"/>
            </a:lvl3pPr>
            <a:lvl4pPr lvl="3" algn="l">
              <a:spcBef>
                <a:spcPts val="0"/>
              </a:spcBef>
              <a:spcAft>
                <a:spcPts val="0"/>
              </a:spcAft>
              <a:buSzPts val="900"/>
              <a:buNone/>
              <a:defRPr sz="900"/>
            </a:lvl4pPr>
            <a:lvl5pPr lvl="4" algn="l">
              <a:spcBef>
                <a:spcPts val="0"/>
              </a:spcBef>
              <a:spcAft>
                <a:spcPts val="0"/>
              </a:spcAft>
              <a:buSzPts val="900"/>
              <a:buNone/>
              <a:defRPr sz="900"/>
            </a:lvl5pPr>
            <a:lvl6pPr lvl="5" algn="l">
              <a:spcBef>
                <a:spcPts val="0"/>
              </a:spcBef>
              <a:spcAft>
                <a:spcPts val="0"/>
              </a:spcAft>
              <a:buSzPts val="900"/>
              <a:buNone/>
              <a:defRPr sz="900"/>
            </a:lvl6pPr>
            <a:lvl7pPr lvl="6" algn="l">
              <a:spcBef>
                <a:spcPts val="0"/>
              </a:spcBef>
              <a:spcAft>
                <a:spcPts val="0"/>
              </a:spcAft>
              <a:buSzPts val="900"/>
              <a:buNone/>
              <a:defRPr sz="900"/>
            </a:lvl7pPr>
            <a:lvl8pPr lvl="7" algn="l">
              <a:spcBef>
                <a:spcPts val="0"/>
              </a:spcBef>
              <a:spcAft>
                <a:spcPts val="0"/>
              </a:spcAft>
              <a:buSzPts val="900"/>
              <a:buNone/>
              <a:defRPr sz="900"/>
            </a:lvl8pPr>
            <a:lvl9pPr lvl="8" algn="l">
              <a:spcBef>
                <a:spcPts val="0"/>
              </a:spcBef>
              <a:spcAft>
                <a:spcPts val="0"/>
              </a:spcAft>
              <a:buSzPts val="900"/>
              <a:buNone/>
              <a:defRPr sz="900"/>
            </a:lvl9pPr>
          </a:lstStyle>
          <a:p/>
        </p:txBody>
      </p:sp>
      <p:sp>
        <p:nvSpPr>
          <p:cNvPr id="27" name="Google Shape;27;h3c811332169675b0_3_189"/>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sz="900"/>
            </a:lvl1pPr>
            <a:lvl2pPr lvl="1" algn="l">
              <a:spcBef>
                <a:spcPts val="0"/>
              </a:spcBef>
              <a:spcAft>
                <a:spcPts val="0"/>
              </a:spcAft>
              <a:buSzPts val="900"/>
              <a:buNone/>
              <a:defRPr sz="900"/>
            </a:lvl2pPr>
            <a:lvl3pPr lvl="2" algn="l">
              <a:spcBef>
                <a:spcPts val="0"/>
              </a:spcBef>
              <a:spcAft>
                <a:spcPts val="0"/>
              </a:spcAft>
              <a:buSzPts val="900"/>
              <a:buNone/>
              <a:defRPr sz="900"/>
            </a:lvl3pPr>
            <a:lvl4pPr lvl="3" algn="l">
              <a:spcBef>
                <a:spcPts val="0"/>
              </a:spcBef>
              <a:spcAft>
                <a:spcPts val="0"/>
              </a:spcAft>
              <a:buSzPts val="900"/>
              <a:buNone/>
              <a:defRPr sz="900"/>
            </a:lvl4pPr>
            <a:lvl5pPr lvl="4" algn="l">
              <a:spcBef>
                <a:spcPts val="0"/>
              </a:spcBef>
              <a:spcAft>
                <a:spcPts val="0"/>
              </a:spcAft>
              <a:buSzPts val="900"/>
              <a:buNone/>
              <a:defRPr sz="900"/>
            </a:lvl5pPr>
            <a:lvl6pPr lvl="5" algn="l">
              <a:spcBef>
                <a:spcPts val="0"/>
              </a:spcBef>
              <a:spcAft>
                <a:spcPts val="0"/>
              </a:spcAft>
              <a:buSzPts val="900"/>
              <a:buNone/>
              <a:defRPr sz="900"/>
            </a:lvl6pPr>
            <a:lvl7pPr lvl="6" algn="l">
              <a:spcBef>
                <a:spcPts val="0"/>
              </a:spcBef>
              <a:spcAft>
                <a:spcPts val="0"/>
              </a:spcAft>
              <a:buSzPts val="900"/>
              <a:buNone/>
              <a:defRPr sz="900"/>
            </a:lvl7pPr>
            <a:lvl8pPr lvl="7" algn="l">
              <a:spcBef>
                <a:spcPts val="0"/>
              </a:spcBef>
              <a:spcAft>
                <a:spcPts val="0"/>
              </a:spcAft>
              <a:buSzPts val="900"/>
              <a:buNone/>
              <a:defRPr sz="900"/>
            </a:lvl8pPr>
            <a:lvl9pPr lvl="8" algn="l">
              <a:spcBef>
                <a:spcPts val="0"/>
              </a:spcBef>
              <a:spcAft>
                <a:spcPts val="0"/>
              </a:spcAft>
              <a:buSzPts val="900"/>
              <a:buNone/>
              <a:defRPr sz="900"/>
            </a:lvl9pPr>
          </a:lstStyle>
          <a:p/>
        </p:txBody>
      </p:sp>
      <p:sp>
        <p:nvSpPr>
          <p:cNvPr id="28" name="Google Shape;28;h3c811332169675b0_3_189"/>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6"/>
          <p:cNvSpPr txBox="1"/>
          <p:nvPr>
            <p:ph idx="12"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000" u="none" cap="none" strike="noStrike">
                <a:solidFill>
                  <a:schemeClr val="dk2"/>
                </a:solidFill>
                <a:latin typeface="Arial"/>
                <a:ea typeface="Arial"/>
                <a:cs typeface="Arial"/>
                <a:sym typeface="Arial"/>
              </a:defRPr>
            </a:lvl1pPr>
            <a:lvl2pPr indent="0" lvl="1" marL="0" marR="0" rtl="0" algn="r">
              <a:spcBef>
                <a:spcPts val="0"/>
              </a:spcBef>
              <a:buNone/>
              <a:defRPr b="0" i="0" sz="1000" u="none" cap="none" strike="noStrike">
                <a:solidFill>
                  <a:schemeClr val="dk2"/>
                </a:solidFill>
                <a:latin typeface="Arial"/>
                <a:ea typeface="Arial"/>
                <a:cs typeface="Arial"/>
                <a:sym typeface="Arial"/>
              </a:defRPr>
            </a:lvl2pPr>
            <a:lvl3pPr indent="0" lvl="2" marL="0" marR="0" rtl="0" algn="r">
              <a:spcBef>
                <a:spcPts val="0"/>
              </a:spcBef>
              <a:buNone/>
              <a:defRPr b="0" i="0" sz="1000" u="none" cap="none" strike="noStrike">
                <a:solidFill>
                  <a:schemeClr val="dk2"/>
                </a:solidFill>
                <a:latin typeface="Arial"/>
                <a:ea typeface="Arial"/>
                <a:cs typeface="Arial"/>
                <a:sym typeface="Arial"/>
              </a:defRPr>
            </a:lvl3pPr>
            <a:lvl4pPr indent="0" lvl="3" marL="0" marR="0" rtl="0" algn="r">
              <a:spcBef>
                <a:spcPts val="0"/>
              </a:spcBef>
              <a:buNone/>
              <a:defRPr b="0" i="0" sz="1000" u="none" cap="none" strike="noStrike">
                <a:solidFill>
                  <a:schemeClr val="dk2"/>
                </a:solidFill>
                <a:latin typeface="Arial"/>
                <a:ea typeface="Arial"/>
                <a:cs typeface="Arial"/>
                <a:sym typeface="Arial"/>
              </a:defRPr>
            </a:lvl4pPr>
            <a:lvl5pPr indent="0" lvl="4" marL="0" marR="0" rtl="0" algn="r">
              <a:spcBef>
                <a:spcPts val="0"/>
              </a:spcBef>
              <a:buNone/>
              <a:defRPr b="0" i="0" sz="1000" u="none" cap="none" strike="noStrike">
                <a:solidFill>
                  <a:schemeClr val="dk2"/>
                </a:solidFill>
                <a:latin typeface="Arial"/>
                <a:ea typeface="Arial"/>
                <a:cs typeface="Arial"/>
                <a:sym typeface="Arial"/>
              </a:defRPr>
            </a:lvl5pPr>
            <a:lvl6pPr indent="0" lvl="5" marL="0" marR="0" rtl="0" algn="r">
              <a:spcBef>
                <a:spcPts val="0"/>
              </a:spcBef>
              <a:buNone/>
              <a:defRPr b="0" i="0" sz="1000" u="none" cap="none" strike="noStrike">
                <a:solidFill>
                  <a:schemeClr val="dk2"/>
                </a:solidFill>
                <a:latin typeface="Arial"/>
                <a:ea typeface="Arial"/>
                <a:cs typeface="Arial"/>
                <a:sym typeface="Arial"/>
              </a:defRPr>
            </a:lvl6pPr>
            <a:lvl7pPr indent="0" lvl="6" marL="0" marR="0" rtl="0" algn="r">
              <a:spcBef>
                <a:spcPts val="0"/>
              </a:spcBef>
              <a:buNone/>
              <a:defRPr b="0" i="0" sz="1000" u="none" cap="none" strike="noStrike">
                <a:solidFill>
                  <a:schemeClr val="dk2"/>
                </a:solidFill>
                <a:latin typeface="Arial"/>
                <a:ea typeface="Arial"/>
                <a:cs typeface="Arial"/>
                <a:sym typeface="Arial"/>
              </a:defRPr>
            </a:lvl7pPr>
            <a:lvl8pPr indent="0" lvl="7" marL="0" marR="0" rtl="0" algn="r">
              <a:spcBef>
                <a:spcPts val="0"/>
              </a:spcBef>
              <a:buNone/>
              <a:defRPr b="0" i="0" sz="1000" u="none" cap="none" strike="noStrike">
                <a:solidFill>
                  <a:schemeClr val="dk2"/>
                </a:solidFill>
                <a:latin typeface="Arial"/>
                <a:ea typeface="Arial"/>
                <a:cs typeface="Arial"/>
                <a:sym typeface="Arial"/>
              </a:defRPr>
            </a:lvl8pPr>
            <a:lvl9pPr indent="0" lvl="8" marL="0" marR="0" rtl="0" algn="r">
              <a:spcBef>
                <a:spcPts val="0"/>
              </a:spcBef>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2.jpg"/><Relationship Id="rId4" Type="http://schemas.openxmlformats.org/officeDocument/2006/relationships/image" Target="../media/image4.jpg"/><Relationship Id="rId5" Type="http://schemas.openxmlformats.org/officeDocument/2006/relationships/image" Target="../media/image14.jpg"/><Relationship Id="rId6" Type="http://schemas.openxmlformats.org/officeDocument/2006/relationships/image" Target="../media/image1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5.jpg"/><Relationship Id="rId5" Type="http://schemas.openxmlformats.org/officeDocument/2006/relationships/image" Target="../media/image14.jpg"/><Relationship Id="rId6" Type="http://schemas.openxmlformats.org/officeDocument/2006/relationships/image" Target="../media/image4.jpg"/><Relationship Id="rId7" Type="http://schemas.openxmlformats.org/officeDocument/2006/relationships/image" Target="../media/image1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pic>
        <p:nvPicPr>
          <p:cNvPr descr="/tmp/claude-0/-home-claude/d1b11841-31a5-5c6c-8b8a-2c68ca1b0a7c/scratchpad/deck/img/logo-white.png" id="34" name="Google Shape;34;p1"/>
          <p:cNvPicPr preferRelativeResize="0"/>
          <p:nvPr/>
        </p:nvPicPr>
        <p:blipFill rotWithShape="1">
          <a:blip r:embed="rId3">
            <a:alphaModFix/>
          </a:blip>
          <a:srcRect b="0" l="0" r="0" t="0"/>
          <a:stretch/>
        </p:blipFill>
        <p:spPr>
          <a:xfrm>
            <a:off x="731520" y="1417320"/>
            <a:ext cx="5669280" cy="1143000"/>
          </a:xfrm>
          <a:prstGeom prst="rect">
            <a:avLst/>
          </a:prstGeom>
          <a:noFill/>
          <a:ln>
            <a:noFill/>
          </a:ln>
        </p:spPr>
      </p:pic>
      <p:sp>
        <p:nvSpPr>
          <p:cNvPr id="35" name="Google Shape;35;p1"/>
          <p:cNvSpPr txBox="1"/>
          <p:nvPr/>
        </p:nvSpPr>
        <p:spPr>
          <a:xfrm>
            <a:off x="731526" y="2766025"/>
            <a:ext cx="8163600" cy="548700"/>
          </a:xfrm>
          <a:prstGeom prst="rect">
            <a:avLst/>
          </a:prstGeom>
          <a:noFill/>
          <a:ln>
            <a:noFill/>
          </a:ln>
        </p:spPr>
        <p:txBody>
          <a:bodyPr anchorCtr="0" anchor="t" bIns="0" lIns="0" spcFirstLastPara="1" rIns="0" wrap="square" tIns="0">
            <a:noAutofit/>
          </a:bodyPr>
          <a:lstStyle/>
          <a:p>
            <a:pPr indent="0" lvl="0" marL="0" rtl="0" algn="l">
              <a:lnSpc>
                <a:spcPct val="139925"/>
              </a:lnSpc>
              <a:spcBef>
                <a:spcPts val="0"/>
              </a:spcBef>
              <a:spcAft>
                <a:spcPts val="0"/>
              </a:spcAft>
              <a:buClr>
                <a:srgbClr val="000000"/>
              </a:buClr>
              <a:buFont typeface="Arial"/>
              <a:buNone/>
            </a:pPr>
            <a:r>
              <a:rPr lang="en-US" spc="243" sz="1550">
                <a:solidFill>
                  <a:schemeClr val="lt1"/>
                </a:solidFill>
                <a:latin typeface="JetBrains Mono"/>
                <a:ea typeface="JetBrains Mono"/>
                <a:cs typeface="JetBrains Mono"/>
                <a:sym typeface="JetBrains Mono"/>
              </a:rPr>
              <a:t>PRODUCT STORY · MVP DELIVERY</a:t>
            </a:r>
            <a:endParaRPr sz="1600">
              <a:solidFill>
                <a:schemeClr val="lt1"/>
              </a:solidFill>
            </a:endParaRPr>
          </a:p>
          <a:p>
            <a:pPr indent="0" lvl="0" marL="0" marR="0" rtl="0" algn="l">
              <a:spcBef>
                <a:spcPts val="0"/>
              </a:spcBef>
              <a:spcAft>
                <a:spcPts val="0"/>
              </a:spcAft>
              <a:buClr>
                <a:schemeClr val="lt1"/>
              </a:buClr>
              <a:buSzPts val="2800"/>
              <a:buFont typeface="Arial"/>
              <a:buNone/>
            </a:pPr>
            <a:r>
              <a:t/>
            </a:r>
            <a:endParaRPr b="1" sz="2800">
              <a:solidFill>
                <a:schemeClr val="lt1"/>
              </a:solidFill>
            </a:endParaRPr>
          </a:p>
        </p:txBody>
      </p:sp>
      <p:sp>
        <p:nvSpPr>
          <p:cNvPr id="36" name="Google Shape;36;p1"/>
          <p:cNvSpPr txBox="1"/>
          <p:nvPr/>
        </p:nvSpPr>
        <p:spPr>
          <a:xfrm>
            <a:off x="731525" y="3543363"/>
            <a:ext cx="7628100" cy="731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pc="-138" sz="2800">
                <a:solidFill>
                  <a:schemeClr val="lt1"/>
                </a:solidFill>
                <a:latin typeface="Inter"/>
                <a:ea typeface="Inter"/>
                <a:cs typeface="Inter"/>
                <a:sym typeface="Inter"/>
              </a:rPr>
              <a:t>A clear route from discovery to application.</a:t>
            </a:r>
            <a:endParaRPr b="1" spc="-138" sz="2800">
              <a:solidFill>
                <a:schemeClr val="lt1"/>
              </a:solidFill>
              <a:latin typeface="Inter"/>
              <a:ea typeface="Inter"/>
              <a:cs typeface="Inter"/>
              <a:sym typeface="Inter"/>
            </a:endParaRPr>
          </a:p>
          <a:p>
            <a:pPr indent="0" lvl="0" marL="0" rtl="0" algn="l">
              <a:spcBef>
                <a:spcPts val="0"/>
              </a:spcBef>
              <a:spcAft>
                <a:spcPts val="0"/>
              </a:spcAft>
              <a:buNone/>
            </a:pPr>
            <a:r>
              <a:t/>
            </a:r>
            <a:endParaRPr b="1" spc="-138" sz="4800">
              <a:solidFill>
                <a:schemeClr val="lt1"/>
              </a:solidFill>
              <a:latin typeface="Inter"/>
              <a:ea typeface="Inter"/>
              <a:cs typeface="Inter"/>
              <a:sym typeface="Inter"/>
            </a:endParaRPr>
          </a:p>
          <a:p>
            <a:pPr indent="0" lvl="0" marL="0" marR="0" rtl="0" algn="l">
              <a:spcBef>
                <a:spcPts val="0"/>
              </a:spcBef>
              <a:spcAft>
                <a:spcPts val="0"/>
              </a:spcAft>
              <a:buClr>
                <a:schemeClr val="accent4"/>
              </a:buClr>
              <a:buSzPts val="1600"/>
              <a:buFont typeface="Arial"/>
              <a:buNone/>
            </a:pPr>
            <a:r>
              <a:t/>
            </a:r>
            <a:endParaRPr b="1" spc="-138" sz="4800">
              <a:solidFill>
                <a:schemeClr val="lt1"/>
              </a:solidFill>
              <a:latin typeface="Inter"/>
              <a:ea typeface="Inter"/>
              <a:cs typeface="Inter"/>
              <a:sym typeface="Inter"/>
            </a:endParaRPr>
          </a:p>
        </p:txBody>
      </p:sp>
      <p:sp>
        <p:nvSpPr>
          <p:cNvPr id="37" name="Google Shape;37;p1"/>
          <p:cNvSpPr txBox="1"/>
          <p:nvPr/>
        </p:nvSpPr>
        <p:spPr>
          <a:xfrm>
            <a:off x="731520" y="4983480"/>
            <a:ext cx="237744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000"/>
              <a:buFont typeface="Arial"/>
              <a:buNone/>
            </a:pPr>
            <a:r>
              <a:rPr b="1" i="0" lang="en-US" spc="200" sz="1000" u="none" cap="none" strike="noStrike">
                <a:solidFill>
                  <a:schemeClr val="accent1"/>
                </a:solidFill>
                <a:latin typeface="Arial"/>
                <a:ea typeface="Arial"/>
                <a:cs typeface="Arial"/>
                <a:sym typeface="Arial"/>
              </a:rPr>
              <a:t>MARKET</a:t>
            </a:r>
            <a:endParaRPr b="0" i="0" sz="1000" u="none" cap="none" strike="noStrike">
              <a:solidFill>
                <a:schemeClr val="dk1"/>
              </a:solidFill>
              <a:latin typeface="Arial"/>
              <a:ea typeface="Arial"/>
              <a:cs typeface="Arial"/>
              <a:sym typeface="Arial"/>
            </a:endParaRPr>
          </a:p>
        </p:txBody>
      </p:sp>
      <p:sp>
        <p:nvSpPr>
          <p:cNvPr id="38" name="Google Shape;38;p1"/>
          <p:cNvSpPr txBox="1"/>
          <p:nvPr/>
        </p:nvSpPr>
        <p:spPr>
          <a:xfrm>
            <a:off x="731520" y="5257800"/>
            <a:ext cx="23774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Arial"/>
              <a:buNone/>
            </a:pPr>
            <a:r>
              <a:rPr b="0" i="0" lang="en-US" sz="1400" u="none" cap="none" strike="noStrike">
                <a:solidFill>
                  <a:schemeClr val="lt1"/>
                </a:solidFill>
                <a:latin typeface="Arial"/>
                <a:ea typeface="Arial"/>
                <a:cs typeface="Arial"/>
                <a:sym typeface="Arial"/>
              </a:rPr>
              <a:t>Germany · DE / EN</a:t>
            </a:r>
            <a:endParaRPr b="0" i="0" sz="1400" u="none" cap="none" strike="noStrike">
              <a:solidFill>
                <a:schemeClr val="dk1"/>
              </a:solidFill>
              <a:latin typeface="Arial"/>
              <a:ea typeface="Arial"/>
              <a:cs typeface="Arial"/>
              <a:sym typeface="Arial"/>
            </a:endParaRPr>
          </a:p>
        </p:txBody>
      </p:sp>
      <p:sp>
        <p:nvSpPr>
          <p:cNvPr id="39" name="Google Shape;39;p1"/>
          <p:cNvSpPr txBox="1"/>
          <p:nvPr/>
        </p:nvSpPr>
        <p:spPr>
          <a:xfrm>
            <a:off x="3246120" y="4983480"/>
            <a:ext cx="237744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000"/>
              <a:buFont typeface="Arial"/>
              <a:buNone/>
            </a:pPr>
            <a:r>
              <a:rPr b="1" i="0" lang="en-US" spc="200" sz="1000" u="none" cap="none" strike="noStrike">
                <a:solidFill>
                  <a:schemeClr val="accent1"/>
                </a:solidFill>
                <a:latin typeface="Arial"/>
                <a:ea typeface="Arial"/>
                <a:cs typeface="Arial"/>
                <a:sym typeface="Arial"/>
              </a:rPr>
              <a:t>LAUNCH (PLANNED)</a:t>
            </a:r>
            <a:endParaRPr b="0" i="0" sz="1000" u="none" cap="none" strike="noStrike">
              <a:solidFill>
                <a:schemeClr val="dk1"/>
              </a:solidFill>
              <a:latin typeface="Arial"/>
              <a:ea typeface="Arial"/>
              <a:cs typeface="Arial"/>
              <a:sym typeface="Arial"/>
            </a:endParaRPr>
          </a:p>
        </p:txBody>
      </p:sp>
      <p:sp>
        <p:nvSpPr>
          <p:cNvPr id="40" name="Google Shape;40;p1"/>
          <p:cNvSpPr txBox="1"/>
          <p:nvPr/>
        </p:nvSpPr>
        <p:spPr>
          <a:xfrm>
            <a:off x="3246120" y="5257800"/>
            <a:ext cx="23774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Arial"/>
              <a:buNone/>
            </a:pPr>
            <a:r>
              <a:rPr b="0" i="0" lang="en-US" sz="1400" u="none" cap="none" strike="noStrike">
                <a:solidFill>
                  <a:schemeClr val="lt1"/>
                </a:solidFill>
                <a:latin typeface="Arial"/>
                <a:ea typeface="Arial"/>
                <a:cs typeface="Arial"/>
                <a:sym typeface="Arial"/>
              </a:rPr>
              <a:t>14 June 2027</a:t>
            </a:r>
            <a:endParaRPr b="0" i="0" sz="1400" u="none" cap="none" strike="noStrike">
              <a:solidFill>
                <a:schemeClr val="dk1"/>
              </a:solidFill>
              <a:latin typeface="Arial"/>
              <a:ea typeface="Arial"/>
              <a:cs typeface="Arial"/>
              <a:sym typeface="Arial"/>
            </a:endParaRPr>
          </a:p>
        </p:txBody>
      </p:sp>
      <p:sp>
        <p:nvSpPr>
          <p:cNvPr id="41" name="Google Shape;41;p1"/>
          <p:cNvSpPr txBox="1"/>
          <p:nvPr/>
        </p:nvSpPr>
        <p:spPr>
          <a:xfrm>
            <a:off x="5760720" y="4983480"/>
            <a:ext cx="237744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000"/>
              <a:buFont typeface="Arial"/>
              <a:buNone/>
            </a:pPr>
            <a:r>
              <a:rPr b="1" i="0" lang="en-US" spc="200" sz="1000" u="none" cap="none" strike="noStrike">
                <a:solidFill>
                  <a:schemeClr val="accent1"/>
                </a:solidFill>
                <a:latin typeface="Arial"/>
                <a:ea typeface="Arial"/>
                <a:cs typeface="Arial"/>
                <a:sym typeface="Arial"/>
              </a:rPr>
              <a:t>MVP</a:t>
            </a:r>
            <a:endParaRPr b="0" i="0" sz="1000" u="none" cap="none" strike="noStrike">
              <a:solidFill>
                <a:schemeClr val="dk1"/>
              </a:solidFill>
              <a:latin typeface="Arial"/>
              <a:ea typeface="Arial"/>
              <a:cs typeface="Arial"/>
              <a:sym typeface="Arial"/>
            </a:endParaRPr>
          </a:p>
        </p:txBody>
      </p:sp>
      <p:sp>
        <p:nvSpPr>
          <p:cNvPr id="42" name="Google Shape;42;p1"/>
          <p:cNvSpPr txBox="1"/>
          <p:nvPr/>
        </p:nvSpPr>
        <p:spPr>
          <a:xfrm>
            <a:off x="5760726" y="5257800"/>
            <a:ext cx="29238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Arial"/>
              <a:buNone/>
            </a:pPr>
            <a:r>
              <a:rPr b="0" i="0" lang="en-US" sz="1400" u="none" cap="none" strike="noStrike">
                <a:solidFill>
                  <a:schemeClr val="lt1"/>
                </a:solidFill>
                <a:latin typeface="Arial"/>
                <a:ea typeface="Arial"/>
                <a:cs typeface="Arial"/>
                <a:sym typeface="Arial"/>
              </a:rPr>
              <a:t>Candidate app + headhunter pilot</a:t>
            </a:r>
            <a:endParaRPr b="0" i="0" sz="1400" u="none" cap="none" strike="noStrike">
              <a:solidFill>
                <a:schemeClr val="dk1"/>
              </a:solidFill>
              <a:latin typeface="Arial"/>
              <a:ea typeface="Arial"/>
              <a:cs typeface="Arial"/>
              <a:sym typeface="Arial"/>
            </a:endParaRPr>
          </a:p>
        </p:txBody>
      </p:sp>
      <p:pic>
        <p:nvPicPr>
          <p:cNvPr descr="/tmp/claude-0/-home-claude/d1b11841-31a5-5c6c-8b8a-2c68ca1b0a7c/scratchpad/deck/img/reticle-light.png" id="43" name="Google Shape;43;p1"/>
          <p:cNvPicPr preferRelativeResize="0"/>
          <p:nvPr/>
        </p:nvPicPr>
        <p:blipFill rotWithShape="1">
          <a:blip r:embed="rId4">
            <a:alphaModFix/>
          </a:blip>
          <a:srcRect b="0" l="0" r="0" t="0"/>
          <a:stretch/>
        </p:blipFill>
        <p:spPr>
          <a:xfrm>
            <a:off x="8735010" y="1417320"/>
            <a:ext cx="3291840" cy="3291840"/>
          </a:xfrm>
          <a:prstGeom prst="rect">
            <a:avLst/>
          </a:prstGeom>
          <a:noFill/>
          <a:ln>
            <a:noFill/>
          </a:ln>
        </p:spPr>
      </p:pic>
      <p:sp>
        <p:nvSpPr>
          <p:cNvPr id="44" name="Google Shape;44;p1"/>
          <p:cNvSpPr txBox="1"/>
          <p:nvPr/>
        </p:nvSpPr>
        <p:spPr>
          <a:xfrm>
            <a:off x="731520" y="626364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000"/>
              <a:buFont typeface="Arial"/>
              <a:buNone/>
            </a:pPr>
            <a:r>
              <a:rPr b="0" i="0" lang="en-US" sz="1000" u="none" cap="none" strike="noStrike">
                <a:solidFill>
                  <a:schemeClr val="accent4"/>
                </a:solidFill>
                <a:latin typeface="Arial"/>
                <a:ea typeface="Arial"/>
                <a:cs typeface="Arial"/>
                <a:sym typeface="Arial"/>
              </a:rPr>
              <a:t>Ironhack AI Product Management · Mini Project 1 · demo with illustrative data</a:t>
            </a:r>
            <a:endParaRPr b="0" i="0" sz="10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 name="Shape 49"/>
        <p:cNvGrpSpPr/>
        <p:nvPr/>
      </p:nvGrpSpPr>
      <p:grpSpPr>
        <a:xfrm>
          <a:off x="0" y="0"/>
          <a:ext cx="0" cy="0"/>
          <a:chOff x="0" y="0"/>
          <a:chExt cx="0" cy="0"/>
        </a:xfrm>
      </p:grpSpPr>
      <p:sp>
        <p:nvSpPr>
          <p:cNvPr id="50" name="Google Shape;50;p2"/>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THE PROBLEM S</a:t>
            </a:r>
            <a:r>
              <a:rPr lang="en-US"/>
              <a:t>TATEMENT</a:t>
            </a:r>
            <a:r>
              <a:rPr b="1" lang="en-US" spc="200" sz="1200">
                <a:solidFill>
                  <a:schemeClr val="accent1"/>
                </a:solidFill>
              </a:rPr>
              <a:t>· EXAMPLE: LENA</a:t>
            </a:r>
            <a:endParaRPr sz="1200"/>
          </a:p>
        </p:txBody>
      </p:sp>
      <p:sp>
        <p:nvSpPr>
          <p:cNvPr id="51" name="Google Shape;51;p2"/>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200"/>
              <a:buFont typeface="Arial"/>
              <a:buNone/>
            </a:pPr>
            <a:r>
              <a:rPr b="1" lang="en-US" sz="3200">
                <a:solidFill>
                  <a:schemeClr val="dk1"/>
                </a:solidFill>
              </a:rPr>
              <a:t>Lena applies a lot and still can't tell where she fits</a:t>
            </a:r>
            <a:endParaRPr sz="3200"/>
          </a:p>
        </p:txBody>
      </p:sp>
      <p:sp>
        <p:nvSpPr>
          <p:cNvPr id="52" name="Google Shape;52;p2"/>
          <p:cNvSpPr/>
          <p:nvPr/>
        </p:nvSpPr>
        <p:spPr>
          <a:xfrm>
            <a:off x="548640" y="2148840"/>
            <a:ext cx="3931920" cy="1143000"/>
          </a:xfrm>
          <a:prstGeom prst="roundRect">
            <a:avLst>
              <a:gd fmla="val 9600"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txBox="1"/>
          <p:nvPr/>
        </p:nvSpPr>
        <p:spPr>
          <a:xfrm>
            <a:off x="822960" y="2240280"/>
            <a:ext cx="155448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4400"/>
              <a:buFont typeface="Arial"/>
              <a:buNone/>
            </a:pPr>
            <a:r>
              <a:rPr b="1" i="0" lang="en-US" sz="4400" u="none" cap="none" strike="noStrike">
                <a:solidFill>
                  <a:schemeClr val="dk1"/>
                </a:solidFill>
                <a:latin typeface="Arial"/>
                <a:ea typeface="Arial"/>
                <a:cs typeface="Arial"/>
                <a:sym typeface="Arial"/>
              </a:rPr>
              <a:t>40+</a:t>
            </a:r>
            <a:endParaRPr b="0" i="0" sz="4400" u="none" cap="none" strike="noStrike">
              <a:solidFill>
                <a:schemeClr val="dk1"/>
              </a:solidFill>
              <a:latin typeface="Arial"/>
              <a:ea typeface="Arial"/>
              <a:cs typeface="Arial"/>
              <a:sym typeface="Arial"/>
            </a:endParaRPr>
          </a:p>
        </p:txBody>
      </p:sp>
      <p:sp>
        <p:nvSpPr>
          <p:cNvPr id="54" name="Google Shape;54;p2"/>
          <p:cNvSpPr txBox="1"/>
          <p:nvPr/>
        </p:nvSpPr>
        <p:spPr>
          <a:xfrm>
            <a:off x="2377440" y="2240280"/>
            <a:ext cx="19202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Arial"/>
              <a:buNone/>
            </a:pPr>
            <a:r>
              <a:rPr b="0" i="0" lang="en-US" sz="1500" u="none" cap="none" strike="noStrike">
                <a:solidFill>
                  <a:schemeClr val="dk2"/>
                </a:solidFill>
                <a:latin typeface="Arial"/>
                <a:ea typeface="Arial"/>
                <a:cs typeface="Arial"/>
                <a:sym typeface="Arial"/>
              </a:rPr>
              <a:t>applications sent</a:t>
            </a:r>
            <a:endParaRPr b="0" i="0" sz="1500" u="none" cap="none" strike="noStrike">
              <a:solidFill>
                <a:schemeClr val="dk1"/>
              </a:solidFill>
              <a:latin typeface="Arial"/>
              <a:ea typeface="Arial"/>
              <a:cs typeface="Arial"/>
              <a:sym typeface="Arial"/>
            </a:endParaRPr>
          </a:p>
        </p:txBody>
      </p:sp>
      <p:sp>
        <p:nvSpPr>
          <p:cNvPr id="55" name="Google Shape;55;p2"/>
          <p:cNvSpPr/>
          <p:nvPr/>
        </p:nvSpPr>
        <p:spPr>
          <a:xfrm>
            <a:off x="548640" y="3474720"/>
            <a:ext cx="3931920" cy="1143000"/>
          </a:xfrm>
          <a:prstGeom prst="roundRect">
            <a:avLst>
              <a:gd fmla="val 9600"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txBox="1"/>
          <p:nvPr/>
        </p:nvSpPr>
        <p:spPr>
          <a:xfrm>
            <a:off x="822960" y="3566160"/>
            <a:ext cx="155448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4400"/>
              <a:buFont typeface="Arial"/>
              <a:buNone/>
            </a:pPr>
            <a:r>
              <a:rPr b="1" i="0" lang="en-US" sz="4400" u="none" cap="none" strike="noStrike">
                <a:solidFill>
                  <a:schemeClr val="accent1"/>
                </a:solidFill>
                <a:latin typeface="Arial"/>
                <a:ea typeface="Arial"/>
                <a:cs typeface="Arial"/>
                <a:sym typeface="Arial"/>
              </a:rPr>
              <a:t>3</a:t>
            </a:r>
            <a:endParaRPr b="0" i="0" sz="4400" u="none" cap="none" strike="noStrike">
              <a:solidFill>
                <a:schemeClr val="dk1"/>
              </a:solidFill>
              <a:latin typeface="Arial"/>
              <a:ea typeface="Arial"/>
              <a:cs typeface="Arial"/>
              <a:sym typeface="Arial"/>
            </a:endParaRPr>
          </a:p>
        </p:txBody>
      </p:sp>
      <p:sp>
        <p:nvSpPr>
          <p:cNvPr id="57" name="Google Shape;57;p2"/>
          <p:cNvSpPr txBox="1"/>
          <p:nvPr/>
        </p:nvSpPr>
        <p:spPr>
          <a:xfrm>
            <a:off x="2377440" y="3566160"/>
            <a:ext cx="19202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Arial"/>
              <a:buNone/>
            </a:pPr>
            <a:r>
              <a:rPr b="0" i="0" lang="en-US" sz="1500" u="none" cap="none" strike="noStrike">
                <a:solidFill>
                  <a:schemeClr val="dk2"/>
                </a:solidFill>
                <a:latin typeface="Arial"/>
                <a:ea typeface="Arial"/>
                <a:cs typeface="Arial"/>
                <a:sym typeface="Arial"/>
              </a:rPr>
              <a:t>interviews</a:t>
            </a:r>
            <a:endParaRPr b="0" i="0" sz="1500" u="none" cap="none" strike="noStrike">
              <a:solidFill>
                <a:schemeClr val="dk1"/>
              </a:solidFill>
              <a:latin typeface="Arial"/>
              <a:ea typeface="Arial"/>
              <a:cs typeface="Arial"/>
              <a:sym typeface="Arial"/>
            </a:endParaRPr>
          </a:p>
        </p:txBody>
      </p:sp>
      <p:sp>
        <p:nvSpPr>
          <p:cNvPr id="58" name="Google Shape;58;p2"/>
          <p:cNvSpPr/>
          <p:nvPr/>
        </p:nvSpPr>
        <p:spPr>
          <a:xfrm>
            <a:off x="548640" y="4800600"/>
            <a:ext cx="3931920" cy="1143000"/>
          </a:xfrm>
          <a:prstGeom prst="roundRect">
            <a:avLst>
              <a:gd fmla="val 9600"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txBox="1"/>
          <p:nvPr/>
        </p:nvSpPr>
        <p:spPr>
          <a:xfrm>
            <a:off x="822960" y="4892040"/>
            <a:ext cx="155448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4400"/>
              <a:buFont typeface="Arial"/>
              <a:buNone/>
            </a:pPr>
            <a:r>
              <a:rPr b="1" i="0" lang="en-US" sz="4400" u="none" cap="none" strike="noStrike">
                <a:solidFill>
                  <a:schemeClr val="dk1"/>
                </a:solidFill>
                <a:latin typeface="Arial"/>
                <a:ea typeface="Arial"/>
                <a:cs typeface="Arial"/>
                <a:sym typeface="Arial"/>
              </a:rPr>
              <a:t>5</a:t>
            </a:r>
            <a:endParaRPr b="0" i="0" sz="4400" u="none" cap="none" strike="noStrike">
              <a:solidFill>
                <a:schemeClr val="dk1"/>
              </a:solidFill>
              <a:latin typeface="Arial"/>
              <a:ea typeface="Arial"/>
              <a:cs typeface="Arial"/>
              <a:sym typeface="Arial"/>
            </a:endParaRPr>
          </a:p>
        </p:txBody>
      </p:sp>
      <p:sp>
        <p:nvSpPr>
          <p:cNvPr id="60" name="Google Shape;60;p2"/>
          <p:cNvSpPr txBox="1"/>
          <p:nvPr/>
        </p:nvSpPr>
        <p:spPr>
          <a:xfrm>
            <a:off x="2377440" y="4892040"/>
            <a:ext cx="19202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Arial"/>
              <a:buNone/>
            </a:pPr>
            <a:r>
              <a:rPr b="0" i="0" lang="en-US" sz="1500" u="none" cap="none" strike="noStrike">
                <a:solidFill>
                  <a:schemeClr val="dk2"/>
                </a:solidFill>
                <a:latin typeface="Arial"/>
                <a:ea typeface="Arial"/>
                <a:cs typeface="Arial"/>
                <a:sym typeface="Arial"/>
              </a:rPr>
              <a:t>job boards checked every morning</a:t>
            </a:r>
            <a:endParaRPr b="0" i="0" sz="1500" u="none" cap="none" strike="noStrike">
              <a:solidFill>
                <a:schemeClr val="dk1"/>
              </a:solidFill>
              <a:latin typeface="Arial"/>
              <a:ea typeface="Arial"/>
              <a:cs typeface="Arial"/>
              <a:sym typeface="Arial"/>
            </a:endParaRPr>
          </a:p>
        </p:txBody>
      </p:sp>
      <p:sp>
        <p:nvSpPr>
          <p:cNvPr id="61" name="Google Shape;61;p2"/>
          <p:cNvSpPr/>
          <p:nvPr/>
        </p:nvSpPr>
        <p:spPr>
          <a:xfrm>
            <a:off x="4846320" y="2148840"/>
            <a:ext cx="3246120" cy="1645920"/>
          </a:xfrm>
          <a:prstGeom prst="roundRect">
            <a:avLst>
              <a:gd fmla="val 66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2"/>
          <p:cNvSpPr txBox="1"/>
          <p:nvPr/>
        </p:nvSpPr>
        <p:spPr>
          <a:xfrm>
            <a:off x="5120640" y="2377440"/>
            <a:ext cx="914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01</a:t>
            </a:r>
            <a:endParaRPr b="0" i="0" sz="1200" u="none" cap="none" strike="noStrike">
              <a:solidFill>
                <a:schemeClr val="dk1"/>
              </a:solidFill>
              <a:latin typeface="Arial"/>
              <a:ea typeface="Arial"/>
              <a:cs typeface="Arial"/>
              <a:sym typeface="Arial"/>
            </a:endParaRPr>
          </a:p>
        </p:txBody>
      </p:sp>
      <p:sp>
        <p:nvSpPr>
          <p:cNvPr id="63" name="Google Shape;63;p2"/>
          <p:cNvSpPr txBox="1"/>
          <p:nvPr/>
        </p:nvSpPr>
        <p:spPr>
          <a:xfrm>
            <a:off x="5120640" y="2651760"/>
            <a:ext cx="27432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Arial"/>
              <a:buNone/>
            </a:pPr>
            <a:r>
              <a:rPr b="1" i="0" lang="en-US" sz="1800" u="none" cap="none" strike="noStrike">
                <a:solidFill>
                  <a:schemeClr val="dk1"/>
                </a:solidFill>
                <a:latin typeface="Arial"/>
                <a:ea typeface="Arial"/>
                <a:cs typeface="Arial"/>
                <a:sym typeface="Arial"/>
              </a:rPr>
              <a:t>Noisy vacancies</a:t>
            </a:r>
            <a:endParaRPr b="0" i="0" sz="1800" u="none" cap="none" strike="noStrike">
              <a:solidFill>
                <a:schemeClr val="dk1"/>
              </a:solidFill>
              <a:latin typeface="Arial"/>
              <a:ea typeface="Arial"/>
              <a:cs typeface="Arial"/>
              <a:sym typeface="Arial"/>
            </a:endParaRPr>
          </a:p>
        </p:txBody>
      </p:sp>
      <p:sp>
        <p:nvSpPr>
          <p:cNvPr id="64" name="Google Shape;64;p2"/>
          <p:cNvSpPr txBox="1"/>
          <p:nvPr/>
        </p:nvSpPr>
        <p:spPr>
          <a:xfrm>
            <a:off x="5120640" y="3035808"/>
            <a:ext cx="27432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Arial"/>
              <a:buNone/>
            </a:pPr>
            <a:r>
              <a:rPr b="0" i="0" lang="en-US" sz="1400" u="none" cap="none" strike="noStrike">
                <a:solidFill>
                  <a:schemeClr val="dk2"/>
                </a:solidFill>
                <a:latin typeface="Arial"/>
                <a:ea typeface="Arial"/>
                <a:cs typeface="Arial"/>
                <a:sym typeface="Arial"/>
              </a:rPr>
              <a:t>The same searches on several boards, ads that all sound alike.</a:t>
            </a:r>
            <a:endParaRPr b="0" i="0" sz="1400" u="none" cap="none" strike="noStrike">
              <a:solidFill>
                <a:schemeClr val="dk1"/>
              </a:solidFill>
              <a:latin typeface="Arial"/>
              <a:ea typeface="Arial"/>
              <a:cs typeface="Arial"/>
              <a:sym typeface="Arial"/>
            </a:endParaRPr>
          </a:p>
        </p:txBody>
      </p:sp>
      <p:sp>
        <p:nvSpPr>
          <p:cNvPr id="65" name="Google Shape;65;p2"/>
          <p:cNvSpPr/>
          <p:nvPr/>
        </p:nvSpPr>
        <p:spPr>
          <a:xfrm>
            <a:off x="8275320" y="2148840"/>
            <a:ext cx="3246120" cy="1645920"/>
          </a:xfrm>
          <a:prstGeom prst="roundRect">
            <a:avLst>
              <a:gd fmla="val 6667" name="adj"/>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2"/>
          <p:cNvSpPr txBox="1"/>
          <p:nvPr/>
        </p:nvSpPr>
        <p:spPr>
          <a:xfrm>
            <a:off x="8549640" y="2377440"/>
            <a:ext cx="914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02</a:t>
            </a:r>
            <a:endParaRPr b="0" i="0" sz="1200" u="none" cap="none" strike="noStrike">
              <a:solidFill>
                <a:schemeClr val="dk1"/>
              </a:solidFill>
              <a:latin typeface="Arial"/>
              <a:ea typeface="Arial"/>
              <a:cs typeface="Arial"/>
              <a:sym typeface="Arial"/>
            </a:endParaRPr>
          </a:p>
        </p:txBody>
      </p:sp>
      <p:sp>
        <p:nvSpPr>
          <p:cNvPr id="67" name="Google Shape;67;p2"/>
          <p:cNvSpPr txBox="1"/>
          <p:nvPr/>
        </p:nvSpPr>
        <p:spPr>
          <a:xfrm>
            <a:off x="8549640" y="2651760"/>
            <a:ext cx="27432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Arial"/>
              <a:buNone/>
            </a:pPr>
            <a:r>
              <a:rPr b="1" i="0" lang="en-US" sz="1800" u="none" cap="none" strike="noStrike">
                <a:solidFill>
                  <a:schemeClr val="lt1"/>
                </a:solidFill>
                <a:latin typeface="Arial"/>
                <a:ea typeface="Arial"/>
                <a:cs typeface="Arial"/>
                <a:sym typeface="Arial"/>
              </a:rPr>
              <a:t>Unclear fit</a:t>
            </a:r>
            <a:endParaRPr b="0" i="0" sz="1800" u="none" cap="none" strike="noStrike">
              <a:solidFill>
                <a:schemeClr val="dk1"/>
              </a:solidFill>
              <a:latin typeface="Arial"/>
              <a:ea typeface="Arial"/>
              <a:cs typeface="Arial"/>
              <a:sym typeface="Arial"/>
            </a:endParaRPr>
          </a:p>
        </p:txBody>
      </p:sp>
      <p:sp>
        <p:nvSpPr>
          <p:cNvPr id="68" name="Google Shape;68;p2"/>
          <p:cNvSpPr txBox="1"/>
          <p:nvPr/>
        </p:nvSpPr>
        <p:spPr>
          <a:xfrm>
            <a:off x="8549640" y="3035808"/>
            <a:ext cx="27432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400"/>
              <a:buFont typeface="Arial"/>
              <a:buNone/>
            </a:pPr>
            <a:r>
              <a:rPr b="0" i="0" lang="en-US" sz="1400" u="none" cap="none" strike="noStrike">
                <a:solidFill>
                  <a:schemeClr val="accent4"/>
                </a:solidFill>
                <a:latin typeface="Arial"/>
                <a:ea typeface="Arial"/>
                <a:cs typeface="Arial"/>
                <a:sym typeface="Arial"/>
              </a:rPr>
              <a:t>No answer to "do I qualify?", so she applies blindly or not at all.</a:t>
            </a:r>
            <a:endParaRPr b="0" i="0" sz="1400" u="none" cap="none" strike="noStrike">
              <a:solidFill>
                <a:schemeClr val="dk1"/>
              </a:solidFill>
              <a:latin typeface="Arial"/>
              <a:ea typeface="Arial"/>
              <a:cs typeface="Arial"/>
              <a:sym typeface="Arial"/>
            </a:endParaRPr>
          </a:p>
        </p:txBody>
      </p:sp>
      <p:sp>
        <p:nvSpPr>
          <p:cNvPr id="69" name="Google Shape;69;p2"/>
          <p:cNvSpPr/>
          <p:nvPr/>
        </p:nvSpPr>
        <p:spPr>
          <a:xfrm>
            <a:off x="4846320" y="3977640"/>
            <a:ext cx="3246120" cy="1645920"/>
          </a:xfrm>
          <a:prstGeom prst="roundRect">
            <a:avLst>
              <a:gd fmla="val 66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2"/>
          <p:cNvSpPr txBox="1"/>
          <p:nvPr/>
        </p:nvSpPr>
        <p:spPr>
          <a:xfrm>
            <a:off x="5120640" y="4206240"/>
            <a:ext cx="914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03</a:t>
            </a:r>
            <a:endParaRPr b="0" i="0" sz="1200" u="none" cap="none" strike="noStrike">
              <a:solidFill>
                <a:schemeClr val="dk1"/>
              </a:solidFill>
              <a:latin typeface="Arial"/>
              <a:ea typeface="Arial"/>
              <a:cs typeface="Arial"/>
              <a:sym typeface="Arial"/>
            </a:endParaRPr>
          </a:p>
        </p:txBody>
      </p:sp>
      <p:sp>
        <p:nvSpPr>
          <p:cNvPr id="71" name="Google Shape;71;p2"/>
          <p:cNvSpPr txBox="1"/>
          <p:nvPr/>
        </p:nvSpPr>
        <p:spPr>
          <a:xfrm>
            <a:off x="5120640" y="4480560"/>
            <a:ext cx="27432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Arial"/>
              <a:buNone/>
            </a:pPr>
            <a:r>
              <a:rPr b="1" i="0" lang="en-US" sz="1800" u="none" cap="none" strike="noStrike">
                <a:solidFill>
                  <a:schemeClr val="dk1"/>
                </a:solidFill>
                <a:latin typeface="Arial"/>
                <a:ea typeface="Arial"/>
                <a:cs typeface="Arial"/>
                <a:sym typeface="Arial"/>
              </a:rPr>
              <a:t>Rewriting every time</a:t>
            </a:r>
            <a:endParaRPr b="0" i="0" sz="1800" u="none" cap="none" strike="noStrike">
              <a:solidFill>
                <a:schemeClr val="dk1"/>
              </a:solidFill>
              <a:latin typeface="Arial"/>
              <a:ea typeface="Arial"/>
              <a:cs typeface="Arial"/>
              <a:sym typeface="Arial"/>
            </a:endParaRPr>
          </a:p>
        </p:txBody>
      </p:sp>
      <p:sp>
        <p:nvSpPr>
          <p:cNvPr id="72" name="Google Shape;72;p2"/>
          <p:cNvSpPr txBox="1"/>
          <p:nvPr/>
        </p:nvSpPr>
        <p:spPr>
          <a:xfrm>
            <a:off x="5120640" y="4864608"/>
            <a:ext cx="27432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Arial"/>
              <a:buNone/>
            </a:pPr>
            <a:r>
              <a:rPr b="0" i="0" lang="en-US" sz="1400" u="none" cap="none" strike="noStrike">
                <a:solidFill>
                  <a:schemeClr val="dk2"/>
                </a:solidFill>
                <a:latin typeface="Arial"/>
                <a:ea typeface="Arial"/>
                <a:cs typeface="Arial"/>
                <a:sym typeface="Arial"/>
              </a:rPr>
              <a:t>A new CV and cover letter for each ad, by hand.</a:t>
            </a:r>
            <a:endParaRPr b="0" i="0" sz="1400" u="none" cap="none" strike="noStrike">
              <a:solidFill>
                <a:schemeClr val="dk1"/>
              </a:solidFill>
              <a:latin typeface="Arial"/>
              <a:ea typeface="Arial"/>
              <a:cs typeface="Arial"/>
              <a:sym typeface="Arial"/>
            </a:endParaRPr>
          </a:p>
        </p:txBody>
      </p:sp>
      <p:sp>
        <p:nvSpPr>
          <p:cNvPr id="73" name="Google Shape;73;p2"/>
          <p:cNvSpPr/>
          <p:nvPr/>
        </p:nvSpPr>
        <p:spPr>
          <a:xfrm>
            <a:off x="8275320" y="3977640"/>
            <a:ext cx="3246120" cy="1645920"/>
          </a:xfrm>
          <a:prstGeom prst="roundRect">
            <a:avLst>
              <a:gd fmla="val 66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txBox="1"/>
          <p:nvPr/>
        </p:nvSpPr>
        <p:spPr>
          <a:xfrm>
            <a:off x="8549640" y="4206240"/>
            <a:ext cx="914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04</a:t>
            </a:r>
            <a:endParaRPr b="0" i="0" sz="1200" u="none" cap="none" strike="noStrike">
              <a:solidFill>
                <a:schemeClr val="dk1"/>
              </a:solidFill>
              <a:latin typeface="Arial"/>
              <a:ea typeface="Arial"/>
              <a:cs typeface="Arial"/>
              <a:sym typeface="Arial"/>
            </a:endParaRPr>
          </a:p>
        </p:txBody>
      </p:sp>
      <p:sp>
        <p:nvSpPr>
          <p:cNvPr id="75" name="Google Shape;75;p2"/>
          <p:cNvSpPr txBox="1"/>
          <p:nvPr/>
        </p:nvSpPr>
        <p:spPr>
          <a:xfrm>
            <a:off x="8549640" y="4480560"/>
            <a:ext cx="27432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Arial"/>
              <a:buNone/>
            </a:pPr>
            <a:r>
              <a:rPr b="1" i="0" lang="en-US" sz="1800" u="none" cap="none" strike="noStrike">
                <a:solidFill>
                  <a:schemeClr val="dk1"/>
                </a:solidFill>
                <a:latin typeface="Arial"/>
                <a:ea typeface="Arial"/>
                <a:cs typeface="Arial"/>
                <a:sym typeface="Arial"/>
              </a:rPr>
              <a:t>Losing track</a:t>
            </a:r>
            <a:endParaRPr b="0" i="0" sz="1800" u="none" cap="none" strike="noStrike">
              <a:solidFill>
                <a:schemeClr val="dk1"/>
              </a:solidFill>
              <a:latin typeface="Arial"/>
              <a:ea typeface="Arial"/>
              <a:cs typeface="Arial"/>
              <a:sym typeface="Arial"/>
            </a:endParaRPr>
          </a:p>
        </p:txBody>
      </p:sp>
      <p:sp>
        <p:nvSpPr>
          <p:cNvPr id="76" name="Google Shape;76;p2"/>
          <p:cNvSpPr txBox="1"/>
          <p:nvPr/>
        </p:nvSpPr>
        <p:spPr>
          <a:xfrm>
            <a:off x="8549640" y="4864608"/>
            <a:ext cx="27432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Arial"/>
              <a:buNone/>
            </a:pPr>
            <a:r>
              <a:rPr b="0" i="0" lang="en-US" sz="1400" u="none" cap="none" strike="noStrike">
                <a:solidFill>
                  <a:schemeClr val="dk2"/>
                </a:solidFill>
                <a:latin typeface="Arial"/>
                <a:ea typeface="Arial"/>
                <a:cs typeface="Arial"/>
                <a:sym typeface="Arial"/>
              </a:rPr>
              <a:t>Which job, which CV, which date: nothing in one place.</a:t>
            </a:r>
            <a:endParaRPr b="0" i="0" sz="1400" u="none" cap="none" strike="noStrike">
              <a:solidFill>
                <a:schemeClr val="dk1"/>
              </a:solidFill>
              <a:latin typeface="Arial"/>
              <a:ea typeface="Arial"/>
              <a:cs typeface="Arial"/>
              <a:sym typeface="Arial"/>
            </a:endParaRPr>
          </a:p>
        </p:txBody>
      </p:sp>
      <p:sp>
        <p:nvSpPr>
          <p:cNvPr id="77" name="Google Shape;77;p2"/>
          <p:cNvSpPr txBox="1"/>
          <p:nvPr/>
        </p:nvSpPr>
        <p:spPr>
          <a:xfrm>
            <a:off x="548640" y="603504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Persona figures are illustrative composites from ideation, not measured data.</a:t>
            </a:r>
            <a:endParaRPr b="0" i="0" sz="1000" u="none" cap="none" strike="noStrike">
              <a:solidFill>
                <a:schemeClr val="dk1"/>
              </a:solidFill>
              <a:latin typeface="Arial"/>
              <a:ea typeface="Arial"/>
              <a:cs typeface="Arial"/>
              <a:sym typeface="Arial"/>
            </a:endParaRPr>
          </a:p>
        </p:txBody>
      </p:sp>
      <p:sp>
        <p:nvSpPr>
          <p:cNvPr id="78" name="Google Shape;78;p2"/>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3"/>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WHO WE BUILD FOR</a:t>
            </a:r>
            <a:endParaRPr sz="1200"/>
          </a:p>
        </p:txBody>
      </p:sp>
      <p:sp>
        <p:nvSpPr>
          <p:cNvPr id="85" name="Google Shape;85;p3"/>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lnSpc>
                <a:spcPct val="104988"/>
              </a:lnSpc>
              <a:spcBef>
                <a:spcPts val="0"/>
              </a:spcBef>
              <a:spcAft>
                <a:spcPts val="0"/>
              </a:spcAft>
              <a:buClr>
                <a:srgbClr val="000000"/>
              </a:buClr>
              <a:buFont typeface="Arial"/>
              <a:buNone/>
            </a:pPr>
            <a:r>
              <a:rPr lang="en-US" sz="2900">
                <a:latin typeface="Inter"/>
                <a:ea typeface="Inter"/>
                <a:cs typeface="Inter"/>
                <a:sym typeface="Inter"/>
              </a:rPr>
              <a:t>Four personas, one foundation.</a:t>
            </a:r>
            <a:endParaRPr sz="3200"/>
          </a:p>
        </p:txBody>
      </p:sp>
      <p:sp>
        <p:nvSpPr>
          <p:cNvPr id="86" name="Google Shape;86;p3"/>
          <p:cNvSpPr/>
          <p:nvPr/>
        </p:nvSpPr>
        <p:spPr>
          <a:xfrm>
            <a:off x="548640" y="2103120"/>
            <a:ext cx="2633472" cy="3931920"/>
          </a:xfrm>
          <a:prstGeom prst="roundRect">
            <a:avLst>
              <a:gd fmla="val 41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d1b11841-31a5-5c6c-8b8a-2c68ca1b0a7c/scratchpad/deck/img/markus.jpg" id="87" name="Google Shape;87;p3"/>
          <p:cNvPicPr preferRelativeResize="0"/>
          <p:nvPr/>
        </p:nvPicPr>
        <p:blipFill rotWithShape="1">
          <a:blip r:embed="rId3">
            <a:alphaModFix/>
          </a:blip>
          <a:srcRect b="49645" l="6283" r="43974" t="2693"/>
          <a:stretch/>
        </p:blipFill>
        <p:spPr>
          <a:xfrm>
            <a:off x="1023725" y="2331725"/>
            <a:ext cx="1683300" cy="1612800"/>
          </a:xfrm>
          <a:prstGeom prst="ellipse">
            <a:avLst/>
          </a:prstGeom>
          <a:noFill/>
          <a:ln>
            <a:noFill/>
          </a:ln>
        </p:spPr>
      </p:pic>
      <p:sp>
        <p:nvSpPr>
          <p:cNvPr id="88" name="Google Shape;88;p3"/>
          <p:cNvSpPr/>
          <p:nvPr/>
        </p:nvSpPr>
        <p:spPr>
          <a:xfrm>
            <a:off x="3364992" y="2103120"/>
            <a:ext cx="2633472" cy="3931920"/>
          </a:xfrm>
          <a:prstGeom prst="roundRect">
            <a:avLst>
              <a:gd fmla="val 41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d1b11841-31a5-5c6c-8b8a-2c68ca1b0a7c/scratchpad/deck/img/lena.jpg" id="89" name="Google Shape;89;p3"/>
          <p:cNvPicPr preferRelativeResize="0"/>
          <p:nvPr/>
        </p:nvPicPr>
        <p:blipFill rotWithShape="1">
          <a:blip r:embed="rId4">
            <a:alphaModFix/>
          </a:blip>
          <a:srcRect b="0" l="0" r="0" t="0"/>
          <a:stretch/>
        </p:blipFill>
        <p:spPr>
          <a:xfrm>
            <a:off x="3572558" y="2271355"/>
            <a:ext cx="1783200" cy="1783200"/>
          </a:xfrm>
          <a:prstGeom prst="ellipse">
            <a:avLst/>
          </a:prstGeom>
          <a:noFill/>
          <a:ln>
            <a:noFill/>
          </a:ln>
        </p:spPr>
      </p:pic>
      <p:sp>
        <p:nvSpPr>
          <p:cNvPr id="90" name="Google Shape;90;p3"/>
          <p:cNvSpPr/>
          <p:nvPr/>
        </p:nvSpPr>
        <p:spPr>
          <a:xfrm>
            <a:off x="6181344" y="2103120"/>
            <a:ext cx="2633472" cy="3931920"/>
          </a:xfrm>
          <a:prstGeom prst="roundRect">
            <a:avLst>
              <a:gd fmla="val 41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d1b11841-31a5-5c6c-8b8a-2c68ca1b0a7c/scratchpad/deck/img/andrei.jpg" id="91" name="Google Shape;91;p3"/>
          <p:cNvPicPr preferRelativeResize="0"/>
          <p:nvPr/>
        </p:nvPicPr>
        <p:blipFill rotWithShape="1">
          <a:blip r:embed="rId5">
            <a:alphaModFix/>
          </a:blip>
          <a:srcRect b="0" l="0" r="0" t="0"/>
          <a:stretch/>
        </p:blipFill>
        <p:spPr>
          <a:xfrm>
            <a:off x="6409944" y="2331720"/>
            <a:ext cx="868680" cy="868680"/>
          </a:xfrm>
          <a:prstGeom prst="ellipse">
            <a:avLst/>
          </a:prstGeom>
          <a:noFill/>
          <a:ln>
            <a:noFill/>
          </a:ln>
        </p:spPr>
      </p:pic>
      <p:sp>
        <p:nvSpPr>
          <p:cNvPr id="92" name="Google Shape;92;p3"/>
          <p:cNvSpPr txBox="1"/>
          <p:nvPr/>
        </p:nvSpPr>
        <p:spPr>
          <a:xfrm>
            <a:off x="6409944" y="3383280"/>
            <a:ext cx="2176272"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1" i="0" lang="en-US" spc="100" sz="1000" u="none" cap="none" strike="noStrike">
                <a:solidFill>
                  <a:schemeClr val="dk2"/>
                </a:solidFill>
                <a:latin typeface="Arial"/>
                <a:ea typeface="Arial"/>
                <a:cs typeface="Arial"/>
                <a:sym typeface="Arial"/>
              </a:rPr>
              <a:t>CANDIDATE · EXPAT</a:t>
            </a:r>
            <a:endParaRPr b="0" i="0" sz="1000" u="none" cap="none" strike="noStrike">
              <a:solidFill>
                <a:schemeClr val="dk1"/>
              </a:solidFill>
              <a:latin typeface="Arial"/>
              <a:ea typeface="Arial"/>
              <a:cs typeface="Arial"/>
              <a:sym typeface="Arial"/>
            </a:endParaRPr>
          </a:p>
        </p:txBody>
      </p:sp>
      <p:sp>
        <p:nvSpPr>
          <p:cNvPr id="93" name="Google Shape;93;p3"/>
          <p:cNvSpPr txBox="1"/>
          <p:nvPr/>
        </p:nvSpPr>
        <p:spPr>
          <a:xfrm>
            <a:off x="6409944" y="3657600"/>
            <a:ext cx="2176272"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200"/>
              <a:buFont typeface="Arial"/>
              <a:buNone/>
            </a:pPr>
            <a:r>
              <a:rPr b="1" i="0" lang="en-US" sz="2200" u="none" cap="none" strike="noStrike">
                <a:solidFill>
                  <a:schemeClr val="dk1"/>
                </a:solidFill>
                <a:latin typeface="Arial"/>
                <a:ea typeface="Arial"/>
                <a:cs typeface="Arial"/>
                <a:sym typeface="Arial"/>
              </a:rPr>
              <a:t>Andrei</a:t>
            </a:r>
            <a:endParaRPr b="0" i="0" sz="2200" u="none" cap="none" strike="noStrike">
              <a:solidFill>
                <a:schemeClr val="dk1"/>
              </a:solidFill>
              <a:latin typeface="Arial"/>
              <a:ea typeface="Arial"/>
              <a:cs typeface="Arial"/>
              <a:sym typeface="Arial"/>
            </a:endParaRPr>
          </a:p>
        </p:txBody>
      </p:sp>
      <p:sp>
        <p:nvSpPr>
          <p:cNvPr id="94" name="Google Shape;94;p3"/>
          <p:cNvSpPr txBox="1"/>
          <p:nvPr/>
        </p:nvSpPr>
        <p:spPr>
          <a:xfrm>
            <a:off x="6409944" y="4114800"/>
            <a:ext cx="2176272"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Data engineer, Munich, works in RO / EN / DE</a:t>
            </a:r>
            <a:endParaRPr b="0" i="0" sz="1300" u="none" cap="none" strike="noStrike">
              <a:solidFill>
                <a:schemeClr val="dk1"/>
              </a:solidFill>
              <a:latin typeface="Arial"/>
              <a:ea typeface="Arial"/>
              <a:cs typeface="Arial"/>
              <a:sym typeface="Arial"/>
            </a:endParaRPr>
          </a:p>
        </p:txBody>
      </p:sp>
      <p:sp>
        <p:nvSpPr>
          <p:cNvPr id="95" name="Google Shape;95;p3"/>
          <p:cNvSpPr txBox="1"/>
          <p:nvPr/>
        </p:nvSpPr>
        <p:spPr>
          <a:xfrm>
            <a:off x="6409944" y="4983480"/>
            <a:ext cx="2176272"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Arial"/>
              <a:buNone/>
            </a:pPr>
            <a:r>
              <a:rPr b="1" i="0" lang="en-US" sz="1400" u="none" cap="none" strike="noStrike">
                <a:solidFill>
                  <a:schemeClr val="dk1"/>
                </a:solidFill>
                <a:latin typeface="Arial"/>
                <a:ea typeface="Arial"/>
                <a:cs typeface="Arial"/>
                <a:sym typeface="Arial"/>
              </a:rPr>
              <a:t>Needs the required language level and real employers only</a:t>
            </a:r>
            <a:endParaRPr b="0" i="0" sz="1400" u="none" cap="none" strike="noStrike">
              <a:solidFill>
                <a:schemeClr val="dk1"/>
              </a:solidFill>
              <a:latin typeface="Arial"/>
              <a:ea typeface="Arial"/>
              <a:cs typeface="Arial"/>
              <a:sym typeface="Arial"/>
            </a:endParaRPr>
          </a:p>
        </p:txBody>
      </p:sp>
      <p:sp>
        <p:nvSpPr>
          <p:cNvPr id="96" name="Google Shape;96;p3"/>
          <p:cNvSpPr/>
          <p:nvPr/>
        </p:nvSpPr>
        <p:spPr>
          <a:xfrm>
            <a:off x="8997696" y="2103120"/>
            <a:ext cx="2633472" cy="3931920"/>
          </a:xfrm>
          <a:prstGeom prst="roundRect">
            <a:avLst>
              <a:gd fmla="val 41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d1b11841-31a5-5c6c-8b8a-2c68ca1b0a7c/scratchpad/deck/img/sofia.jpg" id="97" name="Google Shape;97;p3"/>
          <p:cNvPicPr preferRelativeResize="0"/>
          <p:nvPr/>
        </p:nvPicPr>
        <p:blipFill rotWithShape="1">
          <a:blip r:embed="rId6">
            <a:alphaModFix/>
          </a:blip>
          <a:srcRect b="0" l="0" r="0" t="0"/>
          <a:stretch/>
        </p:blipFill>
        <p:spPr>
          <a:xfrm>
            <a:off x="9226296" y="2331720"/>
            <a:ext cx="868680" cy="868680"/>
          </a:xfrm>
          <a:prstGeom prst="ellipse">
            <a:avLst/>
          </a:prstGeom>
          <a:noFill/>
          <a:ln>
            <a:noFill/>
          </a:ln>
        </p:spPr>
      </p:pic>
      <p:sp>
        <p:nvSpPr>
          <p:cNvPr id="98" name="Google Shape;98;p3"/>
          <p:cNvSpPr txBox="1"/>
          <p:nvPr/>
        </p:nvSpPr>
        <p:spPr>
          <a:xfrm>
            <a:off x="9226296" y="3383280"/>
            <a:ext cx="2176272"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000"/>
              <a:buFont typeface="Arial"/>
              <a:buNone/>
            </a:pPr>
            <a:r>
              <a:rPr b="1" i="0" lang="en-US" spc="100" sz="1000" u="none" cap="none" strike="noStrike">
                <a:solidFill>
                  <a:schemeClr val="accent1"/>
                </a:solidFill>
                <a:latin typeface="Arial"/>
                <a:ea typeface="Arial"/>
                <a:cs typeface="Arial"/>
                <a:sym typeface="Arial"/>
              </a:rPr>
              <a:t>HEADHUNTER · PILOT</a:t>
            </a:r>
            <a:endParaRPr b="0" i="0" sz="1000" u="none" cap="none" strike="noStrike">
              <a:solidFill>
                <a:schemeClr val="dk1"/>
              </a:solidFill>
              <a:latin typeface="Arial"/>
              <a:ea typeface="Arial"/>
              <a:cs typeface="Arial"/>
              <a:sym typeface="Arial"/>
            </a:endParaRPr>
          </a:p>
        </p:txBody>
      </p:sp>
      <p:sp>
        <p:nvSpPr>
          <p:cNvPr id="99" name="Google Shape;99;p3"/>
          <p:cNvSpPr txBox="1"/>
          <p:nvPr/>
        </p:nvSpPr>
        <p:spPr>
          <a:xfrm>
            <a:off x="9226296" y="3657600"/>
            <a:ext cx="2176272"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200"/>
              <a:buFont typeface="Arial"/>
              <a:buNone/>
            </a:pPr>
            <a:r>
              <a:rPr b="1" i="0" lang="en-US" sz="2200" u="none" cap="none" strike="noStrike">
                <a:solidFill>
                  <a:schemeClr val="dk1"/>
                </a:solidFill>
                <a:latin typeface="Arial"/>
                <a:ea typeface="Arial"/>
                <a:cs typeface="Arial"/>
                <a:sym typeface="Arial"/>
              </a:rPr>
              <a:t>Sofia</a:t>
            </a:r>
            <a:endParaRPr b="0" i="0" sz="2200" u="none" cap="none" strike="noStrike">
              <a:solidFill>
                <a:schemeClr val="dk1"/>
              </a:solidFill>
              <a:latin typeface="Arial"/>
              <a:ea typeface="Arial"/>
              <a:cs typeface="Arial"/>
              <a:sym typeface="Arial"/>
            </a:endParaRPr>
          </a:p>
        </p:txBody>
      </p:sp>
      <p:sp>
        <p:nvSpPr>
          <p:cNvPr id="100" name="Google Shape;100;p3"/>
          <p:cNvSpPr txBox="1"/>
          <p:nvPr/>
        </p:nvSpPr>
        <p:spPr>
          <a:xfrm>
            <a:off x="9226296" y="4114800"/>
            <a:ext cx="2176272"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Verified recruiter hiring in Germany</a:t>
            </a:r>
            <a:endParaRPr b="0" i="0" sz="1300" u="none" cap="none" strike="noStrike">
              <a:solidFill>
                <a:schemeClr val="dk1"/>
              </a:solidFill>
              <a:latin typeface="Arial"/>
              <a:ea typeface="Arial"/>
              <a:cs typeface="Arial"/>
              <a:sym typeface="Arial"/>
            </a:endParaRPr>
          </a:p>
        </p:txBody>
      </p:sp>
      <p:sp>
        <p:nvSpPr>
          <p:cNvPr id="101" name="Google Shape;101;p3"/>
          <p:cNvSpPr txBox="1"/>
          <p:nvPr/>
        </p:nvSpPr>
        <p:spPr>
          <a:xfrm>
            <a:off x="9226296" y="4983480"/>
            <a:ext cx="2176272"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Arial"/>
              <a:buNone/>
            </a:pPr>
            <a:r>
              <a:rPr b="1" i="0" lang="en-US" sz="1400" u="none" cap="none" strike="noStrike">
                <a:solidFill>
                  <a:schemeClr val="dk1"/>
                </a:solidFill>
                <a:latin typeface="Arial"/>
                <a:ea typeface="Arial"/>
                <a:cs typeface="Arial"/>
                <a:sym typeface="Arial"/>
              </a:rPr>
              <a:t>Wants available candidates with ≥ 90% fit, without CV databases</a:t>
            </a:r>
            <a:endParaRPr b="0" i="0" sz="1400" u="none" cap="none" strike="noStrike">
              <a:solidFill>
                <a:schemeClr val="dk1"/>
              </a:solidFill>
              <a:latin typeface="Arial"/>
              <a:ea typeface="Arial"/>
              <a:cs typeface="Arial"/>
              <a:sym typeface="Arial"/>
            </a:endParaRPr>
          </a:p>
        </p:txBody>
      </p:sp>
      <p:sp>
        <p:nvSpPr>
          <p:cNvPr id="102" name="Google Shape;102;p3"/>
          <p:cNvSpPr txBox="1"/>
          <p:nvPr/>
        </p:nvSpPr>
        <p:spPr>
          <a:xfrm>
            <a:off x="548640" y="6126480"/>
            <a:ext cx="100584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Personas are illustrative composites, still to be validated in 15 candidate and 5 headhunter interviews.</a:t>
            </a:r>
            <a:endParaRPr b="0" i="0" sz="1000" u="none" cap="none" strike="noStrike">
              <a:solidFill>
                <a:schemeClr val="dk1"/>
              </a:solidFill>
              <a:latin typeface="Arial"/>
              <a:ea typeface="Arial"/>
              <a:cs typeface="Arial"/>
              <a:sym typeface="Arial"/>
            </a:endParaRPr>
          </a:p>
        </p:txBody>
      </p:sp>
      <p:sp>
        <p:nvSpPr>
          <p:cNvPr id="103" name="Google Shape;103;p3"/>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
        <p:nvSpPr>
          <p:cNvPr id="104" name="Google Shape;104;p3"/>
          <p:cNvSpPr txBox="1"/>
          <p:nvPr/>
        </p:nvSpPr>
        <p:spPr>
          <a:xfrm>
            <a:off x="647575" y="4235063"/>
            <a:ext cx="2260500" cy="153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pc="100" sz="1000">
                <a:solidFill>
                  <a:srgbClr val="0F2A4A"/>
                </a:solidFill>
                <a:latin typeface="JetBrains Mono"/>
                <a:ea typeface="JetBrains Mono"/>
                <a:cs typeface="JetBrains Mono"/>
                <a:sym typeface="JetBrains Mono"/>
              </a:rPr>
              <a:t>CANDIDATE · SENIOR</a:t>
            </a:r>
            <a:endParaRPr sz="1300"/>
          </a:p>
        </p:txBody>
      </p:sp>
      <p:sp>
        <p:nvSpPr>
          <p:cNvPr id="105" name="Google Shape;105;p3"/>
          <p:cNvSpPr txBox="1"/>
          <p:nvPr/>
        </p:nvSpPr>
        <p:spPr>
          <a:xfrm>
            <a:off x="647575" y="4492750"/>
            <a:ext cx="2260500" cy="338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z="2200">
                <a:solidFill>
                  <a:srgbClr val="0F2A4A"/>
                </a:solidFill>
                <a:latin typeface="Inter"/>
                <a:ea typeface="Inter"/>
                <a:cs typeface="Inter"/>
                <a:sym typeface="Inter"/>
              </a:rPr>
              <a:t>Markus</a:t>
            </a:r>
            <a:endParaRPr sz="900"/>
          </a:p>
        </p:txBody>
      </p:sp>
      <p:sp>
        <p:nvSpPr>
          <p:cNvPr id="106" name="Google Shape;106;p3"/>
          <p:cNvSpPr txBox="1"/>
          <p:nvPr/>
        </p:nvSpPr>
        <p:spPr>
          <a:xfrm>
            <a:off x="647575" y="4935225"/>
            <a:ext cx="2260500" cy="153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lang="en-US" sz="1000">
                <a:solidFill>
                  <a:srgbClr val="5B6B80"/>
                </a:solidFill>
                <a:latin typeface="Inter"/>
                <a:ea typeface="Inter"/>
                <a:cs typeface="Inter"/>
                <a:sym typeface="Inter"/>
              </a:rPr>
              <a:t>Selective senior engineer</a:t>
            </a:r>
            <a:endParaRPr sz="900"/>
          </a:p>
        </p:txBody>
      </p:sp>
      <p:sp>
        <p:nvSpPr>
          <p:cNvPr id="107" name="Google Shape;107;p3"/>
          <p:cNvSpPr txBox="1"/>
          <p:nvPr/>
        </p:nvSpPr>
        <p:spPr>
          <a:xfrm>
            <a:off x="647575" y="5338088"/>
            <a:ext cx="2260500" cy="3324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Few worthwhile roles per month</a:t>
            </a:r>
            <a:endParaRPr sz="900">
              <a:solidFill>
                <a:srgbClr val="0F2A4A"/>
              </a:solidFill>
              <a:latin typeface="Inter"/>
              <a:ea typeface="Inter"/>
              <a:cs typeface="Inter"/>
              <a:sym typeface="Inter"/>
            </a:endParaRPr>
          </a:p>
          <a:p>
            <a:pPr indent="0" lvl="0" marL="0" rtl="0" algn="l">
              <a:lnSpc>
                <a:spcPct val="139925"/>
              </a:lnSpc>
              <a:spcBef>
                <a:spcPts val="0"/>
              </a:spcBef>
              <a:spcAft>
                <a:spcPts val="0"/>
              </a:spcAft>
              <a:buNone/>
            </a:pPr>
            <a:r>
              <a:rPr lang="en-US" sz="900">
                <a:solidFill>
                  <a:schemeClr val="dk1"/>
                </a:solidFill>
                <a:latin typeface="Inter"/>
                <a:ea typeface="Inter"/>
                <a:cs typeface="Inter"/>
                <a:sym typeface="Inter"/>
              </a:rPr>
              <a:t>— Needs reasons, not noise</a:t>
            </a:r>
            <a:endParaRPr sz="900">
              <a:solidFill>
                <a:srgbClr val="0F2A4A"/>
              </a:solidFill>
              <a:latin typeface="Inter"/>
              <a:ea typeface="Inter"/>
              <a:cs typeface="Inter"/>
              <a:sym typeface="Inter"/>
            </a:endParaRPr>
          </a:p>
        </p:txBody>
      </p:sp>
      <p:sp>
        <p:nvSpPr>
          <p:cNvPr id="108" name="Google Shape;108;p3"/>
          <p:cNvSpPr txBox="1"/>
          <p:nvPr/>
        </p:nvSpPr>
        <p:spPr>
          <a:xfrm>
            <a:off x="735125" y="5702300"/>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t/>
            </a:r>
            <a:endParaRPr sz="900"/>
          </a:p>
        </p:txBody>
      </p:sp>
      <p:sp>
        <p:nvSpPr>
          <p:cNvPr id="109" name="Google Shape;109;p3"/>
          <p:cNvSpPr txBox="1"/>
          <p:nvPr/>
        </p:nvSpPr>
        <p:spPr>
          <a:xfrm>
            <a:off x="3572538" y="4149125"/>
            <a:ext cx="2260500" cy="924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pc="100" sz="600">
                <a:solidFill>
                  <a:srgbClr val="0F2A4A"/>
                </a:solidFill>
                <a:latin typeface="JetBrains Mono"/>
                <a:ea typeface="JetBrains Mono"/>
                <a:cs typeface="JetBrains Mono"/>
                <a:sym typeface="JetBrains Mono"/>
              </a:rPr>
              <a:t>CANDIDATE · GRADUATE</a:t>
            </a:r>
            <a:endParaRPr sz="900"/>
          </a:p>
        </p:txBody>
      </p:sp>
      <p:sp>
        <p:nvSpPr>
          <p:cNvPr id="110" name="Google Shape;110;p3"/>
          <p:cNvSpPr txBox="1"/>
          <p:nvPr/>
        </p:nvSpPr>
        <p:spPr>
          <a:xfrm>
            <a:off x="3572538" y="4238025"/>
            <a:ext cx="2260500" cy="338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z="2200">
                <a:solidFill>
                  <a:srgbClr val="0F2A4A"/>
                </a:solidFill>
                <a:latin typeface="Inter"/>
                <a:ea typeface="Inter"/>
                <a:cs typeface="Inter"/>
                <a:sym typeface="Inter"/>
              </a:rPr>
              <a:t>Lena</a:t>
            </a:r>
            <a:endParaRPr sz="900"/>
          </a:p>
        </p:txBody>
      </p:sp>
      <p:sp>
        <p:nvSpPr>
          <p:cNvPr id="111" name="Google Shape;111;p3"/>
          <p:cNvSpPr txBox="1"/>
          <p:nvPr/>
        </p:nvSpPr>
        <p:spPr>
          <a:xfrm>
            <a:off x="3572538" y="4682525"/>
            <a:ext cx="2260500" cy="153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lang="en-US" sz="1000">
                <a:solidFill>
                  <a:srgbClr val="5B6B80"/>
                </a:solidFill>
                <a:latin typeface="Inter"/>
                <a:ea typeface="Inter"/>
                <a:cs typeface="Inter"/>
                <a:sym typeface="Inter"/>
              </a:rPr>
              <a:t>Recent graduate</a:t>
            </a:r>
            <a:endParaRPr sz="900"/>
          </a:p>
        </p:txBody>
      </p:sp>
      <p:sp>
        <p:nvSpPr>
          <p:cNvPr id="112" name="Google Shape;112;p3"/>
          <p:cNvSpPr txBox="1"/>
          <p:nvPr/>
        </p:nvSpPr>
        <p:spPr>
          <a:xfrm>
            <a:off x="3572538" y="5228625"/>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Strong transferable skills</a:t>
            </a:r>
            <a:endParaRPr sz="900"/>
          </a:p>
        </p:txBody>
      </p:sp>
      <p:sp>
        <p:nvSpPr>
          <p:cNvPr id="113" name="Google Shape;113;p3"/>
          <p:cNvSpPr txBox="1"/>
          <p:nvPr/>
        </p:nvSpPr>
        <p:spPr>
          <a:xfrm>
            <a:off x="3572538" y="5736625"/>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Needs explained fit &amp; gaps</a:t>
            </a:r>
            <a:endParaRPr sz="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EEF6"/>
        </a:solidFill>
      </p:bgPr>
    </p:bg>
    <p:spTree>
      <p:nvGrpSpPr>
        <p:cNvPr id="117" name="Shape 117"/>
        <p:cNvGrpSpPr/>
        <p:nvPr/>
      </p:nvGrpSpPr>
      <p:grpSpPr>
        <a:xfrm>
          <a:off x="0" y="0"/>
          <a:ext cx="0" cy="0"/>
          <a:chOff x="0" y="0"/>
          <a:chExt cx="0" cy="0"/>
        </a:xfrm>
      </p:grpSpPr>
      <p:pic>
        <p:nvPicPr>
          <p:cNvPr descr="CareerPilot logo" id="118" name="Google Shape;118;h3c811332169675b0_3_32"/>
          <p:cNvPicPr preferRelativeResize="0"/>
          <p:nvPr/>
        </p:nvPicPr>
        <p:blipFill rotWithShape="1">
          <a:blip r:embed="rId3">
            <a:alphaModFix/>
          </a:blip>
          <a:srcRect b="0" l="0" r="0" t="0"/>
          <a:stretch/>
        </p:blipFill>
        <p:spPr>
          <a:xfrm>
            <a:off x="508000" y="285433"/>
            <a:ext cx="600724" cy="121920"/>
          </a:xfrm>
          <a:prstGeom prst="rect">
            <a:avLst/>
          </a:prstGeom>
          <a:noFill/>
          <a:ln>
            <a:noFill/>
          </a:ln>
        </p:spPr>
      </p:pic>
      <p:sp>
        <p:nvSpPr>
          <p:cNvPr id="119" name="Google Shape;119;h3c811332169675b0_3_32"/>
          <p:cNvSpPr txBox="1"/>
          <p:nvPr/>
        </p:nvSpPr>
        <p:spPr>
          <a:xfrm>
            <a:off x="3048000" y="292100"/>
            <a:ext cx="6350100" cy="153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lang="en-US" spc="200" sz="1000">
                <a:solidFill>
                  <a:srgbClr val="5B6B80"/>
                </a:solidFill>
                <a:latin typeface="JetBrains Mono"/>
                <a:ea typeface="JetBrains Mono"/>
                <a:cs typeface="JetBrains Mono"/>
                <a:sym typeface="JetBrains Mono"/>
              </a:rPr>
              <a:t>03 · Personas</a:t>
            </a:r>
            <a:endParaRPr sz="1000"/>
          </a:p>
        </p:txBody>
      </p:sp>
      <p:sp>
        <p:nvSpPr>
          <p:cNvPr id="120" name="Google Shape;120;h3c811332169675b0_3_32"/>
          <p:cNvSpPr txBox="1"/>
          <p:nvPr/>
        </p:nvSpPr>
        <p:spPr>
          <a:xfrm>
            <a:off x="11049000" y="292100"/>
            <a:ext cx="635100" cy="1077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lang="en-US" spc="100" sz="700">
                <a:solidFill>
                  <a:srgbClr val="5B6B80"/>
                </a:solidFill>
                <a:latin typeface="JetBrains Mono"/>
                <a:ea typeface="JetBrains Mono"/>
                <a:cs typeface="JetBrains Mono"/>
                <a:sym typeface="JetBrains Mono"/>
              </a:rPr>
              <a:t>03</a:t>
            </a:r>
            <a:endParaRPr sz="900"/>
          </a:p>
        </p:txBody>
      </p:sp>
      <p:sp>
        <p:nvSpPr>
          <p:cNvPr id="121" name="Google Shape;121;h3c811332169675b0_3_32"/>
          <p:cNvSpPr txBox="1"/>
          <p:nvPr/>
        </p:nvSpPr>
        <p:spPr>
          <a:xfrm>
            <a:off x="508000" y="6489700"/>
            <a:ext cx="7620000" cy="107700"/>
          </a:xfrm>
          <a:prstGeom prst="rect">
            <a:avLst/>
          </a:prstGeom>
          <a:noFill/>
          <a:ln>
            <a:noFill/>
          </a:ln>
        </p:spPr>
        <p:txBody>
          <a:bodyPr anchorCtr="0" anchor="t" bIns="0" lIns="0" spcFirstLastPara="1" rIns="0" wrap="square" tIns="0">
            <a:spAutoFit/>
          </a:bodyPr>
          <a:lstStyle/>
          <a:p>
            <a:pPr indent="0" lvl="0" marL="0" marR="0" rtl="0" algn="l">
              <a:lnSpc>
                <a:spcPct val="139897"/>
              </a:lnSpc>
              <a:spcBef>
                <a:spcPts val="0"/>
              </a:spcBef>
              <a:spcAft>
                <a:spcPts val="0"/>
              </a:spcAft>
              <a:buNone/>
            </a:pPr>
            <a:r>
              <a:rPr lang="en-US" spc="100" sz="700">
                <a:solidFill>
                  <a:srgbClr val="5B6B80"/>
                </a:solidFill>
                <a:latin typeface="JetBrains Mono"/>
                <a:ea typeface="JetBrains Mono"/>
                <a:cs typeface="JetBrains Mono"/>
                <a:sym typeface="JetBrains Mono"/>
              </a:rPr>
              <a:t>Germany MVP · Public launch target June 27 (planned)</a:t>
            </a:r>
            <a:endParaRPr sz="900"/>
          </a:p>
        </p:txBody>
      </p:sp>
      <p:grpSp>
        <p:nvGrpSpPr>
          <p:cNvPr id="122" name="Google Shape;122;h3c811332169675b0_3_32"/>
          <p:cNvGrpSpPr/>
          <p:nvPr/>
        </p:nvGrpSpPr>
        <p:grpSpPr>
          <a:xfrm>
            <a:off x="508000" y="488950"/>
            <a:ext cx="11176050" cy="25400"/>
            <a:chOff x="0" y="-38100"/>
            <a:chExt cx="22352100" cy="50800"/>
          </a:xfrm>
        </p:grpSpPr>
        <p:sp>
          <p:nvSpPr>
            <p:cNvPr id="123" name="Google Shape;123;h3c811332169675b0_3_32"/>
            <p:cNvSpPr/>
            <p:nvPr/>
          </p:nvSpPr>
          <p:spPr>
            <a:xfrm>
              <a:off x="0" y="0"/>
              <a:ext cx="22352000" cy="12700"/>
            </a:xfrm>
            <a:custGeom>
              <a:rect b="b" l="l" r="r" t="t"/>
              <a:pathLst>
                <a:path extrusionOk="0" h="12700" w="22352000">
                  <a:moveTo>
                    <a:pt x="0" y="0"/>
                  </a:moveTo>
                  <a:lnTo>
                    <a:pt x="22352000" y="0"/>
                  </a:lnTo>
                  <a:lnTo>
                    <a:pt x="22352000" y="12700"/>
                  </a:lnTo>
                  <a:lnTo>
                    <a:pt x="0" y="12700"/>
                  </a:lnTo>
                  <a:close/>
                </a:path>
              </a:pathLst>
            </a:custGeom>
            <a:solidFill>
              <a:srgbClr val="D5DEEA"/>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24" name="Google Shape;124;h3c811332169675b0_3_32"/>
            <p:cNvSpPr txBox="1"/>
            <p:nvPr/>
          </p:nvSpPr>
          <p:spPr>
            <a:xfrm>
              <a:off x="0" y="-38100"/>
              <a:ext cx="22352100" cy="507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sp>
        <p:nvSpPr>
          <p:cNvPr id="125" name="Google Shape;125;h3c811332169675b0_3_32"/>
          <p:cNvSpPr txBox="1"/>
          <p:nvPr/>
        </p:nvSpPr>
        <p:spPr>
          <a:xfrm>
            <a:off x="508000" y="876300"/>
            <a:ext cx="57150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pc="200" sz="900">
                <a:solidFill>
                  <a:srgbClr val="0F2A4A"/>
                </a:solidFill>
                <a:latin typeface="JetBrains Mono"/>
                <a:ea typeface="JetBrains Mono"/>
                <a:cs typeface="JetBrains Mono"/>
                <a:sym typeface="JetBrains Mono"/>
              </a:rPr>
              <a:t>PERSONAS</a:t>
            </a:r>
            <a:endParaRPr sz="900"/>
          </a:p>
        </p:txBody>
      </p:sp>
      <p:sp>
        <p:nvSpPr>
          <p:cNvPr id="126" name="Google Shape;126;h3c811332169675b0_3_32"/>
          <p:cNvSpPr txBox="1"/>
          <p:nvPr/>
        </p:nvSpPr>
        <p:spPr>
          <a:xfrm>
            <a:off x="508000" y="1123950"/>
            <a:ext cx="10794900" cy="446400"/>
          </a:xfrm>
          <a:prstGeom prst="rect">
            <a:avLst/>
          </a:prstGeom>
          <a:noFill/>
          <a:ln>
            <a:noFill/>
          </a:ln>
        </p:spPr>
        <p:txBody>
          <a:bodyPr anchorCtr="0" anchor="t" bIns="0" lIns="0" spcFirstLastPara="1" rIns="0" wrap="square" tIns="0">
            <a:spAutoFit/>
          </a:bodyPr>
          <a:lstStyle/>
          <a:p>
            <a:pPr indent="0" lvl="0" marL="0" marR="0" rtl="0" algn="l">
              <a:lnSpc>
                <a:spcPct val="104988"/>
              </a:lnSpc>
              <a:spcBef>
                <a:spcPts val="0"/>
              </a:spcBef>
              <a:spcAft>
                <a:spcPts val="0"/>
              </a:spcAft>
              <a:buNone/>
            </a:pPr>
            <a:r>
              <a:rPr b="1" lang="en-US" spc="0" sz="2900">
                <a:solidFill>
                  <a:srgbClr val="0F2A4A"/>
                </a:solidFill>
                <a:latin typeface="Inter"/>
                <a:ea typeface="Inter"/>
                <a:cs typeface="Inter"/>
                <a:sym typeface="Inter"/>
              </a:rPr>
              <a:t>Four personas, one foundation.</a:t>
            </a:r>
            <a:endParaRPr sz="900"/>
          </a:p>
        </p:txBody>
      </p:sp>
      <p:grpSp>
        <p:nvGrpSpPr>
          <p:cNvPr id="127" name="Google Shape;127;h3c811332169675b0_3_32"/>
          <p:cNvGrpSpPr/>
          <p:nvPr/>
        </p:nvGrpSpPr>
        <p:grpSpPr>
          <a:xfrm>
            <a:off x="508000" y="2012950"/>
            <a:ext cx="2667000" cy="3448050"/>
            <a:chOff x="0" y="-38100"/>
            <a:chExt cx="5334000" cy="6896100"/>
          </a:xfrm>
        </p:grpSpPr>
        <p:sp>
          <p:nvSpPr>
            <p:cNvPr id="128" name="Google Shape;128;h3c811332169675b0_3_32"/>
            <p:cNvSpPr/>
            <p:nvPr/>
          </p:nvSpPr>
          <p:spPr>
            <a:xfrm>
              <a:off x="0" y="0"/>
              <a:ext cx="5334000" cy="6858000"/>
            </a:xfrm>
            <a:custGeom>
              <a:rect b="b" l="l" r="r" t="t"/>
              <a:pathLst>
                <a:path extrusionOk="0" h="6858000" w="5334000">
                  <a:moveTo>
                    <a:pt x="0" y="0"/>
                  </a:moveTo>
                  <a:lnTo>
                    <a:pt x="5334000" y="0"/>
                  </a:lnTo>
                  <a:lnTo>
                    <a:pt x="5334000" y="6858000"/>
                  </a:lnTo>
                  <a:lnTo>
                    <a:pt x="0" y="6858000"/>
                  </a:lnTo>
                  <a:close/>
                </a:path>
              </a:pathLst>
            </a:custGeom>
            <a:solidFill>
              <a:srgbClr val="FFFFFF"/>
            </a:solidFill>
            <a:ln cap="sq" cmpd="sng" w="6350">
              <a:solidFill>
                <a:srgbClr val="D5DEEA"/>
              </a:solidFill>
              <a:prstDash val="solid"/>
              <a:miter lim="8000"/>
              <a:headEnd len="sm" w="sm" type="none"/>
              <a:tailEnd len="sm" w="sm" type="none"/>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29" name="Google Shape;129;h3c811332169675b0_3_32"/>
            <p:cNvSpPr txBox="1"/>
            <p:nvPr/>
          </p:nvSpPr>
          <p:spPr>
            <a:xfrm>
              <a:off x="0" y="-38100"/>
              <a:ext cx="5334000" cy="68961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30" name="Google Shape;130;h3c811332169675b0_3_32"/>
          <p:cNvGrpSpPr/>
          <p:nvPr/>
        </p:nvGrpSpPr>
        <p:grpSpPr>
          <a:xfrm>
            <a:off x="508000" y="2012950"/>
            <a:ext cx="2667000" cy="69900"/>
            <a:chOff x="0" y="-38100"/>
            <a:chExt cx="5334000" cy="139800"/>
          </a:xfrm>
        </p:grpSpPr>
        <p:sp>
          <p:nvSpPr>
            <p:cNvPr id="131" name="Google Shape;131;h3c811332169675b0_3_32"/>
            <p:cNvSpPr/>
            <p:nvPr/>
          </p:nvSpPr>
          <p:spPr>
            <a:xfrm>
              <a:off x="0" y="0"/>
              <a:ext cx="5334000" cy="101600"/>
            </a:xfrm>
            <a:custGeom>
              <a:rect b="b" l="l" r="r" t="t"/>
              <a:pathLst>
                <a:path extrusionOk="0" h="101600" w="5334000">
                  <a:moveTo>
                    <a:pt x="0" y="0"/>
                  </a:moveTo>
                  <a:lnTo>
                    <a:pt x="5334000" y="0"/>
                  </a:lnTo>
                  <a:lnTo>
                    <a:pt x="5334000" y="101600"/>
                  </a:lnTo>
                  <a:lnTo>
                    <a:pt x="0" y="101600"/>
                  </a:lnTo>
                  <a:close/>
                </a:path>
              </a:pathLst>
            </a:custGeom>
            <a:solidFill>
              <a:srgbClr val="0F2A4A"/>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32" name="Google Shape;132;h3c811332169675b0_3_32"/>
            <p:cNvSpPr txBox="1"/>
            <p:nvPr/>
          </p:nvSpPr>
          <p:spPr>
            <a:xfrm>
              <a:off x="0" y="-38100"/>
              <a:ext cx="5334000" cy="1398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33" name="Google Shape;133;h3c811332169675b0_3_32"/>
          <p:cNvGrpSpPr/>
          <p:nvPr/>
        </p:nvGrpSpPr>
        <p:grpSpPr>
          <a:xfrm>
            <a:off x="711200" y="2317750"/>
            <a:ext cx="609600" cy="628650"/>
            <a:chOff x="0" y="-38100"/>
            <a:chExt cx="1219200" cy="1257300"/>
          </a:xfrm>
        </p:grpSpPr>
        <p:sp>
          <p:nvSpPr>
            <p:cNvPr id="134" name="Google Shape;134;h3c811332169675b0_3_32"/>
            <p:cNvSpPr/>
            <p:nvPr/>
          </p:nvSpPr>
          <p:spPr>
            <a:xfrm>
              <a:off x="0" y="0"/>
              <a:ext cx="1219200" cy="1219200"/>
            </a:xfrm>
            <a:custGeom>
              <a:rect b="b" l="l" r="r" t="t"/>
              <a:pathLst>
                <a:path extrusionOk="0" h="1219200" w="1219200">
                  <a:moveTo>
                    <a:pt x="609600" y="0"/>
                  </a:moveTo>
                  <a:cubicBezTo>
                    <a:pt x="946273" y="0"/>
                    <a:pt x="1219200" y="272927"/>
                    <a:pt x="1219200" y="609600"/>
                  </a:cubicBezTo>
                  <a:cubicBezTo>
                    <a:pt x="1219200" y="946273"/>
                    <a:pt x="946273" y="1219200"/>
                    <a:pt x="609600" y="1219200"/>
                  </a:cubicBezTo>
                  <a:cubicBezTo>
                    <a:pt x="272927" y="1219200"/>
                    <a:pt x="0" y="946273"/>
                    <a:pt x="0" y="609600"/>
                  </a:cubicBezTo>
                  <a:cubicBezTo>
                    <a:pt x="0" y="272927"/>
                    <a:pt x="272927" y="0"/>
                    <a:pt x="609600" y="0"/>
                  </a:cubicBezTo>
                  <a:close/>
                </a:path>
              </a:pathLst>
            </a:custGeom>
            <a:solidFill>
              <a:srgbClr val="E8EEF6"/>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35" name="Google Shape;135;h3c811332169675b0_3_32"/>
            <p:cNvSpPr txBox="1"/>
            <p:nvPr/>
          </p:nvSpPr>
          <p:spPr>
            <a:xfrm>
              <a:off x="0" y="-38100"/>
              <a:ext cx="1219200" cy="12573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36" name="Google Shape;136;h3c811332169675b0_3_32"/>
          <p:cNvGrpSpPr/>
          <p:nvPr/>
        </p:nvGrpSpPr>
        <p:grpSpPr>
          <a:xfrm>
            <a:off x="3302000" y="2012950"/>
            <a:ext cx="2667000" cy="3448050"/>
            <a:chOff x="0" y="-38100"/>
            <a:chExt cx="5334000" cy="6896100"/>
          </a:xfrm>
        </p:grpSpPr>
        <p:sp>
          <p:nvSpPr>
            <p:cNvPr id="137" name="Google Shape;137;h3c811332169675b0_3_32"/>
            <p:cNvSpPr/>
            <p:nvPr/>
          </p:nvSpPr>
          <p:spPr>
            <a:xfrm>
              <a:off x="0" y="0"/>
              <a:ext cx="5334000" cy="6858000"/>
            </a:xfrm>
            <a:custGeom>
              <a:rect b="b" l="l" r="r" t="t"/>
              <a:pathLst>
                <a:path extrusionOk="0" h="6858000" w="5334000">
                  <a:moveTo>
                    <a:pt x="0" y="0"/>
                  </a:moveTo>
                  <a:lnTo>
                    <a:pt x="5334000" y="0"/>
                  </a:lnTo>
                  <a:lnTo>
                    <a:pt x="5334000" y="6858000"/>
                  </a:lnTo>
                  <a:lnTo>
                    <a:pt x="0" y="6858000"/>
                  </a:lnTo>
                  <a:close/>
                </a:path>
              </a:pathLst>
            </a:custGeom>
            <a:solidFill>
              <a:srgbClr val="FFFFFF"/>
            </a:solidFill>
            <a:ln cap="sq" cmpd="sng" w="6350">
              <a:solidFill>
                <a:srgbClr val="D5DEEA"/>
              </a:solidFill>
              <a:prstDash val="solid"/>
              <a:miter lim="8000"/>
              <a:headEnd len="sm" w="sm" type="none"/>
              <a:tailEnd len="sm" w="sm" type="none"/>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38" name="Google Shape;138;h3c811332169675b0_3_32"/>
            <p:cNvSpPr txBox="1"/>
            <p:nvPr/>
          </p:nvSpPr>
          <p:spPr>
            <a:xfrm>
              <a:off x="0" y="-38100"/>
              <a:ext cx="5334000" cy="68961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39" name="Google Shape;139;h3c811332169675b0_3_32"/>
          <p:cNvGrpSpPr/>
          <p:nvPr/>
        </p:nvGrpSpPr>
        <p:grpSpPr>
          <a:xfrm>
            <a:off x="3302000" y="2012950"/>
            <a:ext cx="2667000" cy="69900"/>
            <a:chOff x="0" y="-38100"/>
            <a:chExt cx="5334000" cy="139800"/>
          </a:xfrm>
        </p:grpSpPr>
        <p:sp>
          <p:nvSpPr>
            <p:cNvPr id="140" name="Google Shape;140;h3c811332169675b0_3_32"/>
            <p:cNvSpPr/>
            <p:nvPr/>
          </p:nvSpPr>
          <p:spPr>
            <a:xfrm>
              <a:off x="0" y="0"/>
              <a:ext cx="5334000" cy="101600"/>
            </a:xfrm>
            <a:custGeom>
              <a:rect b="b" l="l" r="r" t="t"/>
              <a:pathLst>
                <a:path extrusionOk="0" h="101600" w="5334000">
                  <a:moveTo>
                    <a:pt x="0" y="0"/>
                  </a:moveTo>
                  <a:lnTo>
                    <a:pt x="5334000" y="0"/>
                  </a:lnTo>
                  <a:lnTo>
                    <a:pt x="5334000" y="101600"/>
                  </a:lnTo>
                  <a:lnTo>
                    <a:pt x="0" y="101600"/>
                  </a:lnTo>
                  <a:close/>
                </a:path>
              </a:pathLst>
            </a:custGeom>
            <a:solidFill>
              <a:srgbClr val="0F2A4A"/>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41" name="Google Shape;141;h3c811332169675b0_3_32"/>
            <p:cNvSpPr txBox="1"/>
            <p:nvPr/>
          </p:nvSpPr>
          <p:spPr>
            <a:xfrm>
              <a:off x="0" y="-38100"/>
              <a:ext cx="5334000" cy="1398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42" name="Google Shape;142;h3c811332169675b0_3_32"/>
          <p:cNvGrpSpPr/>
          <p:nvPr/>
        </p:nvGrpSpPr>
        <p:grpSpPr>
          <a:xfrm>
            <a:off x="3505200" y="2317750"/>
            <a:ext cx="609600" cy="628650"/>
            <a:chOff x="0" y="-38100"/>
            <a:chExt cx="1219200" cy="1257300"/>
          </a:xfrm>
        </p:grpSpPr>
        <p:sp>
          <p:nvSpPr>
            <p:cNvPr id="143" name="Google Shape;143;h3c811332169675b0_3_32"/>
            <p:cNvSpPr/>
            <p:nvPr/>
          </p:nvSpPr>
          <p:spPr>
            <a:xfrm>
              <a:off x="0" y="0"/>
              <a:ext cx="1219200" cy="1219200"/>
            </a:xfrm>
            <a:custGeom>
              <a:rect b="b" l="l" r="r" t="t"/>
              <a:pathLst>
                <a:path extrusionOk="0" h="1219200" w="1219200">
                  <a:moveTo>
                    <a:pt x="609600" y="0"/>
                  </a:moveTo>
                  <a:cubicBezTo>
                    <a:pt x="946273" y="0"/>
                    <a:pt x="1219200" y="272927"/>
                    <a:pt x="1219200" y="609600"/>
                  </a:cubicBezTo>
                  <a:cubicBezTo>
                    <a:pt x="1219200" y="946273"/>
                    <a:pt x="946273" y="1219200"/>
                    <a:pt x="609600" y="1219200"/>
                  </a:cubicBezTo>
                  <a:cubicBezTo>
                    <a:pt x="272927" y="1219200"/>
                    <a:pt x="0" y="946273"/>
                    <a:pt x="0" y="609600"/>
                  </a:cubicBezTo>
                  <a:cubicBezTo>
                    <a:pt x="0" y="272927"/>
                    <a:pt x="272927" y="0"/>
                    <a:pt x="609600" y="0"/>
                  </a:cubicBezTo>
                  <a:close/>
                </a:path>
              </a:pathLst>
            </a:custGeom>
            <a:solidFill>
              <a:srgbClr val="E8EEF6"/>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44" name="Google Shape;144;h3c811332169675b0_3_32"/>
            <p:cNvSpPr txBox="1"/>
            <p:nvPr/>
          </p:nvSpPr>
          <p:spPr>
            <a:xfrm>
              <a:off x="0" y="-38100"/>
              <a:ext cx="1219200" cy="12573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45" name="Google Shape;145;h3c811332169675b0_3_32"/>
          <p:cNvGrpSpPr/>
          <p:nvPr/>
        </p:nvGrpSpPr>
        <p:grpSpPr>
          <a:xfrm>
            <a:off x="6096000" y="2012950"/>
            <a:ext cx="2667000" cy="3448050"/>
            <a:chOff x="0" y="-38100"/>
            <a:chExt cx="5334000" cy="6896100"/>
          </a:xfrm>
        </p:grpSpPr>
        <p:sp>
          <p:nvSpPr>
            <p:cNvPr id="146" name="Google Shape;146;h3c811332169675b0_3_32"/>
            <p:cNvSpPr/>
            <p:nvPr/>
          </p:nvSpPr>
          <p:spPr>
            <a:xfrm>
              <a:off x="0" y="0"/>
              <a:ext cx="5334000" cy="6858000"/>
            </a:xfrm>
            <a:custGeom>
              <a:rect b="b" l="l" r="r" t="t"/>
              <a:pathLst>
                <a:path extrusionOk="0" h="6858000" w="5334000">
                  <a:moveTo>
                    <a:pt x="0" y="0"/>
                  </a:moveTo>
                  <a:lnTo>
                    <a:pt x="5334000" y="0"/>
                  </a:lnTo>
                  <a:lnTo>
                    <a:pt x="5334000" y="6858000"/>
                  </a:lnTo>
                  <a:lnTo>
                    <a:pt x="0" y="6858000"/>
                  </a:lnTo>
                  <a:close/>
                </a:path>
              </a:pathLst>
            </a:custGeom>
            <a:solidFill>
              <a:srgbClr val="FFFFFF"/>
            </a:solidFill>
            <a:ln cap="sq" cmpd="sng" w="6350">
              <a:solidFill>
                <a:srgbClr val="D5DEEA"/>
              </a:solidFill>
              <a:prstDash val="solid"/>
              <a:miter lim="8000"/>
              <a:headEnd len="sm" w="sm" type="none"/>
              <a:tailEnd len="sm" w="sm" type="none"/>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47" name="Google Shape;147;h3c811332169675b0_3_32"/>
            <p:cNvSpPr txBox="1"/>
            <p:nvPr/>
          </p:nvSpPr>
          <p:spPr>
            <a:xfrm>
              <a:off x="0" y="-38100"/>
              <a:ext cx="5334000" cy="68961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48" name="Google Shape;148;h3c811332169675b0_3_32"/>
          <p:cNvGrpSpPr/>
          <p:nvPr/>
        </p:nvGrpSpPr>
        <p:grpSpPr>
          <a:xfrm>
            <a:off x="6096000" y="2012950"/>
            <a:ext cx="2667000" cy="69900"/>
            <a:chOff x="0" y="-38100"/>
            <a:chExt cx="5334000" cy="139800"/>
          </a:xfrm>
        </p:grpSpPr>
        <p:sp>
          <p:nvSpPr>
            <p:cNvPr id="149" name="Google Shape;149;h3c811332169675b0_3_32"/>
            <p:cNvSpPr/>
            <p:nvPr/>
          </p:nvSpPr>
          <p:spPr>
            <a:xfrm>
              <a:off x="0" y="0"/>
              <a:ext cx="5334000" cy="101600"/>
            </a:xfrm>
            <a:custGeom>
              <a:rect b="b" l="l" r="r" t="t"/>
              <a:pathLst>
                <a:path extrusionOk="0" h="101600" w="5334000">
                  <a:moveTo>
                    <a:pt x="0" y="0"/>
                  </a:moveTo>
                  <a:lnTo>
                    <a:pt x="5334000" y="0"/>
                  </a:lnTo>
                  <a:lnTo>
                    <a:pt x="5334000" y="101600"/>
                  </a:lnTo>
                  <a:lnTo>
                    <a:pt x="0" y="101600"/>
                  </a:lnTo>
                  <a:close/>
                </a:path>
              </a:pathLst>
            </a:custGeom>
            <a:solidFill>
              <a:srgbClr val="0F2A4A"/>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50" name="Google Shape;150;h3c811332169675b0_3_32"/>
            <p:cNvSpPr txBox="1"/>
            <p:nvPr/>
          </p:nvSpPr>
          <p:spPr>
            <a:xfrm>
              <a:off x="0" y="-38100"/>
              <a:ext cx="5334000" cy="1398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51" name="Google Shape;151;h3c811332169675b0_3_32"/>
          <p:cNvGrpSpPr/>
          <p:nvPr/>
        </p:nvGrpSpPr>
        <p:grpSpPr>
          <a:xfrm>
            <a:off x="6299200" y="2317750"/>
            <a:ext cx="609600" cy="628650"/>
            <a:chOff x="0" y="-38100"/>
            <a:chExt cx="1219200" cy="1257300"/>
          </a:xfrm>
        </p:grpSpPr>
        <p:sp>
          <p:nvSpPr>
            <p:cNvPr id="152" name="Google Shape;152;h3c811332169675b0_3_32"/>
            <p:cNvSpPr/>
            <p:nvPr/>
          </p:nvSpPr>
          <p:spPr>
            <a:xfrm>
              <a:off x="0" y="0"/>
              <a:ext cx="1219200" cy="1219200"/>
            </a:xfrm>
            <a:custGeom>
              <a:rect b="b" l="l" r="r" t="t"/>
              <a:pathLst>
                <a:path extrusionOk="0" h="1219200" w="1219200">
                  <a:moveTo>
                    <a:pt x="609600" y="0"/>
                  </a:moveTo>
                  <a:cubicBezTo>
                    <a:pt x="946273" y="0"/>
                    <a:pt x="1219200" y="272927"/>
                    <a:pt x="1219200" y="609600"/>
                  </a:cubicBezTo>
                  <a:cubicBezTo>
                    <a:pt x="1219200" y="946273"/>
                    <a:pt x="946273" y="1219200"/>
                    <a:pt x="609600" y="1219200"/>
                  </a:cubicBezTo>
                  <a:cubicBezTo>
                    <a:pt x="272927" y="1219200"/>
                    <a:pt x="0" y="946273"/>
                    <a:pt x="0" y="609600"/>
                  </a:cubicBezTo>
                  <a:cubicBezTo>
                    <a:pt x="0" y="272927"/>
                    <a:pt x="272927" y="0"/>
                    <a:pt x="609600" y="0"/>
                  </a:cubicBezTo>
                  <a:close/>
                </a:path>
              </a:pathLst>
            </a:custGeom>
            <a:solidFill>
              <a:srgbClr val="E8EEF6"/>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53" name="Google Shape;153;h3c811332169675b0_3_32"/>
            <p:cNvSpPr txBox="1"/>
            <p:nvPr/>
          </p:nvSpPr>
          <p:spPr>
            <a:xfrm>
              <a:off x="0" y="-38100"/>
              <a:ext cx="1219200" cy="12573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54" name="Google Shape;154;h3c811332169675b0_3_32"/>
          <p:cNvGrpSpPr/>
          <p:nvPr/>
        </p:nvGrpSpPr>
        <p:grpSpPr>
          <a:xfrm>
            <a:off x="8890000" y="2012950"/>
            <a:ext cx="2667000" cy="3448050"/>
            <a:chOff x="0" y="-38100"/>
            <a:chExt cx="5334000" cy="6896100"/>
          </a:xfrm>
        </p:grpSpPr>
        <p:sp>
          <p:nvSpPr>
            <p:cNvPr id="155" name="Google Shape;155;h3c811332169675b0_3_32"/>
            <p:cNvSpPr/>
            <p:nvPr/>
          </p:nvSpPr>
          <p:spPr>
            <a:xfrm>
              <a:off x="0" y="0"/>
              <a:ext cx="5334000" cy="6858000"/>
            </a:xfrm>
            <a:custGeom>
              <a:rect b="b" l="l" r="r" t="t"/>
              <a:pathLst>
                <a:path extrusionOk="0" h="6858000" w="5334000">
                  <a:moveTo>
                    <a:pt x="0" y="0"/>
                  </a:moveTo>
                  <a:lnTo>
                    <a:pt x="5334000" y="0"/>
                  </a:lnTo>
                  <a:lnTo>
                    <a:pt x="5334000" y="6858000"/>
                  </a:lnTo>
                  <a:lnTo>
                    <a:pt x="0" y="6858000"/>
                  </a:lnTo>
                  <a:close/>
                </a:path>
              </a:pathLst>
            </a:custGeom>
            <a:solidFill>
              <a:srgbClr val="FFFFFF"/>
            </a:solidFill>
            <a:ln cap="sq" cmpd="sng" w="6350">
              <a:solidFill>
                <a:srgbClr val="D5DEEA"/>
              </a:solidFill>
              <a:prstDash val="solid"/>
              <a:miter lim="8000"/>
              <a:headEnd len="sm" w="sm" type="none"/>
              <a:tailEnd len="sm" w="sm" type="none"/>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56" name="Google Shape;156;h3c811332169675b0_3_32"/>
            <p:cNvSpPr txBox="1"/>
            <p:nvPr/>
          </p:nvSpPr>
          <p:spPr>
            <a:xfrm>
              <a:off x="0" y="-38100"/>
              <a:ext cx="5334000" cy="68961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57" name="Google Shape;157;h3c811332169675b0_3_32"/>
          <p:cNvGrpSpPr/>
          <p:nvPr/>
        </p:nvGrpSpPr>
        <p:grpSpPr>
          <a:xfrm>
            <a:off x="8890000" y="2012950"/>
            <a:ext cx="2667000" cy="69900"/>
            <a:chOff x="0" y="-38100"/>
            <a:chExt cx="5334000" cy="139800"/>
          </a:xfrm>
        </p:grpSpPr>
        <p:sp>
          <p:nvSpPr>
            <p:cNvPr id="158" name="Google Shape;158;h3c811332169675b0_3_32"/>
            <p:cNvSpPr/>
            <p:nvPr/>
          </p:nvSpPr>
          <p:spPr>
            <a:xfrm>
              <a:off x="0" y="0"/>
              <a:ext cx="5334000" cy="101600"/>
            </a:xfrm>
            <a:custGeom>
              <a:rect b="b" l="l" r="r" t="t"/>
              <a:pathLst>
                <a:path extrusionOk="0" h="101600" w="5334000">
                  <a:moveTo>
                    <a:pt x="0" y="0"/>
                  </a:moveTo>
                  <a:lnTo>
                    <a:pt x="5334000" y="0"/>
                  </a:lnTo>
                  <a:lnTo>
                    <a:pt x="5334000" y="101600"/>
                  </a:lnTo>
                  <a:lnTo>
                    <a:pt x="0" y="101600"/>
                  </a:lnTo>
                  <a:close/>
                </a:path>
              </a:pathLst>
            </a:custGeom>
            <a:solidFill>
              <a:srgbClr val="F2542D"/>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59" name="Google Shape;159;h3c811332169675b0_3_32"/>
            <p:cNvSpPr txBox="1"/>
            <p:nvPr/>
          </p:nvSpPr>
          <p:spPr>
            <a:xfrm>
              <a:off x="0" y="-38100"/>
              <a:ext cx="5334000" cy="1398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grpSp>
        <p:nvGrpSpPr>
          <p:cNvPr id="160" name="Google Shape;160;h3c811332169675b0_3_32"/>
          <p:cNvGrpSpPr/>
          <p:nvPr/>
        </p:nvGrpSpPr>
        <p:grpSpPr>
          <a:xfrm>
            <a:off x="9093200" y="2317750"/>
            <a:ext cx="609600" cy="628650"/>
            <a:chOff x="0" y="-38100"/>
            <a:chExt cx="1219200" cy="1257300"/>
          </a:xfrm>
        </p:grpSpPr>
        <p:sp>
          <p:nvSpPr>
            <p:cNvPr id="161" name="Google Shape;161;h3c811332169675b0_3_32"/>
            <p:cNvSpPr/>
            <p:nvPr/>
          </p:nvSpPr>
          <p:spPr>
            <a:xfrm>
              <a:off x="0" y="0"/>
              <a:ext cx="1219200" cy="1219200"/>
            </a:xfrm>
            <a:custGeom>
              <a:rect b="b" l="l" r="r" t="t"/>
              <a:pathLst>
                <a:path extrusionOk="0" h="1219200" w="1219200">
                  <a:moveTo>
                    <a:pt x="609600" y="0"/>
                  </a:moveTo>
                  <a:cubicBezTo>
                    <a:pt x="946273" y="0"/>
                    <a:pt x="1219200" y="272927"/>
                    <a:pt x="1219200" y="609600"/>
                  </a:cubicBezTo>
                  <a:cubicBezTo>
                    <a:pt x="1219200" y="946273"/>
                    <a:pt x="946273" y="1219200"/>
                    <a:pt x="609600" y="1219200"/>
                  </a:cubicBezTo>
                  <a:cubicBezTo>
                    <a:pt x="272927" y="1219200"/>
                    <a:pt x="0" y="946273"/>
                    <a:pt x="0" y="609600"/>
                  </a:cubicBezTo>
                  <a:cubicBezTo>
                    <a:pt x="0" y="272927"/>
                    <a:pt x="272927" y="0"/>
                    <a:pt x="609600" y="0"/>
                  </a:cubicBezTo>
                  <a:close/>
                </a:path>
              </a:pathLst>
            </a:custGeom>
            <a:solidFill>
              <a:srgbClr val="FDE4DC"/>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62" name="Google Shape;162;h3c811332169675b0_3_32"/>
            <p:cNvSpPr txBox="1"/>
            <p:nvPr/>
          </p:nvSpPr>
          <p:spPr>
            <a:xfrm>
              <a:off x="0" y="-38100"/>
              <a:ext cx="1219200" cy="12573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sp>
        <p:nvSpPr>
          <p:cNvPr id="163" name="Google Shape;163;h3c811332169675b0_3_32"/>
          <p:cNvSpPr txBox="1"/>
          <p:nvPr/>
        </p:nvSpPr>
        <p:spPr>
          <a:xfrm>
            <a:off x="711200" y="3098800"/>
            <a:ext cx="2260500" cy="924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pc="100" sz="600">
                <a:solidFill>
                  <a:srgbClr val="0F2A4A"/>
                </a:solidFill>
                <a:latin typeface="JetBrains Mono"/>
                <a:ea typeface="JetBrains Mono"/>
                <a:cs typeface="JetBrains Mono"/>
                <a:sym typeface="JetBrains Mono"/>
              </a:rPr>
              <a:t>CANDIDATE · SENIOR</a:t>
            </a:r>
            <a:endParaRPr sz="900"/>
          </a:p>
        </p:txBody>
      </p:sp>
      <p:sp>
        <p:nvSpPr>
          <p:cNvPr id="164" name="Google Shape;164;h3c811332169675b0_3_32"/>
          <p:cNvSpPr txBox="1"/>
          <p:nvPr/>
        </p:nvSpPr>
        <p:spPr>
          <a:xfrm>
            <a:off x="711200" y="3187700"/>
            <a:ext cx="2260500" cy="338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z="2200">
                <a:solidFill>
                  <a:srgbClr val="0F2A4A"/>
                </a:solidFill>
                <a:latin typeface="Inter"/>
                <a:ea typeface="Inter"/>
                <a:cs typeface="Inter"/>
                <a:sym typeface="Inter"/>
              </a:rPr>
              <a:t>Markus</a:t>
            </a:r>
            <a:endParaRPr sz="900"/>
          </a:p>
        </p:txBody>
      </p:sp>
      <p:sp>
        <p:nvSpPr>
          <p:cNvPr id="165" name="Google Shape;165;h3c811332169675b0_3_32"/>
          <p:cNvSpPr txBox="1"/>
          <p:nvPr/>
        </p:nvSpPr>
        <p:spPr>
          <a:xfrm>
            <a:off x="711200" y="3632200"/>
            <a:ext cx="2260500" cy="153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lang="en-US" sz="1000">
                <a:solidFill>
                  <a:srgbClr val="5B6B80"/>
                </a:solidFill>
                <a:latin typeface="Inter"/>
                <a:ea typeface="Inter"/>
                <a:cs typeface="Inter"/>
                <a:sym typeface="Inter"/>
              </a:rPr>
              <a:t>Selective senior engineer</a:t>
            </a:r>
            <a:endParaRPr sz="900"/>
          </a:p>
        </p:txBody>
      </p:sp>
      <p:sp>
        <p:nvSpPr>
          <p:cNvPr id="166" name="Google Shape;166;h3c811332169675b0_3_32"/>
          <p:cNvSpPr txBox="1"/>
          <p:nvPr/>
        </p:nvSpPr>
        <p:spPr>
          <a:xfrm>
            <a:off x="711200" y="4178300"/>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Few worthwhile roles per month</a:t>
            </a:r>
            <a:endParaRPr sz="900"/>
          </a:p>
        </p:txBody>
      </p:sp>
      <p:sp>
        <p:nvSpPr>
          <p:cNvPr id="167" name="Google Shape;167;h3c811332169675b0_3_32"/>
          <p:cNvSpPr txBox="1"/>
          <p:nvPr/>
        </p:nvSpPr>
        <p:spPr>
          <a:xfrm>
            <a:off x="711200" y="4686300"/>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Needs reasons, not noise</a:t>
            </a:r>
            <a:endParaRPr sz="900"/>
          </a:p>
        </p:txBody>
      </p:sp>
      <p:sp>
        <p:nvSpPr>
          <p:cNvPr id="168" name="Google Shape;168;h3c811332169675b0_3_32"/>
          <p:cNvSpPr txBox="1"/>
          <p:nvPr/>
        </p:nvSpPr>
        <p:spPr>
          <a:xfrm>
            <a:off x="3505200" y="3098800"/>
            <a:ext cx="2260500" cy="924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pc="100" sz="600">
                <a:solidFill>
                  <a:srgbClr val="0F2A4A"/>
                </a:solidFill>
                <a:latin typeface="JetBrains Mono"/>
                <a:ea typeface="JetBrains Mono"/>
                <a:cs typeface="JetBrains Mono"/>
                <a:sym typeface="JetBrains Mono"/>
              </a:rPr>
              <a:t>CANDIDATE · GRADUATE</a:t>
            </a:r>
            <a:endParaRPr sz="900"/>
          </a:p>
        </p:txBody>
      </p:sp>
      <p:sp>
        <p:nvSpPr>
          <p:cNvPr id="169" name="Google Shape;169;h3c811332169675b0_3_32"/>
          <p:cNvSpPr txBox="1"/>
          <p:nvPr/>
        </p:nvSpPr>
        <p:spPr>
          <a:xfrm>
            <a:off x="3505200" y="3187700"/>
            <a:ext cx="2260500" cy="338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z="2200">
                <a:solidFill>
                  <a:srgbClr val="0F2A4A"/>
                </a:solidFill>
                <a:latin typeface="Inter"/>
                <a:ea typeface="Inter"/>
                <a:cs typeface="Inter"/>
                <a:sym typeface="Inter"/>
              </a:rPr>
              <a:t>Lena</a:t>
            </a:r>
            <a:endParaRPr sz="900"/>
          </a:p>
        </p:txBody>
      </p:sp>
      <p:sp>
        <p:nvSpPr>
          <p:cNvPr id="170" name="Google Shape;170;h3c811332169675b0_3_32"/>
          <p:cNvSpPr txBox="1"/>
          <p:nvPr/>
        </p:nvSpPr>
        <p:spPr>
          <a:xfrm>
            <a:off x="3505200" y="3632200"/>
            <a:ext cx="2260500" cy="153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lang="en-US" sz="1000">
                <a:solidFill>
                  <a:srgbClr val="5B6B80"/>
                </a:solidFill>
                <a:latin typeface="Inter"/>
                <a:ea typeface="Inter"/>
                <a:cs typeface="Inter"/>
                <a:sym typeface="Inter"/>
              </a:rPr>
              <a:t>Recent graduate</a:t>
            </a:r>
            <a:endParaRPr sz="900"/>
          </a:p>
        </p:txBody>
      </p:sp>
      <p:sp>
        <p:nvSpPr>
          <p:cNvPr id="171" name="Google Shape;171;h3c811332169675b0_3_32"/>
          <p:cNvSpPr txBox="1"/>
          <p:nvPr/>
        </p:nvSpPr>
        <p:spPr>
          <a:xfrm>
            <a:off x="3505200" y="4178300"/>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Strong transferable skills</a:t>
            </a:r>
            <a:endParaRPr sz="900"/>
          </a:p>
        </p:txBody>
      </p:sp>
      <p:sp>
        <p:nvSpPr>
          <p:cNvPr id="172" name="Google Shape;172;h3c811332169675b0_3_32"/>
          <p:cNvSpPr txBox="1"/>
          <p:nvPr/>
        </p:nvSpPr>
        <p:spPr>
          <a:xfrm>
            <a:off x="3505200" y="4686300"/>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Needs explained fit &amp; gaps</a:t>
            </a:r>
            <a:endParaRPr sz="900"/>
          </a:p>
        </p:txBody>
      </p:sp>
      <p:sp>
        <p:nvSpPr>
          <p:cNvPr id="173" name="Google Shape;173;h3c811332169675b0_3_32"/>
          <p:cNvSpPr txBox="1"/>
          <p:nvPr/>
        </p:nvSpPr>
        <p:spPr>
          <a:xfrm>
            <a:off x="6299200" y="3098800"/>
            <a:ext cx="2260500" cy="924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pc="100" sz="600">
                <a:solidFill>
                  <a:srgbClr val="0F2A4A"/>
                </a:solidFill>
                <a:latin typeface="JetBrains Mono"/>
                <a:ea typeface="JetBrains Mono"/>
                <a:cs typeface="JetBrains Mono"/>
                <a:sym typeface="JetBrains Mono"/>
              </a:rPr>
              <a:t>CANDIDATE · EXPAT</a:t>
            </a:r>
            <a:endParaRPr sz="900"/>
          </a:p>
        </p:txBody>
      </p:sp>
      <p:sp>
        <p:nvSpPr>
          <p:cNvPr id="174" name="Google Shape;174;h3c811332169675b0_3_32"/>
          <p:cNvSpPr txBox="1"/>
          <p:nvPr/>
        </p:nvSpPr>
        <p:spPr>
          <a:xfrm>
            <a:off x="6299200" y="3187700"/>
            <a:ext cx="2260500" cy="338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z="2200">
                <a:solidFill>
                  <a:srgbClr val="0F2A4A"/>
                </a:solidFill>
                <a:latin typeface="Inter"/>
                <a:ea typeface="Inter"/>
                <a:cs typeface="Inter"/>
                <a:sym typeface="Inter"/>
              </a:rPr>
              <a:t>Andrei</a:t>
            </a:r>
            <a:endParaRPr sz="900"/>
          </a:p>
        </p:txBody>
      </p:sp>
      <p:sp>
        <p:nvSpPr>
          <p:cNvPr id="175" name="Google Shape;175;h3c811332169675b0_3_32"/>
          <p:cNvSpPr txBox="1"/>
          <p:nvPr/>
        </p:nvSpPr>
        <p:spPr>
          <a:xfrm>
            <a:off x="6299200" y="3632200"/>
            <a:ext cx="2260500" cy="153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lang="en-US" sz="1000">
                <a:solidFill>
                  <a:srgbClr val="5B6B80"/>
                </a:solidFill>
                <a:latin typeface="Inter"/>
                <a:ea typeface="Inter"/>
                <a:cs typeface="Inter"/>
                <a:sym typeface="Inter"/>
              </a:rPr>
              <a:t>Multilingual expat</a:t>
            </a:r>
            <a:endParaRPr sz="900"/>
          </a:p>
        </p:txBody>
      </p:sp>
      <p:sp>
        <p:nvSpPr>
          <p:cNvPr id="176" name="Google Shape;176;h3c811332169675b0_3_32"/>
          <p:cNvSpPr txBox="1"/>
          <p:nvPr/>
        </p:nvSpPr>
        <p:spPr>
          <a:xfrm>
            <a:off x="6299200" y="4178300"/>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DE/EN CV &amp; cover letter</a:t>
            </a:r>
            <a:endParaRPr sz="900"/>
          </a:p>
        </p:txBody>
      </p:sp>
      <p:sp>
        <p:nvSpPr>
          <p:cNvPr id="177" name="Google Shape;177;h3c811332169675b0_3_32"/>
          <p:cNvSpPr txBox="1"/>
          <p:nvPr/>
        </p:nvSpPr>
        <p:spPr>
          <a:xfrm>
            <a:off x="6299200" y="4686300"/>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Controls who sees what</a:t>
            </a:r>
            <a:endParaRPr sz="900"/>
          </a:p>
        </p:txBody>
      </p:sp>
      <p:sp>
        <p:nvSpPr>
          <p:cNvPr id="178" name="Google Shape;178;h3c811332169675b0_3_32"/>
          <p:cNvSpPr txBox="1"/>
          <p:nvPr/>
        </p:nvSpPr>
        <p:spPr>
          <a:xfrm>
            <a:off x="9093200" y="3098800"/>
            <a:ext cx="2260500" cy="924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pc="100" sz="600">
                <a:solidFill>
                  <a:srgbClr val="B83A1C"/>
                </a:solidFill>
                <a:latin typeface="JetBrains Mono"/>
                <a:ea typeface="JetBrains Mono"/>
                <a:cs typeface="JetBrains Mono"/>
                <a:sym typeface="JetBrains Mono"/>
              </a:rPr>
              <a:t>RECRUITER · PILOT</a:t>
            </a:r>
            <a:endParaRPr sz="900"/>
          </a:p>
        </p:txBody>
      </p:sp>
      <p:sp>
        <p:nvSpPr>
          <p:cNvPr id="179" name="Google Shape;179;h3c811332169675b0_3_32"/>
          <p:cNvSpPr txBox="1"/>
          <p:nvPr/>
        </p:nvSpPr>
        <p:spPr>
          <a:xfrm>
            <a:off x="9093200" y="3187700"/>
            <a:ext cx="2260500" cy="338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z="2200">
                <a:solidFill>
                  <a:srgbClr val="0F2A4A"/>
                </a:solidFill>
                <a:latin typeface="Inter"/>
                <a:ea typeface="Inter"/>
                <a:cs typeface="Inter"/>
                <a:sym typeface="Inter"/>
              </a:rPr>
              <a:t>Sofia</a:t>
            </a:r>
            <a:endParaRPr sz="900"/>
          </a:p>
        </p:txBody>
      </p:sp>
      <p:sp>
        <p:nvSpPr>
          <p:cNvPr id="180" name="Google Shape;180;h3c811332169675b0_3_32"/>
          <p:cNvSpPr txBox="1"/>
          <p:nvPr/>
        </p:nvSpPr>
        <p:spPr>
          <a:xfrm>
            <a:off x="9093200" y="3632200"/>
            <a:ext cx="2260500" cy="153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lang="en-US" sz="1000">
                <a:solidFill>
                  <a:srgbClr val="5B6B80"/>
                </a:solidFill>
                <a:latin typeface="Inter"/>
                <a:ea typeface="Inter"/>
                <a:cs typeface="Inter"/>
                <a:sym typeface="Inter"/>
              </a:rPr>
              <a:t>Verified headhunter</a:t>
            </a:r>
            <a:endParaRPr sz="900"/>
          </a:p>
        </p:txBody>
      </p:sp>
      <p:sp>
        <p:nvSpPr>
          <p:cNvPr id="181" name="Google Shape;181;h3c811332169675b0_3_32"/>
          <p:cNvSpPr txBox="1"/>
          <p:nvPr/>
        </p:nvSpPr>
        <p:spPr>
          <a:xfrm>
            <a:off x="9093200" y="4178300"/>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Wants high-fit, available now</a:t>
            </a:r>
            <a:endParaRPr sz="900"/>
          </a:p>
        </p:txBody>
      </p:sp>
      <p:sp>
        <p:nvSpPr>
          <p:cNvPr id="182" name="Google Shape;182;h3c811332169675b0_3_32"/>
          <p:cNvSpPr txBox="1"/>
          <p:nvPr/>
        </p:nvSpPr>
        <p:spPr>
          <a:xfrm>
            <a:off x="9093200" y="4686300"/>
            <a:ext cx="2260500" cy="1386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lang="en-US" sz="900">
                <a:solidFill>
                  <a:srgbClr val="0F2A4A"/>
                </a:solidFill>
                <a:latin typeface="Inter"/>
                <a:ea typeface="Inter"/>
                <a:cs typeface="Inter"/>
                <a:sym typeface="Inter"/>
              </a:rPr>
              <a:t>— Invitation-only, authorised JD</a:t>
            </a:r>
            <a:endParaRPr sz="900"/>
          </a:p>
        </p:txBody>
      </p:sp>
      <p:grpSp>
        <p:nvGrpSpPr>
          <p:cNvPr id="183" name="Google Shape;183;h3c811332169675b0_3_32"/>
          <p:cNvGrpSpPr/>
          <p:nvPr/>
        </p:nvGrpSpPr>
        <p:grpSpPr>
          <a:xfrm>
            <a:off x="508000" y="5695950"/>
            <a:ext cx="11176050" cy="374700"/>
            <a:chOff x="0" y="-38100"/>
            <a:chExt cx="22352100" cy="749400"/>
          </a:xfrm>
        </p:grpSpPr>
        <p:sp>
          <p:nvSpPr>
            <p:cNvPr id="184" name="Google Shape;184;h3c811332169675b0_3_32"/>
            <p:cNvSpPr/>
            <p:nvPr/>
          </p:nvSpPr>
          <p:spPr>
            <a:xfrm>
              <a:off x="0" y="0"/>
              <a:ext cx="22352000" cy="711200"/>
            </a:xfrm>
            <a:custGeom>
              <a:rect b="b" l="l" r="r" t="t"/>
              <a:pathLst>
                <a:path extrusionOk="0" h="711200" w="22352000">
                  <a:moveTo>
                    <a:pt x="0" y="0"/>
                  </a:moveTo>
                  <a:lnTo>
                    <a:pt x="22352000" y="0"/>
                  </a:lnTo>
                  <a:lnTo>
                    <a:pt x="22352000" y="711200"/>
                  </a:lnTo>
                  <a:lnTo>
                    <a:pt x="0" y="711200"/>
                  </a:lnTo>
                  <a:close/>
                </a:path>
              </a:pathLst>
            </a:custGeom>
            <a:solidFill>
              <a:srgbClr val="DCE4EF"/>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85" name="Google Shape;185;h3c811332169675b0_3_32"/>
            <p:cNvSpPr txBox="1"/>
            <p:nvPr/>
          </p:nvSpPr>
          <p:spPr>
            <a:xfrm>
              <a:off x="0" y="-38100"/>
              <a:ext cx="22352100" cy="749400"/>
            </a:xfrm>
            <a:prstGeom prst="rect">
              <a:avLst/>
            </a:prstGeom>
            <a:noFill/>
            <a:ln>
              <a:noFill/>
            </a:ln>
          </p:spPr>
          <p:txBody>
            <a:bodyPr anchorCtr="0" anchor="ctr" bIns="33875" lIns="33875" spcFirstLastPara="1" rIns="33875" wrap="square" tIns="33875">
              <a:noAutofit/>
            </a:bodyPr>
            <a:lstStyle/>
            <a:p>
              <a:pPr indent="0" lvl="0" marL="0" marR="0" rtl="0" algn="l">
                <a:lnSpc>
                  <a:spcPct val="93277"/>
                </a:lnSpc>
                <a:spcBef>
                  <a:spcPts val="0"/>
                </a:spcBef>
                <a:spcAft>
                  <a:spcPts val="0"/>
                </a:spcAft>
                <a:buNone/>
              </a:pPr>
              <a:r>
                <a:t/>
              </a:r>
              <a:endParaRPr sz="1200">
                <a:solidFill>
                  <a:schemeClr val="dk1"/>
                </a:solidFill>
                <a:latin typeface="Calibri"/>
                <a:ea typeface="Calibri"/>
                <a:cs typeface="Calibri"/>
                <a:sym typeface="Calibri"/>
              </a:endParaRPr>
            </a:p>
          </p:txBody>
        </p:sp>
      </p:grpSp>
      <p:sp>
        <p:nvSpPr>
          <p:cNvPr id="186" name="Google Shape;186;h3c811332169675b0_3_32"/>
          <p:cNvSpPr txBox="1"/>
          <p:nvPr/>
        </p:nvSpPr>
        <p:spPr>
          <a:xfrm>
            <a:off x="508000" y="5822950"/>
            <a:ext cx="11175900" cy="123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1" lang="en-US" spc="200" sz="800">
                <a:solidFill>
                  <a:srgbClr val="0F2A4A"/>
                </a:solidFill>
                <a:latin typeface="JetBrains Mono"/>
                <a:ea typeface="JetBrains Mono"/>
                <a:cs typeface="JetBrains Mono"/>
                <a:sym typeface="JetBrains Mono"/>
              </a:rPr>
              <a:t>ONE PLATFORM · EXPLAINED MATCHING · CANDIDATE CONTROL</a:t>
            </a:r>
            <a:endParaRPr sz="900"/>
          </a:p>
        </p:txBody>
      </p:sp>
      <p:pic>
        <p:nvPicPr>
          <p:cNvPr id="187" name="Google Shape;187;h3c811332169675b0_3_32"/>
          <p:cNvPicPr preferRelativeResize="0"/>
          <p:nvPr/>
        </p:nvPicPr>
        <p:blipFill rotWithShape="1">
          <a:blip r:embed="rId4">
            <a:alphaModFix/>
          </a:blip>
          <a:srcRect b="0" l="0" r="0" t="0"/>
          <a:stretch/>
        </p:blipFill>
        <p:spPr>
          <a:xfrm>
            <a:off x="8959850" y="2127885"/>
            <a:ext cx="888000" cy="888000"/>
          </a:xfrm>
          <a:prstGeom prst="ellipse">
            <a:avLst/>
          </a:prstGeom>
          <a:noFill/>
          <a:ln>
            <a:noFill/>
          </a:ln>
        </p:spPr>
      </p:pic>
      <p:pic>
        <p:nvPicPr>
          <p:cNvPr id="188" name="Google Shape;188;h3c811332169675b0_3_32"/>
          <p:cNvPicPr preferRelativeResize="0"/>
          <p:nvPr/>
        </p:nvPicPr>
        <p:blipFill rotWithShape="1">
          <a:blip r:embed="rId5">
            <a:alphaModFix/>
          </a:blip>
          <a:srcRect b="0" l="12709" r="14790" t="0"/>
          <a:stretch/>
        </p:blipFill>
        <p:spPr>
          <a:xfrm>
            <a:off x="6172200" y="2112987"/>
            <a:ext cx="888000" cy="888000"/>
          </a:xfrm>
          <a:prstGeom prst="ellipse">
            <a:avLst/>
          </a:prstGeom>
          <a:noFill/>
          <a:ln>
            <a:noFill/>
          </a:ln>
        </p:spPr>
      </p:pic>
      <p:pic>
        <p:nvPicPr>
          <p:cNvPr id="189" name="Google Shape;189;h3c811332169675b0_3_32"/>
          <p:cNvPicPr preferRelativeResize="0"/>
          <p:nvPr/>
        </p:nvPicPr>
        <p:blipFill rotWithShape="1">
          <a:blip r:embed="rId6">
            <a:alphaModFix/>
          </a:blip>
          <a:srcRect b="0" l="0" r="0" t="0"/>
          <a:stretch/>
        </p:blipFill>
        <p:spPr>
          <a:xfrm>
            <a:off x="3385196" y="2102485"/>
            <a:ext cx="888000" cy="888000"/>
          </a:xfrm>
          <a:prstGeom prst="ellipse">
            <a:avLst/>
          </a:prstGeom>
          <a:noFill/>
          <a:ln>
            <a:noFill/>
          </a:ln>
        </p:spPr>
      </p:pic>
      <p:pic>
        <p:nvPicPr>
          <p:cNvPr id="190" name="Google Shape;190;h3c811332169675b0_3_32"/>
          <p:cNvPicPr preferRelativeResize="0"/>
          <p:nvPr/>
        </p:nvPicPr>
        <p:blipFill rotWithShape="1">
          <a:blip r:embed="rId7">
            <a:alphaModFix/>
          </a:blip>
          <a:srcRect b="41860" l="15001" r="53551" t="9312"/>
          <a:stretch/>
        </p:blipFill>
        <p:spPr>
          <a:xfrm>
            <a:off x="635000" y="2114550"/>
            <a:ext cx="888000" cy="888000"/>
          </a:xfrm>
          <a:prstGeom prst="ellipse">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4"/>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COMPETITION</a:t>
            </a:r>
            <a:endParaRPr sz="1200"/>
          </a:p>
        </p:txBody>
      </p:sp>
      <p:sp>
        <p:nvSpPr>
          <p:cNvPr id="197" name="Google Shape;197;p4"/>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200"/>
              <a:buFont typeface="Arial"/>
              <a:buNone/>
            </a:pPr>
            <a:r>
              <a:rPr b="1" lang="en-US" sz="3200">
                <a:solidFill>
                  <a:schemeClr val="dk1"/>
                </a:solidFill>
              </a:rPr>
              <a:t>Today's tools optimise wording or volume, not fit</a:t>
            </a:r>
            <a:endParaRPr sz="3200"/>
          </a:p>
        </p:txBody>
      </p:sp>
      <p:sp>
        <p:nvSpPr>
          <p:cNvPr id="198" name="Google Shape;198;p4"/>
          <p:cNvSpPr/>
          <p:nvPr/>
        </p:nvSpPr>
        <p:spPr>
          <a:xfrm>
            <a:off x="548640" y="2057400"/>
            <a:ext cx="6035040" cy="3977640"/>
          </a:xfrm>
          <a:prstGeom prst="roundRect">
            <a:avLst>
              <a:gd fmla="val 2759"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99" name="Google Shape;199;p4"/>
          <p:cNvCxnSpPr/>
          <p:nvPr/>
        </p:nvCxnSpPr>
        <p:spPr>
          <a:xfrm>
            <a:off x="1051560" y="3931920"/>
            <a:ext cx="5257800" cy="0"/>
          </a:xfrm>
          <a:prstGeom prst="straightConnector1">
            <a:avLst/>
          </a:prstGeom>
          <a:noFill/>
          <a:ln cap="flat" cmpd="sng" w="15875">
            <a:solidFill>
              <a:srgbClr val="D5DEEA"/>
            </a:solidFill>
            <a:prstDash val="solid"/>
            <a:round/>
            <a:headEnd len="sm" w="sm" type="none"/>
            <a:tailEnd len="sm" w="sm" type="none"/>
          </a:ln>
        </p:spPr>
      </p:cxnSp>
      <p:cxnSp>
        <p:nvCxnSpPr>
          <p:cNvPr id="200" name="Google Shape;200;p4"/>
          <p:cNvCxnSpPr/>
          <p:nvPr/>
        </p:nvCxnSpPr>
        <p:spPr>
          <a:xfrm>
            <a:off x="3680460" y="2377440"/>
            <a:ext cx="0" cy="3108960"/>
          </a:xfrm>
          <a:prstGeom prst="straightConnector1">
            <a:avLst/>
          </a:prstGeom>
          <a:noFill/>
          <a:ln cap="flat" cmpd="sng" w="15875">
            <a:solidFill>
              <a:srgbClr val="D5DEEA"/>
            </a:solidFill>
            <a:prstDash val="solid"/>
            <a:round/>
            <a:headEnd len="sm" w="sm" type="none"/>
            <a:tailEnd len="sm" w="sm" type="none"/>
          </a:ln>
        </p:spPr>
      </p:cxnSp>
      <p:sp>
        <p:nvSpPr>
          <p:cNvPr id="201" name="Google Shape;201;p4"/>
          <p:cNvSpPr txBox="1"/>
          <p:nvPr/>
        </p:nvSpPr>
        <p:spPr>
          <a:xfrm>
            <a:off x="1051560" y="3986784"/>
            <a:ext cx="201168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Arial"/>
              <a:buNone/>
            </a:pPr>
            <a:r>
              <a:rPr b="0" i="0" lang="en-US" sz="1100" u="none" cap="none" strike="noStrike">
                <a:solidFill>
                  <a:schemeClr val="dk2"/>
                </a:solidFill>
                <a:latin typeface="Arial"/>
                <a:ea typeface="Arial"/>
                <a:cs typeface="Arial"/>
                <a:sym typeface="Arial"/>
              </a:rPr>
              <a:t>← Keyword wording</a:t>
            </a:r>
            <a:endParaRPr b="0" i="0" sz="1100" u="none" cap="none" strike="noStrike">
              <a:solidFill>
                <a:schemeClr val="dk1"/>
              </a:solidFill>
              <a:latin typeface="Arial"/>
              <a:ea typeface="Arial"/>
              <a:cs typeface="Arial"/>
              <a:sym typeface="Arial"/>
            </a:endParaRPr>
          </a:p>
        </p:txBody>
      </p:sp>
      <p:sp>
        <p:nvSpPr>
          <p:cNvPr id="202" name="Google Shape;202;p4"/>
          <p:cNvSpPr txBox="1"/>
          <p:nvPr/>
        </p:nvSpPr>
        <p:spPr>
          <a:xfrm>
            <a:off x="4297680" y="3986784"/>
            <a:ext cx="2011680" cy="2286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chemeClr val="dk2"/>
              </a:buClr>
              <a:buSzPts val="1100"/>
              <a:buFont typeface="Arial"/>
              <a:buNone/>
            </a:pPr>
            <a:r>
              <a:rPr b="0" i="0" lang="en-US" sz="1100" u="none" cap="none" strike="noStrike">
                <a:solidFill>
                  <a:schemeClr val="dk2"/>
                </a:solidFill>
                <a:latin typeface="Arial"/>
                <a:ea typeface="Arial"/>
                <a:cs typeface="Arial"/>
                <a:sym typeface="Arial"/>
              </a:rPr>
              <a:t>Explained fit →</a:t>
            </a:r>
            <a:endParaRPr b="0" i="0" sz="1100" u="none" cap="none" strike="noStrike">
              <a:solidFill>
                <a:schemeClr val="dk1"/>
              </a:solidFill>
              <a:latin typeface="Arial"/>
              <a:ea typeface="Arial"/>
              <a:cs typeface="Arial"/>
              <a:sym typeface="Arial"/>
            </a:endParaRPr>
          </a:p>
        </p:txBody>
      </p:sp>
      <p:sp>
        <p:nvSpPr>
          <p:cNvPr id="203" name="Google Shape;203;p4"/>
          <p:cNvSpPr txBox="1"/>
          <p:nvPr/>
        </p:nvSpPr>
        <p:spPr>
          <a:xfrm>
            <a:off x="3771900" y="2359152"/>
            <a:ext cx="201168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Arial"/>
              <a:buNone/>
            </a:pPr>
            <a:r>
              <a:rPr b="0" i="0" lang="en-US" sz="1100" u="none" cap="none" strike="noStrike">
                <a:solidFill>
                  <a:schemeClr val="dk2"/>
                </a:solidFill>
                <a:latin typeface="Arial"/>
                <a:ea typeface="Arial"/>
                <a:cs typeface="Arial"/>
                <a:sym typeface="Arial"/>
              </a:rPr>
              <a:t>↑ Focused decisions</a:t>
            </a:r>
            <a:endParaRPr b="0" i="0" sz="1100" u="none" cap="none" strike="noStrike">
              <a:solidFill>
                <a:schemeClr val="dk1"/>
              </a:solidFill>
              <a:latin typeface="Arial"/>
              <a:ea typeface="Arial"/>
              <a:cs typeface="Arial"/>
              <a:sym typeface="Arial"/>
            </a:endParaRPr>
          </a:p>
        </p:txBody>
      </p:sp>
      <p:sp>
        <p:nvSpPr>
          <p:cNvPr id="204" name="Google Shape;204;p4"/>
          <p:cNvSpPr txBox="1"/>
          <p:nvPr/>
        </p:nvSpPr>
        <p:spPr>
          <a:xfrm>
            <a:off x="3771900" y="5257800"/>
            <a:ext cx="201168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Arial"/>
              <a:buNone/>
            </a:pPr>
            <a:r>
              <a:rPr b="0" i="0" lang="en-US" sz="1100" u="none" cap="none" strike="noStrike">
                <a:solidFill>
                  <a:schemeClr val="dk2"/>
                </a:solidFill>
                <a:latin typeface="Arial"/>
                <a:ea typeface="Arial"/>
                <a:cs typeface="Arial"/>
                <a:sym typeface="Arial"/>
              </a:rPr>
              <a:t>↓ More applications</a:t>
            </a:r>
            <a:endParaRPr b="0" i="0" sz="1100" u="none" cap="none" strike="noStrike">
              <a:solidFill>
                <a:schemeClr val="dk1"/>
              </a:solidFill>
              <a:latin typeface="Arial"/>
              <a:ea typeface="Arial"/>
              <a:cs typeface="Arial"/>
              <a:sym typeface="Arial"/>
            </a:endParaRPr>
          </a:p>
        </p:txBody>
      </p:sp>
      <p:sp>
        <p:nvSpPr>
          <p:cNvPr id="205" name="Google Shape;205;p4"/>
          <p:cNvSpPr/>
          <p:nvPr/>
        </p:nvSpPr>
        <p:spPr>
          <a:xfrm>
            <a:off x="1915668" y="3538728"/>
            <a:ext cx="164592" cy="164592"/>
          </a:xfrm>
          <a:prstGeom prst="ellipse">
            <a:avLst/>
          </a:prstGeom>
          <a:solidFill>
            <a:srgbClr val="5B6B80"/>
          </a:solidFill>
          <a:ln cap="flat" cmpd="sng" w="12700">
            <a:solidFill>
              <a:srgbClr val="5B6B8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4"/>
          <p:cNvSpPr txBox="1"/>
          <p:nvPr/>
        </p:nvSpPr>
        <p:spPr>
          <a:xfrm>
            <a:off x="2135124" y="3493008"/>
            <a:ext cx="14630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Jobscan</a:t>
            </a:r>
            <a:endParaRPr b="0" i="0" sz="1200" u="none" cap="none" strike="noStrike">
              <a:solidFill>
                <a:schemeClr val="dk1"/>
              </a:solidFill>
              <a:latin typeface="Arial"/>
              <a:ea typeface="Arial"/>
              <a:cs typeface="Arial"/>
              <a:sym typeface="Arial"/>
            </a:endParaRPr>
          </a:p>
        </p:txBody>
      </p:sp>
      <p:sp>
        <p:nvSpPr>
          <p:cNvPr id="207" name="Google Shape;207;p4"/>
          <p:cNvSpPr/>
          <p:nvPr/>
        </p:nvSpPr>
        <p:spPr>
          <a:xfrm>
            <a:off x="2546604" y="4284878"/>
            <a:ext cx="164592" cy="164592"/>
          </a:xfrm>
          <a:prstGeom prst="ellipse">
            <a:avLst/>
          </a:prstGeom>
          <a:solidFill>
            <a:srgbClr val="5B6B80"/>
          </a:solidFill>
          <a:ln cap="flat" cmpd="sng" w="12700">
            <a:solidFill>
              <a:srgbClr val="5B6B8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4"/>
          <p:cNvSpPr txBox="1"/>
          <p:nvPr/>
        </p:nvSpPr>
        <p:spPr>
          <a:xfrm>
            <a:off x="2766060" y="4239158"/>
            <a:ext cx="14630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Teal</a:t>
            </a:r>
            <a:endParaRPr b="0" i="0" sz="1200" u="none" cap="none" strike="noStrike">
              <a:solidFill>
                <a:schemeClr val="dk1"/>
              </a:solidFill>
              <a:latin typeface="Arial"/>
              <a:ea typeface="Arial"/>
              <a:cs typeface="Arial"/>
              <a:sym typeface="Arial"/>
            </a:endParaRPr>
          </a:p>
        </p:txBody>
      </p:sp>
      <p:sp>
        <p:nvSpPr>
          <p:cNvPr id="209" name="Google Shape;209;p4"/>
          <p:cNvSpPr/>
          <p:nvPr/>
        </p:nvSpPr>
        <p:spPr>
          <a:xfrm>
            <a:off x="2231136" y="4657954"/>
            <a:ext cx="164592" cy="164592"/>
          </a:xfrm>
          <a:prstGeom prst="ellipse">
            <a:avLst/>
          </a:prstGeom>
          <a:solidFill>
            <a:srgbClr val="5B6B80"/>
          </a:solidFill>
          <a:ln cap="flat" cmpd="sng" w="12700">
            <a:solidFill>
              <a:srgbClr val="5B6B8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4"/>
          <p:cNvSpPr txBox="1"/>
          <p:nvPr/>
        </p:nvSpPr>
        <p:spPr>
          <a:xfrm>
            <a:off x="2450592" y="4612234"/>
            <a:ext cx="14630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Huntr</a:t>
            </a:r>
            <a:endParaRPr b="0" i="0" sz="1200" u="none" cap="none" strike="noStrike">
              <a:solidFill>
                <a:schemeClr val="dk1"/>
              </a:solidFill>
              <a:latin typeface="Arial"/>
              <a:ea typeface="Arial"/>
              <a:cs typeface="Arial"/>
              <a:sym typeface="Arial"/>
            </a:endParaRPr>
          </a:p>
        </p:txBody>
      </p:sp>
      <p:sp>
        <p:nvSpPr>
          <p:cNvPr id="211" name="Google Shape;211;p4"/>
          <p:cNvSpPr/>
          <p:nvPr/>
        </p:nvSpPr>
        <p:spPr>
          <a:xfrm>
            <a:off x="1495044" y="5093208"/>
            <a:ext cx="164592" cy="164592"/>
          </a:xfrm>
          <a:prstGeom prst="ellipse">
            <a:avLst/>
          </a:prstGeom>
          <a:solidFill>
            <a:srgbClr val="5B6B80"/>
          </a:solidFill>
          <a:ln cap="flat" cmpd="sng" w="12700">
            <a:solidFill>
              <a:srgbClr val="5B6B8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4"/>
          <p:cNvSpPr txBox="1"/>
          <p:nvPr/>
        </p:nvSpPr>
        <p:spPr>
          <a:xfrm>
            <a:off x="1714500" y="5047488"/>
            <a:ext cx="14630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JobCopilot</a:t>
            </a:r>
            <a:endParaRPr b="0" i="0" sz="1200" u="none" cap="none" strike="noStrike">
              <a:solidFill>
                <a:schemeClr val="dk1"/>
              </a:solidFill>
              <a:latin typeface="Arial"/>
              <a:ea typeface="Arial"/>
              <a:cs typeface="Arial"/>
              <a:sym typeface="Arial"/>
            </a:endParaRPr>
          </a:p>
        </p:txBody>
      </p:sp>
      <p:sp>
        <p:nvSpPr>
          <p:cNvPr id="213" name="Google Shape;213;p4"/>
          <p:cNvSpPr/>
          <p:nvPr/>
        </p:nvSpPr>
        <p:spPr>
          <a:xfrm>
            <a:off x="3177540" y="4782312"/>
            <a:ext cx="164592" cy="164592"/>
          </a:xfrm>
          <a:prstGeom prst="ellipse">
            <a:avLst/>
          </a:prstGeom>
          <a:solidFill>
            <a:srgbClr val="5B6B80"/>
          </a:solidFill>
          <a:ln cap="flat" cmpd="sng" w="12700">
            <a:solidFill>
              <a:srgbClr val="5B6B8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4"/>
          <p:cNvSpPr txBox="1"/>
          <p:nvPr/>
        </p:nvSpPr>
        <p:spPr>
          <a:xfrm>
            <a:off x="3396996" y="4736592"/>
            <a:ext cx="14630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Job boards</a:t>
            </a:r>
            <a:endParaRPr b="0" i="0" sz="1200" u="none" cap="none" strike="noStrike">
              <a:solidFill>
                <a:schemeClr val="dk1"/>
              </a:solidFill>
              <a:latin typeface="Arial"/>
              <a:ea typeface="Arial"/>
              <a:cs typeface="Arial"/>
              <a:sym typeface="Arial"/>
            </a:endParaRPr>
          </a:p>
        </p:txBody>
      </p:sp>
      <p:pic>
        <p:nvPicPr>
          <p:cNvPr descr="/tmp/claude-0/-home-claude/d1b11841-31a5-5c6c-8b8a-2c68ca1b0a7c/scratchpad/deck/img/reticle.png" id="215" name="Google Shape;215;p4"/>
          <p:cNvPicPr preferRelativeResize="0"/>
          <p:nvPr/>
        </p:nvPicPr>
        <p:blipFill rotWithShape="1">
          <a:blip r:embed="rId3">
            <a:alphaModFix/>
          </a:blip>
          <a:srcRect b="0" l="0" r="0" t="0"/>
          <a:stretch/>
        </p:blipFill>
        <p:spPr>
          <a:xfrm>
            <a:off x="5070348" y="2644445"/>
            <a:ext cx="585216" cy="585216"/>
          </a:xfrm>
          <a:prstGeom prst="rect">
            <a:avLst/>
          </a:prstGeom>
          <a:noFill/>
          <a:ln>
            <a:noFill/>
          </a:ln>
        </p:spPr>
      </p:pic>
      <p:sp>
        <p:nvSpPr>
          <p:cNvPr id="216" name="Google Shape;216;p4"/>
          <p:cNvSpPr txBox="1"/>
          <p:nvPr/>
        </p:nvSpPr>
        <p:spPr>
          <a:xfrm>
            <a:off x="3625596" y="3284525"/>
            <a:ext cx="2103120" cy="27432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chemeClr val="accent1"/>
              </a:buClr>
              <a:buSzPts val="1400"/>
              <a:buFont typeface="Arial"/>
              <a:buNone/>
            </a:pPr>
            <a:r>
              <a:rPr b="1" i="0" lang="en-US" sz="1400" u="none" cap="none" strike="noStrike">
                <a:solidFill>
                  <a:schemeClr val="accent1"/>
                </a:solidFill>
                <a:latin typeface="Arial"/>
                <a:ea typeface="Arial"/>
                <a:cs typeface="Arial"/>
                <a:sym typeface="Arial"/>
              </a:rPr>
              <a:t>CareerPilot</a:t>
            </a:r>
            <a:endParaRPr b="0" i="0" sz="1400" u="none" cap="none" strike="noStrike">
              <a:solidFill>
                <a:schemeClr val="dk1"/>
              </a:solidFill>
              <a:latin typeface="Arial"/>
              <a:ea typeface="Arial"/>
              <a:cs typeface="Arial"/>
              <a:sym typeface="Arial"/>
            </a:endParaRPr>
          </a:p>
        </p:txBody>
      </p:sp>
      <p:sp>
        <p:nvSpPr>
          <p:cNvPr id="217" name="Google Shape;217;p4"/>
          <p:cNvSpPr txBox="1"/>
          <p:nvPr/>
        </p:nvSpPr>
        <p:spPr>
          <a:xfrm>
            <a:off x="6949440" y="2057400"/>
            <a:ext cx="466344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Arial"/>
              <a:buNone/>
            </a:pPr>
            <a:r>
              <a:rPr b="1" i="0" lang="en-US" sz="1600" u="none" cap="none" strike="noStrike">
                <a:solidFill>
                  <a:schemeClr val="dk1"/>
                </a:solidFill>
                <a:latin typeface="Arial"/>
                <a:ea typeface="Arial"/>
                <a:cs typeface="Arial"/>
                <a:sym typeface="Arial"/>
              </a:rPr>
              <a:t>Keyword scores reward copying the ad</a:t>
            </a:r>
            <a:endParaRPr b="0" i="0" sz="1600" u="none" cap="none" strike="noStrike">
              <a:solidFill>
                <a:schemeClr val="dk1"/>
              </a:solidFill>
              <a:latin typeface="Arial"/>
              <a:ea typeface="Arial"/>
              <a:cs typeface="Arial"/>
              <a:sym typeface="Arial"/>
            </a:endParaRPr>
          </a:p>
        </p:txBody>
      </p:sp>
      <p:sp>
        <p:nvSpPr>
          <p:cNvPr id="218" name="Google Shape;218;p4"/>
          <p:cNvSpPr txBox="1"/>
          <p:nvPr/>
        </p:nvSpPr>
        <p:spPr>
          <a:xfrm>
            <a:off x="6949440" y="2368296"/>
            <a:ext cx="46634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Jobscan and Teal compare your CV's words with the ad's.</a:t>
            </a:r>
            <a:endParaRPr b="0" i="0" sz="1300" u="none" cap="none" strike="noStrike">
              <a:solidFill>
                <a:schemeClr val="dk1"/>
              </a:solidFill>
              <a:latin typeface="Arial"/>
              <a:ea typeface="Arial"/>
              <a:cs typeface="Arial"/>
              <a:sym typeface="Arial"/>
            </a:endParaRPr>
          </a:p>
        </p:txBody>
      </p:sp>
      <p:sp>
        <p:nvSpPr>
          <p:cNvPr id="219" name="Google Shape;219;p4"/>
          <p:cNvSpPr txBox="1"/>
          <p:nvPr/>
        </p:nvSpPr>
        <p:spPr>
          <a:xfrm>
            <a:off x="6949440" y="2898648"/>
            <a:ext cx="466344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Arial"/>
              <a:buNone/>
            </a:pPr>
            <a:r>
              <a:rPr b="1" i="0" lang="en-US" sz="1600" u="none" cap="none" strike="noStrike">
                <a:solidFill>
                  <a:schemeClr val="dk1"/>
                </a:solidFill>
                <a:latin typeface="Arial"/>
                <a:ea typeface="Arial"/>
                <a:cs typeface="Arial"/>
                <a:sym typeface="Arial"/>
              </a:rPr>
              <a:t>Auto-apply trades quality for volume</a:t>
            </a:r>
            <a:endParaRPr b="0" i="0" sz="1600" u="none" cap="none" strike="noStrike">
              <a:solidFill>
                <a:schemeClr val="dk1"/>
              </a:solidFill>
              <a:latin typeface="Arial"/>
              <a:ea typeface="Arial"/>
              <a:cs typeface="Arial"/>
              <a:sym typeface="Arial"/>
            </a:endParaRPr>
          </a:p>
        </p:txBody>
      </p:sp>
      <p:sp>
        <p:nvSpPr>
          <p:cNvPr id="220" name="Google Shape;220;p4"/>
          <p:cNvSpPr txBox="1"/>
          <p:nvPr/>
        </p:nvSpPr>
        <p:spPr>
          <a:xfrm>
            <a:off x="6949440" y="3209544"/>
            <a:ext cx="46634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JobCopilot applies for you; you don't choose each job.</a:t>
            </a:r>
            <a:endParaRPr b="0" i="0" sz="1300" u="none" cap="none" strike="noStrike">
              <a:solidFill>
                <a:schemeClr val="dk1"/>
              </a:solidFill>
              <a:latin typeface="Arial"/>
              <a:ea typeface="Arial"/>
              <a:cs typeface="Arial"/>
              <a:sym typeface="Arial"/>
            </a:endParaRPr>
          </a:p>
        </p:txBody>
      </p:sp>
      <p:sp>
        <p:nvSpPr>
          <p:cNvPr id="221" name="Google Shape;221;p4"/>
          <p:cNvSpPr txBox="1"/>
          <p:nvPr/>
        </p:nvSpPr>
        <p:spPr>
          <a:xfrm>
            <a:off x="6949440" y="3739896"/>
            <a:ext cx="466344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Arial"/>
              <a:buNone/>
            </a:pPr>
            <a:r>
              <a:rPr b="1" i="0" lang="en-US" sz="1600" u="none" cap="none" strike="noStrike">
                <a:solidFill>
                  <a:schemeClr val="dk1"/>
                </a:solidFill>
                <a:latin typeface="Arial"/>
                <a:ea typeface="Arial"/>
                <a:cs typeface="Arial"/>
                <a:sym typeface="Arial"/>
              </a:rPr>
              <a:t>Trackers record, they don't advise</a:t>
            </a:r>
            <a:endParaRPr b="0" i="0" sz="1600" u="none" cap="none" strike="noStrike">
              <a:solidFill>
                <a:schemeClr val="dk1"/>
              </a:solidFill>
              <a:latin typeface="Arial"/>
              <a:ea typeface="Arial"/>
              <a:cs typeface="Arial"/>
              <a:sym typeface="Arial"/>
            </a:endParaRPr>
          </a:p>
        </p:txBody>
      </p:sp>
      <p:sp>
        <p:nvSpPr>
          <p:cNvPr id="222" name="Google Shape;222;p4"/>
          <p:cNvSpPr txBox="1"/>
          <p:nvPr/>
        </p:nvSpPr>
        <p:spPr>
          <a:xfrm>
            <a:off x="6949440" y="4050792"/>
            <a:ext cx="46634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Huntr organises applications but doesn't say where you fit.</a:t>
            </a:r>
            <a:endParaRPr b="0" i="0" sz="1300" u="none" cap="none" strike="noStrike">
              <a:solidFill>
                <a:schemeClr val="dk1"/>
              </a:solidFill>
              <a:latin typeface="Arial"/>
              <a:ea typeface="Arial"/>
              <a:cs typeface="Arial"/>
              <a:sym typeface="Arial"/>
            </a:endParaRPr>
          </a:p>
        </p:txBody>
      </p:sp>
      <p:sp>
        <p:nvSpPr>
          <p:cNvPr id="223" name="Google Shape;223;p4"/>
          <p:cNvSpPr txBox="1"/>
          <p:nvPr/>
        </p:nvSpPr>
        <p:spPr>
          <a:xfrm>
            <a:off x="6949440" y="4581144"/>
            <a:ext cx="466344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Arial"/>
              <a:buNone/>
            </a:pPr>
            <a:r>
              <a:rPr b="1" i="0" lang="en-US" sz="1600" u="none" cap="none" strike="noStrike">
                <a:solidFill>
                  <a:schemeClr val="dk1"/>
                </a:solidFill>
                <a:latin typeface="Arial"/>
                <a:ea typeface="Arial"/>
                <a:cs typeface="Arial"/>
                <a:sym typeface="Arial"/>
              </a:rPr>
              <a:t>Boards rank what is paid for</a:t>
            </a:r>
            <a:endParaRPr b="0" i="0" sz="1600" u="none" cap="none" strike="noStrike">
              <a:solidFill>
                <a:schemeClr val="dk1"/>
              </a:solidFill>
              <a:latin typeface="Arial"/>
              <a:ea typeface="Arial"/>
              <a:cs typeface="Arial"/>
              <a:sym typeface="Arial"/>
            </a:endParaRPr>
          </a:p>
        </p:txBody>
      </p:sp>
      <p:sp>
        <p:nvSpPr>
          <p:cNvPr id="224" name="Google Shape;224;p4"/>
          <p:cNvSpPr txBox="1"/>
          <p:nvPr/>
        </p:nvSpPr>
        <p:spPr>
          <a:xfrm>
            <a:off x="6949440" y="4892040"/>
            <a:ext cx="46634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Sponsored ads and premium tiers shape what you see first.</a:t>
            </a:r>
            <a:endParaRPr b="0" i="0" sz="1300" u="none" cap="none" strike="noStrike">
              <a:solidFill>
                <a:schemeClr val="dk1"/>
              </a:solidFill>
              <a:latin typeface="Arial"/>
              <a:ea typeface="Arial"/>
              <a:cs typeface="Arial"/>
              <a:sym typeface="Arial"/>
            </a:endParaRPr>
          </a:p>
        </p:txBody>
      </p:sp>
      <p:sp>
        <p:nvSpPr>
          <p:cNvPr id="225" name="Google Shape;225;p4"/>
          <p:cNvSpPr/>
          <p:nvPr/>
        </p:nvSpPr>
        <p:spPr>
          <a:xfrm>
            <a:off x="6949440" y="5440680"/>
            <a:ext cx="4690872" cy="594360"/>
          </a:xfrm>
          <a:prstGeom prst="roundRect">
            <a:avLst>
              <a:gd fmla="val 18462" name="adj"/>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4"/>
          <p:cNvSpPr txBox="1"/>
          <p:nvPr/>
        </p:nvSpPr>
        <p:spPr>
          <a:xfrm>
            <a:off x="7132320" y="5440680"/>
            <a:ext cx="43891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300"/>
              <a:buFont typeface="Arial"/>
              <a:buNone/>
            </a:pPr>
            <a:r>
              <a:rPr b="1" i="0" lang="en-US" sz="1300" u="none" cap="none" strike="noStrike">
                <a:solidFill>
                  <a:schemeClr val="lt1"/>
                </a:solidFill>
                <a:latin typeface="Arial"/>
                <a:ea typeface="Arial"/>
                <a:cs typeface="Arial"/>
                <a:sym typeface="Arial"/>
              </a:rPr>
              <a:t>Nobody tells you whether a low score means "you don't fit" or "we lack data".</a:t>
            </a:r>
            <a:endParaRPr b="0" i="0" sz="1300" u="none" cap="none" strike="noStrike">
              <a:solidFill>
                <a:schemeClr val="dk1"/>
              </a:solidFill>
              <a:latin typeface="Arial"/>
              <a:ea typeface="Arial"/>
              <a:cs typeface="Arial"/>
              <a:sym typeface="Arial"/>
            </a:endParaRPr>
          </a:p>
        </p:txBody>
      </p:sp>
      <p:sp>
        <p:nvSpPr>
          <p:cNvPr id="227" name="Google Shape;227;p4"/>
          <p:cNvSpPr txBox="1"/>
          <p:nvPr/>
        </p:nvSpPr>
        <p:spPr>
          <a:xfrm>
            <a:off x="548640" y="6108192"/>
            <a:ext cx="73152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Map positions are our assessment. Prices and details: appendix.</a:t>
            </a:r>
            <a:endParaRPr b="0" i="0" sz="1000" u="none" cap="none" strike="noStrike">
              <a:solidFill>
                <a:schemeClr val="dk1"/>
              </a:solidFill>
              <a:latin typeface="Arial"/>
              <a:ea typeface="Arial"/>
              <a:cs typeface="Arial"/>
              <a:sym typeface="Arial"/>
            </a:endParaRPr>
          </a:p>
        </p:txBody>
      </p:sp>
      <p:sp>
        <p:nvSpPr>
          <p:cNvPr id="228" name="Google Shape;228;p4"/>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5"/>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OUR ANSWER</a:t>
            </a:r>
            <a:endParaRPr sz="1200"/>
          </a:p>
        </p:txBody>
      </p:sp>
      <p:sp>
        <p:nvSpPr>
          <p:cNvPr id="235" name="Google Shape;235;p5"/>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200"/>
              <a:buFont typeface="Arial"/>
              <a:buNone/>
            </a:pPr>
            <a:r>
              <a:rPr b="1" lang="en-US" sz="3200">
                <a:solidFill>
                  <a:schemeClr val="dk1"/>
                </a:solidFill>
              </a:rPr>
              <a:t>Understand every job before you spend effort on it</a:t>
            </a:r>
            <a:endParaRPr sz="3200"/>
          </a:p>
        </p:txBody>
      </p:sp>
      <p:sp>
        <p:nvSpPr>
          <p:cNvPr id="236" name="Google Shape;236;p5"/>
          <p:cNvSpPr/>
          <p:nvPr/>
        </p:nvSpPr>
        <p:spPr>
          <a:xfrm>
            <a:off x="548640" y="2103120"/>
            <a:ext cx="2633472" cy="1234440"/>
          </a:xfrm>
          <a:prstGeom prst="roundRect">
            <a:avLst>
              <a:gd fmla="val 8889"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5"/>
          <p:cNvSpPr txBox="1"/>
          <p:nvPr/>
        </p:nvSpPr>
        <p:spPr>
          <a:xfrm>
            <a:off x="777240" y="2286000"/>
            <a:ext cx="548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01</a:t>
            </a:r>
            <a:endParaRPr b="0" i="0" sz="1200" u="none" cap="none" strike="noStrike">
              <a:solidFill>
                <a:schemeClr val="dk1"/>
              </a:solidFill>
              <a:latin typeface="Arial"/>
              <a:ea typeface="Arial"/>
              <a:cs typeface="Arial"/>
              <a:sym typeface="Arial"/>
            </a:endParaRPr>
          </a:p>
        </p:txBody>
      </p:sp>
      <p:sp>
        <p:nvSpPr>
          <p:cNvPr id="238" name="Google Shape;238;p5"/>
          <p:cNvSpPr/>
          <p:nvPr/>
        </p:nvSpPr>
        <p:spPr>
          <a:xfrm>
            <a:off x="1764792" y="2286000"/>
            <a:ext cx="1188720" cy="274320"/>
          </a:xfrm>
          <a:prstGeom prst="roundRect">
            <a:avLst>
              <a:gd fmla="val 50000" name="adj"/>
            </a:avLst>
          </a:prstGeom>
          <a:solidFill>
            <a:srgbClr val="DDF0E4"/>
          </a:solidFill>
          <a:ln cap="flat" cmpd="sng" w="12700">
            <a:solidFill>
              <a:srgbClr val="DDF0E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5"/>
          <p:cNvSpPr txBox="1"/>
          <p:nvPr/>
        </p:nvSpPr>
        <p:spPr>
          <a:xfrm>
            <a:off x="1764792" y="2286000"/>
            <a:ext cx="11887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8B57"/>
              </a:buClr>
              <a:buSzPts val="1000"/>
              <a:buFont typeface="Arial"/>
              <a:buNone/>
            </a:pPr>
            <a:r>
              <a:rPr b="1" i="0" lang="en-US" sz="1000" u="none" cap="none" strike="noStrike">
                <a:solidFill>
                  <a:srgbClr val="2E8B57"/>
                </a:solidFill>
                <a:latin typeface="Arial"/>
                <a:ea typeface="Arial"/>
                <a:cs typeface="Arial"/>
                <a:sym typeface="Arial"/>
              </a:rPr>
              <a:t>FREE</a:t>
            </a:r>
            <a:endParaRPr b="0" i="0" sz="1000" u="none" cap="none" strike="noStrike">
              <a:solidFill>
                <a:schemeClr val="dk1"/>
              </a:solidFill>
              <a:latin typeface="Arial"/>
              <a:ea typeface="Arial"/>
              <a:cs typeface="Arial"/>
              <a:sym typeface="Arial"/>
            </a:endParaRPr>
          </a:p>
        </p:txBody>
      </p:sp>
      <p:sp>
        <p:nvSpPr>
          <p:cNvPr id="240" name="Google Shape;240;p5"/>
          <p:cNvSpPr txBox="1"/>
          <p:nvPr/>
        </p:nvSpPr>
        <p:spPr>
          <a:xfrm>
            <a:off x="777240" y="2670048"/>
            <a:ext cx="2176272"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Sign in with SSO</a:t>
            </a:r>
            <a:endParaRPr b="0" i="0" sz="1500" u="none" cap="none" strike="noStrike">
              <a:solidFill>
                <a:schemeClr val="dk1"/>
              </a:solidFill>
              <a:latin typeface="Arial"/>
              <a:ea typeface="Arial"/>
              <a:cs typeface="Arial"/>
              <a:sym typeface="Arial"/>
            </a:endParaRPr>
          </a:p>
        </p:txBody>
      </p:sp>
      <p:sp>
        <p:nvSpPr>
          <p:cNvPr id="241" name="Google Shape;241;p5"/>
          <p:cNvSpPr/>
          <p:nvPr/>
        </p:nvSpPr>
        <p:spPr>
          <a:xfrm>
            <a:off x="3364992" y="2103120"/>
            <a:ext cx="2633472" cy="1234440"/>
          </a:xfrm>
          <a:prstGeom prst="roundRect">
            <a:avLst>
              <a:gd fmla="val 8889"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5"/>
          <p:cNvSpPr txBox="1"/>
          <p:nvPr/>
        </p:nvSpPr>
        <p:spPr>
          <a:xfrm>
            <a:off x="3593592" y="2286000"/>
            <a:ext cx="548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02</a:t>
            </a:r>
            <a:endParaRPr b="0" i="0" sz="1200" u="none" cap="none" strike="noStrike">
              <a:solidFill>
                <a:schemeClr val="dk1"/>
              </a:solidFill>
              <a:latin typeface="Arial"/>
              <a:ea typeface="Arial"/>
              <a:cs typeface="Arial"/>
              <a:sym typeface="Arial"/>
            </a:endParaRPr>
          </a:p>
        </p:txBody>
      </p:sp>
      <p:sp>
        <p:nvSpPr>
          <p:cNvPr id="243" name="Google Shape;243;p5"/>
          <p:cNvSpPr/>
          <p:nvPr/>
        </p:nvSpPr>
        <p:spPr>
          <a:xfrm>
            <a:off x="4581144" y="2286000"/>
            <a:ext cx="1188720" cy="274320"/>
          </a:xfrm>
          <a:prstGeom prst="roundRect">
            <a:avLst>
              <a:gd fmla="val 50000" name="adj"/>
            </a:avLst>
          </a:prstGeom>
          <a:solidFill>
            <a:srgbClr val="DDF0E4"/>
          </a:solidFill>
          <a:ln cap="flat" cmpd="sng" w="12700">
            <a:solidFill>
              <a:srgbClr val="DDF0E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5"/>
          <p:cNvSpPr txBox="1"/>
          <p:nvPr/>
        </p:nvSpPr>
        <p:spPr>
          <a:xfrm>
            <a:off x="4581144" y="2286000"/>
            <a:ext cx="11887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8B57"/>
              </a:buClr>
              <a:buSzPts val="1000"/>
              <a:buFont typeface="Arial"/>
              <a:buNone/>
            </a:pPr>
            <a:r>
              <a:rPr b="1" i="0" lang="en-US" sz="1000" u="none" cap="none" strike="noStrike">
                <a:solidFill>
                  <a:srgbClr val="2E8B57"/>
                </a:solidFill>
                <a:latin typeface="Arial"/>
                <a:ea typeface="Arial"/>
                <a:cs typeface="Arial"/>
                <a:sym typeface="Arial"/>
              </a:rPr>
              <a:t>FREE</a:t>
            </a:r>
            <a:endParaRPr b="0" i="0" sz="1000" u="none" cap="none" strike="noStrike">
              <a:solidFill>
                <a:schemeClr val="dk1"/>
              </a:solidFill>
              <a:latin typeface="Arial"/>
              <a:ea typeface="Arial"/>
              <a:cs typeface="Arial"/>
              <a:sym typeface="Arial"/>
            </a:endParaRPr>
          </a:p>
        </p:txBody>
      </p:sp>
      <p:sp>
        <p:nvSpPr>
          <p:cNvPr id="245" name="Google Shape;245;p5"/>
          <p:cNvSpPr txBox="1"/>
          <p:nvPr/>
        </p:nvSpPr>
        <p:spPr>
          <a:xfrm>
            <a:off x="3593592" y="2670048"/>
            <a:ext cx="2176272"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Upload CV, check profile</a:t>
            </a:r>
            <a:endParaRPr b="0" i="0" sz="1500" u="none" cap="none" strike="noStrike">
              <a:solidFill>
                <a:schemeClr val="dk1"/>
              </a:solidFill>
              <a:latin typeface="Arial"/>
              <a:ea typeface="Arial"/>
              <a:cs typeface="Arial"/>
              <a:sym typeface="Arial"/>
            </a:endParaRPr>
          </a:p>
        </p:txBody>
      </p:sp>
      <p:sp>
        <p:nvSpPr>
          <p:cNvPr id="246" name="Google Shape;246;p5"/>
          <p:cNvSpPr/>
          <p:nvPr/>
        </p:nvSpPr>
        <p:spPr>
          <a:xfrm>
            <a:off x="6181344" y="2103120"/>
            <a:ext cx="2633472" cy="1234440"/>
          </a:xfrm>
          <a:prstGeom prst="roundRect">
            <a:avLst>
              <a:gd fmla="val 8889"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5"/>
          <p:cNvSpPr txBox="1"/>
          <p:nvPr/>
        </p:nvSpPr>
        <p:spPr>
          <a:xfrm>
            <a:off x="6409944" y="2286000"/>
            <a:ext cx="548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03</a:t>
            </a:r>
            <a:endParaRPr b="0" i="0" sz="1200" u="none" cap="none" strike="noStrike">
              <a:solidFill>
                <a:schemeClr val="dk1"/>
              </a:solidFill>
              <a:latin typeface="Arial"/>
              <a:ea typeface="Arial"/>
              <a:cs typeface="Arial"/>
              <a:sym typeface="Arial"/>
            </a:endParaRPr>
          </a:p>
        </p:txBody>
      </p:sp>
      <p:sp>
        <p:nvSpPr>
          <p:cNvPr id="248" name="Google Shape;248;p5"/>
          <p:cNvSpPr/>
          <p:nvPr/>
        </p:nvSpPr>
        <p:spPr>
          <a:xfrm>
            <a:off x="7397496" y="2286000"/>
            <a:ext cx="1188720" cy="274320"/>
          </a:xfrm>
          <a:prstGeom prst="roundRect">
            <a:avLst>
              <a:gd fmla="val 50000" name="adj"/>
            </a:avLst>
          </a:prstGeom>
          <a:solidFill>
            <a:srgbClr val="DDF0E4"/>
          </a:solidFill>
          <a:ln cap="flat" cmpd="sng" w="12700">
            <a:solidFill>
              <a:srgbClr val="DDF0E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5"/>
          <p:cNvSpPr txBox="1"/>
          <p:nvPr/>
        </p:nvSpPr>
        <p:spPr>
          <a:xfrm>
            <a:off x="7397496" y="2286000"/>
            <a:ext cx="11887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8B57"/>
              </a:buClr>
              <a:buSzPts val="1000"/>
              <a:buFont typeface="Arial"/>
              <a:buNone/>
            </a:pPr>
            <a:r>
              <a:rPr b="1" i="0" lang="en-US" sz="1000" u="none" cap="none" strike="noStrike">
                <a:solidFill>
                  <a:srgbClr val="2E8B57"/>
                </a:solidFill>
                <a:latin typeface="Arial"/>
                <a:ea typeface="Arial"/>
                <a:cs typeface="Arial"/>
                <a:sym typeface="Arial"/>
              </a:rPr>
              <a:t>FREE</a:t>
            </a:r>
            <a:endParaRPr b="0" i="0" sz="1000" u="none" cap="none" strike="noStrike">
              <a:solidFill>
                <a:schemeClr val="dk1"/>
              </a:solidFill>
              <a:latin typeface="Arial"/>
              <a:ea typeface="Arial"/>
              <a:cs typeface="Arial"/>
              <a:sym typeface="Arial"/>
            </a:endParaRPr>
          </a:p>
        </p:txBody>
      </p:sp>
      <p:sp>
        <p:nvSpPr>
          <p:cNvPr id="250" name="Google Shape;250;p5"/>
          <p:cNvSpPr txBox="1"/>
          <p:nvPr/>
        </p:nvSpPr>
        <p:spPr>
          <a:xfrm>
            <a:off x="6409944" y="2670048"/>
            <a:ext cx="2176272"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Set preferences once</a:t>
            </a:r>
            <a:endParaRPr b="0" i="0" sz="1500" u="none" cap="none" strike="noStrike">
              <a:solidFill>
                <a:schemeClr val="dk1"/>
              </a:solidFill>
              <a:latin typeface="Arial"/>
              <a:ea typeface="Arial"/>
              <a:cs typeface="Arial"/>
              <a:sym typeface="Arial"/>
            </a:endParaRPr>
          </a:p>
        </p:txBody>
      </p:sp>
      <p:sp>
        <p:nvSpPr>
          <p:cNvPr id="251" name="Google Shape;251;p5"/>
          <p:cNvSpPr/>
          <p:nvPr/>
        </p:nvSpPr>
        <p:spPr>
          <a:xfrm>
            <a:off x="8997696" y="2103120"/>
            <a:ext cx="2633472" cy="1234440"/>
          </a:xfrm>
          <a:prstGeom prst="roundRect">
            <a:avLst>
              <a:gd fmla="val 8889"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5"/>
          <p:cNvSpPr txBox="1"/>
          <p:nvPr/>
        </p:nvSpPr>
        <p:spPr>
          <a:xfrm>
            <a:off x="9226296" y="2286000"/>
            <a:ext cx="548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04</a:t>
            </a:r>
            <a:endParaRPr b="0" i="0" sz="1200" u="none" cap="none" strike="noStrike">
              <a:solidFill>
                <a:schemeClr val="dk1"/>
              </a:solidFill>
              <a:latin typeface="Arial"/>
              <a:ea typeface="Arial"/>
              <a:cs typeface="Arial"/>
              <a:sym typeface="Arial"/>
            </a:endParaRPr>
          </a:p>
        </p:txBody>
      </p:sp>
      <p:sp>
        <p:nvSpPr>
          <p:cNvPr id="253" name="Google Shape;253;p5"/>
          <p:cNvSpPr/>
          <p:nvPr/>
        </p:nvSpPr>
        <p:spPr>
          <a:xfrm>
            <a:off x="10213848" y="2286000"/>
            <a:ext cx="1188720" cy="274320"/>
          </a:xfrm>
          <a:prstGeom prst="roundRect">
            <a:avLst>
              <a:gd fmla="val 50000" name="adj"/>
            </a:avLst>
          </a:prstGeom>
          <a:solidFill>
            <a:srgbClr val="DDF0E4"/>
          </a:solidFill>
          <a:ln cap="flat" cmpd="sng" w="12700">
            <a:solidFill>
              <a:srgbClr val="DDF0E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5"/>
          <p:cNvSpPr txBox="1"/>
          <p:nvPr/>
        </p:nvSpPr>
        <p:spPr>
          <a:xfrm>
            <a:off x="10213848" y="2286000"/>
            <a:ext cx="11887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8B57"/>
              </a:buClr>
              <a:buSzPts val="1000"/>
              <a:buFont typeface="Arial"/>
              <a:buNone/>
            </a:pPr>
            <a:r>
              <a:rPr b="1" i="0" lang="en-US" sz="1000" u="none" cap="none" strike="noStrike">
                <a:solidFill>
                  <a:srgbClr val="2E8B57"/>
                </a:solidFill>
                <a:latin typeface="Arial"/>
                <a:ea typeface="Arial"/>
                <a:cs typeface="Arial"/>
                <a:sym typeface="Arial"/>
              </a:rPr>
              <a:t>FREE</a:t>
            </a:r>
            <a:endParaRPr b="0" i="0" sz="1000" u="none" cap="none" strike="noStrike">
              <a:solidFill>
                <a:schemeClr val="dk1"/>
              </a:solidFill>
              <a:latin typeface="Arial"/>
              <a:ea typeface="Arial"/>
              <a:cs typeface="Arial"/>
              <a:sym typeface="Arial"/>
            </a:endParaRPr>
          </a:p>
        </p:txBody>
      </p:sp>
      <p:sp>
        <p:nvSpPr>
          <p:cNvPr id="255" name="Google Shape;255;p5"/>
          <p:cNvSpPr txBox="1"/>
          <p:nvPr/>
        </p:nvSpPr>
        <p:spPr>
          <a:xfrm>
            <a:off x="9226296" y="2670048"/>
            <a:ext cx="2176272"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Score + why it fits</a:t>
            </a:r>
            <a:endParaRPr b="0" i="0" sz="1500" u="none" cap="none" strike="noStrike">
              <a:solidFill>
                <a:schemeClr val="dk1"/>
              </a:solidFill>
              <a:latin typeface="Arial"/>
              <a:ea typeface="Arial"/>
              <a:cs typeface="Arial"/>
              <a:sym typeface="Arial"/>
            </a:endParaRPr>
          </a:p>
        </p:txBody>
      </p:sp>
      <p:sp>
        <p:nvSpPr>
          <p:cNvPr id="256" name="Google Shape;256;p5"/>
          <p:cNvSpPr/>
          <p:nvPr/>
        </p:nvSpPr>
        <p:spPr>
          <a:xfrm>
            <a:off x="548640" y="3520440"/>
            <a:ext cx="2633472" cy="1234440"/>
          </a:xfrm>
          <a:prstGeom prst="roundRect">
            <a:avLst>
              <a:gd fmla="val 8889"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5"/>
          <p:cNvSpPr txBox="1"/>
          <p:nvPr/>
        </p:nvSpPr>
        <p:spPr>
          <a:xfrm>
            <a:off x="777240" y="3703320"/>
            <a:ext cx="548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05</a:t>
            </a:r>
            <a:endParaRPr b="0" i="0" sz="1200" u="none" cap="none" strike="noStrike">
              <a:solidFill>
                <a:schemeClr val="dk1"/>
              </a:solidFill>
              <a:latin typeface="Arial"/>
              <a:ea typeface="Arial"/>
              <a:cs typeface="Arial"/>
              <a:sym typeface="Arial"/>
            </a:endParaRPr>
          </a:p>
        </p:txBody>
      </p:sp>
      <p:sp>
        <p:nvSpPr>
          <p:cNvPr id="258" name="Google Shape;258;p5"/>
          <p:cNvSpPr/>
          <p:nvPr/>
        </p:nvSpPr>
        <p:spPr>
          <a:xfrm>
            <a:off x="1764792" y="3703320"/>
            <a:ext cx="1188720" cy="274320"/>
          </a:xfrm>
          <a:prstGeom prst="roundRect">
            <a:avLst>
              <a:gd fmla="val 50000" name="adj"/>
            </a:avLst>
          </a:prstGeom>
          <a:solidFill>
            <a:srgbClr val="FDE3DB"/>
          </a:solidFill>
          <a:ln cap="flat" cmpd="sng" w="12700">
            <a:solidFill>
              <a:srgbClr val="FDE3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5"/>
          <p:cNvSpPr txBox="1"/>
          <p:nvPr/>
        </p:nvSpPr>
        <p:spPr>
          <a:xfrm>
            <a:off x="1764792" y="3703320"/>
            <a:ext cx="11887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401F"/>
              </a:buClr>
              <a:buSzPts val="1000"/>
              <a:buFont typeface="Arial"/>
              <a:buNone/>
            </a:pPr>
            <a:r>
              <a:rPr b="1" i="0" lang="en-US" sz="1000" u="none" cap="none" strike="noStrike">
                <a:solidFill>
                  <a:srgbClr val="B8401F"/>
                </a:solidFill>
                <a:latin typeface="Arial"/>
                <a:ea typeface="Arial"/>
                <a:cs typeface="Arial"/>
                <a:sym typeface="Arial"/>
              </a:rPr>
              <a:t>1 CREDIT</a:t>
            </a:r>
            <a:endParaRPr b="0" i="0" sz="1000" u="none" cap="none" strike="noStrike">
              <a:solidFill>
                <a:schemeClr val="dk1"/>
              </a:solidFill>
              <a:latin typeface="Arial"/>
              <a:ea typeface="Arial"/>
              <a:cs typeface="Arial"/>
              <a:sym typeface="Arial"/>
            </a:endParaRPr>
          </a:p>
        </p:txBody>
      </p:sp>
      <p:sp>
        <p:nvSpPr>
          <p:cNvPr id="260" name="Google Shape;260;p5"/>
          <p:cNvSpPr txBox="1"/>
          <p:nvPr/>
        </p:nvSpPr>
        <p:spPr>
          <a:xfrm>
            <a:off x="777240" y="4087368"/>
            <a:ext cx="2176272"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Prepare: gaps, risks, strategy</a:t>
            </a:r>
            <a:endParaRPr b="0" i="0" sz="1500" u="none" cap="none" strike="noStrike">
              <a:solidFill>
                <a:schemeClr val="dk1"/>
              </a:solidFill>
              <a:latin typeface="Arial"/>
              <a:ea typeface="Arial"/>
              <a:cs typeface="Arial"/>
              <a:sym typeface="Arial"/>
            </a:endParaRPr>
          </a:p>
        </p:txBody>
      </p:sp>
      <p:sp>
        <p:nvSpPr>
          <p:cNvPr id="261" name="Google Shape;261;p5"/>
          <p:cNvSpPr/>
          <p:nvPr/>
        </p:nvSpPr>
        <p:spPr>
          <a:xfrm>
            <a:off x="3364992" y="3520440"/>
            <a:ext cx="2633472" cy="1234440"/>
          </a:xfrm>
          <a:prstGeom prst="roundRect">
            <a:avLst>
              <a:gd fmla="val 8889"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5"/>
          <p:cNvSpPr txBox="1"/>
          <p:nvPr/>
        </p:nvSpPr>
        <p:spPr>
          <a:xfrm>
            <a:off x="3593592" y="3703320"/>
            <a:ext cx="548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06</a:t>
            </a:r>
            <a:endParaRPr b="0" i="0" sz="1200" u="none" cap="none" strike="noStrike">
              <a:solidFill>
                <a:schemeClr val="dk1"/>
              </a:solidFill>
              <a:latin typeface="Arial"/>
              <a:ea typeface="Arial"/>
              <a:cs typeface="Arial"/>
              <a:sym typeface="Arial"/>
            </a:endParaRPr>
          </a:p>
        </p:txBody>
      </p:sp>
      <p:sp>
        <p:nvSpPr>
          <p:cNvPr id="263" name="Google Shape;263;p5"/>
          <p:cNvSpPr/>
          <p:nvPr/>
        </p:nvSpPr>
        <p:spPr>
          <a:xfrm>
            <a:off x="4581144" y="3703320"/>
            <a:ext cx="1188720" cy="274320"/>
          </a:xfrm>
          <a:prstGeom prst="roundRect">
            <a:avLst>
              <a:gd fmla="val 50000" name="adj"/>
            </a:avLst>
          </a:prstGeom>
          <a:solidFill>
            <a:srgbClr val="FDE3DB"/>
          </a:solidFill>
          <a:ln cap="flat" cmpd="sng" w="12700">
            <a:solidFill>
              <a:srgbClr val="FDE3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5"/>
          <p:cNvSpPr txBox="1"/>
          <p:nvPr/>
        </p:nvSpPr>
        <p:spPr>
          <a:xfrm>
            <a:off x="4581144" y="3703320"/>
            <a:ext cx="11887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401F"/>
              </a:buClr>
              <a:buSzPts val="1000"/>
              <a:buFont typeface="Arial"/>
              <a:buNone/>
            </a:pPr>
            <a:r>
              <a:rPr b="1" i="0" lang="en-US" sz="1000" u="none" cap="none" strike="noStrike">
                <a:solidFill>
                  <a:srgbClr val="B8401F"/>
                </a:solidFill>
                <a:latin typeface="Arial"/>
                <a:ea typeface="Arial"/>
                <a:cs typeface="Arial"/>
                <a:sym typeface="Arial"/>
              </a:rPr>
              <a:t>1 CREDIT EACH</a:t>
            </a:r>
            <a:endParaRPr b="0" i="0" sz="1000" u="none" cap="none" strike="noStrike">
              <a:solidFill>
                <a:schemeClr val="dk1"/>
              </a:solidFill>
              <a:latin typeface="Arial"/>
              <a:ea typeface="Arial"/>
              <a:cs typeface="Arial"/>
              <a:sym typeface="Arial"/>
            </a:endParaRPr>
          </a:p>
        </p:txBody>
      </p:sp>
      <p:sp>
        <p:nvSpPr>
          <p:cNvPr id="265" name="Google Shape;265;p5"/>
          <p:cNvSpPr txBox="1"/>
          <p:nvPr/>
        </p:nvSpPr>
        <p:spPr>
          <a:xfrm>
            <a:off x="3593592" y="4087368"/>
            <a:ext cx="2176272"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CV and cover letter</a:t>
            </a:r>
            <a:endParaRPr b="0" i="0" sz="1500" u="none" cap="none" strike="noStrike">
              <a:solidFill>
                <a:schemeClr val="dk1"/>
              </a:solidFill>
              <a:latin typeface="Arial"/>
              <a:ea typeface="Arial"/>
              <a:cs typeface="Arial"/>
              <a:sym typeface="Arial"/>
            </a:endParaRPr>
          </a:p>
        </p:txBody>
      </p:sp>
      <p:sp>
        <p:nvSpPr>
          <p:cNvPr id="266" name="Google Shape;266;p5"/>
          <p:cNvSpPr/>
          <p:nvPr/>
        </p:nvSpPr>
        <p:spPr>
          <a:xfrm>
            <a:off x="6181344" y="3520440"/>
            <a:ext cx="2633472" cy="1234440"/>
          </a:xfrm>
          <a:prstGeom prst="roundRect">
            <a:avLst>
              <a:gd fmla="val 8889"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5"/>
          <p:cNvSpPr txBox="1"/>
          <p:nvPr/>
        </p:nvSpPr>
        <p:spPr>
          <a:xfrm>
            <a:off x="6409944" y="3703320"/>
            <a:ext cx="548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07</a:t>
            </a:r>
            <a:endParaRPr b="0" i="0" sz="1200" u="none" cap="none" strike="noStrike">
              <a:solidFill>
                <a:schemeClr val="dk1"/>
              </a:solidFill>
              <a:latin typeface="Arial"/>
              <a:ea typeface="Arial"/>
              <a:cs typeface="Arial"/>
              <a:sym typeface="Arial"/>
            </a:endParaRPr>
          </a:p>
        </p:txBody>
      </p:sp>
      <p:sp>
        <p:nvSpPr>
          <p:cNvPr id="268" name="Google Shape;268;p5"/>
          <p:cNvSpPr/>
          <p:nvPr/>
        </p:nvSpPr>
        <p:spPr>
          <a:xfrm>
            <a:off x="7397496" y="3703320"/>
            <a:ext cx="1188720" cy="274320"/>
          </a:xfrm>
          <a:prstGeom prst="roundRect">
            <a:avLst>
              <a:gd fmla="val 50000" name="adj"/>
            </a:avLst>
          </a:prstGeom>
          <a:solidFill>
            <a:srgbClr val="DDF0E4"/>
          </a:solidFill>
          <a:ln cap="flat" cmpd="sng" w="12700">
            <a:solidFill>
              <a:srgbClr val="DDF0E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5"/>
          <p:cNvSpPr txBox="1"/>
          <p:nvPr/>
        </p:nvSpPr>
        <p:spPr>
          <a:xfrm>
            <a:off x="7397496" y="3703320"/>
            <a:ext cx="11887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8B57"/>
              </a:buClr>
              <a:buSzPts val="1000"/>
              <a:buFont typeface="Arial"/>
              <a:buNone/>
            </a:pPr>
            <a:r>
              <a:rPr b="1" i="0" lang="en-US" sz="1000" u="none" cap="none" strike="noStrike">
                <a:solidFill>
                  <a:srgbClr val="2E8B57"/>
                </a:solidFill>
                <a:latin typeface="Arial"/>
                <a:ea typeface="Arial"/>
                <a:cs typeface="Arial"/>
                <a:sym typeface="Arial"/>
              </a:rPr>
              <a:t>FREE</a:t>
            </a:r>
            <a:endParaRPr b="0" i="0" sz="1000" u="none" cap="none" strike="noStrike">
              <a:solidFill>
                <a:schemeClr val="dk1"/>
              </a:solidFill>
              <a:latin typeface="Arial"/>
              <a:ea typeface="Arial"/>
              <a:cs typeface="Arial"/>
              <a:sym typeface="Arial"/>
            </a:endParaRPr>
          </a:p>
        </p:txBody>
      </p:sp>
      <p:sp>
        <p:nvSpPr>
          <p:cNvPr id="270" name="Google Shape;270;p5"/>
          <p:cNvSpPr txBox="1"/>
          <p:nvPr/>
        </p:nvSpPr>
        <p:spPr>
          <a:xfrm>
            <a:off x="6409944" y="4087368"/>
            <a:ext cx="2176272"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Apply on employer site</a:t>
            </a:r>
            <a:endParaRPr b="0" i="0" sz="1500" u="none" cap="none" strike="noStrike">
              <a:solidFill>
                <a:schemeClr val="dk1"/>
              </a:solidFill>
              <a:latin typeface="Arial"/>
              <a:ea typeface="Arial"/>
              <a:cs typeface="Arial"/>
              <a:sym typeface="Arial"/>
            </a:endParaRPr>
          </a:p>
        </p:txBody>
      </p:sp>
      <p:sp>
        <p:nvSpPr>
          <p:cNvPr id="271" name="Google Shape;271;p5"/>
          <p:cNvSpPr/>
          <p:nvPr/>
        </p:nvSpPr>
        <p:spPr>
          <a:xfrm>
            <a:off x="8997696" y="3520440"/>
            <a:ext cx="2633472" cy="1234440"/>
          </a:xfrm>
          <a:prstGeom prst="roundRect">
            <a:avLst>
              <a:gd fmla="val 8889"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5"/>
          <p:cNvSpPr txBox="1"/>
          <p:nvPr/>
        </p:nvSpPr>
        <p:spPr>
          <a:xfrm>
            <a:off x="9226296" y="3703320"/>
            <a:ext cx="548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200"/>
              <a:buFont typeface="Arial"/>
              <a:buNone/>
            </a:pPr>
            <a:r>
              <a:rPr b="1" i="0" lang="en-US" sz="1200" u="none" cap="none" strike="noStrike">
                <a:solidFill>
                  <a:schemeClr val="accent1"/>
                </a:solidFill>
                <a:latin typeface="Arial"/>
                <a:ea typeface="Arial"/>
                <a:cs typeface="Arial"/>
                <a:sym typeface="Arial"/>
              </a:rPr>
              <a:t>08</a:t>
            </a:r>
            <a:endParaRPr b="0" i="0" sz="1200" u="none" cap="none" strike="noStrike">
              <a:solidFill>
                <a:schemeClr val="dk1"/>
              </a:solidFill>
              <a:latin typeface="Arial"/>
              <a:ea typeface="Arial"/>
              <a:cs typeface="Arial"/>
              <a:sym typeface="Arial"/>
            </a:endParaRPr>
          </a:p>
        </p:txBody>
      </p:sp>
      <p:sp>
        <p:nvSpPr>
          <p:cNvPr id="273" name="Google Shape;273;p5"/>
          <p:cNvSpPr/>
          <p:nvPr/>
        </p:nvSpPr>
        <p:spPr>
          <a:xfrm>
            <a:off x="10213848" y="3703320"/>
            <a:ext cx="1188720" cy="274320"/>
          </a:xfrm>
          <a:prstGeom prst="roundRect">
            <a:avLst>
              <a:gd fmla="val 50000" name="adj"/>
            </a:avLst>
          </a:prstGeom>
          <a:solidFill>
            <a:srgbClr val="FDE3DB"/>
          </a:solidFill>
          <a:ln cap="flat" cmpd="sng" w="12700">
            <a:solidFill>
              <a:srgbClr val="FDE3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5"/>
          <p:cNvSpPr txBox="1"/>
          <p:nvPr/>
        </p:nvSpPr>
        <p:spPr>
          <a:xfrm>
            <a:off x="10213848" y="3703320"/>
            <a:ext cx="11887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401F"/>
              </a:buClr>
              <a:buSzPts val="1000"/>
              <a:buFont typeface="Arial"/>
              <a:buNone/>
            </a:pPr>
            <a:r>
              <a:rPr b="1" i="0" lang="en-US" sz="1000" u="none" cap="none" strike="noStrike">
                <a:solidFill>
                  <a:srgbClr val="B8401F"/>
                </a:solidFill>
                <a:latin typeface="Arial"/>
                <a:ea typeface="Arial"/>
                <a:cs typeface="Arial"/>
                <a:sym typeface="Arial"/>
              </a:rPr>
              <a:t>1 CREDIT</a:t>
            </a:r>
            <a:endParaRPr b="0" i="0" sz="1000" u="none" cap="none" strike="noStrike">
              <a:solidFill>
                <a:schemeClr val="dk1"/>
              </a:solidFill>
              <a:latin typeface="Arial"/>
              <a:ea typeface="Arial"/>
              <a:cs typeface="Arial"/>
              <a:sym typeface="Arial"/>
            </a:endParaRPr>
          </a:p>
        </p:txBody>
      </p:sp>
      <p:sp>
        <p:nvSpPr>
          <p:cNvPr id="275" name="Google Shape;275;p5"/>
          <p:cNvSpPr txBox="1"/>
          <p:nvPr/>
        </p:nvSpPr>
        <p:spPr>
          <a:xfrm>
            <a:off x="9226296" y="4087368"/>
            <a:ext cx="2176272"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History + interview prep</a:t>
            </a:r>
            <a:endParaRPr b="0" i="0" sz="1500" u="none" cap="none" strike="noStrike">
              <a:solidFill>
                <a:schemeClr val="dk1"/>
              </a:solidFill>
              <a:latin typeface="Arial"/>
              <a:ea typeface="Arial"/>
              <a:cs typeface="Arial"/>
              <a:sym typeface="Arial"/>
            </a:endParaRPr>
          </a:p>
        </p:txBody>
      </p:sp>
      <p:sp>
        <p:nvSpPr>
          <p:cNvPr id="276" name="Google Shape;276;p5"/>
          <p:cNvSpPr/>
          <p:nvPr/>
        </p:nvSpPr>
        <p:spPr>
          <a:xfrm>
            <a:off x="548640" y="5074920"/>
            <a:ext cx="2633472" cy="960120"/>
          </a:xfrm>
          <a:prstGeom prst="roundRect">
            <a:avLst>
              <a:gd fmla="val 11429" name="adj"/>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5"/>
          <p:cNvSpPr txBox="1"/>
          <p:nvPr/>
        </p:nvSpPr>
        <p:spPr>
          <a:xfrm>
            <a:off x="777240" y="5184648"/>
            <a:ext cx="21945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No completeness gate</a:t>
            </a:r>
            <a:endParaRPr b="0" i="0" sz="1400" u="none" cap="none" strike="noStrike">
              <a:solidFill>
                <a:schemeClr val="dk1"/>
              </a:solidFill>
              <a:latin typeface="Arial"/>
              <a:ea typeface="Arial"/>
              <a:cs typeface="Arial"/>
              <a:sym typeface="Arial"/>
            </a:endParaRPr>
          </a:p>
        </p:txBody>
      </p:sp>
      <p:sp>
        <p:nvSpPr>
          <p:cNvPr id="278" name="Google Shape;278;p5"/>
          <p:cNvSpPr txBox="1"/>
          <p:nvPr/>
        </p:nvSpPr>
        <p:spPr>
          <a:xfrm>
            <a:off x="777240" y="5477256"/>
            <a:ext cx="21945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200"/>
              <a:buFont typeface="Arial"/>
              <a:buNone/>
            </a:pPr>
            <a:r>
              <a:rPr b="0" i="0" lang="en-US" sz="1200" u="none" cap="none" strike="noStrike">
                <a:solidFill>
                  <a:schemeClr val="accent4"/>
                </a:solidFill>
                <a:latin typeface="Arial"/>
                <a:ea typeface="Arial"/>
                <a:cs typeface="Arial"/>
                <a:sym typeface="Arial"/>
              </a:rPr>
              <a:t>Scores always show, with a confidence label</a:t>
            </a:r>
            <a:endParaRPr b="0" i="0" sz="1200" u="none" cap="none" strike="noStrike">
              <a:solidFill>
                <a:schemeClr val="dk1"/>
              </a:solidFill>
              <a:latin typeface="Arial"/>
              <a:ea typeface="Arial"/>
              <a:cs typeface="Arial"/>
              <a:sym typeface="Arial"/>
            </a:endParaRPr>
          </a:p>
        </p:txBody>
      </p:sp>
      <p:sp>
        <p:nvSpPr>
          <p:cNvPr id="279" name="Google Shape;279;p5"/>
          <p:cNvSpPr/>
          <p:nvPr/>
        </p:nvSpPr>
        <p:spPr>
          <a:xfrm>
            <a:off x="3364992" y="5074920"/>
            <a:ext cx="2633472" cy="960120"/>
          </a:xfrm>
          <a:prstGeom prst="roundRect">
            <a:avLst>
              <a:gd fmla="val 11429" name="adj"/>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5"/>
          <p:cNvSpPr txBox="1"/>
          <p:nvPr/>
        </p:nvSpPr>
        <p:spPr>
          <a:xfrm>
            <a:off x="3593592" y="5184648"/>
            <a:ext cx="21945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Always 10 jobs</a:t>
            </a:r>
            <a:endParaRPr b="0" i="0" sz="1400" u="none" cap="none" strike="noStrike">
              <a:solidFill>
                <a:schemeClr val="dk1"/>
              </a:solidFill>
              <a:latin typeface="Arial"/>
              <a:ea typeface="Arial"/>
              <a:cs typeface="Arial"/>
              <a:sym typeface="Arial"/>
            </a:endParaRPr>
          </a:p>
        </p:txBody>
      </p:sp>
      <p:sp>
        <p:nvSpPr>
          <p:cNvPr id="281" name="Google Shape;281;p5"/>
          <p:cNvSpPr txBox="1"/>
          <p:nvPr/>
        </p:nvSpPr>
        <p:spPr>
          <a:xfrm>
            <a:off x="3593592" y="5477256"/>
            <a:ext cx="21945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200"/>
              <a:buFont typeface="Arial"/>
              <a:buNone/>
            </a:pPr>
            <a:r>
              <a:rPr b="0" i="0" lang="en-US" sz="1200" u="none" cap="none" strike="noStrike">
                <a:solidFill>
                  <a:schemeClr val="accent4"/>
                </a:solidFill>
                <a:latin typeface="Arial"/>
                <a:ea typeface="Arial"/>
                <a:cs typeface="Arial"/>
                <a:sym typeface="Arial"/>
              </a:rPr>
              <a:t>Jobs under your minimum fit are labelled</a:t>
            </a:r>
            <a:endParaRPr b="0" i="0" sz="1200" u="none" cap="none" strike="noStrike">
              <a:solidFill>
                <a:schemeClr val="dk1"/>
              </a:solidFill>
              <a:latin typeface="Arial"/>
              <a:ea typeface="Arial"/>
              <a:cs typeface="Arial"/>
              <a:sym typeface="Arial"/>
            </a:endParaRPr>
          </a:p>
        </p:txBody>
      </p:sp>
      <p:sp>
        <p:nvSpPr>
          <p:cNvPr id="282" name="Google Shape;282;p5"/>
          <p:cNvSpPr/>
          <p:nvPr/>
        </p:nvSpPr>
        <p:spPr>
          <a:xfrm>
            <a:off x="6181344" y="5074920"/>
            <a:ext cx="2633472" cy="960120"/>
          </a:xfrm>
          <a:prstGeom prst="roundRect">
            <a:avLst>
              <a:gd fmla="val 11429" name="adj"/>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5"/>
          <p:cNvSpPr txBox="1"/>
          <p:nvPr/>
        </p:nvSpPr>
        <p:spPr>
          <a:xfrm>
            <a:off x="6409944" y="5184648"/>
            <a:ext cx="21945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Judging is free</a:t>
            </a:r>
            <a:endParaRPr b="0" i="0" sz="1400" u="none" cap="none" strike="noStrike">
              <a:solidFill>
                <a:schemeClr val="dk1"/>
              </a:solidFill>
              <a:latin typeface="Arial"/>
              <a:ea typeface="Arial"/>
              <a:cs typeface="Arial"/>
              <a:sym typeface="Arial"/>
            </a:endParaRPr>
          </a:p>
        </p:txBody>
      </p:sp>
      <p:sp>
        <p:nvSpPr>
          <p:cNvPr id="284" name="Google Shape;284;p5"/>
          <p:cNvSpPr txBox="1"/>
          <p:nvPr/>
        </p:nvSpPr>
        <p:spPr>
          <a:xfrm>
            <a:off x="6409944" y="5477256"/>
            <a:ext cx="21945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200"/>
              <a:buFont typeface="Arial"/>
              <a:buNone/>
            </a:pPr>
            <a:r>
              <a:rPr b="0" i="0" lang="en-US" sz="1200" u="none" cap="none" strike="noStrike">
                <a:solidFill>
                  <a:schemeClr val="accent4"/>
                </a:solidFill>
                <a:latin typeface="Arial"/>
                <a:ea typeface="Arial"/>
                <a:cs typeface="Arial"/>
                <a:sym typeface="Arial"/>
              </a:rPr>
              <a:t>Score, why it fits, how it's calculated</a:t>
            </a:r>
            <a:endParaRPr b="0" i="0" sz="1200" u="none" cap="none" strike="noStrike">
              <a:solidFill>
                <a:schemeClr val="dk1"/>
              </a:solidFill>
              <a:latin typeface="Arial"/>
              <a:ea typeface="Arial"/>
              <a:cs typeface="Arial"/>
              <a:sym typeface="Arial"/>
            </a:endParaRPr>
          </a:p>
        </p:txBody>
      </p:sp>
      <p:sp>
        <p:nvSpPr>
          <p:cNvPr id="285" name="Google Shape;285;p5"/>
          <p:cNvSpPr/>
          <p:nvPr/>
        </p:nvSpPr>
        <p:spPr>
          <a:xfrm>
            <a:off x="8997696" y="5074920"/>
            <a:ext cx="2633472" cy="960120"/>
          </a:xfrm>
          <a:prstGeom prst="roundRect">
            <a:avLst>
              <a:gd fmla="val 11429" name="adj"/>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5"/>
          <p:cNvSpPr txBox="1"/>
          <p:nvPr/>
        </p:nvSpPr>
        <p:spPr>
          <a:xfrm>
            <a:off x="9226296" y="5184648"/>
            <a:ext cx="21945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You stay in control</a:t>
            </a:r>
            <a:endParaRPr b="0" i="0" sz="1400" u="none" cap="none" strike="noStrike">
              <a:solidFill>
                <a:schemeClr val="dk1"/>
              </a:solidFill>
              <a:latin typeface="Arial"/>
              <a:ea typeface="Arial"/>
              <a:cs typeface="Arial"/>
              <a:sym typeface="Arial"/>
            </a:endParaRPr>
          </a:p>
        </p:txBody>
      </p:sp>
      <p:sp>
        <p:nvSpPr>
          <p:cNvPr id="287" name="Google Shape;287;p5"/>
          <p:cNvSpPr txBox="1"/>
          <p:nvPr/>
        </p:nvSpPr>
        <p:spPr>
          <a:xfrm>
            <a:off x="9226296" y="5477256"/>
            <a:ext cx="21945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200"/>
              <a:buFont typeface="Arial"/>
              <a:buNone/>
            </a:pPr>
            <a:r>
              <a:rPr b="0" i="0" lang="en-US" sz="1200" u="none" cap="none" strike="noStrike">
                <a:solidFill>
                  <a:schemeClr val="accent4"/>
                </a:solidFill>
                <a:latin typeface="Arial"/>
                <a:ea typeface="Arial"/>
                <a:cs typeface="Arial"/>
                <a:sym typeface="Arial"/>
              </a:rPr>
              <a:t>No auto-apply; you approve every change</a:t>
            </a:r>
            <a:endParaRPr b="0" i="0" sz="1200" u="none" cap="none" strike="noStrike">
              <a:solidFill>
                <a:schemeClr val="dk1"/>
              </a:solidFill>
              <a:latin typeface="Arial"/>
              <a:ea typeface="Arial"/>
              <a:cs typeface="Arial"/>
              <a:sym typeface="Arial"/>
            </a:endParaRPr>
          </a:p>
        </p:txBody>
      </p:sp>
      <p:sp>
        <p:nvSpPr>
          <p:cNvPr id="288" name="Google Shape;288;p5"/>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6"/>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EXPLAINED MATCHING</a:t>
            </a:r>
            <a:endParaRPr sz="1200"/>
          </a:p>
        </p:txBody>
      </p:sp>
      <p:sp>
        <p:nvSpPr>
          <p:cNvPr id="295" name="Google Shape;295;p6"/>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200"/>
              <a:buFont typeface="Arial"/>
              <a:buNone/>
            </a:pPr>
            <a:r>
              <a:rPr b="1" lang="en-US" sz="3200">
                <a:solidFill>
                  <a:schemeClr val="dk1"/>
                </a:solidFill>
              </a:rPr>
              <a:t>Every point of the score has a reason you can see</a:t>
            </a:r>
            <a:endParaRPr sz="3200"/>
          </a:p>
        </p:txBody>
      </p:sp>
      <p:sp>
        <p:nvSpPr>
          <p:cNvPr id="296" name="Google Shape;296;p6"/>
          <p:cNvSpPr/>
          <p:nvPr/>
        </p:nvSpPr>
        <p:spPr>
          <a:xfrm>
            <a:off x="548640" y="2057400"/>
            <a:ext cx="5669280" cy="4023360"/>
          </a:xfrm>
          <a:prstGeom prst="roundRect">
            <a:avLst>
              <a:gd fmla="val 272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6"/>
          <p:cNvSpPr/>
          <p:nvPr/>
        </p:nvSpPr>
        <p:spPr>
          <a:xfrm>
            <a:off x="868680" y="2286000"/>
            <a:ext cx="1143000" cy="1143000"/>
          </a:xfrm>
          <a:prstGeom prst="blockArc">
            <a:avLst>
              <a:gd fmla="val 0" name="adj1"/>
              <a:gd fmla="val 21594000" name="adj2"/>
              <a:gd fmla="val 10000" name="adj3"/>
            </a:avLst>
          </a:prstGeom>
          <a:solidFill>
            <a:srgbClr val="E8EEF6"/>
          </a:solidFill>
          <a:ln cap="flat" cmpd="sng" w="12700">
            <a:solidFill>
              <a:srgbClr val="E8EE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6"/>
          <p:cNvSpPr/>
          <p:nvPr/>
        </p:nvSpPr>
        <p:spPr>
          <a:xfrm>
            <a:off x="868680" y="2286000"/>
            <a:ext cx="1143000" cy="1143000"/>
          </a:xfrm>
          <a:prstGeom prst="blockArc">
            <a:avLst>
              <a:gd fmla="val 16200000" name="adj1"/>
              <a:gd fmla="val 14472000" name="adj2"/>
              <a:gd fmla="val 10000" name="adj3"/>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6"/>
          <p:cNvSpPr txBox="1"/>
          <p:nvPr/>
        </p:nvSpPr>
        <p:spPr>
          <a:xfrm>
            <a:off x="868680" y="2286000"/>
            <a:ext cx="1143000" cy="114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2400"/>
              <a:buFont typeface="Arial"/>
              <a:buNone/>
            </a:pPr>
            <a:r>
              <a:rPr b="1" i="0" lang="en-US" sz="2400" u="none" cap="none" strike="noStrike">
                <a:solidFill>
                  <a:schemeClr val="dk1"/>
                </a:solidFill>
                <a:latin typeface="Arial"/>
                <a:ea typeface="Arial"/>
                <a:cs typeface="Arial"/>
                <a:sym typeface="Arial"/>
              </a:rPr>
              <a:t>92</a:t>
            </a:r>
            <a:r>
              <a:rPr b="1" i="0" lang="en-US" sz="1300" u="none" cap="none" strike="noStrike">
                <a:solidFill>
                  <a:schemeClr val="dk1"/>
                </a:solidFill>
                <a:latin typeface="Arial"/>
                <a:ea typeface="Arial"/>
                <a:cs typeface="Arial"/>
                <a:sym typeface="Arial"/>
              </a:rPr>
              <a:t>%</a:t>
            </a:r>
            <a:endParaRPr b="0" i="0" sz="1400" u="none" cap="none" strike="noStrike">
              <a:solidFill>
                <a:schemeClr val="dk1"/>
              </a:solidFill>
              <a:latin typeface="Arial"/>
              <a:ea typeface="Arial"/>
              <a:cs typeface="Arial"/>
              <a:sym typeface="Arial"/>
            </a:endParaRPr>
          </a:p>
        </p:txBody>
      </p:sp>
      <p:sp>
        <p:nvSpPr>
          <p:cNvPr id="300" name="Google Shape;300;p6"/>
          <p:cNvSpPr txBox="1"/>
          <p:nvPr/>
        </p:nvSpPr>
        <p:spPr>
          <a:xfrm>
            <a:off x="2240280" y="2377440"/>
            <a:ext cx="38404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Arial"/>
              <a:buNone/>
            </a:pPr>
            <a:r>
              <a:rPr b="1" i="0" lang="en-US" sz="1700" u="none" cap="none" strike="noStrike">
                <a:solidFill>
                  <a:schemeClr val="dk1"/>
                </a:solidFill>
                <a:latin typeface="Arial"/>
                <a:ea typeface="Arial"/>
                <a:cs typeface="Arial"/>
                <a:sym typeface="Arial"/>
              </a:rPr>
              <a:t>CV–job fit</a:t>
            </a:r>
            <a:endParaRPr b="0" i="0" sz="1700" u="none" cap="none" strike="noStrike">
              <a:solidFill>
                <a:schemeClr val="dk1"/>
              </a:solidFill>
              <a:latin typeface="Arial"/>
              <a:ea typeface="Arial"/>
              <a:cs typeface="Arial"/>
              <a:sym typeface="Arial"/>
            </a:endParaRPr>
          </a:p>
        </p:txBody>
      </p:sp>
      <p:sp>
        <p:nvSpPr>
          <p:cNvPr id="301" name="Google Shape;301;p6"/>
          <p:cNvSpPr/>
          <p:nvPr/>
        </p:nvSpPr>
        <p:spPr>
          <a:xfrm>
            <a:off x="2240280" y="2743200"/>
            <a:ext cx="1508760" cy="310896"/>
          </a:xfrm>
          <a:prstGeom prst="roundRect">
            <a:avLst>
              <a:gd fmla="val 50000" name="adj"/>
            </a:avLst>
          </a:prstGeom>
          <a:solidFill>
            <a:srgbClr val="DDF0E4"/>
          </a:solidFill>
          <a:ln cap="flat" cmpd="sng" w="12700">
            <a:solidFill>
              <a:srgbClr val="DDF0E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6"/>
          <p:cNvSpPr txBox="1"/>
          <p:nvPr/>
        </p:nvSpPr>
        <p:spPr>
          <a:xfrm>
            <a:off x="2240280" y="2743200"/>
            <a:ext cx="1508760"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8B57"/>
              </a:buClr>
              <a:buSzPts val="1200"/>
              <a:buFont typeface="Arial"/>
              <a:buNone/>
            </a:pPr>
            <a:r>
              <a:rPr b="0" i="0" lang="en-US" sz="1200" u="none" cap="none" strike="noStrike">
                <a:solidFill>
                  <a:srgbClr val="2E8B57"/>
                </a:solidFill>
                <a:latin typeface="Arial"/>
                <a:ea typeface="Arial"/>
                <a:cs typeface="Arial"/>
                <a:sym typeface="Arial"/>
              </a:rPr>
              <a:t>High confidence</a:t>
            </a:r>
            <a:endParaRPr b="0" i="0" sz="1200" u="none" cap="none" strike="noStrike">
              <a:solidFill>
                <a:schemeClr val="dk1"/>
              </a:solidFill>
              <a:latin typeface="Arial"/>
              <a:ea typeface="Arial"/>
              <a:cs typeface="Arial"/>
              <a:sym typeface="Arial"/>
            </a:endParaRPr>
          </a:p>
        </p:txBody>
      </p:sp>
      <p:sp>
        <p:nvSpPr>
          <p:cNvPr id="303" name="Google Shape;303;p6"/>
          <p:cNvSpPr txBox="1"/>
          <p:nvPr/>
        </p:nvSpPr>
        <p:spPr>
          <a:xfrm>
            <a:off x="2240280" y="3154680"/>
            <a:ext cx="38404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Arial"/>
              <a:buNone/>
            </a:pPr>
            <a:r>
              <a:rPr b="0" i="0" lang="en-US" sz="1100" u="none" cap="none" strike="noStrike">
                <a:solidFill>
                  <a:schemeClr val="dk2"/>
                </a:solidFill>
                <a:latin typeface="Arial"/>
                <a:ea typeface="Arial"/>
                <a:cs typeface="Arial"/>
                <a:sym typeface="Arial"/>
              </a:rPr>
              <a:t>Data analyst · Example Systems. Illustrative score, not a hiring probability. </a:t>
            </a:r>
            <a:r>
              <a:rPr b="1" i="0" lang="en-US" sz="1100" u="sng" cap="none" strike="noStrike">
                <a:solidFill>
                  <a:schemeClr val="dk2"/>
                </a:solidFill>
                <a:latin typeface="Arial"/>
                <a:ea typeface="Arial"/>
                <a:cs typeface="Arial"/>
                <a:sym typeface="Arial"/>
              </a:rPr>
              <a:t>How it's calculated</a:t>
            </a:r>
            <a:endParaRPr b="0" i="0" sz="1100" u="none" cap="none" strike="noStrike">
              <a:solidFill>
                <a:schemeClr val="dk1"/>
              </a:solidFill>
              <a:latin typeface="Arial"/>
              <a:ea typeface="Arial"/>
              <a:cs typeface="Arial"/>
              <a:sym typeface="Arial"/>
            </a:endParaRPr>
          </a:p>
        </p:txBody>
      </p:sp>
      <p:sp>
        <p:nvSpPr>
          <p:cNvPr id="304" name="Google Shape;304;p6"/>
          <p:cNvSpPr txBox="1"/>
          <p:nvPr/>
        </p:nvSpPr>
        <p:spPr>
          <a:xfrm>
            <a:off x="868680" y="3675888"/>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0" i="0" lang="en-US" sz="1200" u="none" cap="none" strike="noStrike">
                <a:solidFill>
                  <a:schemeClr val="dk1"/>
                </a:solidFill>
                <a:latin typeface="Arial"/>
                <a:ea typeface="Arial"/>
                <a:cs typeface="Arial"/>
                <a:sym typeface="Arial"/>
              </a:rPr>
              <a:t>Required skills</a:t>
            </a:r>
            <a:endParaRPr b="0" i="0" sz="1200" u="none" cap="none" strike="noStrike">
              <a:solidFill>
                <a:schemeClr val="dk1"/>
              </a:solidFill>
              <a:latin typeface="Arial"/>
              <a:ea typeface="Arial"/>
              <a:cs typeface="Arial"/>
              <a:sym typeface="Arial"/>
            </a:endParaRPr>
          </a:p>
        </p:txBody>
      </p:sp>
      <p:sp>
        <p:nvSpPr>
          <p:cNvPr id="305" name="Google Shape;305;p6"/>
          <p:cNvSpPr txBox="1"/>
          <p:nvPr/>
        </p:nvSpPr>
        <p:spPr>
          <a:xfrm>
            <a:off x="2697480" y="3675888"/>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35%</a:t>
            </a:r>
            <a:endParaRPr b="0" i="0" sz="1200" u="none" cap="none" strike="noStrike">
              <a:solidFill>
                <a:schemeClr val="dk1"/>
              </a:solidFill>
              <a:latin typeface="Arial"/>
              <a:ea typeface="Arial"/>
              <a:cs typeface="Arial"/>
              <a:sym typeface="Arial"/>
            </a:endParaRPr>
          </a:p>
        </p:txBody>
      </p:sp>
      <p:sp>
        <p:nvSpPr>
          <p:cNvPr id="306" name="Google Shape;306;p6"/>
          <p:cNvSpPr/>
          <p:nvPr/>
        </p:nvSpPr>
        <p:spPr>
          <a:xfrm>
            <a:off x="3200400" y="3758184"/>
            <a:ext cx="2194560" cy="118872"/>
          </a:xfrm>
          <a:prstGeom prst="rect">
            <a:avLst/>
          </a:prstGeom>
          <a:solidFill>
            <a:srgbClr val="E8EEF6"/>
          </a:solidFill>
          <a:ln cap="flat" cmpd="sng" w="12700">
            <a:solidFill>
              <a:srgbClr val="E8EE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6"/>
          <p:cNvSpPr/>
          <p:nvPr/>
        </p:nvSpPr>
        <p:spPr>
          <a:xfrm>
            <a:off x="3200400" y="3758184"/>
            <a:ext cx="2094237" cy="118872"/>
          </a:xfrm>
          <a:prstGeom prst="rect">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6"/>
          <p:cNvSpPr txBox="1"/>
          <p:nvPr/>
        </p:nvSpPr>
        <p:spPr>
          <a:xfrm>
            <a:off x="5440680" y="3675888"/>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33.4</a:t>
            </a:r>
            <a:endParaRPr b="0" i="0" sz="1200" u="none" cap="none" strike="noStrike">
              <a:solidFill>
                <a:schemeClr val="dk1"/>
              </a:solidFill>
              <a:latin typeface="Arial"/>
              <a:ea typeface="Arial"/>
              <a:cs typeface="Arial"/>
              <a:sym typeface="Arial"/>
            </a:endParaRPr>
          </a:p>
        </p:txBody>
      </p:sp>
      <p:sp>
        <p:nvSpPr>
          <p:cNvPr id="309" name="Google Shape;309;p6"/>
          <p:cNvSpPr txBox="1"/>
          <p:nvPr/>
        </p:nvSpPr>
        <p:spPr>
          <a:xfrm>
            <a:off x="868680" y="4005072"/>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0" i="0" lang="en-US" sz="1200" u="none" cap="none" strike="noStrike">
                <a:solidFill>
                  <a:schemeClr val="dk1"/>
                </a:solidFill>
                <a:latin typeface="Arial"/>
                <a:ea typeface="Arial"/>
                <a:cs typeface="Arial"/>
                <a:sym typeface="Arial"/>
              </a:rPr>
              <a:t>Relevant experience</a:t>
            </a:r>
            <a:endParaRPr b="0" i="0" sz="1200" u="none" cap="none" strike="noStrike">
              <a:solidFill>
                <a:schemeClr val="dk1"/>
              </a:solidFill>
              <a:latin typeface="Arial"/>
              <a:ea typeface="Arial"/>
              <a:cs typeface="Arial"/>
              <a:sym typeface="Arial"/>
            </a:endParaRPr>
          </a:p>
        </p:txBody>
      </p:sp>
      <p:sp>
        <p:nvSpPr>
          <p:cNvPr id="310" name="Google Shape;310;p6"/>
          <p:cNvSpPr txBox="1"/>
          <p:nvPr/>
        </p:nvSpPr>
        <p:spPr>
          <a:xfrm>
            <a:off x="2697480" y="4005072"/>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25%</a:t>
            </a:r>
            <a:endParaRPr b="0" i="0" sz="1200" u="none" cap="none" strike="noStrike">
              <a:solidFill>
                <a:schemeClr val="dk1"/>
              </a:solidFill>
              <a:latin typeface="Arial"/>
              <a:ea typeface="Arial"/>
              <a:cs typeface="Arial"/>
              <a:sym typeface="Arial"/>
            </a:endParaRPr>
          </a:p>
        </p:txBody>
      </p:sp>
      <p:sp>
        <p:nvSpPr>
          <p:cNvPr id="311" name="Google Shape;311;p6"/>
          <p:cNvSpPr/>
          <p:nvPr/>
        </p:nvSpPr>
        <p:spPr>
          <a:xfrm>
            <a:off x="3200400" y="4087368"/>
            <a:ext cx="2194560" cy="118872"/>
          </a:xfrm>
          <a:prstGeom prst="rect">
            <a:avLst/>
          </a:prstGeom>
          <a:solidFill>
            <a:srgbClr val="E8EEF6"/>
          </a:solidFill>
          <a:ln cap="flat" cmpd="sng" w="12700">
            <a:solidFill>
              <a:srgbClr val="E8EE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6"/>
          <p:cNvSpPr/>
          <p:nvPr/>
        </p:nvSpPr>
        <p:spPr>
          <a:xfrm>
            <a:off x="3200400" y="4087368"/>
            <a:ext cx="1904878" cy="118872"/>
          </a:xfrm>
          <a:prstGeom prst="rect">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6"/>
          <p:cNvSpPr txBox="1"/>
          <p:nvPr/>
        </p:nvSpPr>
        <p:spPr>
          <a:xfrm>
            <a:off x="5440680" y="4005072"/>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21.7</a:t>
            </a:r>
            <a:endParaRPr b="0" i="0" sz="1200" u="none" cap="none" strike="noStrike">
              <a:solidFill>
                <a:schemeClr val="dk1"/>
              </a:solidFill>
              <a:latin typeface="Arial"/>
              <a:ea typeface="Arial"/>
              <a:cs typeface="Arial"/>
              <a:sym typeface="Arial"/>
            </a:endParaRPr>
          </a:p>
        </p:txBody>
      </p:sp>
      <p:sp>
        <p:nvSpPr>
          <p:cNvPr id="314" name="Google Shape;314;p6"/>
          <p:cNvSpPr txBox="1"/>
          <p:nvPr/>
        </p:nvSpPr>
        <p:spPr>
          <a:xfrm>
            <a:off x="868680" y="4334256"/>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0" i="0" lang="en-US" sz="1200" u="none" cap="none" strike="noStrike">
                <a:solidFill>
                  <a:schemeClr val="dk1"/>
                </a:solidFill>
                <a:latin typeface="Arial"/>
                <a:ea typeface="Arial"/>
                <a:cs typeface="Arial"/>
                <a:sym typeface="Arial"/>
              </a:rPr>
              <a:t>Role / title</a:t>
            </a:r>
            <a:endParaRPr b="0" i="0" sz="1200" u="none" cap="none" strike="noStrike">
              <a:solidFill>
                <a:schemeClr val="dk1"/>
              </a:solidFill>
              <a:latin typeface="Arial"/>
              <a:ea typeface="Arial"/>
              <a:cs typeface="Arial"/>
              <a:sym typeface="Arial"/>
            </a:endParaRPr>
          </a:p>
        </p:txBody>
      </p:sp>
      <p:sp>
        <p:nvSpPr>
          <p:cNvPr id="315" name="Google Shape;315;p6"/>
          <p:cNvSpPr txBox="1"/>
          <p:nvPr/>
        </p:nvSpPr>
        <p:spPr>
          <a:xfrm>
            <a:off x="2697480" y="4334256"/>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15%</a:t>
            </a:r>
            <a:endParaRPr b="0" i="0" sz="1200" u="none" cap="none" strike="noStrike">
              <a:solidFill>
                <a:schemeClr val="dk1"/>
              </a:solidFill>
              <a:latin typeface="Arial"/>
              <a:ea typeface="Arial"/>
              <a:cs typeface="Arial"/>
              <a:sym typeface="Arial"/>
            </a:endParaRPr>
          </a:p>
        </p:txBody>
      </p:sp>
      <p:sp>
        <p:nvSpPr>
          <p:cNvPr id="316" name="Google Shape;316;p6"/>
          <p:cNvSpPr/>
          <p:nvPr/>
        </p:nvSpPr>
        <p:spPr>
          <a:xfrm>
            <a:off x="3200400" y="4416552"/>
            <a:ext cx="2194560" cy="118872"/>
          </a:xfrm>
          <a:prstGeom prst="rect">
            <a:avLst/>
          </a:prstGeom>
          <a:solidFill>
            <a:srgbClr val="E8EEF6"/>
          </a:solidFill>
          <a:ln cap="flat" cmpd="sng" w="12700">
            <a:solidFill>
              <a:srgbClr val="E8EE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6"/>
          <p:cNvSpPr/>
          <p:nvPr/>
        </p:nvSpPr>
        <p:spPr>
          <a:xfrm>
            <a:off x="3200400" y="4416552"/>
            <a:ext cx="2004365" cy="118872"/>
          </a:xfrm>
          <a:prstGeom prst="rect">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6"/>
          <p:cNvSpPr txBox="1"/>
          <p:nvPr/>
        </p:nvSpPr>
        <p:spPr>
          <a:xfrm>
            <a:off x="5440680" y="4334256"/>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13.7</a:t>
            </a:r>
            <a:endParaRPr b="0" i="0" sz="1200" u="none" cap="none" strike="noStrike">
              <a:solidFill>
                <a:schemeClr val="dk1"/>
              </a:solidFill>
              <a:latin typeface="Arial"/>
              <a:ea typeface="Arial"/>
              <a:cs typeface="Arial"/>
              <a:sym typeface="Arial"/>
            </a:endParaRPr>
          </a:p>
        </p:txBody>
      </p:sp>
      <p:sp>
        <p:nvSpPr>
          <p:cNvPr id="319" name="Google Shape;319;p6"/>
          <p:cNvSpPr txBox="1"/>
          <p:nvPr/>
        </p:nvSpPr>
        <p:spPr>
          <a:xfrm>
            <a:off x="868680" y="4663440"/>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0" i="0" lang="en-US" sz="1200" u="none" cap="none" strike="noStrike">
                <a:solidFill>
                  <a:schemeClr val="dk1"/>
                </a:solidFill>
                <a:latin typeface="Arial"/>
                <a:ea typeface="Arial"/>
                <a:cs typeface="Arial"/>
                <a:sym typeface="Arial"/>
              </a:rPr>
              <a:t>Education</a:t>
            </a:r>
            <a:endParaRPr b="0" i="0" sz="1200" u="none" cap="none" strike="noStrike">
              <a:solidFill>
                <a:schemeClr val="dk1"/>
              </a:solidFill>
              <a:latin typeface="Arial"/>
              <a:ea typeface="Arial"/>
              <a:cs typeface="Arial"/>
              <a:sym typeface="Arial"/>
            </a:endParaRPr>
          </a:p>
        </p:txBody>
      </p:sp>
      <p:sp>
        <p:nvSpPr>
          <p:cNvPr id="320" name="Google Shape;320;p6"/>
          <p:cNvSpPr txBox="1"/>
          <p:nvPr/>
        </p:nvSpPr>
        <p:spPr>
          <a:xfrm>
            <a:off x="2697480" y="4663440"/>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10%</a:t>
            </a:r>
            <a:endParaRPr b="0" i="0" sz="1200" u="none" cap="none" strike="noStrike">
              <a:solidFill>
                <a:schemeClr val="dk1"/>
              </a:solidFill>
              <a:latin typeface="Arial"/>
              <a:ea typeface="Arial"/>
              <a:cs typeface="Arial"/>
              <a:sym typeface="Arial"/>
            </a:endParaRPr>
          </a:p>
        </p:txBody>
      </p:sp>
      <p:sp>
        <p:nvSpPr>
          <p:cNvPr id="321" name="Google Shape;321;p6"/>
          <p:cNvSpPr/>
          <p:nvPr/>
        </p:nvSpPr>
        <p:spPr>
          <a:xfrm>
            <a:off x="3200400" y="4745736"/>
            <a:ext cx="2194560" cy="118872"/>
          </a:xfrm>
          <a:prstGeom prst="rect">
            <a:avLst/>
          </a:prstGeom>
          <a:solidFill>
            <a:srgbClr val="E8EEF6"/>
          </a:solidFill>
          <a:ln cap="flat" cmpd="sng" w="12700">
            <a:solidFill>
              <a:srgbClr val="E8EE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6"/>
          <p:cNvSpPr/>
          <p:nvPr/>
        </p:nvSpPr>
        <p:spPr>
          <a:xfrm>
            <a:off x="3200400" y="4745736"/>
            <a:ext cx="1799539" cy="118872"/>
          </a:xfrm>
          <a:prstGeom prst="rect">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6"/>
          <p:cNvSpPr txBox="1"/>
          <p:nvPr/>
        </p:nvSpPr>
        <p:spPr>
          <a:xfrm>
            <a:off x="5440680" y="466344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8.2</a:t>
            </a:r>
            <a:endParaRPr b="0" i="0" sz="1200" u="none" cap="none" strike="noStrike">
              <a:solidFill>
                <a:schemeClr val="dk1"/>
              </a:solidFill>
              <a:latin typeface="Arial"/>
              <a:ea typeface="Arial"/>
              <a:cs typeface="Arial"/>
              <a:sym typeface="Arial"/>
            </a:endParaRPr>
          </a:p>
        </p:txBody>
      </p:sp>
      <p:sp>
        <p:nvSpPr>
          <p:cNvPr id="324" name="Google Shape;324;p6"/>
          <p:cNvSpPr txBox="1"/>
          <p:nvPr/>
        </p:nvSpPr>
        <p:spPr>
          <a:xfrm>
            <a:off x="868680" y="4992624"/>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0" i="0" lang="en-US" sz="1200" u="none" cap="none" strike="noStrike">
                <a:solidFill>
                  <a:schemeClr val="dk1"/>
                </a:solidFill>
                <a:latin typeface="Arial"/>
                <a:ea typeface="Arial"/>
                <a:cs typeface="Arial"/>
                <a:sym typeface="Arial"/>
              </a:rPr>
              <a:t>Languages</a:t>
            </a:r>
            <a:endParaRPr b="0" i="0" sz="1200" u="none" cap="none" strike="noStrike">
              <a:solidFill>
                <a:schemeClr val="dk1"/>
              </a:solidFill>
              <a:latin typeface="Arial"/>
              <a:ea typeface="Arial"/>
              <a:cs typeface="Arial"/>
              <a:sym typeface="Arial"/>
            </a:endParaRPr>
          </a:p>
        </p:txBody>
      </p:sp>
      <p:sp>
        <p:nvSpPr>
          <p:cNvPr id="325" name="Google Shape;325;p6"/>
          <p:cNvSpPr txBox="1"/>
          <p:nvPr/>
        </p:nvSpPr>
        <p:spPr>
          <a:xfrm>
            <a:off x="2697480" y="4992624"/>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10%</a:t>
            </a:r>
            <a:endParaRPr b="0" i="0" sz="1200" u="none" cap="none" strike="noStrike">
              <a:solidFill>
                <a:schemeClr val="dk1"/>
              </a:solidFill>
              <a:latin typeface="Arial"/>
              <a:ea typeface="Arial"/>
              <a:cs typeface="Arial"/>
              <a:sym typeface="Arial"/>
            </a:endParaRPr>
          </a:p>
        </p:txBody>
      </p:sp>
      <p:sp>
        <p:nvSpPr>
          <p:cNvPr id="326" name="Google Shape;326;p6"/>
          <p:cNvSpPr/>
          <p:nvPr/>
        </p:nvSpPr>
        <p:spPr>
          <a:xfrm>
            <a:off x="3200400" y="5074920"/>
            <a:ext cx="2194560" cy="118872"/>
          </a:xfrm>
          <a:prstGeom prst="rect">
            <a:avLst/>
          </a:prstGeom>
          <a:solidFill>
            <a:srgbClr val="E8EEF6"/>
          </a:solidFill>
          <a:ln cap="flat" cmpd="sng" w="12700">
            <a:solidFill>
              <a:srgbClr val="E8EE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6"/>
          <p:cNvSpPr/>
          <p:nvPr/>
        </p:nvSpPr>
        <p:spPr>
          <a:xfrm>
            <a:off x="3200400" y="5074920"/>
            <a:ext cx="2194560" cy="118872"/>
          </a:xfrm>
          <a:prstGeom prst="rect">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6"/>
          <p:cNvSpPr txBox="1"/>
          <p:nvPr/>
        </p:nvSpPr>
        <p:spPr>
          <a:xfrm>
            <a:off x="5440680" y="4992624"/>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10.0</a:t>
            </a:r>
            <a:endParaRPr b="0" i="0" sz="1200" u="none" cap="none" strike="noStrike">
              <a:solidFill>
                <a:schemeClr val="dk1"/>
              </a:solidFill>
              <a:latin typeface="Arial"/>
              <a:ea typeface="Arial"/>
              <a:cs typeface="Arial"/>
              <a:sym typeface="Arial"/>
            </a:endParaRPr>
          </a:p>
        </p:txBody>
      </p:sp>
      <p:sp>
        <p:nvSpPr>
          <p:cNvPr id="329" name="Google Shape;329;p6"/>
          <p:cNvSpPr txBox="1"/>
          <p:nvPr/>
        </p:nvSpPr>
        <p:spPr>
          <a:xfrm>
            <a:off x="868680" y="5321808"/>
            <a:ext cx="1828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Arial"/>
              <a:buNone/>
            </a:pPr>
            <a:r>
              <a:rPr b="0" i="0" lang="en-US" sz="1200" u="none" cap="none" strike="noStrike">
                <a:solidFill>
                  <a:schemeClr val="dk1"/>
                </a:solidFill>
                <a:latin typeface="Arial"/>
                <a:ea typeface="Arial"/>
                <a:cs typeface="Arial"/>
                <a:sym typeface="Arial"/>
              </a:rPr>
              <a:t>Location</a:t>
            </a:r>
            <a:endParaRPr b="0" i="0" sz="1200" u="none" cap="none" strike="noStrike">
              <a:solidFill>
                <a:schemeClr val="dk1"/>
              </a:solidFill>
              <a:latin typeface="Arial"/>
              <a:ea typeface="Arial"/>
              <a:cs typeface="Arial"/>
              <a:sym typeface="Arial"/>
            </a:endParaRPr>
          </a:p>
        </p:txBody>
      </p:sp>
      <p:sp>
        <p:nvSpPr>
          <p:cNvPr id="330" name="Google Shape;330;p6"/>
          <p:cNvSpPr txBox="1"/>
          <p:nvPr/>
        </p:nvSpPr>
        <p:spPr>
          <a:xfrm>
            <a:off x="2697480" y="5321808"/>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5%</a:t>
            </a:r>
            <a:endParaRPr b="0" i="0" sz="1200" u="none" cap="none" strike="noStrike">
              <a:solidFill>
                <a:schemeClr val="dk1"/>
              </a:solidFill>
              <a:latin typeface="Arial"/>
              <a:ea typeface="Arial"/>
              <a:cs typeface="Arial"/>
              <a:sym typeface="Arial"/>
            </a:endParaRPr>
          </a:p>
        </p:txBody>
      </p:sp>
      <p:sp>
        <p:nvSpPr>
          <p:cNvPr id="331" name="Google Shape;331;p6"/>
          <p:cNvSpPr/>
          <p:nvPr/>
        </p:nvSpPr>
        <p:spPr>
          <a:xfrm>
            <a:off x="3200400" y="5404104"/>
            <a:ext cx="2194560" cy="118872"/>
          </a:xfrm>
          <a:prstGeom prst="rect">
            <a:avLst/>
          </a:prstGeom>
          <a:solidFill>
            <a:srgbClr val="E8EEF6"/>
          </a:solidFill>
          <a:ln cap="flat" cmpd="sng" w="12700">
            <a:solidFill>
              <a:srgbClr val="E8EE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6"/>
          <p:cNvSpPr/>
          <p:nvPr/>
        </p:nvSpPr>
        <p:spPr>
          <a:xfrm>
            <a:off x="3200400" y="5404104"/>
            <a:ext cx="2194560" cy="118872"/>
          </a:xfrm>
          <a:prstGeom prst="rect">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6"/>
          <p:cNvSpPr txBox="1"/>
          <p:nvPr/>
        </p:nvSpPr>
        <p:spPr>
          <a:xfrm>
            <a:off x="5440680" y="5321808"/>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chemeClr val="dk1"/>
              </a:buClr>
              <a:buSzPts val="1200"/>
              <a:buFont typeface="Arial"/>
              <a:buNone/>
            </a:pPr>
            <a:r>
              <a:rPr b="1" i="0" lang="en-US" sz="1200" u="none" cap="none" strike="noStrike">
                <a:solidFill>
                  <a:schemeClr val="dk1"/>
                </a:solidFill>
                <a:latin typeface="Arial"/>
                <a:ea typeface="Arial"/>
                <a:cs typeface="Arial"/>
                <a:sym typeface="Arial"/>
              </a:rPr>
              <a:t>5.0</a:t>
            </a:r>
            <a:endParaRPr b="0" i="0" sz="1200" u="none" cap="none" strike="noStrike">
              <a:solidFill>
                <a:schemeClr val="dk1"/>
              </a:solidFill>
              <a:latin typeface="Arial"/>
              <a:ea typeface="Arial"/>
              <a:cs typeface="Arial"/>
              <a:sym typeface="Arial"/>
            </a:endParaRPr>
          </a:p>
        </p:txBody>
      </p:sp>
      <p:sp>
        <p:nvSpPr>
          <p:cNvPr id="334" name="Google Shape;334;p6"/>
          <p:cNvSpPr txBox="1"/>
          <p:nvPr/>
        </p:nvSpPr>
        <p:spPr>
          <a:xfrm>
            <a:off x="868680" y="5715000"/>
            <a:ext cx="512064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Illustrative demo job · weights published, not yet validated</a:t>
            </a:r>
            <a:endParaRPr b="0" i="0" sz="1000" u="none" cap="none" strike="noStrike">
              <a:solidFill>
                <a:schemeClr val="dk1"/>
              </a:solidFill>
              <a:latin typeface="Arial"/>
              <a:ea typeface="Arial"/>
              <a:cs typeface="Arial"/>
              <a:sym typeface="Arial"/>
            </a:endParaRPr>
          </a:p>
        </p:txBody>
      </p:sp>
      <p:sp>
        <p:nvSpPr>
          <p:cNvPr id="335" name="Google Shape;335;p6"/>
          <p:cNvSpPr txBox="1"/>
          <p:nvPr/>
        </p:nvSpPr>
        <p:spPr>
          <a:xfrm>
            <a:off x="6583680" y="2057400"/>
            <a:ext cx="50292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Arial"/>
              <a:buNone/>
            </a:pPr>
            <a:r>
              <a:rPr b="1" i="0" lang="en-US" sz="1600" u="none" cap="none" strike="noStrike">
                <a:solidFill>
                  <a:schemeClr val="dk1"/>
                </a:solidFill>
                <a:latin typeface="Arial"/>
                <a:ea typeface="Arial"/>
                <a:cs typeface="Arial"/>
                <a:sym typeface="Arial"/>
              </a:rPr>
              <a:t>Six criteria, fixed weights</a:t>
            </a:r>
            <a:endParaRPr b="0" i="0" sz="1600" u="none" cap="none" strike="noStrike">
              <a:solidFill>
                <a:schemeClr val="dk1"/>
              </a:solidFill>
              <a:latin typeface="Arial"/>
              <a:ea typeface="Arial"/>
              <a:cs typeface="Arial"/>
              <a:sym typeface="Arial"/>
            </a:endParaRPr>
          </a:p>
        </p:txBody>
      </p:sp>
      <p:sp>
        <p:nvSpPr>
          <p:cNvPr id="336" name="Google Shape;336;p6"/>
          <p:cNvSpPr txBox="1"/>
          <p:nvPr/>
        </p:nvSpPr>
        <p:spPr>
          <a:xfrm>
            <a:off x="6583680" y="2377440"/>
            <a:ext cx="50292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Match = Σ weight × fit. Skills are mapped to the EU ESCO taxonomy, so copying keywords doesn't help.</a:t>
            </a:r>
            <a:endParaRPr b="0" i="0" sz="1300" u="none" cap="none" strike="noStrike">
              <a:solidFill>
                <a:schemeClr val="dk1"/>
              </a:solidFill>
              <a:latin typeface="Arial"/>
              <a:ea typeface="Arial"/>
              <a:cs typeface="Arial"/>
              <a:sym typeface="Arial"/>
            </a:endParaRPr>
          </a:p>
        </p:txBody>
      </p:sp>
      <p:sp>
        <p:nvSpPr>
          <p:cNvPr id="337" name="Google Shape;337;p6"/>
          <p:cNvSpPr txBox="1"/>
          <p:nvPr/>
        </p:nvSpPr>
        <p:spPr>
          <a:xfrm>
            <a:off x="6583680" y="3063240"/>
            <a:ext cx="50292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Arial"/>
              <a:buNone/>
            </a:pPr>
            <a:r>
              <a:rPr b="1" i="0" lang="en-US" sz="1600" u="none" cap="none" strike="noStrike">
                <a:solidFill>
                  <a:schemeClr val="dk1"/>
                </a:solidFill>
                <a:latin typeface="Arial"/>
                <a:ea typeface="Arial"/>
                <a:cs typeface="Arial"/>
                <a:sym typeface="Arial"/>
              </a:rPr>
              <a:t>Must-haves cap, never hide</a:t>
            </a:r>
            <a:endParaRPr b="0" i="0" sz="1600" u="none" cap="none" strike="noStrike">
              <a:solidFill>
                <a:schemeClr val="dk1"/>
              </a:solidFill>
              <a:latin typeface="Arial"/>
              <a:ea typeface="Arial"/>
              <a:cs typeface="Arial"/>
              <a:sym typeface="Arial"/>
            </a:endParaRPr>
          </a:p>
        </p:txBody>
      </p:sp>
      <p:sp>
        <p:nvSpPr>
          <p:cNvPr id="338" name="Google Shape;338;p6"/>
          <p:cNvSpPr txBox="1"/>
          <p:nvPr/>
        </p:nvSpPr>
        <p:spPr>
          <a:xfrm>
            <a:off x="6583680" y="3383280"/>
            <a:ext cx="50292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An unmet must-have caps the score 1 point below your minimum fit (90% → 89%). The job stays visible with the reason.</a:t>
            </a:r>
            <a:endParaRPr b="0" i="0" sz="1300" u="none" cap="none" strike="noStrike">
              <a:solidFill>
                <a:schemeClr val="dk1"/>
              </a:solidFill>
              <a:latin typeface="Arial"/>
              <a:ea typeface="Arial"/>
              <a:cs typeface="Arial"/>
              <a:sym typeface="Arial"/>
            </a:endParaRPr>
          </a:p>
        </p:txBody>
      </p:sp>
      <p:sp>
        <p:nvSpPr>
          <p:cNvPr id="339" name="Google Shape;339;p6"/>
          <p:cNvSpPr txBox="1"/>
          <p:nvPr/>
        </p:nvSpPr>
        <p:spPr>
          <a:xfrm>
            <a:off x="6583680" y="4069080"/>
            <a:ext cx="50292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Arial"/>
              <a:buNone/>
            </a:pPr>
            <a:r>
              <a:rPr b="1" i="0" lang="en-US" sz="1600" u="none" cap="none" strike="noStrike">
                <a:solidFill>
                  <a:schemeClr val="dk1"/>
                </a:solidFill>
                <a:latin typeface="Arial"/>
                <a:ea typeface="Arial"/>
                <a:cs typeface="Arial"/>
                <a:sym typeface="Arial"/>
              </a:rPr>
              <a:t>Completeness sets confidence</a:t>
            </a:r>
            <a:endParaRPr b="0" i="0" sz="1600" u="none" cap="none" strike="noStrike">
              <a:solidFill>
                <a:schemeClr val="dk1"/>
              </a:solidFill>
              <a:latin typeface="Arial"/>
              <a:ea typeface="Arial"/>
              <a:cs typeface="Arial"/>
              <a:sym typeface="Arial"/>
            </a:endParaRPr>
          </a:p>
        </p:txBody>
      </p:sp>
      <p:sp>
        <p:nvSpPr>
          <p:cNvPr id="340" name="Google Shape;340;p6"/>
          <p:cNvSpPr txBox="1"/>
          <p:nvPr/>
        </p:nvSpPr>
        <p:spPr>
          <a:xfrm>
            <a:off x="6583680" y="4389120"/>
            <a:ext cx="50292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A thin profile still gets scores; it lowers the label and we name the missing fields.</a:t>
            </a:r>
            <a:endParaRPr b="0" i="0" sz="1300" u="none" cap="none" strike="noStrike">
              <a:solidFill>
                <a:schemeClr val="dk1"/>
              </a:solidFill>
              <a:latin typeface="Arial"/>
              <a:ea typeface="Arial"/>
              <a:cs typeface="Arial"/>
              <a:sym typeface="Arial"/>
            </a:endParaRPr>
          </a:p>
        </p:txBody>
      </p:sp>
      <p:sp>
        <p:nvSpPr>
          <p:cNvPr id="341" name="Google Shape;341;p6"/>
          <p:cNvSpPr txBox="1"/>
          <p:nvPr/>
        </p:nvSpPr>
        <p:spPr>
          <a:xfrm>
            <a:off x="6583680" y="5074920"/>
            <a:ext cx="50292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Arial"/>
              <a:buNone/>
            </a:pPr>
            <a:r>
              <a:rPr b="1" i="0" lang="en-US" sz="1600" u="none" cap="none" strike="noStrike">
                <a:solidFill>
                  <a:schemeClr val="dk1"/>
                </a:solidFill>
                <a:latin typeface="Arial"/>
                <a:ea typeface="Arial"/>
                <a:cs typeface="Arial"/>
                <a:sym typeface="Arial"/>
              </a:rPr>
              <a:t>A score is not a hiring probability</a:t>
            </a:r>
            <a:endParaRPr b="0" i="0" sz="1600" u="none" cap="none" strike="noStrike">
              <a:solidFill>
                <a:schemeClr val="dk1"/>
              </a:solidFill>
              <a:latin typeface="Arial"/>
              <a:ea typeface="Arial"/>
              <a:cs typeface="Arial"/>
              <a:sym typeface="Arial"/>
            </a:endParaRPr>
          </a:p>
        </p:txBody>
      </p:sp>
      <p:sp>
        <p:nvSpPr>
          <p:cNvPr id="342" name="Google Shape;342;p6"/>
          <p:cNvSpPr txBox="1"/>
          <p:nvPr/>
        </p:nvSpPr>
        <p:spPr>
          <a:xfrm>
            <a:off x="6583680" y="5394960"/>
            <a:ext cx="50292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No age, gender, nationality, photo or other protected attributes are used.</a:t>
            </a:r>
            <a:endParaRPr b="0" i="0" sz="1300" u="none" cap="none" strike="noStrike">
              <a:solidFill>
                <a:schemeClr val="dk1"/>
              </a:solidFill>
              <a:latin typeface="Arial"/>
              <a:ea typeface="Arial"/>
              <a:cs typeface="Arial"/>
              <a:sym typeface="Arial"/>
            </a:endParaRPr>
          </a:p>
        </p:txBody>
      </p:sp>
      <p:sp>
        <p:nvSpPr>
          <p:cNvPr id="343" name="Google Shape;343;p6"/>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p7"/>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LIVE DEMO</a:t>
            </a:r>
            <a:endParaRPr sz="1200"/>
          </a:p>
        </p:txBody>
      </p:sp>
      <p:sp>
        <p:nvSpPr>
          <p:cNvPr id="350" name="Google Shape;350;p7"/>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lt1"/>
              </a:buClr>
              <a:buSzPts val="3200"/>
              <a:buFont typeface="Arial"/>
              <a:buNone/>
            </a:pPr>
            <a:r>
              <a:rPr b="1" lang="en-US" sz="3200">
                <a:solidFill>
                  <a:schemeClr val="lt1"/>
                </a:solidFill>
              </a:rPr>
              <a:t>From CV to a confirmed application in one flow</a:t>
            </a:r>
            <a:endParaRPr sz="3200"/>
          </a:p>
        </p:txBody>
      </p:sp>
      <p:sp>
        <p:nvSpPr>
          <p:cNvPr id="351" name="Google Shape;351;p7"/>
          <p:cNvSpPr/>
          <p:nvPr/>
        </p:nvSpPr>
        <p:spPr>
          <a:xfrm>
            <a:off x="548640" y="2194560"/>
            <a:ext cx="3566160" cy="1005840"/>
          </a:xfrm>
          <a:prstGeom prst="roundRect">
            <a:avLst>
              <a:gd fmla="val 10909"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7"/>
          <p:cNvSpPr txBox="1"/>
          <p:nvPr/>
        </p:nvSpPr>
        <p:spPr>
          <a:xfrm>
            <a:off x="777240" y="2377440"/>
            <a:ext cx="6400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1</a:t>
            </a:r>
            <a:endParaRPr b="0" i="0" sz="3000" u="none" cap="none" strike="noStrike">
              <a:solidFill>
                <a:schemeClr val="dk1"/>
              </a:solidFill>
              <a:latin typeface="Arial"/>
              <a:ea typeface="Arial"/>
              <a:cs typeface="Arial"/>
              <a:sym typeface="Arial"/>
            </a:endParaRPr>
          </a:p>
        </p:txBody>
      </p:sp>
      <p:sp>
        <p:nvSpPr>
          <p:cNvPr id="353" name="Google Shape;353;p7"/>
          <p:cNvSpPr txBox="1"/>
          <p:nvPr/>
        </p:nvSpPr>
        <p:spPr>
          <a:xfrm>
            <a:off x="1463040" y="2377440"/>
            <a:ext cx="2514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Arial"/>
              <a:buNone/>
            </a:pPr>
            <a:r>
              <a:rPr b="1" i="0" lang="en-US" sz="1600" u="none" cap="none" strike="noStrike">
                <a:solidFill>
                  <a:schemeClr val="lt1"/>
                </a:solidFill>
                <a:latin typeface="Arial"/>
                <a:ea typeface="Arial"/>
                <a:cs typeface="Arial"/>
                <a:sym typeface="Arial"/>
              </a:rPr>
              <a:t>SSO sign-in</a:t>
            </a:r>
            <a:endParaRPr b="0" i="0" sz="1600" u="none" cap="none" strike="noStrike">
              <a:solidFill>
                <a:schemeClr val="dk1"/>
              </a:solidFill>
              <a:latin typeface="Arial"/>
              <a:ea typeface="Arial"/>
              <a:cs typeface="Arial"/>
              <a:sym typeface="Arial"/>
            </a:endParaRPr>
          </a:p>
        </p:txBody>
      </p:sp>
      <p:sp>
        <p:nvSpPr>
          <p:cNvPr id="354" name="Google Shape;354;p7"/>
          <p:cNvSpPr/>
          <p:nvPr/>
        </p:nvSpPr>
        <p:spPr>
          <a:xfrm>
            <a:off x="4297680" y="2194560"/>
            <a:ext cx="3566160" cy="1005840"/>
          </a:xfrm>
          <a:prstGeom prst="roundRect">
            <a:avLst>
              <a:gd fmla="val 10909"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7"/>
          <p:cNvSpPr txBox="1"/>
          <p:nvPr/>
        </p:nvSpPr>
        <p:spPr>
          <a:xfrm>
            <a:off x="4526280" y="2377440"/>
            <a:ext cx="6400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2</a:t>
            </a:r>
            <a:endParaRPr b="0" i="0" sz="3000" u="none" cap="none" strike="noStrike">
              <a:solidFill>
                <a:schemeClr val="dk1"/>
              </a:solidFill>
              <a:latin typeface="Arial"/>
              <a:ea typeface="Arial"/>
              <a:cs typeface="Arial"/>
              <a:sym typeface="Arial"/>
            </a:endParaRPr>
          </a:p>
        </p:txBody>
      </p:sp>
      <p:sp>
        <p:nvSpPr>
          <p:cNvPr id="356" name="Google Shape;356;p7"/>
          <p:cNvSpPr txBox="1"/>
          <p:nvPr/>
        </p:nvSpPr>
        <p:spPr>
          <a:xfrm>
            <a:off x="5212080" y="2377440"/>
            <a:ext cx="2514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Arial"/>
              <a:buNone/>
            </a:pPr>
            <a:r>
              <a:rPr b="1" i="0" lang="en-US" sz="1600" u="none" cap="none" strike="noStrike">
                <a:solidFill>
                  <a:schemeClr val="lt1"/>
                </a:solidFill>
                <a:latin typeface="Arial"/>
                <a:ea typeface="Arial"/>
                <a:cs typeface="Arial"/>
                <a:sym typeface="Arial"/>
              </a:rPr>
              <a:t>CV → profile at 72%</a:t>
            </a:r>
            <a:endParaRPr b="0" i="0" sz="1600" u="none" cap="none" strike="noStrike">
              <a:solidFill>
                <a:schemeClr val="dk1"/>
              </a:solidFill>
              <a:latin typeface="Arial"/>
              <a:ea typeface="Arial"/>
              <a:cs typeface="Arial"/>
              <a:sym typeface="Arial"/>
            </a:endParaRPr>
          </a:p>
        </p:txBody>
      </p:sp>
      <p:sp>
        <p:nvSpPr>
          <p:cNvPr id="357" name="Google Shape;357;p7"/>
          <p:cNvSpPr/>
          <p:nvPr/>
        </p:nvSpPr>
        <p:spPr>
          <a:xfrm>
            <a:off x="8046720" y="2194560"/>
            <a:ext cx="3566160" cy="1005840"/>
          </a:xfrm>
          <a:prstGeom prst="roundRect">
            <a:avLst>
              <a:gd fmla="val 10909"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7"/>
          <p:cNvSpPr txBox="1"/>
          <p:nvPr/>
        </p:nvSpPr>
        <p:spPr>
          <a:xfrm>
            <a:off x="8275320" y="2377440"/>
            <a:ext cx="6400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3</a:t>
            </a:r>
            <a:endParaRPr b="0" i="0" sz="3000" u="none" cap="none" strike="noStrike">
              <a:solidFill>
                <a:schemeClr val="dk1"/>
              </a:solidFill>
              <a:latin typeface="Arial"/>
              <a:ea typeface="Arial"/>
              <a:cs typeface="Arial"/>
              <a:sym typeface="Arial"/>
            </a:endParaRPr>
          </a:p>
        </p:txBody>
      </p:sp>
      <p:sp>
        <p:nvSpPr>
          <p:cNvPr id="359" name="Google Shape;359;p7"/>
          <p:cNvSpPr txBox="1"/>
          <p:nvPr/>
        </p:nvSpPr>
        <p:spPr>
          <a:xfrm>
            <a:off x="8961120" y="2377440"/>
            <a:ext cx="2514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Arial"/>
              <a:buNone/>
            </a:pPr>
            <a:r>
              <a:rPr b="1" i="0" lang="en-US" sz="1600" u="none" cap="none" strike="noStrike">
                <a:solidFill>
                  <a:schemeClr val="lt1"/>
                </a:solidFill>
                <a:latin typeface="Arial"/>
                <a:ea typeface="Arial"/>
                <a:cs typeface="Arial"/>
                <a:sym typeface="Arial"/>
              </a:rPr>
              <a:t>Preferences, min. fit 90%</a:t>
            </a:r>
            <a:endParaRPr b="0" i="0" sz="1600" u="none" cap="none" strike="noStrike">
              <a:solidFill>
                <a:schemeClr val="dk1"/>
              </a:solidFill>
              <a:latin typeface="Arial"/>
              <a:ea typeface="Arial"/>
              <a:cs typeface="Arial"/>
              <a:sym typeface="Arial"/>
            </a:endParaRPr>
          </a:p>
        </p:txBody>
      </p:sp>
      <p:sp>
        <p:nvSpPr>
          <p:cNvPr id="360" name="Google Shape;360;p7"/>
          <p:cNvSpPr/>
          <p:nvPr/>
        </p:nvSpPr>
        <p:spPr>
          <a:xfrm>
            <a:off x="548640" y="3383280"/>
            <a:ext cx="3566160" cy="1005840"/>
          </a:xfrm>
          <a:prstGeom prst="roundRect">
            <a:avLst>
              <a:gd fmla="val 10909"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7"/>
          <p:cNvSpPr txBox="1"/>
          <p:nvPr/>
        </p:nvSpPr>
        <p:spPr>
          <a:xfrm>
            <a:off x="777240" y="3566160"/>
            <a:ext cx="6400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4</a:t>
            </a:r>
            <a:endParaRPr b="0" i="0" sz="3000" u="none" cap="none" strike="noStrike">
              <a:solidFill>
                <a:schemeClr val="dk1"/>
              </a:solidFill>
              <a:latin typeface="Arial"/>
              <a:ea typeface="Arial"/>
              <a:cs typeface="Arial"/>
              <a:sym typeface="Arial"/>
            </a:endParaRPr>
          </a:p>
        </p:txBody>
      </p:sp>
      <p:sp>
        <p:nvSpPr>
          <p:cNvPr id="362" name="Google Shape;362;p7"/>
          <p:cNvSpPr txBox="1"/>
          <p:nvPr/>
        </p:nvSpPr>
        <p:spPr>
          <a:xfrm>
            <a:off x="1463040" y="3566160"/>
            <a:ext cx="2514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Arial"/>
              <a:buNone/>
            </a:pPr>
            <a:r>
              <a:rPr b="1" i="0" lang="en-US" sz="1600" u="none" cap="none" strike="noStrike">
                <a:solidFill>
                  <a:schemeClr val="lt1"/>
                </a:solidFill>
                <a:latin typeface="Arial"/>
                <a:ea typeface="Arial"/>
                <a:cs typeface="Arial"/>
                <a:sym typeface="Arial"/>
              </a:rPr>
              <a:t>10 jobs, 2 above 90%</a:t>
            </a:r>
            <a:endParaRPr b="0" i="0" sz="1600" u="none" cap="none" strike="noStrike">
              <a:solidFill>
                <a:schemeClr val="dk1"/>
              </a:solidFill>
              <a:latin typeface="Arial"/>
              <a:ea typeface="Arial"/>
              <a:cs typeface="Arial"/>
              <a:sym typeface="Arial"/>
            </a:endParaRPr>
          </a:p>
        </p:txBody>
      </p:sp>
      <p:sp>
        <p:nvSpPr>
          <p:cNvPr id="363" name="Google Shape;363;p7"/>
          <p:cNvSpPr/>
          <p:nvPr/>
        </p:nvSpPr>
        <p:spPr>
          <a:xfrm>
            <a:off x="4297680" y="3383280"/>
            <a:ext cx="3566160" cy="1005840"/>
          </a:xfrm>
          <a:prstGeom prst="roundRect">
            <a:avLst>
              <a:gd fmla="val 10909"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7"/>
          <p:cNvSpPr txBox="1"/>
          <p:nvPr/>
        </p:nvSpPr>
        <p:spPr>
          <a:xfrm>
            <a:off x="4526280" y="3566160"/>
            <a:ext cx="6400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5</a:t>
            </a:r>
            <a:endParaRPr b="0" i="0" sz="3000" u="none" cap="none" strike="noStrike">
              <a:solidFill>
                <a:schemeClr val="dk1"/>
              </a:solidFill>
              <a:latin typeface="Arial"/>
              <a:ea typeface="Arial"/>
              <a:cs typeface="Arial"/>
              <a:sym typeface="Arial"/>
            </a:endParaRPr>
          </a:p>
        </p:txBody>
      </p:sp>
      <p:sp>
        <p:nvSpPr>
          <p:cNvPr id="365" name="Google Shape;365;p7"/>
          <p:cNvSpPr txBox="1"/>
          <p:nvPr/>
        </p:nvSpPr>
        <p:spPr>
          <a:xfrm>
            <a:off x="5212080" y="3566160"/>
            <a:ext cx="2514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Arial"/>
              <a:buNone/>
            </a:pPr>
            <a:r>
              <a:rPr b="1" i="0" lang="en-US" sz="1600" u="none" cap="none" strike="noStrike">
                <a:solidFill>
                  <a:schemeClr val="lt1"/>
                </a:solidFill>
                <a:latin typeface="Arial"/>
                <a:ea typeface="Arial"/>
                <a:cs typeface="Arial"/>
                <a:sym typeface="Arial"/>
              </a:rPr>
              <a:t>How it's calculated</a:t>
            </a:r>
            <a:endParaRPr b="0" i="0" sz="1600" u="none" cap="none" strike="noStrike">
              <a:solidFill>
                <a:schemeClr val="dk1"/>
              </a:solidFill>
              <a:latin typeface="Arial"/>
              <a:ea typeface="Arial"/>
              <a:cs typeface="Arial"/>
              <a:sym typeface="Arial"/>
            </a:endParaRPr>
          </a:p>
        </p:txBody>
      </p:sp>
      <p:sp>
        <p:nvSpPr>
          <p:cNvPr id="366" name="Google Shape;366;p7"/>
          <p:cNvSpPr/>
          <p:nvPr/>
        </p:nvSpPr>
        <p:spPr>
          <a:xfrm>
            <a:off x="8046720" y="3383280"/>
            <a:ext cx="3566160" cy="1005840"/>
          </a:xfrm>
          <a:prstGeom prst="roundRect">
            <a:avLst>
              <a:gd fmla="val 10909"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7"/>
          <p:cNvSpPr txBox="1"/>
          <p:nvPr/>
        </p:nvSpPr>
        <p:spPr>
          <a:xfrm>
            <a:off x="8275320" y="3566160"/>
            <a:ext cx="6400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6</a:t>
            </a:r>
            <a:endParaRPr b="0" i="0" sz="3000" u="none" cap="none" strike="noStrike">
              <a:solidFill>
                <a:schemeClr val="dk1"/>
              </a:solidFill>
              <a:latin typeface="Arial"/>
              <a:ea typeface="Arial"/>
              <a:cs typeface="Arial"/>
              <a:sym typeface="Arial"/>
            </a:endParaRPr>
          </a:p>
        </p:txBody>
      </p:sp>
      <p:sp>
        <p:nvSpPr>
          <p:cNvPr id="368" name="Google Shape;368;p7"/>
          <p:cNvSpPr txBox="1"/>
          <p:nvPr/>
        </p:nvSpPr>
        <p:spPr>
          <a:xfrm>
            <a:off x="8961120" y="3566160"/>
            <a:ext cx="2514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Arial"/>
              <a:buNone/>
            </a:pPr>
            <a:r>
              <a:rPr b="1" i="0" lang="en-US" sz="1600" u="none" cap="none" strike="noStrike">
                <a:solidFill>
                  <a:schemeClr val="lt1"/>
                </a:solidFill>
                <a:latin typeface="Arial"/>
                <a:ea typeface="Arial"/>
                <a:cs typeface="Arial"/>
                <a:sym typeface="Arial"/>
              </a:rPr>
              <a:t>Prepare (−1)</a:t>
            </a:r>
            <a:endParaRPr b="0" i="0" sz="1600" u="none" cap="none" strike="noStrike">
              <a:solidFill>
                <a:schemeClr val="dk1"/>
              </a:solidFill>
              <a:latin typeface="Arial"/>
              <a:ea typeface="Arial"/>
              <a:cs typeface="Arial"/>
              <a:sym typeface="Arial"/>
            </a:endParaRPr>
          </a:p>
        </p:txBody>
      </p:sp>
      <p:sp>
        <p:nvSpPr>
          <p:cNvPr id="369" name="Google Shape;369;p7"/>
          <p:cNvSpPr/>
          <p:nvPr/>
        </p:nvSpPr>
        <p:spPr>
          <a:xfrm>
            <a:off x="548640" y="4572000"/>
            <a:ext cx="3566160" cy="1005840"/>
          </a:xfrm>
          <a:prstGeom prst="roundRect">
            <a:avLst>
              <a:gd fmla="val 10909"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7"/>
          <p:cNvSpPr txBox="1"/>
          <p:nvPr/>
        </p:nvSpPr>
        <p:spPr>
          <a:xfrm>
            <a:off x="777240" y="4754880"/>
            <a:ext cx="6400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7</a:t>
            </a:r>
            <a:endParaRPr b="0" i="0" sz="3000" u="none" cap="none" strike="noStrike">
              <a:solidFill>
                <a:schemeClr val="dk1"/>
              </a:solidFill>
              <a:latin typeface="Arial"/>
              <a:ea typeface="Arial"/>
              <a:cs typeface="Arial"/>
              <a:sym typeface="Arial"/>
            </a:endParaRPr>
          </a:p>
        </p:txBody>
      </p:sp>
      <p:sp>
        <p:nvSpPr>
          <p:cNvPr id="371" name="Google Shape;371;p7"/>
          <p:cNvSpPr txBox="1"/>
          <p:nvPr/>
        </p:nvSpPr>
        <p:spPr>
          <a:xfrm>
            <a:off x="1463040" y="4754880"/>
            <a:ext cx="2514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Arial"/>
              <a:buNone/>
            </a:pPr>
            <a:r>
              <a:rPr b="1" i="0" lang="en-US" sz="1600" u="none" cap="none" strike="noStrike">
                <a:solidFill>
                  <a:schemeClr val="lt1"/>
                </a:solidFill>
                <a:latin typeface="Arial"/>
                <a:ea typeface="Arial"/>
                <a:cs typeface="Arial"/>
                <a:sym typeface="Arial"/>
              </a:rPr>
              <a:t>Tailored CV (−1)</a:t>
            </a:r>
            <a:endParaRPr b="0" i="0" sz="1600" u="none" cap="none" strike="noStrike">
              <a:solidFill>
                <a:schemeClr val="dk1"/>
              </a:solidFill>
              <a:latin typeface="Arial"/>
              <a:ea typeface="Arial"/>
              <a:cs typeface="Arial"/>
              <a:sym typeface="Arial"/>
            </a:endParaRPr>
          </a:p>
        </p:txBody>
      </p:sp>
      <p:sp>
        <p:nvSpPr>
          <p:cNvPr id="372" name="Google Shape;372;p7"/>
          <p:cNvSpPr/>
          <p:nvPr/>
        </p:nvSpPr>
        <p:spPr>
          <a:xfrm>
            <a:off x="4297680" y="4572000"/>
            <a:ext cx="3566160" cy="1005840"/>
          </a:xfrm>
          <a:prstGeom prst="roundRect">
            <a:avLst>
              <a:gd fmla="val 10909"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7"/>
          <p:cNvSpPr txBox="1"/>
          <p:nvPr/>
        </p:nvSpPr>
        <p:spPr>
          <a:xfrm>
            <a:off x="4526280" y="4754880"/>
            <a:ext cx="6400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8</a:t>
            </a:r>
            <a:endParaRPr b="0" i="0" sz="3000" u="none" cap="none" strike="noStrike">
              <a:solidFill>
                <a:schemeClr val="dk1"/>
              </a:solidFill>
              <a:latin typeface="Arial"/>
              <a:ea typeface="Arial"/>
              <a:cs typeface="Arial"/>
              <a:sym typeface="Arial"/>
            </a:endParaRPr>
          </a:p>
        </p:txBody>
      </p:sp>
      <p:sp>
        <p:nvSpPr>
          <p:cNvPr id="374" name="Google Shape;374;p7"/>
          <p:cNvSpPr txBox="1"/>
          <p:nvPr/>
        </p:nvSpPr>
        <p:spPr>
          <a:xfrm>
            <a:off x="5212080" y="4754880"/>
            <a:ext cx="2514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Arial"/>
              <a:buNone/>
            </a:pPr>
            <a:r>
              <a:rPr b="1" i="0" lang="en-US" sz="1600" u="none" cap="none" strike="noStrike">
                <a:solidFill>
                  <a:schemeClr val="lt1"/>
                </a:solidFill>
                <a:latin typeface="Arial"/>
                <a:ea typeface="Arial"/>
                <a:cs typeface="Arial"/>
                <a:sym typeface="Arial"/>
              </a:rPr>
              <a:t>Apply + confirm</a:t>
            </a:r>
            <a:endParaRPr b="0" i="0" sz="1600" u="none" cap="none" strike="noStrike">
              <a:solidFill>
                <a:schemeClr val="dk1"/>
              </a:solidFill>
              <a:latin typeface="Arial"/>
              <a:ea typeface="Arial"/>
              <a:cs typeface="Arial"/>
              <a:sym typeface="Arial"/>
            </a:endParaRPr>
          </a:p>
        </p:txBody>
      </p:sp>
      <p:sp>
        <p:nvSpPr>
          <p:cNvPr id="375" name="Google Shape;375;p7"/>
          <p:cNvSpPr/>
          <p:nvPr/>
        </p:nvSpPr>
        <p:spPr>
          <a:xfrm>
            <a:off x="8046720" y="4572000"/>
            <a:ext cx="3566160" cy="1005840"/>
          </a:xfrm>
          <a:prstGeom prst="roundRect">
            <a:avLst>
              <a:gd fmla="val 10909"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7"/>
          <p:cNvSpPr txBox="1"/>
          <p:nvPr/>
        </p:nvSpPr>
        <p:spPr>
          <a:xfrm>
            <a:off x="8275320" y="4754880"/>
            <a:ext cx="6400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9</a:t>
            </a:r>
            <a:endParaRPr b="0" i="0" sz="3000" u="none" cap="none" strike="noStrike">
              <a:solidFill>
                <a:schemeClr val="dk1"/>
              </a:solidFill>
              <a:latin typeface="Arial"/>
              <a:ea typeface="Arial"/>
              <a:cs typeface="Arial"/>
              <a:sym typeface="Arial"/>
            </a:endParaRPr>
          </a:p>
        </p:txBody>
      </p:sp>
      <p:sp>
        <p:nvSpPr>
          <p:cNvPr id="377" name="Google Shape;377;p7"/>
          <p:cNvSpPr txBox="1"/>
          <p:nvPr/>
        </p:nvSpPr>
        <p:spPr>
          <a:xfrm>
            <a:off x="8961120" y="4754880"/>
            <a:ext cx="2514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Arial"/>
              <a:buNone/>
            </a:pPr>
            <a:r>
              <a:rPr b="1" i="0" lang="en-US" sz="1600" u="none" cap="none" strike="noStrike">
                <a:solidFill>
                  <a:schemeClr val="lt1"/>
                </a:solidFill>
                <a:latin typeface="Arial"/>
                <a:ea typeface="Arial"/>
                <a:cs typeface="Arial"/>
                <a:sym typeface="Arial"/>
              </a:rPr>
              <a:t>Interview prep</a:t>
            </a:r>
            <a:endParaRPr b="0" i="0" sz="1600" u="none" cap="none" strike="noStrike">
              <a:solidFill>
                <a:schemeClr val="dk1"/>
              </a:solidFill>
              <a:latin typeface="Arial"/>
              <a:ea typeface="Arial"/>
              <a:cs typeface="Arial"/>
              <a:sym typeface="Arial"/>
            </a:endParaRPr>
          </a:p>
        </p:txBody>
      </p:sp>
      <p:sp>
        <p:nvSpPr>
          <p:cNvPr id="378" name="Google Shape;378;p7"/>
          <p:cNvSpPr txBox="1"/>
          <p:nvPr/>
        </p:nvSpPr>
        <p:spPr>
          <a:xfrm>
            <a:off x="548640" y="5852160"/>
            <a:ext cx="10058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200"/>
              <a:buFont typeface="Arial"/>
              <a:buNone/>
            </a:pPr>
            <a:r>
              <a:rPr b="0" i="0" lang="en-US" sz="1200" u="none" cap="none" strike="noStrike">
                <a:solidFill>
                  <a:schemeClr val="accent4"/>
                </a:solidFill>
                <a:latin typeface="Arial"/>
                <a:ea typeface="Arial"/>
                <a:cs typeface="Arial"/>
                <a:sym typeface="Arial"/>
              </a:rPr>
              <a:t>Next.js demo on Vercel · Figma prototype as backup · all jobs and scores are illustrative</a:t>
            </a:r>
            <a:endParaRPr b="0" i="0" sz="1200" u="none" cap="none" strike="noStrike">
              <a:solidFill>
                <a:schemeClr val="dk1"/>
              </a:solidFill>
              <a:latin typeface="Arial"/>
              <a:ea typeface="Arial"/>
              <a:cs typeface="Arial"/>
              <a:sym typeface="Arial"/>
            </a:endParaRPr>
          </a:p>
        </p:txBody>
      </p:sp>
      <p:sp>
        <p:nvSpPr>
          <p:cNvPr id="379" name="Google Shape;379;p7"/>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4"/>
                </a:solidFill>
                <a:latin typeface="Arial"/>
                <a:ea typeface="Arial"/>
                <a:cs typeface="Arial"/>
                <a:sym typeface="Arial"/>
              </a:rPr>
              <a:t>‹#›</a:t>
            </a:fld>
            <a:endParaRPr b="0" i="0" sz="1000" u="none" cap="none" strike="noStrike">
              <a:solidFill>
                <a:schemeClr val="accent4"/>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p8"/>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BUSINESS MODEL</a:t>
            </a:r>
            <a:endParaRPr sz="1200"/>
          </a:p>
        </p:txBody>
      </p:sp>
      <p:sp>
        <p:nvSpPr>
          <p:cNvPr id="386" name="Google Shape;386;p8"/>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200"/>
              <a:buFont typeface="Arial"/>
              <a:buNone/>
            </a:pPr>
            <a:r>
              <a:rPr b="1" lang="en-US" sz="3200">
                <a:solidFill>
                  <a:schemeClr val="dk1"/>
                </a:solidFill>
              </a:rPr>
              <a:t>Matching is free; credits pay for preparation</a:t>
            </a:r>
            <a:endParaRPr sz="3200"/>
          </a:p>
        </p:txBody>
      </p:sp>
      <p:sp>
        <p:nvSpPr>
          <p:cNvPr id="387" name="Google Shape;387;p8"/>
          <p:cNvSpPr/>
          <p:nvPr/>
        </p:nvSpPr>
        <p:spPr>
          <a:xfrm>
            <a:off x="548640" y="2103120"/>
            <a:ext cx="2194560" cy="1645920"/>
          </a:xfrm>
          <a:prstGeom prst="roundRect">
            <a:avLst>
              <a:gd fmla="val 66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8"/>
          <p:cNvSpPr txBox="1"/>
          <p:nvPr/>
        </p:nvSpPr>
        <p:spPr>
          <a:xfrm>
            <a:off x="777240" y="2240280"/>
            <a:ext cx="18288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4000"/>
              <a:buFont typeface="Arial"/>
              <a:buNone/>
            </a:pPr>
            <a:r>
              <a:rPr b="1" i="0" lang="en-US" sz="4000" u="none" cap="none" strike="noStrike">
                <a:solidFill>
                  <a:schemeClr val="dk1"/>
                </a:solidFill>
                <a:latin typeface="Arial"/>
                <a:ea typeface="Arial"/>
                <a:cs typeface="Arial"/>
                <a:sym typeface="Arial"/>
              </a:rPr>
              <a:t>10</a:t>
            </a:r>
            <a:endParaRPr b="0" i="0" sz="4000" u="none" cap="none" strike="noStrike">
              <a:solidFill>
                <a:schemeClr val="dk1"/>
              </a:solidFill>
              <a:latin typeface="Arial"/>
              <a:ea typeface="Arial"/>
              <a:cs typeface="Arial"/>
              <a:sym typeface="Arial"/>
            </a:endParaRPr>
          </a:p>
        </p:txBody>
      </p:sp>
      <p:sp>
        <p:nvSpPr>
          <p:cNvPr id="389" name="Google Shape;389;p8"/>
          <p:cNvSpPr txBox="1"/>
          <p:nvPr/>
        </p:nvSpPr>
        <p:spPr>
          <a:xfrm>
            <a:off x="777240" y="3017520"/>
            <a:ext cx="178308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free credits per user per day</a:t>
            </a:r>
            <a:endParaRPr b="0" i="0" sz="1300" u="none" cap="none" strike="noStrike">
              <a:solidFill>
                <a:schemeClr val="dk1"/>
              </a:solidFill>
              <a:latin typeface="Arial"/>
              <a:ea typeface="Arial"/>
              <a:cs typeface="Arial"/>
              <a:sym typeface="Arial"/>
            </a:endParaRPr>
          </a:p>
        </p:txBody>
      </p:sp>
      <p:sp>
        <p:nvSpPr>
          <p:cNvPr id="390" name="Google Shape;390;p8"/>
          <p:cNvSpPr/>
          <p:nvPr/>
        </p:nvSpPr>
        <p:spPr>
          <a:xfrm>
            <a:off x="2926080" y="2103120"/>
            <a:ext cx="2194560" cy="1645920"/>
          </a:xfrm>
          <a:prstGeom prst="roundRect">
            <a:avLst>
              <a:gd fmla="val 66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8"/>
          <p:cNvSpPr txBox="1"/>
          <p:nvPr/>
        </p:nvSpPr>
        <p:spPr>
          <a:xfrm>
            <a:off x="3154680" y="2240280"/>
            <a:ext cx="18288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4000"/>
              <a:buFont typeface="Arial"/>
              <a:buNone/>
            </a:pPr>
            <a:r>
              <a:rPr b="1" i="0" lang="en-US" sz="4000" u="none" cap="none" strike="noStrike">
                <a:solidFill>
                  <a:schemeClr val="dk1"/>
                </a:solidFill>
                <a:latin typeface="Arial"/>
                <a:ea typeface="Arial"/>
                <a:cs typeface="Arial"/>
                <a:sym typeface="Arial"/>
              </a:rPr>
              <a:t>4</a:t>
            </a:r>
            <a:endParaRPr b="0" i="0" sz="4000" u="none" cap="none" strike="noStrike">
              <a:solidFill>
                <a:schemeClr val="dk1"/>
              </a:solidFill>
              <a:latin typeface="Arial"/>
              <a:ea typeface="Arial"/>
              <a:cs typeface="Arial"/>
              <a:sym typeface="Arial"/>
            </a:endParaRPr>
          </a:p>
        </p:txBody>
      </p:sp>
      <p:sp>
        <p:nvSpPr>
          <p:cNvPr id="392" name="Google Shape;392;p8"/>
          <p:cNvSpPr txBox="1"/>
          <p:nvPr/>
        </p:nvSpPr>
        <p:spPr>
          <a:xfrm>
            <a:off x="3154680" y="3017520"/>
            <a:ext cx="178308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credits to fully prepare one application</a:t>
            </a:r>
            <a:endParaRPr b="0" i="0" sz="1300" u="none" cap="none" strike="noStrike">
              <a:solidFill>
                <a:schemeClr val="dk1"/>
              </a:solidFill>
              <a:latin typeface="Arial"/>
              <a:ea typeface="Arial"/>
              <a:cs typeface="Arial"/>
              <a:sym typeface="Arial"/>
            </a:endParaRPr>
          </a:p>
        </p:txBody>
      </p:sp>
      <p:sp>
        <p:nvSpPr>
          <p:cNvPr id="393" name="Google Shape;393;p8"/>
          <p:cNvSpPr/>
          <p:nvPr/>
        </p:nvSpPr>
        <p:spPr>
          <a:xfrm>
            <a:off x="5303520" y="2103120"/>
            <a:ext cx="2194560" cy="1645920"/>
          </a:xfrm>
          <a:prstGeom prst="roundRect">
            <a:avLst>
              <a:gd fmla="val 6667"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8"/>
          <p:cNvSpPr txBox="1"/>
          <p:nvPr/>
        </p:nvSpPr>
        <p:spPr>
          <a:xfrm>
            <a:off x="5532120" y="2240280"/>
            <a:ext cx="18288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000"/>
              <a:buFont typeface="Arial"/>
              <a:buNone/>
            </a:pPr>
            <a:r>
              <a:rPr b="1" i="0" lang="en-US" sz="3000" u="none" cap="none" strike="noStrike">
                <a:solidFill>
                  <a:schemeClr val="accent1"/>
                </a:solidFill>
                <a:latin typeface="Arial"/>
                <a:ea typeface="Arial"/>
                <a:cs typeface="Arial"/>
                <a:sym typeface="Arial"/>
              </a:rPr>
              <a:t>&lt; €0.01</a:t>
            </a:r>
            <a:endParaRPr b="0" i="0" sz="3000" u="none" cap="none" strike="noStrike">
              <a:solidFill>
                <a:schemeClr val="dk1"/>
              </a:solidFill>
              <a:latin typeface="Arial"/>
              <a:ea typeface="Arial"/>
              <a:cs typeface="Arial"/>
              <a:sym typeface="Arial"/>
            </a:endParaRPr>
          </a:p>
        </p:txBody>
      </p:sp>
      <p:sp>
        <p:nvSpPr>
          <p:cNvPr id="395" name="Google Shape;395;p8"/>
          <p:cNvSpPr txBox="1"/>
          <p:nvPr/>
        </p:nvSpPr>
        <p:spPr>
          <a:xfrm>
            <a:off x="5532120" y="3017520"/>
            <a:ext cx="178308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Arial"/>
              <a:buNone/>
            </a:pPr>
            <a:r>
              <a:rPr b="0" i="0" lang="en-US" sz="1300" u="none" cap="none" strike="noStrike">
                <a:solidFill>
                  <a:schemeClr val="dk2"/>
                </a:solidFill>
                <a:latin typeface="Arial"/>
                <a:ea typeface="Arial"/>
                <a:cs typeface="Arial"/>
                <a:sym typeface="Arial"/>
              </a:rPr>
              <a:t>AI cost target per fully prepared application</a:t>
            </a:r>
            <a:endParaRPr b="0" i="0" sz="1300" u="none" cap="none" strike="noStrike">
              <a:solidFill>
                <a:schemeClr val="dk1"/>
              </a:solidFill>
              <a:latin typeface="Arial"/>
              <a:ea typeface="Arial"/>
              <a:cs typeface="Arial"/>
              <a:sym typeface="Arial"/>
            </a:endParaRPr>
          </a:p>
        </p:txBody>
      </p:sp>
      <p:graphicFrame>
        <p:nvGraphicFramePr>
          <p:cNvPr id="396" name="Google Shape;396;p8"/>
          <p:cNvGraphicFramePr/>
          <p:nvPr/>
        </p:nvGraphicFramePr>
        <p:xfrm>
          <a:off x="548640" y="3977640"/>
          <a:ext cx="3000000" cy="3000000"/>
        </p:xfrm>
        <a:graphic>
          <a:graphicData uri="http://schemas.openxmlformats.org/drawingml/2006/table">
            <a:tbl>
              <a:tblPr>
                <a:noFill/>
                <a:tableStyleId>{355AD317-4925-4BC8-8E0B-B8CEDDE1BA60}</a:tableStyleId>
              </a:tblPr>
              <a:tblGrid>
                <a:gridCol w="5120650"/>
                <a:gridCol w="1828800"/>
              </a:tblGrid>
              <a:tr h="329175">
                <a:tc>
                  <a:txBody>
                    <a:bodyPr/>
                    <a:lstStyle/>
                    <a:p>
                      <a:pPr indent="0" lvl="0" marL="0" marR="0" rtl="0" algn="l">
                        <a:spcBef>
                          <a:spcPts val="0"/>
                        </a:spcBef>
                        <a:spcAft>
                          <a:spcPts val="0"/>
                        </a:spcAft>
                        <a:buClr>
                          <a:srgbClr val="5B6B80"/>
                        </a:buClr>
                        <a:buSzPts val="1300"/>
                        <a:buFont typeface="Arial"/>
                        <a:buNone/>
                      </a:pPr>
                      <a:r>
                        <a:rPr b="1" lang="en-US" sz="1300" u="none" cap="none" strike="noStrike">
                          <a:solidFill>
                            <a:srgbClr val="5B6B80"/>
                          </a:solidFill>
                        </a:rPr>
                        <a:t>Action</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5B6B80"/>
                        </a:buClr>
                        <a:buSzPts val="1300"/>
                        <a:buFont typeface="Arial"/>
                        <a:buNone/>
                      </a:pPr>
                      <a:r>
                        <a:rPr b="1" lang="en-US" sz="1300" u="none" cap="none" strike="noStrike">
                          <a:solidFill>
                            <a:srgbClr val="5B6B80"/>
                          </a:solidFill>
                        </a:rPr>
                        <a:t>Cost</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32917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Match score, why it fits, how it's calculated</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Free</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32917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Apply on job site, save a job</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Free</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32917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Prepare application (gaps, risks, strategy)</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1 credit</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32917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Tailored CV · cover letter</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1 credit each</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32917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Interview prep, from the application</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1 credit</a:t>
                      </a:r>
                      <a:endParaRPr sz="1300" u="none" cap="none" strike="noStrike"/>
                    </a:p>
                  </a:txBody>
                  <a:tcPr marT="36575" marB="36575" marR="109725" marL="109725">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bl>
          </a:graphicData>
        </a:graphic>
      </p:graphicFrame>
      <p:sp>
        <p:nvSpPr>
          <p:cNvPr id="397" name="Google Shape;397;p8"/>
          <p:cNvSpPr/>
          <p:nvPr/>
        </p:nvSpPr>
        <p:spPr>
          <a:xfrm>
            <a:off x="7863840" y="2103120"/>
            <a:ext cx="3776472" cy="3931920"/>
          </a:xfrm>
          <a:prstGeom prst="roundRect">
            <a:avLst>
              <a:gd fmla="val 2906" name="adj"/>
            </a:avLst>
          </a:prstGeom>
          <a:solidFill>
            <a:srgbClr val="0F2A4A"/>
          </a:solidFill>
          <a:ln cap="flat" cmpd="sng" w="12700">
            <a:solidFill>
              <a:srgbClr val="0F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8"/>
          <p:cNvSpPr txBox="1"/>
          <p:nvPr/>
        </p:nvSpPr>
        <p:spPr>
          <a:xfrm>
            <a:off x="8138160" y="2331720"/>
            <a:ext cx="329184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100"/>
              <a:buFont typeface="Arial"/>
              <a:buNone/>
            </a:pPr>
            <a:r>
              <a:rPr b="1" i="0" lang="en-US" spc="200" sz="1100" u="none" cap="none" strike="noStrike">
                <a:solidFill>
                  <a:schemeClr val="accent1"/>
                </a:solidFill>
                <a:latin typeface="Arial"/>
                <a:ea typeface="Arial"/>
                <a:cs typeface="Arial"/>
                <a:sym typeface="Arial"/>
              </a:rPr>
              <a:t>COMING SOON</a:t>
            </a:r>
            <a:endParaRPr b="0" i="0" sz="1100" u="none" cap="none" strike="noStrike">
              <a:solidFill>
                <a:schemeClr val="dk1"/>
              </a:solidFill>
              <a:latin typeface="Arial"/>
              <a:ea typeface="Arial"/>
              <a:cs typeface="Arial"/>
              <a:sym typeface="Arial"/>
            </a:endParaRPr>
          </a:p>
        </p:txBody>
      </p:sp>
      <p:sp>
        <p:nvSpPr>
          <p:cNvPr id="399" name="Google Shape;399;p8"/>
          <p:cNvSpPr txBox="1"/>
          <p:nvPr/>
        </p:nvSpPr>
        <p:spPr>
          <a:xfrm>
            <a:off x="8138160" y="2606040"/>
            <a:ext cx="32918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Arial"/>
              <a:buNone/>
            </a:pPr>
            <a:r>
              <a:rPr b="1" i="0" lang="en-US" sz="1800" u="none" cap="none" strike="noStrike">
                <a:solidFill>
                  <a:schemeClr val="lt1"/>
                </a:solidFill>
                <a:latin typeface="Arial"/>
                <a:ea typeface="Arial"/>
                <a:cs typeface="Arial"/>
                <a:sym typeface="Arial"/>
              </a:rPr>
              <a:t>Top up credits</a:t>
            </a:r>
            <a:endParaRPr b="0" i="0" sz="1800" u="none" cap="none" strike="noStrike">
              <a:solidFill>
                <a:schemeClr val="dk1"/>
              </a:solidFill>
              <a:latin typeface="Arial"/>
              <a:ea typeface="Arial"/>
              <a:cs typeface="Arial"/>
              <a:sym typeface="Arial"/>
            </a:endParaRPr>
          </a:p>
        </p:txBody>
      </p:sp>
      <p:sp>
        <p:nvSpPr>
          <p:cNvPr id="400" name="Google Shape;400;p8"/>
          <p:cNvSpPr txBox="1"/>
          <p:nvPr/>
        </p:nvSpPr>
        <p:spPr>
          <a:xfrm>
            <a:off x="8138160" y="3063240"/>
            <a:ext cx="3291840" cy="10972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accent4"/>
              </a:buClr>
              <a:buSzPts val="1400"/>
              <a:buFont typeface="Arial"/>
              <a:buChar char="•"/>
            </a:pPr>
            <a:r>
              <a:rPr b="0" i="0" lang="en-US" sz="1400" u="none" cap="none" strike="noStrike">
                <a:solidFill>
                  <a:schemeClr val="accent4"/>
                </a:solidFill>
                <a:latin typeface="Arial"/>
                <a:ea typeface="Arial"/>
                <a:cs typeface="Arial"/>
                <a:sym typeface="Arial"/>
              </a:rPr>
              <a:t>Prepaid wallet, top-up from €10</a:t>
            </a:r>
            <a:endParaRPr b="0" i="0" sz="1400" u="none" cap="none" strike="noStrike">
              <a:solidFill>
                <a:schemeClr val="dk1"/>
              </a:solidFill>
              <a:latin typeface="Arial"/>
              <a:ea typeface="Arial"/>
              <a:cs typeface="Arial"/>
              <a:sym typeface="Arial"/>
            </a:endParaRPr>
          </a:p>
          <a:p>
            <a:pPr indent="-342900" lvl="0" marL="342900" marR="0" rtl="0" algn="l">
              <a:spcBef>
                <a:spcPts val="400"/>
              </a:spcBef>
              <a:spcAft>
                <a:spcPts val="0"/>
              </a:spcAft>
              <a:buClr>
                <a:schemeClr val="accent4"/>
              </a:buClr>
              <a:buSzPts val="1400"/>
              <a:buFont typeface="Arial"/>
              <a:buChar char="•"/>
            </a:pPr>
            <a:r>
              <a:rPr b="0" i="0" lang="en-US" sz="1400" u="none" cap="none" strike="noStrike">
                <a:solidFill>
                  <a:schemeClr val="accent4"/>
                </a:solidFill>
                <a:latin typeface="Arial"/>
                <a:ea typeface="Arial"/>
                <a:cs typeface="Arial"/>
                <a:sym typeface="Arial"/>
              </a:rPr>
              <a:t>10 credits for €0.99</a:t>
            </a:r>
            <a:endParaRPr b="0" i="0" sz="1400" u="none" cap="none" strike="noStrike">
              <a:solidFill>
                <a:schemeClr val="dk1"/>
              </a:solidFill>
              <a:latin typeface="Arial"/>
              <a:ea typeface="Arial"/>
              <a:cs typeface="Arial"/>
              <a:sym typeface="Arial"/>
            </a:endParaRPr>
          </a:p>
          <a:p>
            <a:pPr indent="-342900" lvl="0" marL="342900" marR="0" rtl="0" algn="l">
              <a:spcBef>
                <a:spcPts val="400"/>
              </a:spcBef>
              <a:spcAft>
                <a:spcPts val="0"/>
              </a:spcAft>
              <a:buClr>
                <a:schemeClr val="accent4"/>
              </a:buClr>
              <a:buSzPts val="1400"/>
              <a:buFont typeface="Arial"/>
              <a:buChar char="•"/>
            </a:pPr>
            <a:r>
              <a:rPr b="0" i="0" lang="en-US" sz="1400" u="none" cap="none" strike="noStrike">
                <a:solidFill>
                  <a:schemeClr val="accent4"/>
                </a:solidFill>
                <a:latin typeface="Arial"/>
                <a:ea typeface="Arial"/>
                <a:cs typeface="Arial"/>
                <a:sym typeface="Arial"/>
              </a:rPr>
              <a:t>Bought credits never expire</a:t>
            </a:r>
            <a:endParaRPr b="0" i="0" sz="1400" u="none" cap="none" strike="noStrike">
              <a:solidFill>
                <a:schemeClr val="dk1"/>
              </a:solidFill>
              <a:latin typeface="Arial"/>
              <a:ea typeface="Arial"/>
              <a:cs typeface="Arial"/>
              <a:sym typeface="Arial"/>
            </a:endParaRPr>
          </a:p>
        </p:txBody>
      </p:sp>
      <p:sp>
        <p:nvSpPr>
          <p:cNvPr id="401" name="Google Shape;401;p8"/>
          <p:cNvSpPr txBox="1"/>
          <p:nvPr/>
        </p:nvSpPr>
        <p:spPr>
          <a:xfrm>
            <a:off x="8138160" y="4251960"/>
            <a:ext cx="329184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100"/>
              <a:buFont typeface="Arial"/>
              <a:buNone/>
            </a:pPr>
            <a:r>
              <a:rPr b="1" i="0" lang="en-US" spc="200" sz="1100" u="none" cap="none" strike="noStrike">
                <a:solidFill>
                  <a:schemeClr val="accent1"/>
                </a:solidFill>
                <a:latin typeface="Arial"/>
                <a:ea typeface="Arial"/>
                <a:cs typeface="Arial"/>
                <a:sym typeface="Arial"/>
              </a:rPr>
              <a:t>LATER</a:t>
            </a:r>
            <a:endParaRPr b="0" i="0" sz="1100" u="none" cap="none" strike="noStrike">
              <a:solidFill>
                <a:schemeClr val="dk1"/>
              </a:solidFill>
              <a:latin typeface="Arial"/>
              <a:ea typeface="Arial"/>
              <a:cs typeface="Arial"/>
              <a:sym typeface="Arial"/>
            </a:endParaRPr>
          </a:p>
        </p:txBody>
      </p:sp>
      <p:sp>
        <p:nvSpPr>
          <p:cNvPr id="402" name="Google Shape;402;p8"/>
          <p:cNvSpPr txBox="1"/>
          <p:nvPr/>
        </p:nvSpPr>
        <p:spPr>
          <a:xfrm>
            <a:off x="8138160" y="4526280"/>
            <a:ext cx="32918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400"/>
              <a:buFont typeface="Arial"/>
              <a:buNone/>
            </a:pPr>
            <a:r>
              <a:rPr b="0" i="0" lang="en-US" sz="1400" u="none" cap="none" strike="noStrike">
                <a:solidFill>
                  <a:schemeClr val="accent4"/>
                </a:solidFill>
                <a:latin typeface="Arial"/>
                <a:ea typeface="Arial"/>
                <a:cs typeface="Arial"/>
                <a:sym typeface="Arial"/>
              </a:rPr>
              <a:t>Employers pay for job ads and talent search, behind an employer login.</a:t>
            </a:r>
            <a:endParaRPr b="0" i="0" sz="1400" u="none" cap="none" strike="noStrike">
              <a:solidFill>
                <a:schemeClr val="dk1"/>
              </a:solidFill>
              <a:latin typeface="Arial"/>
              <a:ea typeface="Arial"/>
              <a:cs typeface="Arial"/>
              <a:sym typeface="Arial"/>
            </a:endParaRPr>
          </a:p>
        </p:txBody>
      </p:sp>
      <p:sp>
        <p:nvSpPr>
          <p:cNvPr id="403" name="Google Shape;403;p8"/>
          <p:cNvSpPr txBox="1"/>
          <p:nvPr/>
        </p:nvSpPr>
        <p:spPr>
          <a:xfrm>
            <a:off x="8138160" y="5257800"/>
            <a:ext cx="32918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Credits buy preparation tools, never a better ranking.</a:t>
            </a:r>
            <a:endParaRPr b="0" i="0" sz="1400" u="none" cap="none" strike="noStrike">
              <a:solidFill>
                <a:schemeClr val="dk1"/>
              </a:solidFill>
              <a:latin typeface="Arial"/>
              <a:ea typeface="Arial"/>
              <a:cs typeface="Arial"/>
              <a:sym typeface="Arial"/>
            </a:endParaRPr>
          </a:p>
        </p:txBody>
      </p:sp>
      <p:sp>
        <p:nvSpPr>
          <p:cNvPr id="404" name="Google Shape;404;p8"/>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9"/>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HEADHUNTER PILOT · INVITATION ONLY</a:t>
            </a:r>
            <a:endParaRPr sz="1200"/>
          </a:p>
        </p:txBody>
      </p:sp>
      <p:sp>
        <p:nvSpPr>
          <p:cNvPr id="411" name="Google Shape;411;p9"/>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lt1"/>
              </a:buClr>
              <a:buSzPts val="3200"/>
              <a:buFont typeface="Arial"/>
              <a:buNone/>
            </a:pPr>
            <a:r>
              <a:rPr b="1" lang="en-US" sz="3200">
                <a:solidFill>
                  <a:schemeClr val="lt1"/>
                </a:solidFill>
              </a:rPr>
              <a:t>A match is an invitation; the candidate decides</a:t>
            </a:r>
            <a:endParaRPr sz="3200"/>
          </a:p>
        </p:txBody>
      </p:sp>
      <p:sp>
        <p:nvSpPr>
          <p:cNvPr id="412" name="Google Shape;412;p9"/>
          <p:cNvSpPr/>
          <p:nvPr/>
        </p:nvSpPr>
        <p:spPr>
          <a:xfrm>
            <a:off x="548640" y="2103120"/>
            <a:ext cx="6583680" cy="548640"/>
          </a:xfrm>
          <a:prstGeom prst="roundRect">
            <a:avLst>
              <a:gd fmla="val 13333"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9"/>
          <p:cNvSpPr txBox="1"/>
          <p:nvPr/>
        </p:nvSpPr>
        <p:spPr>
          <a:xfrm>
            <a:off x="777240" y="210312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1  Verified recruiter</a:t>
            </a:r>
            <a:endParaRPr b="0" i="0" sz="1400" u="none" cap="none" strike="noStrike">
              <a:solidFill>
                <a:schemeClr val="dk1"/>
              </a:solidFill>
              <a:latin typeface="Arial"/>
              <a:ea typeface="Arial"/>
              <a:cs typeface="Arial"/>
              <a:sym typeface="Arial"/>
            </a:endParaRPr>
          </a:p>
        </p:txBody>
      </p:sp>
      <p:sp>
        <p:nvSpPr>
          <p:cNvPr id="414" name="Google Shape;414;p9"/>
          <p:cNvSpPr txBox="1"/>
          <p:nvPr/>
        </p:nvSpPr>
        <p:spPr>
          <a:xfrm>
            <a:off x="4251960" y="2103120"/>
            <a:ext cx="2697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4"/>
              </a:buClr>
              <a:buSzPts val="1100"/>
              <a:buFont typeface="Arial"/>
              <a:buNone/>
            </a:pPr>
            <a:r>
              <a:rPr b="0" i="0" lang="en-US" sz="1100" u="none" cap="none" strike="noStrike">
                <a:solidFill>
                  <a:schemeClr val="accent4"/>
                </a:solidFill>
                <a:latin typeface="Arial"/>
                <a:ea typeface="Arial"/>
                <a:cs typeface="Arial"/>
                <a:sym typeface="Arial"/>
              </a:rPr>
              <a:t>Identity and organisation checked by an admin</a:t>
            </a:r>
            <a:endParaRPr b="0" i="0" sz="1100" u="none" cap="none" strike="noStrike">
              <a:solidFill>
                <a:schemeClr val="dk1"/>
              </a:solidFill>
              <a:latin typeface="Arial"/>
              <a:ea typeface="Arial"/>
              <a:cs typeface="Arial"/>
              <a:sym typeface="Arial"/>
            </a:endParaRPr>
          </a:p>
        </p:txBody>
      </p:sp>
      <p:sp>
        <p:nvSpPr>
          <p:cNvPr id="415" name="Google Shape;415;p9"/>
          <p:cNvSpPr/>
          <p:nvPr/>
        </p:nvSpPr>
        <p:spPr>
          <a:xfrm>
            <a:off x="548640" y="2743200"/>
            <a:ext cx="6400800" cy="548640"/>
          </a:xfrm>
          <a:prstGeom prst="roundRect">
            <a:avLst>
              <a:gd fmla="val 13333"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9"/>
          <p:cNvSpPr txBox="1"/>
          <p:nvPr/>
        </p:nvSpPr>
        <p:spPr>
          <a:xfrm>
            <a:off x="777240" y="274320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2  Authorised job description</a:t>
            </a:r>
            <a:endParaRPr b="0" i="0" sz="1400" u="none" cap="none" strike="noStrike">
              <a:solidFill>
                <a:schemeClr val="dk1"/>
              </a:solidFill>
              <a:latin typeface="Arial"/>
              <a:ea typeface="Arial"/>
              <a:cs typeface="Arial"/>
              <a:sym typeface="Arial"/>
            </a:endParaRPr>
          </a:p>
        </p:txBody>
      </p:sp>
      <p:sp>
        <p:nvSpPr>
          <p:cNvPr id="417" name="Google Shape;417;p9"/>
          <p:cNvSpPr txBox="1"/>
          <p:nvPr/>
        </p:nvSpPr>
        <p:spPr>
          <a:xfrm>
            <a:off x="4251960" y="2743200"/>
            <a:ext cx="2514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4"/>
              </a:buClr>
              <a:buSzPts val="1100"/>
              <a:buFont typeface="Arial"/>
              <a:buNone/>
            </a:pPr>
            <a:r>
              <a:rPr b="0" i="0" lang="en-US" sz="1100" u="none" cap="none" strike="noStrike">
                <a:solidFill>
                  <a:schemeClr val="accent4"/>
                </a:solidFill>
                <a:latin typeface="Arial"/>
                <a:ea typeface="Arial"/>
                <a:cs typeface="Arial"/>
                <a:sym typeface="Arial"/>
              </a:rPr>
              <a:t>Must-haves and start date confirmed</a:t>
            </a:r>
            <a:endParaRPr b="0" i="0" sz="1100" u="none" cap="none" strike="noStrike">
              <a:solidFill>
                <a:schemeClr val="dk1"/>
              </a:solidFill>
              <a:latin typeface="Arial"/>
              <a:ea typeface="Arial"/>
              <a:cs typeface="Arial"/>
              <a:sym typeface="Arial"/>
            </a:endParaRPr>
          </a:p>
        </p:txBody>
      </p:sp>
      <p:sp>
        <p:nvSpPr>
          <p:cNvPr id="418" name="Google Shape;418;p9"/>
          <p:cNvSpPr/>
          <p:nvPr/>
        </p:nvSpPr>
        <p:spPr>
          <a:xfrm>
            <a:off x="548640" y="3383280"/>
            <a:ext cx="6217920" cy="548640"/>
          </a:xfrm>
          <a:prstGeom prst="roundRect">
            <a:avLst>
              <a:gd fmla="val 13333"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9"/>
          <p:cNvSpPr txBox="1"/>
          <p:nvPr/>
        </p:nvSpPr>
        <p:spPr>
          <a:xfrm>
            <a:off x="777240" y="338328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3  Opted-in candidates only</a:t>
            </a:r>
            <a:endParaRPr b="0" i="0" sz="1400" u="none" cap="none" strike="noStrike">
              <a:solidFill>
                <a:schemeClr val="dk1"/>
              </a:solidFill>
              <a:latin typeface="Arial"/>
              <a:ea typeface="Arial"/>
              <a:cs typeface="Arial"/>
              <a:sym typeface="Arial"/>
            </a:endParaRPr>
          </a:p>
        </p:txBody>
      </p:sp>
      <p:sp>
        <p:nvSpPr>
          <p:cNvPr id="420" name="Google Shape;420;p9"/>
          <p:cNvSpPr txBox="1"/>
          <p:nvPr/>
        </p:nvSpPr>
        <p:spPr>
          <a:xfrm>
            <a:off x="4251960" y="3383280"/>
            <a:ext cx="2331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4"/>
              </a:buClr>
              <a:buSzPts val="1100"/>
              <a:buFont typeface="Arial"/>
              <a:buNone/>
            </a:pPr>
            <a:r>
              <a:rPr b="0" i="0" lang="en-US" sz="1100" u="none" cap="none" strike="noStrike">
                <a:solidFill>
                  <a:schemeClr val="accent4"/>
                </a:solidFill>
                <a:latin typeface="Arial"/>
                <a:ea typeface="Arial"/>
                <a:cs typeface="Arial"/>
                <a:sym typeface="Arial"/>
              </a:rPr>
              <a:t>Discovery is off by default</a:t>
            </a:r>
            <a:endParaRPr b="0" i="0" sz="1100" u="none" cap="none" strike="noStrike">
              <a:solidFill>
                <a:schemeClr val="dk1"/>
              </a:solidFill>
              <a:latin typeface="Arial"/>
              <a:ea typeface="Arial"/>
              <a:cs typeface="Arial"/>
              <a:sym typeface="Arial"/>
            </a:endParaRPr>
          </a:p>
        </p:txBody>
      </p:sp>
      <p:sp>
        <p:nvSpPr>
          <p:cNvPr id="421" name="Google Shape;421;p9"/>
          <p:cNvSpPr/>
          <p:nvPr/>
        </p:nvSpPr>
        <p:spPr>
          <a:xfrm>
            <a:off x="548640" y="4023360"/>
            <a:ext cx="6035040" cy="548640"/>
          </a:xfrm>
          <a:prstGeom prst="roundRect">
            <a:avLst>
              <a:gd fmla="val 13333"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9"/>
          <p:cNvSpPr txBox="1"/>
          <p:nvPr/>
        </p:nvSpPr>
        <p:spPr>
          <a:xfrm>
            <a:off x="777240" y="402336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4  Fit ≥ 90% and completeness ≥ 90%</a:t>
            </a:r>
            <a:endParaRPr b="0" i="0" sz="1400" u="none" cap="none" strike="noStrike">
              <a:solidFill>
                <a:schemeClr val="dk1"/>
              </a:solidFill>
              <a:latin typeface="Arial"/>
              <a:ea typeface="Arial"/>
              <a:cs typeface="Arial"/>
              <a:sym typeface="Arial"/>
            </a:endParaRPr>
          </a:p>
        </p:txBody>
      </p:sp>
      <p:sp>
        <p:nvSpPr>
          <p:cNvPr id="423" name="Google Shape;423;p9"/>
          <p:cNvSpPr txBox="1"/>
          <p:nvPr/>
        </p:nvSpPr>
        <p:spPr>
          <a:xfrm>
            <a:off x="4251960" y="4023360"/>
            <a:ext cx="21488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4"/>
              </a:buClr>
              <a:buSzPts val="1100"/>
              <a:buFont typeface="Arial"/>
              <a:buNone/>
            </a:pPr>
            <a:r>
              <a:rPr b="0" i="0" lang="en-US" sz="1100" u="none" cap="none" strike="noStrike">
                <a:solidFill>
                  <a:schemeClr val="accent4"/>
                </a:solidFill>
                <a:latin typeface="Arial"/>
                <a:ea typeface="Arial"/>
                <a:cs typeface="Arial"/>
                <a:sym typeface="Arial"/>
              </a:rPr>
              <a:t>Must-haves met, high confidence</a:t>
            </a:r>
            <a:endParaRPr b="0" i="0" sz="1100" u="none" cap="none" strike="noStrike">
              <a:solidFill>
                <a:schemeClr val="dk1"/>
              </a:solidFill>
              <a:latin typeface="Arial"/>
              <a:ea typeface="Arial"/>
              <a:cs typeface="Arial"/>
              <a:sym typeface="Arial"/>
            </a:endParaRPr>
          </a:p>
        </p:txBody>
      </p:sp>
      <p:sp>
        <p:nvSpPr>
          <p:cNvPr id="424" name="Google Shape;424;p9"/>
          <p:cNvSpPr/>
          <p:nvPr/>
        </p:nvSpPr>
        <p:spPr>
          <a:xfrm>
            <a:off x="548640" y="4663440"/>
            <a:ext cx="5852160" cy="548640"/>
          </a:xfrm>
          <a:prstGeom prst="roundRect">
            <a:avLst>
              <a:gd fmla="val 13333"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9"/>
          <p:cNvSpPr txBox="1"/>
          <p:nvPr/>
        </p:nvSpPr>
        <p:spPr>
          <a:xfrm>
            <a:off x="777240" y="466344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5  Available now</a:t>
            </a:r>
            <a:endParaRPr b="0" i="0" sz="1400" u="none" cap="none" strike="noStrike">
              <a:solidFill>
                <a:schemeClr val="dk1"/>
              </a:solidFill>
              <a:latin typeface="Arial"/>
              <a:ea typeface="Arial"/>
              <a:cs typeface="Arial"/>
              <a:sym typeface="Arial"/>
            </a:endParaRPr>
          </a:p>
        </p:txBody>
      </p:sp>
      <p:sp>
        <p:nvSpPr>
          <p:cNvPr id="426" name="Google Shape;426;p9"/>
          <p:cNvSpPr txBox="1"/>
          <p:nvPr/>
        </p:nvSpPr>
        <p:spPr>
          <a:xfrm>
            <a:off x="4251960" y="4663440"/>
            <a:ext cx="196596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4"/>
              </a:buClr>
              <a:buSzPts val="1100"/>
              <a:buFont typeface="Arial"/>
              <a:buNone/>
            </a:pPr>
            <a:r>
              <a:rPr b="0" i="0" lang="en-US" sz="1100" u="none" cap="none" strike="noStrike">
                <a:solidFill>
                  <a:schemeClr val="accent4"/>
                </a:solidFill>
                <a:latin typeface="Arial"/>
                <a:ea typeface="Arial"/>
                <a:cs typeface="Arial"/>
                <a:sym typeface="Arial"/>
              </a:rPr>
              <a:t>Confirmed in the last 7 days</a:t>
            </a:r>
            <a:endParaRPr b="0" i="0" sz="1100" u="none" cap="none" strike="noStrike">
              <a:solidFill>
                <a:schemeClr val="dk1"/>
              </a:solidFill>
              <a:latin typeface="Arial"/>
              <a:ea typeface="Arial"/>
              <a:cs typeface="Arial"/>
              <a:sym typeface="Arial"/>
            </a:endParaRPr>
          </a:p>
        </p:txBody>
      </p:sp>
      <p:sp>
        <p:nvSpPr>
          <p:cNvPr id="427" name="Google Shape;427;p9"/>
          <p:cNvSpPr/>
          <p:nvPr/>
        </p:nvSpPr>
        <p:spPr>
          <a:xfrm>
            <a:off x="548640" y="5303520"/>
            <a:ext cx="5669280" cy="548640"/>
          </a:xfrm>
          <a:prstGeom prst="roundRect">
            <a:avLst>
              <a:gd fmla="val 13333" name="adj"/>
            </a:avLst>
          </a:prstGeom>
          <a:solidFill>
            <a:srgbClr val="F2542D"/>
          </a:solidFill>
          <a:ln cap="flat" cmpd="sng" w="12700">
            <a:solidFill>
              <a:srgbClr val="F25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9"/>
          <p:cNvSpPr txBox="1"/>
          <p:nvPr/>
        </p:nvSpPr>
        <p:spPr>
          <a:xfrm>
            <a:off x="777240" y="530352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Arial"/>
              <a:buNone/>
            </a:pPr>
            <a:r>
              <a:rPr b="1" i="0" lang="en-US" sz="1400" u="none" cap="none" strike="noStrike">
                <a:solidFill>
                  <a:schemeClr val="lt1"/>
                </a:solidFill>
                <a:latin typeface="Arial"/>
                <a:ea typeface="Arial"/>
                <a:cs typeface="Arial"/>
                <a:sym typeface="Arial"/>
              </a:rPr>
              <a:t>6  Explained, pseudonymised shortlist</a:t>
            </a:r>
            <a:endParaRPr b="0" i="0" sz="1400" u="none" cap="none" strike="noStrike">
              <a:solidFill>
                <a:schemeClr val="dk1"/>
              </a:solidFill>
              <a:latin typeface="Arial"/>
              <a:ea typeface="Arial"/>
              <a:cs typeface="Arial"/>
              <a:sym typeface="Arial"/>
            </a:endParaRPr>
          </a:p>
        </p:txBody>
      </p:sp>
      <p:sp>
        <p:nvSpPr>
          <p:cNvPr id="429" name="Google Shape;429;p9"/>
          <p:cNvSpPr txBox="1"/>
          <p:nvPr/>
        </p:nvSpPr>
        <p:spPr>
          <a:xfrm>
            <a:off x="4251960" y="5303520"/>
            <a:ext cx="17830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100"/>
              <a:buFont typeface="Arial"/>
              <a:buNone/>
            </a:pPr>
            <a:r>
              <a:rPr b="0" i="0" lang="en-US" sz="1100" u="none" cap="none" strike="noStrike">
                <a:solidFill>
                  <a:schemeClr val="lt1"/>
                </a:solidFill>
                <a:latin typeface="Arial"/>
                <a:ea typeface="Arial"/>
                <a:cs typeface="Arial"/>
                <a:sym typeface="Arial"/>
              </a:rPr>
              <a:t>No CV or contact details yet</a:t>
            </a:r>
            <a:endParaRPr b="0" i="0" sz="1100" u="none" cap="none" strike="noStrike">
              <a:solidFill>
                <a:schemeClr val="dk1"/>
              </a:solidFill>
              <a:latin typeface="Arial"/>
              <a:ea typeface="Arial"/>
              <a:cs typeface="Arial"/>
              <a:sym typeface="Arial"/>
            </a:endParaRPr>
          </a:p>
        </p:txBody>
      </p:sp>
      <p:sp>
        <p:nvSpPr>
          <p:cNvPr id="430" name="Google Shape;430;p9"/>
          <p:cNvSpPr/>
          <p:nvPr/>
        </p:nvSpPr>
        <p:spPr>
          <a:xfrm>
            <a:off x="7498080" y="2103120"/>
            <a:ext cx="4142232" cy="3749040"/>
          </a:xfrm>
          <a:prstGeom prst="roundRect">
            <a:avLst>
              <a:gd fmla="val 2927"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9"/>
          <p:cNvSpPr txBox="1"/>
          <p:nvPr/>
        </p:nvSpPr>
        <p:spPr>
          <a:xfrm>
            <a:off x="7772400" y="2286000"/>
            <a:ext cx="36576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Arial"/>
              <a:buNone/>
            </a:pPr>
            <a:r>
              <a:rPr b="1" i="0" lang="en-US" sz="1800" u="none" cap="none" strike="noStrike">
                <a:solidFill>
                  <a:schemeClr val="lt1"/>
                </a:solidFill>
                <a:latin typeface="Arial"/>
                <a:ea typeface="Arial"/>
                <a:cs typeface="Arial"/>
                <a:sym typeface="Arial"/>
              </a:rPr>
              <a:t>Candidate control</a:t>
            </a:r>
            <a:endParaRPr b="0" i="0" sz="1800" u="none" cap="none" strike="noStrike">
              <a:solidFill>
                <a:schemeClr val="dk1"/>
              </a:solidFill>
              <a:latin typeface="Arial"/>
              <a:ea typeface="Arial"/>
              <a:cs typeface="Arial"/>
              <a:sym typeface="Arial"/>
            </a:endParaRPr>
          </a:p>
        </p:txBody>
      </p:sp>
      <p:sp>
        <p:nvSpPr>
          <p:cNvPr id="432" name="Google Shape;432;p9"/>
          <p:cNvSpPr txBox="1"/>
          <p:nvPr/>
        </p:nvSpPr>
        <p:spPr>
          <a:xfrm>
            <a:off x="7772400" y="2743200"/>
            <a:ext cx="3657600" cy="20116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accent4"/>
              </a:buClr>
              <a:buSzPts val="1400"/>
              <a:buFont typeface="Arial"/>
              <a:buChar char="•"/>
            </a:pPr>
            <a:r>
              <a:rPr b="0" i="0" lang="en-US" sz="1400" u="none" cap="none" strike="noStrike">
                <a:solidFill>
                  <a:schemeClr val="accent4"/>
                </a:solidFill>
                <a:latin typeface="Arial"/>
                <a:ea typeface="Arial"/>
                <a:cs typeface="Arial"/>
                <a:sym typeface="Arial"/>
              </a:rPr>
              <a:t>Approves each CV share, per recruiter and job</a:t>
            </a:r>
            <a:endParaRPr b="0" i="0" sz="1400" u="none" cap="none" strike="noStrike">
              <a:solidFill>
                <a:schemeClr val="dk1"/>
              </a:solidFill>
              <a:latin typeface="Arial"/>
              <a:ea typeface="Arial"/>
              <a:cs typeface="Arial"/>
              <a:sym typeface="Arial"/>
            </a:endParaRPr>
          </a:p>
          <a:p>
            <a:pPr indent="-342900" lvl="0" marL="342900" marR="0" rtl="0" algn="l">
              <a:spcBef>
                <a:spcPts val="800"/>
              </a:spcBef>
              <a:spcAft>
                <a:spcPts val="0"/>
              </a:spcAft>
              <a:buClr>
                <a:schemeClr val="accent4"/>
              </a:buClr>
              <a:buSzPts val="1400"/>
              <a:buFont typeface="Arial"/>
              <a:buChar char="•"/>
            </a:pPr>
            <a:r>
              <a:rPr b="0" i="0" lang="en-US" sz="1400" u="none" cap="none" strike="noStrike">
                <a:solidFill>
                  <a:schemeClr val="accent4"/>
                </a:solidFill>
                <a:latin typeface="Arial"/>
                <a:ea typeface="Arial"/>
                <a:cs typeface="Arial"/>
                <a:sym typeface="Arial"/>
              </a:rPr>
              <a:t>Access expires and every view is logged</a:t>
            </a:r>
            <a:endParaRPr b="0" i="0" sz="1400" u="none" cap="none" strike="noStrike">
              <a:solidFill>
                <a:schemeClr val="dk1"/>
              </a:solidFill>
              <a:latin typeface="Arial"/>
              <a:ea typeface="Arial"/>
              <a:cs typeface="Arial"/>
              <a:sym typeface="Arial"/>
            </a:endParaRPr>
          </a:p>
          <a:p>
            <a:pPr indent="-342900" lvl="0" marL="342900" marR="0" rtl="0" algn="l">
              <a:spcBef>
                <a:spcPts val="800"/>
              </a:spcBef>
              <a:spcAft>
                <a:spcPts val="0"/>
              </a:spcAft>
              <a:buClr>
                <a:schemeClr val="accent4"/>
              </a:buClr>
              <a:buSzPts val="1400"/>
              <a:buFont typeface="Arial"/>
              <a:buChar char="•"/>
            </a:pPr>
            <a:r>
              <a:rPr b="0" i="0" lang="en-US" sz="1400" u="none" cap="none" strike="noStrike">
                <a:solidFill>
                  <a:schemeClr val="accent4"/>
                </a:solidFill>
                <a:latin typeface="Arial"/>
                <a:ea typeface="Arial"/>
                <a:cs typeface="Arial"/>
                <a:sym typeface="Arial"/>
              </a:rPr>
              <a:t>Can revoke discovery at any time</a:t>
            </a:r>
            <a:endParaRPr b="0" i="0" sz="1400" u="none" cap="none" strike="noStrike">
              <a:solidFill>
                <a:schemeClr val="dk1"/>
              </a:solidFill>
              <a:latin typeface="Arial"/>
              <a:ea typeface="Arial"/>
              <a:cs typeface="Arial"/>
              <a:sym typeface="Arial"/>
            </a:endParaRPr>
          </a:p>
          <a:p>
            <a:pPr indent="-342900" lvl="0" marL="342900" marR="0" rtl="0" algn="l">
              <a:spcBef>
                <a:spcPts val="800"/>
              </a:spcBef>
              <a:spcAft>
                <a:spcPts val="0"/>
              </a:spcAft>
              <a:buClr>
                <a:schemeClr val="accent4"/>
              </a:buClr>
              <a:buSzPts val="1400"/>
              <a:buFont typeface="Arial"/>
              <a:buChar char="•"/>
            </a:pPr>
            <a:r>
              <a:rPr b="0" i="0" lang="en-US" sz="1400" u="none" cap="none" strike="noStrike">
                <a:solidFill>
                  <a:schemeClr val="accent4"/>
                </a:solidFill>
                <a:latin typeface="Arial"/>
                <a:ea typeface="Arial"/>
                <a:cs typeface="Arial"/>
                <a:sym typeface="Arial"/>
              </a:rPr>
              <a:t>No bulk export, no automatic decisions</a:t>
            </a:r>
            <a:endParaRPr b="0" i="0" sz="1400" u="none" cap="none" strike="noStrike">
              <a:solidFill>
                <a:schemeClr val="dk1"/>
              </a:solidFill>
              <a:latin typeface="Arial"/>
              <a:ea typeface="Arial"/>
              <a:cs typeface="Arial"/>
              <a:sym typeface="Arial"/>
            </a:endParaRPr>
          </a:p>
        </p:txBody>
      </p:sp>
      <p:sp>
        <p:nvSpPr>
          <p:cNvPr id="433" name="Google Shape;433;p9"/>
          <p:cNvSpPr txBox="1"/>
          <p:nvPr/>
        </p:nvSpPr>
        <p:spPr>
          <a:xfrm>
            <a:off x="7772400" y="4846320"/>
            <a:ext cx="365760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300"/>
              <a:buFont typeface="Arial"/>
              <a:buNone/>
            </a:pPr>
            <a:r>
              <a:rPr b="1" i="0" lang="en-US" sz="1300" u="none" cap="none" strike="noStrike">
                <a:solidFill>
                  <a:schemeClr val="lt1"/>
                </a:solidFill>
                <a:latin typeface="Arial"/>
                <a:ea typeface="Arial"/>
                <a:cs typeface="Arial"/>
                <a:sym typeface="Arial"/>
              </a:rPr>
              <a:t>No match? An honest empty list. Thresholds are never lowered.</a:t>
            </a:r>
            <a:endParaRPr b="0" i="0" sz="1300" u="none" cap="none" strike="noStrike">
              <a:solidFill>
                <a:schemeClr val="dk1"/>
              </a:solidFill>
              <a:latin typeface="Arial"/>
              <a:ea typeface="Arial"/>
              <a:cs typeface="Arial"/>
              <a:sym typeface="Arial"/>
            </a:endParaRPr>
          </a:p>
        </p:txBody>
      </p:sp>
      <p:sp>
        <p:nvSpPr>
          <p:cNvPr id="434" name="Google Shape;434;p9"/>
          <p:cNvSpPr txBox="1"/>
          <p:nvPr/>
        </p:nvSpPr>
        <p:spPr>
          <a:xfrm>
            <a:off x="548640" y="5989320"/>
            <a:ext cx="10058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100"/>
              <a:buFont typeface="Arial"/>
              <a:buNone/>
            </a:pPr>
            <a:r>
              <a:rPr b="0" i="0" lang="en-US" sz="1100" u="none" cap="none" strike="noStrike">
                <a:solidFill>
                  <a:schemeClr val="accent4"/>
                </a:solidFill>
                <a:latin typeface="Arial"/>
                <a:ea typeface="Arial"/>
                <a:cs typeface="Arial"/>
                <a:sym typeface="Arial"/>
              </a:rPr>
              <a:t>Pilot work is estimated at G2 (8 Jan 2027); it never delays the candidate launch.</a:t>
            </a:r>
            <a:endParaRPr b="0" i="0" sz="1100" u="none" cap="none" strike="noStrike">
              <a:solidFill>
                <a:schemeClr val="dk1"/>
              </a:solidFill>
              <a:latin typeface="Arial"/>
              <a:ea typeface="Arial"/>
              <a:cs typeface="Arial"/>
              <a:sym typeface="Arial"/>
            </a:endParaRPr>
          </a:p>
        </p:txBody>
      </p:sp>
      <p:sp>
        <p:nvSpPr>
          <p:cNvPr id="435" name="Google Shape;435;p9"/>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4"/>
                </a:solidFill>
                <a:latin typeface="Arial"/>
                <a:ea typeface="Arial"/>
                <a:cs typeface="Arial"/>
                <a:sym typeface="Arial"/>
              </a:rPr>
              <a:t>‹#›</a:t>
            </a:fld>
            <a:endParaRPr b="0" i="0" sz="1000" u="none" cap="none" strike="noStrike">
              <a:solidFill>
                <a:schemeClr val="accent4"/>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sp>
        <p:nvSpPr>
          <p:cNvPr id="441" name="Google Shape;441;p10"/>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SCOPE AND TIMELINE</a:t>
            </a:r>
            <a:endParaRPr sz="1200"/>
          </a:p>
        </p:txBody>
      </p:sp>
      <p:sp>
        <p:nvSpPr>
          <p:cNvPr id="442" name="Google Shape;442;p10"/>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200"/>
              <a:buFont typeface="Arial"/>
              <a:buNone/>
            </a:pPr>
            <a:r>
              <a:rPr b="1" lang="en-US" sz="3200">
                <a:solidFill>
                  <a:schemeClr val="dk1"/>
                </a:solidFill>
              </a:rPr>
              <a:t>Germany first, public launch on 14 June 2027</a:t>
            </a:r>
            <a:endParaRPr sz="3200"/>
          </a:p>
        </p:txBody>
      </p:sp>
      <p:sp>
        <p:nvSpPr>
          <p:cNvPr id="443" name="Google Shape;443;p10"/>
          <p:cNvSpPr/>
          <p:nvPr/>
        </p:nvSpPr>
        <p:spPr>
          <a:xfrm>
            <a:off x="548640" y="2240280"/>
            <a:ext cx="2428240" cy="457200"/>
          </a:xfrm>
          <a:prstGeom prst="rect">
            <a:avLst/>
          </a:prstGeom>
          <a:solidFill>
            <a:srgbClr val="0F2A4A"/>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0"/>
          <p:cNvSpPr txBox="1"/>
          <p:nvPr/>
        </p:nvSpPr>
        <p:spPr>
          <a:xfrm>
            <a:off x="658368" y="2240280"/>
            <a:ext cx="2281936"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300"/>
              <a:buFont typeface="Arial"/>
              <a:buNone/>
            </a:pPr>
            <a:r>
              <a:rPr b="1" i="0" lang="en-US" sz="1300" u="none" cap="none" strike="noStrike">
                <a:solidFill>
                  <a:schemeClr val="lt1"/>
                </a:solidFill>
                <a:latin typeface="Arial"/>
                <a:ea typeface="Arial"/>
                <a:cs typeface="Arial"/>
                <a:sym typeface="Arial"/>
              </a:rPr>
              <a:t>Validate</a:t>
            </a:r>
            <a:endParaRPr b="0" i="0" sz="1300" u="none" cap="none" strike="noStrike">
              <a:solidFill>
                <a:schemeClr val="dk1"/>
              </a:solidFill>
              <a:latin typeface="Arial"/>
              <a:ea typeface="Arial"/>
              <a:cs typeface="Arial"/>
              <a:sym typeface="Arial"/>
            </a:endParaRPr>
          </a:p>
        </p:txBody>
      </p:sp>
      <p:sp>
        <p:nvSpPr>
          <p:cNvPr id="445" name="Google Shape;445;p10"/>
          <p:cNvSpPr/>
          <p:nvPr/>
        </p:nvSpPr>
        <p:spPr>
          <a:xfrm>
            <a:off x="3013456" y="2240280"/>
            <a:ext cx="1565554" cy="457200"/>
          </a:xfrm>
          <a:prstGeom prst="rect">
            <a:avLst/>
          </a:prstGeom>
          <a:solidFill>
            <a:srgbClr val="163A63"/>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0"/>
          <p:cNvSpPr txBox="1"/>
          <p:nvPr/>
        </p:nvSpPr>
        <p:spPr>
          <a:xfrm>
            <a:off x="3123184" y="2240280"/>
            <a:ext cx="141925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300"/>
              <a:buFont typeface="Arial"/>
              <a:buNone/>
            </a:pPr>
            <a:r>
              <a:rPr b="1" i="0" lang="en-US" sz="1300" u="none" cap="none" strike="noStrike">
                <a:solidFill>
                  <a:schemeClr val="lt1"/>
                </a:solidFill>
                <a:latin typeface="Arial"/>
                <a:ea typeface="Arial"/>
                <a:cs typeface="Arial"/>
                <a:sym typeface="Arial"/>
              </a:rPr>
              <a:t>Design</a:t>
            </a:r>
            <a:endParaRPr b="0" i="0" sz="1300" u="none" cap="none" strike="noStrike">
              <a:solidFill>
                <a:schemeClr val="dk1"/>
              </a:solidFill>
              <a:latin typeface="Arial"/>
              <a:ea typeface="Arial"/>
              <a:cs typeface="Arial"/>
              <a:sym typeface="Arial"/>
            </a:endParaRPr>
          </a:p>
        </p:txBody>
      </p:sp>
      <p:sp>
        <p:nvSpPr>
          <p:cNvPr id="447" name="Google Shape;447;p10"/>
          <p:cNvSpPr/>
          <p:nvPr/>
        </p:nvSpPr>
        <p:spPr>
          <a:xfrm>
            <a:off x="4615586" y="2240280"/>
            <a:ext cx="4523334" cy="457200"/>
          </a:xfrm>
          <a:prstGeom prst="rect">
            <a:avLst/>
          </a:prstGeom>
          <a:solidFill>
            <a:srgbClr val="0F2A4A"/>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0"/>
          <p:cNvSpPr txBox="1"/>
          <p:nvPr/>
        </p:nvSpPr>
        <p:spPr>
          <a:xfrm>
            <a:off x="4725314" y="2240280"/>
            <a:ext cx="437703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300"/>
              <a:buFont typeface="Arial"/>
              <a:buNone/>
            </a:pPr>
            <a:r>
              <a:rPr b="1" i="0" lang="en-US" sz="1300" u="none" cap="none" strike="noStrike">
                <a:solidFill>
                  <a:schemeClr val="lt1"/>
                </a:solidFill>
                <a:latin typeface="Arial"/>
                <a:ea typeface="Arial"/>
                <a:cs typeface="Arial"/>
                <a:sym typeface="Arial"/>
              </a:rPr>
              <a:t>Build</a:t>
            </a:r>
            <a:endParaRPr b="0" i="0" sz="1300" u="none" cap="none" strike="noStrike">
              <a:solidFill>
                <a:schemeClr val="dk1"/>
              </a:solidFill>
              <a:latin typeface="Arial"/>
              <a:ea typeface="Arial"/>
              <a:cs typeface="Arial"/>
              <a:sym typeface="Arial"/>
            </a:endParaRPr>
          </a:p>
        </p:txBody>
      </p:sp>
      <p:sp>
        <p:nvSpPr>
          <p:cNvPr id="449" name="Google Shape;449;p10"/>
          <p:cNvSpPr/>
          <p:nvPr/>
        </p:nvSpPr>
        <p:spPr>
          <a:xfrm>
            <a:off x="9175496" y="2240280"/>
            <a:ext cx="1195832" cy="457200"/>
          </a:xfrm>
          <a:prstGeom prst="rect">
            <a:avLst/>
          </a:prstGeom>
          <a:solidFill>
            <a:srgbClr val="163A63"/>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0"/>
          <p:cNvSpPr txBox="1"/>
          <p:nvPr/>
        </p:nvSpPr>
        <p:spPr>
          <a:xfrm>
            <a:off x="9285224" y="2240280"/>
            <a:ext cx="104952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300"/>
              <a:buFont typeface="Arial"/>
              <a:buNone/>
            </a:pPr>
            <a:r>
              <a:rPr b="1" i="0" lang="en-US" sz="1300" u="none" cap="none" strike="noStrike">
                <a:solidFill>
                  <a:schemeClr val="lt1"/>
                </a:solidFill>
                <a:latin typeface="Arial"/>
                <a:ea typeface="Arial"/>
                <a:cs typeface="Arial"/>
                <a:sym typeface="Arial"/>
              </a:rPr>
              <a:t>Beta</a:t>
            </a:r>
            <a:endParaRPr b="0" i="0" sz="1300" u="none" cap="none" strike="noStrike">
              <a:solidFill>
                <a:schemeClr val="dk1"/>
              </a:solidFill>
              <a:latin typeface="Arial"/>
              <a:ea typeface="Arial"/>
              <a:cs typeface="Arial"/>
              <a:sym typeface="Arial"/>
            </a:endParaRPr>
          </a:p>
        </p:txBody>
      </p:sp>
      <p:sp>
        <p:nvSpPr>
          <p:cNvPr id="451" name="Google Shape;451;p10"/>
          <p:cNvSpPr/>
          <p:nvPr/>
        </p:nvSpPr>
        <p:spPr>
          <a:xfrm>
            <a:off x="10407904" y="2240280"/>
            <a:ext cx="1195832" cy="457200"/>
          </a:xfrm>
          <a:prstGeom prst="rect">
            <a:avLst/>
          </a:prstGeom>
          <a:solidFill>
            <a:srgbClr val="F2542D"/>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0"/>
          <p:cNvSpPr txBox="1"/>
          <p:nvPr/>
        </p:nvSpPr>
        <p:spPr>
          <a:xfrm>
            <a:off x="10517632" y="2240280"/>
            <a:ext cx="104952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300"/>
              <a:buFont typeface="Arial"/>
              <a:buNone/>
            </a:pPr>
            <a:r>
              <a:rPr b="1" i="0" lang="en-US" sz="1300" u="none" cap="none" strike="noStrike">
                <a:solidFill>
                  <a:schemeClr val="lt1"/>
                </a:solidFill>
                <a:latin typeface="Arial"/>
                <a:ea typeface="Arial"/>
                <a:cs typeface="Arial"/>
                <a:sym typeface="Arial"/>
              </a:rPr>
              <a:t>Launch</a:t>
            </a:r>
            <a:endParaRPr b="0" i="0" sz="1300" u="none" cap="none" strike="noStrike">
              <a:solidFill>
                <a:schemeClr val="dk1"/>
              </a:solidFill>
              <a:latin typeface="Arial"/>
              <a:ea typeface="Arial"/>
              <a:cs typeface="Arial"/>
              <a:sym typeface="Arial"/>
            </a:endParaRPr>
          </a:p>
        </p:txBody>
      </p:sp>
      <p:sp>
        <p:nvSpPr>
          <p:cNvPr id="453" name="Google Shape;453;p10"/>
          <p:cNvSpPr txBox="1"/>
          <p:nvPr/>
        </p:nvSpPr>
        <p:spPr>
          <a:xfrm>
            <a:off x="548640" y="2770632"/>
            <a:ext cx="1232408"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Oct 26</a:t>
            </a:r>
            <a:endParaRPr b="0" i="0" sz="1000" u="none" cap="none" strike="noStrike">
              <a:solidFill>
                <a:schemeClr val="dk1"/>
              </a:solidFill>
              <a:latin typeface="Arial"/>
              <a:ea typeface="Arial"/>
              <a:cs typeface="Arial"/>
              <a:sym typeface="Arial"/>
            </a:endParaRPr>
          </a:p>
        </p:txBody>
      </p:sp>
      <p:sp>
        <p:nvSpPr>
          <p:cNvPr id="454" name="Google Shape;454;p10"/>
          <p:cNvSpPr txBox="1"/>
          <p:nvPr/>
        </p:nvSpPr>
        <p:spPr>
          <a:xfrm>
            <a:off x="1781048" y="2770632"/>
            <a:ext cx="1232408"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Nov</a:t>
            </a:r>
            <a:endParaRPr b="0" i="0" sz="1000" u="none" cap="none" strike="noStrike">
              <a:solidFill>
                <a:schemeClr val="dk1"/>
              </a:solidFill>
              <a:latin typeface="Arial"/>
              <a:ea typeface="Arial"/>
              <a:cs typeface="Arial"/>
              <a:sym typeface="Arial"/>
            </a:endParaRPr>
          </a:p>
        </p:txBody>
      </p:sp>
      <p:sp>
        <p:nvSpPr>
          <p:cNvPr id="455" name="Google Shape;455;p10"/>
          <p:cNvSpPr txBox="1"/>
          <p:nvPr/>
        </p:nvSpPr>
        <p:spPr>
          <a:xfrm>
            <a:off x="3013456" y="2770632"/>
            <a:ext cx="1232408"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Dec</a:t>
            </a:r>
            <a:endParaRPr b="0" i="0" sz="1000" u="none" cap="none" strike="noStrike">
              <a:solidFill>
                <a:schemeClr val="dk1"/>
              </a:solidFill>
              <a:latin typeface="Arial"/>
              <a:ea typeface="Arial"/>
              <a:cs typeface="Arial"/>
              <a:sym typeface="Arial"/>
            </a:endParaRPr>
          </a:p>
        </p:txBody>
      </p:sp>
      <p:sp>
        <p:nvSpPr>
          <p:cNvPr id="456" name="Google Shape;456;p10"/>
          <p:cNvSpPr txBox="1"/>
          <p:nvPr/>
        </p:nvSpPr>
        <p:spPr>
          <a:xfrm>
            <a:off x="4245864" y="2770632"/>
            <a:ext cx="1232408"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Jan 27</a:t>
            </a:r>
            <a:endParaRPr b="0" i="0" sz="1000" u="none" cap="none" strike="noStrike">
              <a:solidFill>
                <a:schemeClr val="dk1"/>
              </a:solidFill>
              <a:latin typeface="Arial"/>
              <a:ea typeface="Arial"/>
              <a:cs typeface="Arial"/>
              <a:sym typeface="Arial"/>
            </a:endParaRPr>
          </a:p>
        </p:txBody>
      </p:sp>
      <p:sp>
        <p:nvSpPr>
          <p:cNvPr id="457" name="Google Shape;457;p10"/>
          <p:cNvSpPr txBox="1"/>
          <p:nvPr/>
        </p:nvSpPr>
        <p:spPr>
          <a:xfrm>
            <a:off x="5478272" y="2770632"/>
            <a:ext cx="1232408"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Feb</a:t>
            </a:r>
            <a:endParaRPr b="0" i="0" sz="1000" u="none" cap="none" strike="noStrike">
              <a:solidFill>
                <a:schemeClr val="dk1"/>
              </a:solidFill>
              <a:latin typeface="Arial"/>
              <a:ea typeface="Arial"/>
              <a:cs typeface="Arial"/>
              <a:sym typeface="Arial"/>
            </a:endParaRPr>
          </a:p>
        </p:txBody>
      </p:sp>
      <p:sp>
        <p:nvSpPr>
          <p:cNvPr id="458" name="Google Shape;458;p10"/>
          <p:cNvSpPr txBox="1"/>
          <p:nvPr/>
        </p:nvSpPr>
        <p:spPr>
          <a:xfrm>
            <a:off x="6710680" y="2770632"/>
            <a:ext cx="1232408"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Mar</a:t>
            </a:r>
            <a:endParaRPr b="0" i="0" sz="1000" u="none" cap="none" strike="noStrike">
              <a:solidFill>
                <a:schemeClr val="dk1"/>
              </a:solidFill>
              <a:latin typeface="Arial"/>
              <a:ea typeface="Arial"/>
              <a:cs typeface="Arial"/>
              <a:sym typeface="Arial"/>
            </a:endParaRPr>
          </a:p>
        </p:txBody>
      </p:sp>
      <p:sp>
        <p:nvSpPr>
          <p:cNvPr id="459" name="Google Shape;459;p10"/>
          <p:cNvSpPr txBox="1"/>
          <p:nvPr/>
        </p:nvSpPr>
        <p:spPr>
          <a:xfrm>
            <a:off x="7943088" y="2770632"/>
            <a:ext cx="1232408"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Apr</a:t>
            </a:r>
            <a:endParaRPr b="0" i="0" sz="1000" u="none" cap="none" strike="noStrike">
              <a:solidFill>
                <a:schemeClr val="dk1"/>
              </a:solidFill>
              <a:latin typeface="Arial"/>
              <a:ea typeface="Arial"/>
              <a:cs typeface="Arial"/>
              <a:sym typeface="Arial"/>
            </a:endParaRPr>
          </a:p>
        </p:txBody>
      </p:sp>
      <p:sp>
        <p:nvSpPr>
          <p:cNvPr id="460" name="Google Shape;460;p10"/>
          <p:cNvSpPr txBox="1"/>
          <p:nvPr/>
        </p:nvSpPr>
        <p:spPr>
          <a:xfrm>
            <a:off x="9175496" y="2770632"/>
            <a:ext cx="1232408"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May</a:t>
            </a:r>
            <a:endParaRPr b="0" i="0" sz="1000" u="none" cap="none" strike="noStrike">
              <a:solidFill>
                <a:schemeClr val="dk1"/>
              </a:solidFill>
              <a:latin typeface="Arial"/>
              <a:ea typeface="Arial"/>
              <a:cs typeface="Arial"/>
              <a:sym typeface="Arial"/>
            </a:endParaRPr>
          </a:p>
        </p:txBody>
      </p:sp>
      <p:sp>
        <p:nvSpPr>
          <p:cNvPr id="461" name="Google Shape;461;p10"/>
          <p:cNvSpPr txBox="1"/>
          <p:nvPr/>
        </p:nvSpPr>
        <p:spPr>
          <a:xfrm>
            <a:off x="10407904" y="2770632"/>
            <a:ext cx="1232408"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Jun</a:t>
            </a:r>
            <a:endParaRPr b="0" i="0" sz="1000" u="none" cap="none" strike="noStrike">
              <a:solidFill>
                <a:schemeClr val="dk1"/>
              </a:solidFill>
              <a:latin typeface="Arial"/>
              <a:ea typeface="Arial"/>
              <a:cs typeface="Arial"/>
              <a:sym typeface="Arial"/>
            </a:endParaRPr>
          </a:p>
        </p:txBody>
      </p:sp>
      <p:sp>
        <p:nvSpPr>
          <p:cNvPr id="462" name="Google Shape;462;p10"/>
          <p:cNvSpPr/>
          <p:nvPr/>
        </p:nvSpPr>
        <p:spPr>
          <a:xfrm>
            <a:off x="2817063" y="3108960"/>
            <a:ext cx="146304" cy="146304"/>
          </a:xfrm>
          <a:prstGeom prst="ellipse">
            <a:avLst/>
          </a:prstGeom>
          <a:solidFill>
            <a:srgbClr val="F2542D"/>
          </a:solidFill>
          <a:ln cap="flat" cmpd="sng" w="12700">
            <a:solidFill>
              <a:srgbClr val="F25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10"/>
          <p:cNvSpPr txBox="1"/>
          <p:nvPr/>
        </p:nvSpPr>
        <p:spPr>
          <a:xfrm>
            <a:off x="2433015" y="3291840"/>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G1</a:t>
            </a:r>
            <a:endParaRPr b="0" i="0" sz="1100" u="none" cap="none" strike="noStrike">
              <a:solidFill>
                <a:schemeClr val="dk1"/>
              </a:solidFill>
              <a:latin typeface="Arial"/>
              <a:ea typeface="Arial"/>
              <a:cs typeface="Arial"/>
              <a:sym typeface="Arial"/>
            </a:endParaRPr>
          </a:p>
        </p:txBody>
      </p:sp>
      <p:sp>
        <p:nvSpPr>
          <p:cNvPr id="464" name="Google Shape;464;p10"/>
          <p:cNvSpPr txBox="1"/>
          <p:nvPr/>
        </p:nvSpPr>
        <p:spPr>
          <a:xfrm>
            <a:off x="2433015" y="3502152"/>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27 Nov</a:t>
            </a:r>
            <a:endParaRPr b="0" i="0" sz="1000" u="none" cap="none" strike="noStrike">
              <a:solidFill>
                <a:schemeClr val="dk1"/>
              </a:solidFill>
              <a:latin typeface="Arial"/>
              <a:ea typeface="Arial"/>
              <a:cs typeface="Arial"/>
              <a:sym typeface="Arial"/>
            </a:endParaRPr>
          </a:p>
        </p:txBody>
      </p:sp>
      <p:sp>
        <p:nvSpPr>
          <p:cNvPr id="465" name="Google Shape;465;p10"/>
          <p:cNvSpPr/>
          <p:nvPr/>
        </p:nvSpPr>
        <p:spPr>
          <a:xfrm>
            <a:off x="4480814" y="3108960"/>
            <a:ext cx="146304" cy="146304"/>
          </a:xfrm>
          <a:prstGeom prst="ellipse">
            <a:avLst/>
          </a:prstGeom>
          <a:solidFill>
            <a:srgbClr val="F2542D"/>
          </a:solidFill>
          <a:ln cap="flat" cmpd="sng" w="12700">
            <a:solidFill>
              <a:srgbClr val="F25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0"/>
          <p:cNvSpPr txBox="1"/>
          <p:nvPr/>
        </p:nvSpPr>
        <p:spPr>
          <a:xfrm>
            <a:off x="4096766" y="3291840"/>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G2</a:t>
            </a:r>
            <a:endParaRPr b="0" i="0" sz="1100" u="none" cap="none" strike="noStrike">
              <a:solidFill>
                <a:schemeClr val="dk1"/>
              </a:solidFill>
              <a:latin typeface="Arial"/>
              <a:ea typeface="Arial"/>
              <a:cs typeface="Arial"/>
              <a:sym typeface="Arial"/>
            </a:endParaRPr>
          </a:p>
        </p:txBody>
      </p:sp>
      <p:sp>
        <p:nvSpPr>
          <p:cNvPr id="467" name="Google Shape;467;p10"/>
          <p:cNvSpPr txBox="1"/>
          <p:nvPr/>
        </p:nvSpPr>
        <p:spPr>
          <a:xfrm>
            <a:off x="4096766" y="3502152"/>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8 Jan</a:t>
            </a:r>
            <a:endParaRPr b="0" i="0" sz="1000" u="none" cap="none" strike="noStrike">
              <a:solidFill>
                <a:schemeClr val="dk1"/>
              </a:solidFill>
              <a:latin typeface="Arial"/>
              <a:ea typeface="Arial"/>
              <a:cs typeface="Arial"/>
              <a:sym typeface="Arial"/>
            </a:endParaRPr>
          </a:p>
        </p:txBody>
      </p:sp>
      <p:sp>
        <p:nvSpPr>
          <p:cNvPr id="468" name="Google Shape;468;p10"/>
          <p:cNvSpPr/>
          <p:nvPr/>
        </p:nvSpPr>
        <p:spPr>
          <a:xfrm>
            <a:off x="7931556" y="3108960"/>
            <a:ext cx="146304" cy="146304"/>
          </a:xfrm>
          <a:prstGeom prst="ellipse">
            <a:avLst/>
          </a:prstGeom>
          <a:solidFill>
            <a:srgbClr val="F2542D"/>
          </a:solidFill>
          <a:ln cap="flat" cmpd="sng" w="12700">
            <a:solidFill>
              <a:srgbClr val="F25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10"/>
          <p:cNvSpPr txBox="1"/>
          <p:nvPr/>
        </p:nvSpPr>
        <p:spPr>
          <a:xfrm>
            <a:off x="7547508" y="3291840"/>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Alpha</a:t>
            </a:r>
            <a:endParaRPr b="0" i="0" sz="1100" u="none" cap="none" strike="noStrike">
              <a:solidFill>
                <a:schemeClr val="dk1"/>
              </a:solidFill>
              <a:latin typeface="Arial"/>
              <a:ea typeface="Arial"/>
              <a:cs typeface="Arial"/>
              <a:sym typeface="Arial"/>
            </a:endParaRPr>
          </a:p>
        </p:txBody>
      </p:sp>
      <p:sp>
        <p:nvSpPr>
          <p:cNvPr id="470" name="Google Shape;470;p10"/>
          <p:cNvSpPr txBox="1"/>
          <p:nvPr/>
        </p:nvSpPr>
        <p:spPr>
          <a:xfrm>
            <a:off x="7547508" y="3502152"/>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2 Apr</a:t>
            </a:r>
            <a:endParaRPr b="0" i="0" sz="1000" u="none" cap="none" strike="noStrike">
              <a:solidFill>
                <a:schemeClr val="dk1"/>
              </a:solidFill>
              <a:latin typeface="Arial"/>
              <a:ea typeface="Arial"/>
              <a:cs typeface="Arial"/>
              <a:sym typeface="Arial"/>
            </a:endParaRPr>
          </a:p>
        </p:txBody>
      </p:sp>
      <p:sp>
        <p:nvSpPr>
          <p:cNvPr id="471" name="Google Shape;471;p10"/>
          <p:cNvSpPr/>
          <p:nvPr/>
        </p:nvSpPr>
        <p:spPr>
          <a:xfrm>
            <a:off x="9040724" y="3108960"/>
            <a:ext cx="146304" cy="146304"/>
          </a:xfrm>
          <a:prstGeom prst="ellipse">
            <a:avLst/>
          </a:prstGeom>
          <a:solidFill>
            <a:srgbClr val="F2542D"/>
          </a:solidFill>
          <a:ln cap="flat" cmpd="sng" w="12700">
            <a:solidFill>
              <a:srgbClr val="F25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10"/>
          <p:cNvSpPr txBox="1"/>
          <p:nvPr/>
        </p:nvSpPr>
        <p:spPr>
          <a:xfrm>
            <a:off x="8656676" y="3291840"/>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G3</a:t>
            </a:r>
            <a:endParaRPr b="0" i="0" sz="1100" u="none" cap="none" strike="noStrike">
              <a:solidFill>
                <a:schemeClr val="dk1"/>
              </a:solidFill>
              <a:latin typeface="Arial"/>
              <a:ea typeface="Arial"/>
              <a:cs typeface="Arial"/>
              <a:sym typeface="Arial"/>
            </a:endParaRPr>
          </a:p>
        </p:txBody>
      </p:sp>
      <p:sp>
        <p:nvSpPr>
          <p:cNvPr id="473" name="Google Shape;473;p10"/>
          <p:cNvSpPr txBox="1"/>
          <p:nvPr/>
        </p:nvSpPr>
        <p:spPr>
          <a:xfrm>
            <a:off x="8656676" y="3502152"/>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30 Apr</a:t>
            </a:r>
            <a:endParaRPr b="0" i="0" sz="1000" u="none" cap="none" strike="noStrike">
              <a:solidFill>
                <a:schemeClr val="dk1"/>
              </a:solidFill>
              <a:latin typeface="Arial"/>
              <a:ea typeface="Arial"/>
              <a:cs typeface="Arial"/>
              <a:sym typeface="Arial"/>
            </a:endParaRPr>
          </a:p>
        </p:txBody>
      </p:sp>
      <p:sp>
        <p:nvSpPr>
          <p:cNvPr id="474" name="Google Shape;474;p10"/>
          <p:cNvSpPr/>
          <p:nvPr/>
        </p:nvSpPr>
        <p:spPr>
          <a:xfrm>
            <a:off x="10211511" y="3108960"/>
            <a:ext cx="146304" cy="146304"/>
          </a:xfrm>
          <a:prstGeom prst="ellipse">
            <a:avLst/>
          </a:prstGeom>
          <a:solidFill>
            <a:srgbClr val="F2542D"/>
          </a:solidFill>
          <a:ln cap="flat" cmpd="sng" w="12700">
            <a:solidFill>
              <a:srgbClr val="F25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0"/>
          <p:cNvSpPr txBox="1"/>
          <p:nvPr/>
        </p:nvSpPr>
        <p:spPr>
          <a:xfrm>
            <a:off x="9827463" y="3291840"/>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G4</a:t>
            </a:r>
            <a:endParaRPr b="0" i="0" sz="1100" u="none" cap="none" strike="noStrike">
              <a:solidFill>
                <a:schemeClr val="dk1"/>
              </a:solidFill>
              <a:latin typeface="Arial"/>
              <a:ea typeface="Arial"/>
              <a:cs typeface="Arial"/>
              <a:sym typeface="Arial"/>
            </a:endParaRPr>
          </a:p>
        </p:txBody>
      </p:sp>
      <p:sp>
        <p:nvSpPr>
          <p:cNvPr id="476" name="Google Shape;476;p10"/>
          <p:cNvSpPr txBox="1"/>
          <p:nvPr/>
        </p:nvSpPr>
        <p:spPr>
          <a:xfrm>
            <a:off x="9827463" y="3502152"/>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28 May</a:t>
            </a:r>
            <a:endParaRPr b="0" i="0" sz="1000" u="none" cap="none" strike="noStrike">
              <a:solidFill>
                <a:schemeClr val="dk1"/>
              </a:solidFill>
              <a:latin typeface="Arial"/>
              <a:ea typeface="Arial"/>
              <a:cs typeface="Arial"/>
              <a:sym typeface="Arial"/>
            </a:endParaRPr>
          </a:p>
        </p:txBody>
      </p:sp>
      <p:sp>
        <p:nvSpPr>
          <p:cNvPr id="477" name="Google Shape;477;p10"/>
          <p:cNvSpPr/>
          <p:nvPr/>
        </p:nvSpPr>
        <p:spPr>
          <a:xfrm>
            <a:off x="10889336" y="3108960"/>
            <a:ext cx="146304" cy="146304"/>
          </a:xfrm>
          <a:prstGeom prst="ellipse">
            <a:avLst/>
          </a:prstGeom>
          <a:solidFill>
            <a:srgbClr val="F2542D"/>
          </a:solidFill>
          <a:ln cap="flat" cmpd="sng" w="12700">
            <a:solidFill>
              <a:srgbClr val="F25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0"/>
          <p:cNvSpPr txBox="1"/>
          <p:nvPr/>
        </p:nvSpPr>
        <p:spPr>
          <a:xfrm>
            <a:off x="10505288" y="3291840"/>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Launch</a:t>
            </a:r>
            <a:endParaRPr b="0" i="0" sz="1100" u="none" cap="none" strike="noStrike">
              <a:solidFill>
                <a:schemeClr val="dk1"/>
              </a:solidFill>
              <a:latin typeface="Arial"/>
              <a:ea typeface="Arial"/>
              <a:cs typeface="Arial"/>
              <a:sym typeface="Arial"/>
            </a:endParaRPr>
          </a:p>
        </p:txBody>
      </p:sp>
      <p:sp>
        <p:nvSpPr>
          <p:cNvPr id="479" name="Google Shape;479;p10"/>
          <p:cNvSpPr txBox="1"/>
          <p:nvPr/>
        </p:nvSpPr>
        <p:spPr>
          <a:xfrm>
            <a:off x="10505288" y="3502152"/>
            <a:ext cx="91440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14 Jun</a:t>
            </a:r>
            <a:endParaRPr b="0" i="0" sz="1000" u="none" cap="none" strike="noStrike">
              <a:solidFill>
                <a:schemeClr val="dk1"/>
              </a:solidFill>
              <a:latin typeface="Arial"/>
              <a:ea typeface="Arial"/>
              <a:cs typeface="Arial"/>
              <a:sym typeface="Arial"/>
            </a:endParaRPr>
          </a:p>
        </p:txBody>
      </p:sp>
      <p:sp>
        <p:nvSpPr>
          <p:cNvPr id="480" name="Google Shape;480;p10"/>
          <p:cNvSpPr/>
          <p:nvPr/>
        </p:nvSpPr>
        <p:spPr>
          <a:xfrm>
            <a:off x="548640" y="4023360"/>
            <a:ext cx="5394960" cy="2011680"/>
          </a:xfrm>
          <a:prstGeom prst="roundRect">
            <a:avLst>
              <a:gd fmla="val 5455"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10"/>
          <p:cNvSpPr txBox="1"/>
          <p:nvPr/>
        </p:nvSpPr>
        <p:spPr>
          <a:xfrm>
            <a:off x="822960" y="4160520"/>
            <a:ext cx="484632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100"/>
              <a:buFont typeface="Arial"/>
              <a:buNone/>
            </a:pPr>
            <a:r>
              <a:rPr b="1" i="0" lang="en-US" spc="200" sz="1100" u="none" cap="none" strike="noStrike">
                <a:solidFill>
                  <a:schemeClr val="accent3"/>
                </a:solidFill>
                <a:latin typeface="Arial"/>
                <a:ea typeface="Arial"/>
                <a:cs typeface="Arial"/>
                <a:sym typeface="Arial"/>
              </a:rPr>
              <a:t>IN THE MVP</a:t>
            </a:r>
            <a:endParaRPr b="0" i="0" sz="1100" u="none" cap="none" strike="noStrike">
              <a:solidFill>
                <a:schemeClr val="dk1"/>
              </a:solidFill>
              <a:latin typeface="Arial"/>
              <a:ea typeface="Arial"/>
              <a:cs typeface="Arial"/>
              <a:sym typeface="Arial"/>
            </a:endParaRPr>
          </a:p>
        </p:txBody>
      </p:sp>
      <p:sp>
        <p:nvSpPr>
          <p:cNvPr id="482" name="Google Shape;482;p10"/>
          <p:cNvSpPr txBox="1"/>
          <p:nvPr/>
        </p:nvSpPr>
        <p:spPr>
          <a:xfrm>
            <a:off x="822960" y="4434840"/>
            <a:ext cx="4937760" cy="15087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300"/>
              <a:buFont typeface="Arial"/>
              <a:buChar char="•"/>
            </a:pPr>
            <a:r>
              <a:rPr b="0" i="0" lang="en-US" sz="1300" u="none" cap="none" strike="noStrike">
                <a:solidFill>
                  <a:schemeClr val="dk1"/>
                </a:solidFill>
                <a:latin typeface="Arial"/>
                <a:ea typeface="Arial"/>
                <a:cs typeface="Arial"/>
                <a:sym typeface="Arial"/>
              </a:rPr>
              <a:t>Germany, German and English, on web and mobile browsers</a:t>
            </a:r>
            <a:endParaRPr b="0" i="0" sz="1300" u="none" cap="none" strike="noStrike">
              <a:solidFill>
                <a:schemeClr val="dk1"/>
              </a:solidFill>
              <a:latin typeface="Arial"/>
              <a:ea typeface="Arial"/>
              <a:cs typeface="Arial"/>
              <a:sym typeface="Arial"/>
            </a:endParaRPr>
          </a:p>
          <a:p>
            <a:pPr indent="-342900" lvl="0" marL="342900" marR="0" rtl="0" algn="l">
              <a:spcBef>
                <a:spcPts val="400"/>
              </a:spcBef>
              <a:spcAft>
                <a:spcPts val="0"/>
              </a:spcAft>
              <a:buClr>
                <a:schemeClr val="dk1"/>
              </a:buClr>
              <a:buSzPts val="1300"/>
              <a:buFont typeface="Arial"/>
              <a:buChar char="•"/>
            </a:pPr>
            <a:r>
              <a:rPr b="0" i="0" lang="en-US" sz="1300" u="none" cap="none" strike="noStrike">
                <a:solidFill>
                  <a:schemeClr val="dk1"/>
                </a:solidFill>
                <a:latin typeface="Arial"/>
                <a:ea typeface="Arial"/>
                <a:cs typeface="Arial"/>
                <a:sym typeface="Arial"/>
              </a:rPr>
              <a:t>Bundesagentur für Arbeit public job lists, no scraping</a:t>
            </a:r>
            <a:endParaRPr b="0" i="0" sz="1300" u="none" cap="none" strike="noStrike">
              <a:solidFill>
                <a:schemeClr val="dk1"/>
              </a:solidFill>
              <a:latin typeface="Arial"/>
              <a:ea typeface="Arial"/>
              <a:cs typeface="Arial"/>
              <a:sym typeface="Arial"/>
            </a:endParaRPr>
          </a:p>
          <a:p>
            <a:pPr indent="-342900" lvl="0" marL="342900" marR="0" rtl="0" algn="l">
              <a:spcBef>
                <a:spcPts val="400"/>
              </a:spcBef>
              <a:spcAft>
                <a:spcPts val="0"/>
              </a:spcAft>
              <a:buClr>
                <a:schemeClr val="dk1"/>
              </a:buClr>
              <a:buSzPts val="1300"/>
              <a:buFont typeface="Arial"/>
              <a:buChar char="•"/>
            </a:pPr>
            <a:r>
              <a:rPr b="0" i="0" lang="en-US" sz="1300" u="none" cap="none" strike="noStrike">
                <a:solidFill>
                  <a:schemeClr val="dk1"/>
                </a:solidFill>
                <a:latin typeface="Arial"/>
                <a:ea typeface="Arial"/>
                <a:cs typeface="Arial"/>
                <a:sym typeface="Arial"/>
              </a:rPr>
              <a:t>Explained matching, reviewed CV and cover letter, history</a:t>
            </a:r>
            <a:endParaRPr b="0" i="0" sz="1300" u="none" cap="none" strike="noStrike">
              <a:solidFill>
                <a:schemeClr val="dk1"/>
              </a:solidFill>
              <a:latin typeface="Arial"/>
              <a:ea typeface="Arial"/>
              <a:cs typeface="Arial"/>
              <a:sym typeface="Arial"/>
            </a:endParaRPr>
          </a:p>
          <a:p>
            <a:pPr indent="-342900" lvl="0" marL="342900" marR="0" rtl="0" algn="l">
              <a:spcBef>
                <a:spcPts val="400"/>
              </a:spcBef>
              <a:spcAft>
                <a:spcPts val="0"/>
              </a:spcAft>
              <a:buClr>
                <a:schemeClr val="dk1"/>
              </a:buClr>
              <a:buSzPts val="1300"/>
              <a:buFont typeface="Arial"/>
              <a:buChar char="•"/>
            </a:pPr>
            <a:r>
              <a:rPr b="0" i="0" lang="en-US" sz="1300" u="none" cap="none" strike="noStrike">
                <a:solidFill>
                  <a:schemeClr val="dk1"/>
                </a:solidFill>
                <a:latin typeface="Arial"/>
                <a:ea typeface="Arial"/>
                <a:cs typeface="Arial"/>
                <a:sym typeface="Arial"/>
              </a:rPr>
              <a:t>Invitation-only headhunter pilot</a:t>
            </a:r>
            <a:endParaRPr b="0" i="0" sz="1300" u="none" cap="none" strike="noStrike">
              <a:solidFill>
                <a:schemeClr val="dk1"/>
              </a:solidFill>
              <a:latin typeface="Arial"/>
              <a:ea typeface="Arial"/>
              <a:cs typeface="Arial"/>
              <a:sym typeface="Arial"/>
            </a:endParaRPr>
          </a:p>
        </p:txBody>
      </p:sp>
      <p:sp>
        <p:nvSpPr>
          <p:cNvPr id="483" name="Google Shape;483;p10"/>
          <p:cNvSpPr/>
          <p:nvPr/>
        </p:nvSpPr>
        <p:spPr>
          <a:xfrm>
            <a:off x="6245352" y="4023360"/>
            <a:ext cx="5394960" cy="2011680"/>
          </a:xfrm>
          <a:prstGeom prst="roundRect">
            <a:avLst>
              <a:gd fmla="val 5455"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0"/>
          <p:cNvSpPr txBox="1"/>
          <p:nvPr/>
        </p:nvSpPr>
        <p:spPr>
          <a:xfrm>
            <a:off x="6519672" y="4160520"/>
            <a:ext cx="484632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100"/>
              <a:buFont typeface="Arial"/>
              <a:buNone/>
            </a:pPr>
            <a:r>
              <a:rPr b="1" i="0" lang="en-US" spc="200" sz="1100" u="none" cap="none" strike="noStrike">
                <a:solidFill>
                  <a:schemeClr val="accent1"/>
                </a:solidFill>
                <a:latin typeface="Arial"/>
                <a:ea typeface="Arial"/>
                <a:cs typeface="Arial"/>
                <a:sym typeface="Arial"/>
              </a:rPr>
              <a:t>NEVER, AT ANY STAGE</a:t>
            </a:r>
            <a:endParaRPr b="0" i="0" sz="1100" u="none" cap="none" strike="noStrike">
              <a:solidFill>
                <a:schemeClr val="dk1"/>
              </a:solidFill>
              <a:latin typeface="Arial"/>
              <a:ea typeface="Arial"/>
              <a:cs typeface="Arial"/>
              <a:sym typeface="Arial"/>
            </a:endParaRPr>
          </a:p>
        </p:txBody>
      </p:sp>
      <p:sp>
        <p:nvSpPr>
          <p:cNvPr id="485" name="Google Shape;485;p10"/>
          <p:cNvSpPr txBox="1"/>
          <p:nvPr/>
        </p:nvSpPr>
        <p:spPr>
          <a:xfrm>
            <a:off x="6519672" y="4434840"/>
            <a:ext cx="4937760" cy="15087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300"/>
              <a:buFont typeface="Arial"/>
              <a:buChar char="•"/>
            </a:pPr>
            <a:r>
              <a:rPr b="0" i="0" lang="en-US" sz="1300" u="none" cap="none" strike="noStrike">
                <a:solidFill>
                  <a:schemeClr val="dk1"/>
                </a:solidFill>
                <a:latin typeface="Arial"/>
                <a:ea typeface="Arial"/>
                <a:cs typeface="Arial"/>
                <a:sym typeface="Arial"/>
              </a:rPr>
              <a:t>Auto-apply or bulk applications</a:t>
            </a:r>
            <a:endParaRPr b="0" i="0" sz="1300" u="none" cap="none" strike="noStrike">
              <a:solidFill>
                <a:schemeClr val="dk1"/>
              </a:solidFill>
              <a:latin typeface="Arial"/>
              <a:ea typeface="Arial"/>
              <a:cs typeface="Arial"/>
              <a:sym typeface="Arial"/>
            </a:endParaRPr>
          </a:p>
          <a:p>
            <a:pPr indent="-342900" lvl="0" marL="342900" marR="0" rtl="0" algn="l">
              <a:spcBef>
                <a:spcPts val="400"/>
              </a:spcBef>
              <a:spcAft>
                <a:spcPts val="0"/>
              </a:spcAft>
              <a:buClr>
                <a:schemeClr val="dk1"/>
              </a:buClr>
              <a:buSzPts val="1300"/>
              <a:buFont typeface="Arial"/>
              <a:buChar char="•"/>
            </a:pPr>
            <a:r>
              <a:rPr b="0" i="0" lang="en-US" sz="1300" u="none" cap="none" strike="noStrike">
                <a:solidFill>
                  <a:schemeClr val="dk1"/>
                </a:solidFill>
                <a:latin typeface="Arial"/>
                <a:ea typeface="Arial"/>
                <a:cs typeface="Arial"/>
                <a:sym typeface="Arial"/>
              </a:rPr>
              <a:t>Paid boosts or earlier alerts that change the ranking</a:t>
            </a:r>
            <a:endParaRPr b="0" i="0" sz="1300" u="none" cap="none" strike="noStrike">
              <a:solidFill>
                <a:schemeClr val="dk1"/>
              </a:solidFill>
              <a:latin typeface="Arial"/>
              <a:ea typeface="Arial"/>
              <a:cs typeface="Arial"/>
              <a:sym typeface="Arial"/>
            </a:endParaRPr>
          </a:p>
          <a:p>
            <a:pPr indent="-342900" lvl="0" marL="342900" marR="0" rtl="0" algn="l">
              <a:spcBef>
                <a:spcPts val="400"/>
              </a:spcBef>
              <a:spcAft>
                <a:spcPts val="0"/>
              </a:spcAft>
              <a:buClr>
                <a:schemeClr val="dk1"/>
              </a:buClr>
              <a:buSzPts val="1300"/>
              <a:buFont typeface="Arial"/>
              <a:buChar char="•"/>
            </a:pPr>
            <a:r>
              <a:rPr b="0" i="0" lang="en-US" sz="1300" u="none" cap="none" strike="noStrike">
                <a:solidFill>
                  <a:schemeClr val="dk1"/>
                </a:solidFill>
                <a:latin typeface="Arial"/>
                <a:ea typeface="Arial"/>
                <a:cs typeface="Arial"/>
                <a:sym typeface="Arial"/>
              </a:rPr>
              <a:t>Sharing a CV without the candidate's approval</a:t>
            </a:r>
            <a:endParaRPr b="0" i="0" sz="1300" u="none" cap="none" strike="noStrike">
              <a:solidFill>
                <a:schemeClr val="dk1"/>
              </a:solidFill>
              <a:latin typeface="Arial"/>
              <a:ea typeface="Arial"/>
              <a:cs typeface="Arial"/>
              <a:sym typeface="Arial"/>
            </a:endParaRPr>
          </a:p>
          <a:p>
            <a:pPr indent="-342900" lvl="0" marL="342900" marR="0" rtl="0" algn="l">
              <a:spcBef>
                <a:spcPts val="400"/>
              </a:spcBef>
              <a:spcAft>
                <a:spcPts val="0"/>
              </a:spcAft>
              <a:buClr>
                <a:schemeClr val="dk1"/>
              </a:buClr>
              <a:buSzPts val="1300"/>
              <a:buFont typeface="Arial"/>
              <a:buChar char="•"/>
            </a:pPr>
            <a:r>
              <a:rPr b="0" i="0" lang="en-US" sz="1300" u="none" cap="none" strike="noStrike">
                <a:solidFill>
                  <a:schemeClr val="dk1"/>
                </a:solidFill>
                <a:latin typeface="Arial"/>
                <a:ea typeface="Arial"/>
                <a:cs typeface="Arial"/>
                <a:sym typeface="Arial"/>
              </a:rPr>
              <a:t>Automatic hiring or rejection decisions</a:t>
            </a:r>
            <a:endParaRPr b="0" i="0" sz="1300" u="none" cap="none" strike="noStrike">
              <a:solidFill>
                <a:schemeClr val="dk1"/>
              </a:solidFill>
              <a:latin typeface="Arial"/>
              <a:ea typeface="Arial"/>
              <a:cs typeface="Arial"/>
              <a:sym typeface="Arial"/>
            </a:endParaRPr>
          </a:p>
        </p:txBody>
      </p:sp>
      <p:sp>
        <p:nvSpPr>
          <p:cNvPr id="486" name="Google Shape;486;p10"/>
          <p:cNvSpPr txBox="1"/>
          <p:nvPr/>
        </p:nvSpPr>
        <p:spPr>
          <a:xfrm>
            <a:off x="548640" y="6108192"/>
            <a:ext cx="100584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After launch: employer login (job ads, talent search, partner feeds), credit top-ups, then a second market · Team: 2 eng., 1 ML, 1 PM</a:t>
            </a:r>
            <a:endParaRPr b="0" i="0" sz="1000" u="none" cap="none" strike="noStrike">
              <a:solidFill>
                <a:schemeClr val="dk1"/>
              </a:solidFill>
              <a:latin typeface="Arial"/>
              <a:ea typeface="Arial"/>
              <a:cs typeface="Arial"/>
              <a:sym typeface="Arial"/>
            </a:endParaRPr>
          </a:p>
        </p:txBody>
      </p:sp>
      <p:sp>
        <p:nvSpPr>
          <p:cNvPr id="487" name="Google Shape;487;p10"/>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11"/>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HOW WE KNOW IT WORKS</a:t>
            </a:r>
            <a:endParaRPr sz="1200"/>
          </a:p>
        </p:txBody>
      </p:sp>
      <p:sp>
        <p:nvSpPr>
          <p:cNvPr id="494" name="Google Shape;494;p11"/>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lt1"/>
              </a:buClr>
              <a:buSzPts val="3200"/>
              <a:buFont typeface="Arial"/>
              <a:buNone/>
            </a:pPr>
            <a:r>
              <a:rPr b="1" lang="en-US" sz="3200">
                <a:solidFill>
                  <a:schemeClr val="lt1"/>
                </a:solidFill>
              </a:rPr>
              <a:t>The score has to predict interviews</a:t>
            </a:r>
            <a:endParaRPr sz="3200"/>
          </a:p>
        </p:txBody>
      </p:sp>
      <p:sp>
        <p:nvSpPr>
          <p:cNvPr id="495" name="Google Shape;495;p11"/>
          <p:cNvSpPr/>
          <p:nvPr/>
        </p:nvSpPr>
        <p:spPr>
          <a:xfrm>
            <a:off x="548640" y="2194560"/>
            <a:ext cx="2633472" cy="2743200"/>
          </a:xfrm>
          <a:prstGeom prst="roundRect">
            <a:avLst>
              <a:gd fmla="val 4167" name="adj"/>
            </a:avLst>
          </a:prstGeom>
          <a:solidFill>
            <a:srgbClr val="F2542D"/>
          </a:solidFill>
          <a:ln cap="flat" cmpd="sng" w="12700">
            <a:solidFill>
              <a:srgbClr val="F254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1"/>
          <p:cNvSpPr txBox="1"/>
          <p:nvPr/>
        </p:nvSpPr>
        <p:spPr>
          <a:xfrm>
            <a:off x="777240" y="2423160"/>
            <a:ext cx="2194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4400"/>
              <a:buFont typeface="Arial"/>
              <a:buNone/>
            </a:pPr>
            <a:r>
              <a:rPr b="1" i="0" lang="en-US" sz="4400" u="none" cap="none" strike="noStrike">
                <a:solidFill>
                  <a:schemeClr val="lt1"/>
                </a:solidFill>
                <a:latin typeface="Arial"/>
                <a:ea typeface="Arial"/>
                <a:cs typeface="Arial"/>
                <a:sym typeface="Arial"/>
              </a:rPr>
              <a:t>2×</a:t>
            </a:r>
            <a:endParaRPr b="0" i="0" sz="4400" u="none" cap="none" strike="noStrike">
              <a:solidFill>
                <a:schemeClr val="dk1"/>
              </a:solidFill>
              <a:latin typeface="Arial"/>
              <a:ea typeface="Arial"/>
              <a:cs typeface="Arial"/>
              <a:sym typeface="Arial"/>
            </a:endParaRPr>
          </a:p>
        </p:txBody>
      </p:sp>
      <p:sp>
        <p:nvSpPr>
          <p:cNvPr id="497" name="Google Shape;497;p11"/>
          <p:cNvSpPr txBox="1"/>
          <p:nvPr/>
        </p:nvSpPr>
        <p:spPr>
          <a:xfrm>
            <a:off x="777240" y="3566160"/>
            <a:ext cx="219456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500"/>
              <a:buFont typeface="Arial"/>
              <a:buNone/>
            </a:pPr>
            <a:r>
              <a:rPr b="0" i="0" lang="en-US" sz="1500" u="none" cap="none" strike="noStrike">
                <a:solidFill>
                  <a:schemeClr val="lt1"/>
                </a:solidFill>
                <a:latin typeface="Arial"/>
                <a:ea typeface="Arial"/>
                <a:cs typeface="Arial"/>
                <a:sym typeface="Arial"/>
              </a:rPr>
              <a:t>interview rate for applications in the ≥ 90% band vs. &lt; 70%</a:t>
            </a:r>
            <a:endParaRPr b="0" i="0" sz="1500" u="none" cap="none" strike="noStrike">
              <a:solidFill>
                <a:schemeClr val="dk1"/>
              </a:solidFill>
              <a:latin typeface="Arial"/>
              <a:ea typeface="Arial"/>
              <a:cs typeface="Arial"/>
              <a:sym typeface="Arial"/>
            </a:endParaRPr>
          </a:p>
        </p:txBody>
      </p:sp>
      <p:sp>
        <p:nvSpPr>
          <p:cNvPr id="498" name="Google Shape;498;p11"/>
          <p:cNvSpPr/>
          <p:nvPr/>
        </p:nvSpPr>
        <p:spPr>
          <a:xfrm>
            <a:off x="3364992" y="2194560"/>
            <a:ext cx="2633472" cy="2743200"/>
          </a:xfrm>
          <a:prstGeom prst="roundRect">
            <a:avLst>
              <a:gd fmla="val 4167"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11"/>
          <p:cNvSpPr txBox="1"/>
          <p:nvPr/>
        </p:nvSpPr>
        <p:spPr>
          <a:xfrm>
            <a:off x="3593592" y="2423160"/>
            <a:ext cx="2194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4400"/>
              <a:buFont typeface="Arial"/>
              <a:buNone/>
            </a:pPr>
            <a:r>
              <a:rPr b="1" i="0" lang="en-US" sz="4400" u="none" cap="none" strike="noStrike">
                <a:solidFill>
                  <a:schemeClr val="lt1"/>
                </a:solidFill>
                <a:latin typeface="Arial"/>
                <a:ea typeface="Arial"/>
                <a:cs typeface="Arial"/>
                <a:sym typeface="Arial"/>
              </a:rPr>
              <a:t>≥ 90%</a:t>
            </a:r>
            <a:endParaRPr b="0" i="0" sz="4400" u="none" cap="none" strike="noStrike">
              <a:solidFill>
                <a:schemeClr val="dk1"/>
              </a:solidFill>
              <a:latin typeface="Arial"/>
              <a:ea typeface="Arial"/>
              <a:cs typeface="Arial"/>
              <a:sym typeface="Arial"/>
            </a:endParaRPr>
          </a:p>
        </p:txBody>
      </p:sp>
      <p:sp>
        <p:nvSpPr>
          <p:cNvPr id="500" name="Google Shape;500;p11"/>
          <p:cNvSpPr txBox="1"/>
          <p:nvPr/>
        </p:nvSpPr>
        <p:spPr>
          <a:xfrm>
            <a:off x="3593592" y="3566160"/>
            <a:ext cx="219456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500"/>
              <a:buFont typeface="Arial"/>
              <a:buNone/>
            </a:pPr>
            <a:r>
              <a:rPr b="0" i="0" lang="en-US" sz="1500" u="none" cap="none" strike="noStrike">
                <a:solidFill>
                  <a:schemeClr val="accent4"/>
                </a:solidFill>
                <a:latin typeface="Arial"/>
                <a:ea typeface="Arial"/>
                <a:cs typeface="Arial"/>
                <a:sym typeface="Arial"/>
              </a:rPr>
              <a:t>of matches rated accurate by users</a:t>
            </a:r>
            <a:endParaRPr b="0" i="0" sz="1500" u="none" cap="none" strike="noStrike">
              <a:solidFill>
                <a:schemeClr val="dk1"/>
              </a:solidFill>
              <a:latin typeface="Arial"/>
              <a:ea typeface="Arial"/>
              <a:cs typeface="Arial"/>
              <a:sym typeface="Arial"/>
            </a:endParaRPr>
          </a:p>
        </p:txBody>
      </p:sp>
      <p:sp>
        <p:nvSpPr>
          <p:cNvPr id="501" name="Google Shape;501;p11"/>
          <p:cNvSpPr/>
          <p:nvPr/>
        </p:nvSpPr>
        <p:spPr>
          <a:xfrm>
            <a:off x="6181344" y="2194560"/>
            <a:ext cx="2633472" cy="2743200"/>
          </a:xfrm>
          <a:prstGeom prst="roundRect">
            <a:avLst>
              <a:gd fmla="val 4167"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11"/>
          <p:cNvSpPr txBox="1"/>
          <p:nvPr/>
        </p:nvSpPr>
        <p:spPr>
          <a:xfrm>
            <a:off x="6409944" y="2423160"/>
            <a:ext cx="2194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4400"/>
              <a:buFont typeface="Arial"/>
              <a:buNone/>
            </a:pPr>
            <a:r>
              <a:rPr b="1" i="0" lang="en-US" sz="4400" u="none" cap="none" strike="noStrike">
                <a:solidFill>
                  <a:schemeClr val="lt1"/>
                </a:solidFill>
                <a:latin typeface="Arial"/>
                <a:ea typeface="Arial"/>
                <a:cs typeface="Arial"/>
                <a:sym typeface="Arial"/>
              </a:rPr>
              <a:t>≥ 50%</a:t>
            </a:r>
            <a:endParaRPr b="0" i="0" sz="4400" u="none" cap="none" strike="noStrike">
              <a:solidFill>
                <a:schemeClr val="dk1"/>
              </a:solidFill>
              <a:latin typeface="Arial"/>
              <a:ea typeface="Arial"/>
              <a:cs typeface="Arial"/>
              <a:sym typeface="Arial"/>
            </a:endParaRPr>
          </a:p>
        </p:txBody>
      </p:sp>
      <p:sp>
        <p:nvSpPr>
          <p:cNvPr id="503" name="Google Shape;503;p11"/>
          <p:cNvSpPr txBox="1"/>
          <p:nvPr/>
        </p:nvSpPr>
        <p:spPr>
          <a:xfrm>
            <a:off x="6409944" y="3566160"/>
            <a:ext cx="219456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500"/>
              <a:buFont typeface="Arial"/>
              <a:buNone/>
            </a:pPr>
            <a:r>
              <a:rPr b="0" i="0" lang="en-US" sz="1500" u="none" cap="none" strike="noStrike">
                <a:solidFill>
                  <a:schemeClr val="accent4"/>
                </a:solidFill>
                <a:latin typeface="Arial"/>
                <a:ea typeface="Arial"/>
                <a:cs typeface="Arial"/>
                <a:sym typeface="Arial"/>
              </a:rPr>
              <a:t>of users still active in week 4</a:t>
            </a:r>
            <a:endParaRPr b="0" i="0" sz="1500" u="none" cap="none" strike="noStrike">
              <a:solidFill>
                <a:schemeClr val="dk1"/>
              </a:solidFill>
              <a:latin typeface="Arial"/>
              <a:ea typeface="Arial"/>
              <a:cs typeface="Arial"/>
              <a:sym typeface="Arial"/>
            </a:endParaRPr>
          </a:p>
        </p:txBody>
      </p:sp>
      <p:sp>
        <p:nvSpPr>
          <p:cNvPr id="504" name="Google Shape;504;p11"/>
          <p:cNvSpPr/>
          <p:nvPr/>
        </p:nvSpPr>
        <p:spPr>
          <a:xfrm>
            <a:off x="8997696" y="2194560"/>
            <a:ext cx="2633472" cy="2743200"/>
          </a:xfrm>
          <a:prstGeom prst="roundRect">
            <a:avLst>
              <a:gd fmla="val 4167"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1"/>
          <p:cNvSpPr txBox="1"/>
          <p:nvPr/>
        </p:nvSpPr>
        <p:spPr>
          <a:xfrm>
            <a:off x="9226296" y="2423160"/>
            <a:ext cx="219456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4400"/>
              <a:buFont typeface="Arial"/>
              <a:buNone/>
            </a:pPr>
            <a:r>
              <a:rPr b="1" i="0" lang="en-US" sz="4400" u="none" cap="none" strike="noStrike">
                <a:solidFill>
                  <a:schemeClr val="lt1"/>
                </a:solidFill>
                <a:latin typeface="Arial"/>
                <a:ea typeface="Arial"/>
                <a:cs typeface="Arial"/>
                <a:sym typeface="Arial"/>
              </a:rPr>
              <a:t>&lt; €0.01</a:t>
            </a:r>
            <a:endParaRPr b="0" i="0" sz="4400" u="none" cap="none" strike="noStrike">
              <a:solidFill>
                <a:schemeClr val="dk1"/>
              </a:solidFill>
              <a:latin typeface="Arial"/>
              <a:ea typeface="Arial"/>
              <a:cs typeface="Arial"/>
              <a:sym typeface="Arial"/>
            </a:endParaRPr>
          </a:p>
        </p:txBody>
      </p:sp>
      <p:sp>
        <p:nvSpPr>
          <p:cNvPr id="506" name="Google Shape;506;p11"/>
          <p:cNvSpPr txBox="1"/>
          <p:nvPr/>
        </p:nvSpPr>
        <p:spPr>
          <a:xfrm>
            <a:off x="9226296" y="3566160"/>
            <a:ext cx="219456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500"/>
              <a:buFont typeface="Arial"/>
              <a:buNone/>
            </a:pPr>
            <a:r>
              <a:rPr b="0" i="0" lang="en-US" sz="1500" u="none" cap="none" strike="noStrike">
                <a:solidFill>
                  <a:schemeClr val="accent4"/>
                </a:solidFill>
                <a:latin typeface="Arial"/>
                <a:ea typeface="Arial"/>
                <a:cs typeface="Arial"/>
                <a:sym typeface="Arial"/>
              </a:rPr>
              <a:t>AI cost per complete application at scale</a:t>
            </a:r>
            <a:endParaRPr b="0" i="0" sz="1500" u="none" cap="none" strike="noStrike">
              <a:solidFill>
                <a:schemeClr val="dk1"/>
              </a:solidFill>
              <a:latin typeface="Arial"/>
              <a:ea typeface="Arial"/>
              <a:cs typeface="Arial"/>
              <a:sym typeface="Arial"/>
            </a:endParaRPr>
          </a:p>
        </p:txBody>
      </p:sp>
      <p:sp>
        <p:nvSpPr>
          <p:cNvPr id="507" name="Google Shape;507;p11"/>
          <p:cNvSpPr txBox="1"/>
          <p:nvPr/>
        </p:nvSpPr>
        <p:spPr>
          <a:xfrm>
            <a:off x="548640" y="5257800"/>
            <a:ext cx="10058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300"/>
              <a:buFont typeface="Arial"/>
              <a:buNone/>
            </a:pPr>
            <a:r>
              <a:rPr b="0" i="0" lang="en-US" sz="1300" u="none" cap="none" strike="noStrike">
                <a:solidFill>
                  <a:schemeClr val="accent4"/>
                </a:solidFill>
                <a:latin typeface="Arial"/>
                <a:ea typeface="Arial"/>
                <a:cs typeface="Arial"/>
                <a:sym typeface="Arial"/>
              </a:rPr>
              <a:t>Targets, not results. Reviewed after a four-week beta baseline; full list in the appendix.</a:t>
            </a:r>
            <a:endParaRPr b="0" i="0" sz="1300" u="none" cap="none" strike="noStrike">
              <a:solidFill>
                <a:schemeClr val="dk1"/>
              </a:solidFill>
              <a:latin typeface="Arial"/>
              <a:ea typeface="Arial"/>
              <a:cs typeface="Arial"/>
              <a:sym typeface="Arial"/>
            </a:endParaRPr>
          </a:p>
        </p:txBody>
      </p:sp>
      <p:sp>
        <p:nvSpPr>
          <p:cNvPr id="508" name="Google Shape;508;p11"/>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4"/>
                </a:solidFill>
                <a:latin typeface="Arial"/>
                <a:ea typeface="Arial"/>
                <a:cs typeface="Arial"/>
                <a:sym typeface="Arial"/>
              </a:rPr>
              <a:t>‹#›</a:t>
            </a:fld>
            <a:endParaRPr b="0" i="0" sz="1000" u="none" cap="none" strike="noStrike">
              <a:solidFill>
                <a:schemeClr val="accent4"/>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pic>
        <p:nvPicPr>
          <p:cNvPr descr="/tmp/claude-0/-home-claude/d1b11841-31a5-5c6c-8b8a-2c68ca1b0a7c/scratchpad/deck/img/reticle-light.png" id="514" name="Google Shape;514;p12"/>
          <p:cNvPicPr preferRelativeResize="0"/>
          <p:nvPr/>
        </p:nvPicPr>
        <p:blipFill rotWithShape="1">
          <a:blip r:embed="rId3">
            <a:alphaModFix/>
          </a:blip>
          <a:srcRect b="0" l="0" r="0" t="0"/>
          <a:stretch/>
        </p:blipFill>
        <p:spPr>
          <a:xfrm>
            <a:off x="731520" y="1097280"/>
            <a:ext cx="1371600" cy="1371600"/>
          </a:xfrm>
          <a:prstGeom prst="rect">
            <a:avLst/>
          </a:prstGeom>
          <a:noFill/>
          <a:ln>
            <a:noFill/>
          </a:ln>
        </p:spPr>
      </p:pic>
      <p:sp>
        <p:nvSpPr>
          <p:cNvPr id="515" name="Google Shape;515;p12"/>
          <p:cNvSpPr txBox="1"/>
          <p:nvPr/>
        </p:nvSpPr>
        <p:spPr>
          <a:xfrm>
            <a:off x="731520" y="2743200"/>
            <a:ext cx="68580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3600"/>
              <a:buFont typeface="Arial"/>
              <a:buNone/>
            </a:pPr>
            <a:r>
              <a:rPr b="1" i="0" lang="en-US" sz="3600" u="none" cap="none" strike="noStrike">
                <a:solidFill>
                  <a:schemeClr val="lt1"/>
                </a:solidFill>
                <a:latin typeface="Arial"/>
                <a:ea typeface="Arial"/>
                <a:cs typeface="Arial"/>
                <a:sym typeface="Arial"/>
              </a:rPr>
              <a:t>Does the job fit you?</a:t>
            </a:r>
            <a:endParaRPr b="0" i="0" sz="3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lt1"/>
              </a:buClr>
              <a:buSzPts val="3600"/>
              <a:buFont typeface="Arial"/>
              <a:buNone/>
            </a:pPr>
            <a:r>
              <a:rPr b="1" i="0" lang="en-US" sz="3600" u="none" cap="none" strike="noStrike">
                <a:solidFill>
                  <a:schemeClr val="lt1"/>
                </a:solidFill>
                <a:latin typeface="Arial"/>
                <a:ea typeface="Arial"/>
                <a:cs typeface="Arial"/>
                <a:sym typeface="Arial"/>
              </a:rPr>
              <a:t>Here's why.</a:t>
            </a:r>
            <a:endParaRPr b="0" i="0" sz="3600" u="none" cap="none" strike="noStrike">
              <a:solidFill>
                <a:schemeClr val="dk1"/>
              </a:solidFill>
              <a:latin typeface="Arial"/>
              <a:ea typeface="Arial"/>
              <a:cs typeface="Arial"/>
              <a:sym typeface="Arial"/>
            </a:endParaRPr>
          </a:p>
        </p:txBody>
      </p:sp>
      <p:sp>
        <p:nvSpPr>
          <p:cNvPr id="516" name="Google Shape;516;p12"/>
          <p:cNvSpPr txBox="1"/>
          <p:nvPr/>
        </p:nvSpPr>
        <p:spPr>
          <a:xfrm>
            <a:off x="731520" y="3931920"/>
            <a:ext cx="64008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800"/>
              <a:buFont typeface="Arial"/>
              <a:buNone/>
            </a:pPr>
            <a:r>
              <a:rPr b="0" i="0" lang="en-US" sz="1800" u="none" cap="none" strike="noStrike">
                <a:solidFill>
                  <a:schemeClr val="accent4"/>
                </a:solidFill>
                <a:latin typeface="Arial"/>
                <a:ea typeface="Arial"/>
                <a:cs typeface="Arial"/>
                <a:sym typeface="Arial"/>
              </a:rPr>
              <a:t>Thank you · questions welcome</a:t>
            </a:r>
            <a:endParaRPr b="0" i="0" sz="1800" u="none" cap="none" strike="noStrike">
              <a:solidFill>
                <a:schemeClr val="dk1"/>
              </a:solidFill>
              <a:latin typeface="Arial"/>
              <a:ea typeface="Arial"/>
              <a:cs typeface="Arial"/>
              <a:sym typeface="Arial"/>
            </a:endParaRPr>
          </a:p>
        </p:txBody>
      </p:sp>
      <p:sp>
        <p:nvSpPr>
          <p:cNvPr id="517" name="Google Shape;517;p12"/>
          <p:cNvSpPr/>
          <p:nvPr/>
        </p:nvSpPr>
        <p:spPr>
          <a:xfrm>
            <a:off x="7863840" y="1097280"/>
            <a:ext cx="3776472" cy="4480560"/>
          </a:xfrm>
          <a:prstGeom prst="roundRect">
            <a:avLst>
              <a:gd fmla="val 2906" name="adj"/>
            </a:avLst>
          </a:prstGeom>
          <a:solidFill>
            <a:srgbClr val="163A63"/>
          </a:solidFill>
          <a:ln cap="flat" cmpd="sng" w="12700">
            <a:solidFill>
              <a:srgbClr val="163A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2"/>
          <p:cNvSpPr txBox="1"/>
          <p:nvPr/>
        </p:nvSpPr>
        <p:spPr>
          <a:xfrm>
            <a:off x="8138160" y="1325880"/>
            <a:ext cx="329184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100"/>
              <a:buFont typeface="Arial"/>
              <a:buNone/>
            </a:pPr>
            <a:r>
              <a:rPr b="1" i="0" lang="en-US" spc="200" sz="1100" u="none" cap="none" strike="noStrike">
                <a:solidFill>
                  <a:schemeClr val="accent1"/>
                </a:solidFill>
                <a:latin typeface="Arial"/>
                <a:ea typeface="Arial"/>
                <a:cs typeface="Arial"/>
                <a:sym typeface="Arial"/>
              </a:rPr>
              <a:t>WHAT WE VALIDATE NEXT</a:t>
            </a:r>
            <a:endParaRPr b="0" i="0" sz="1100" u="none" cap="none" strike="noStrike">
              <a:solidFill>
                <a:schemeClr val="dk1"/>
              </a:solidFill>
              <a:latin typeface="Arial"/>
              <a:ea typeface="Arial"/>
              <a:cs typeface="Arial"/>
              <a:sym typeface="Arial"/>
            </a:endParaRPr>
          </a:p>
        </p:txBody>
      </p:sp>
      <p:sp>
        <p:nvSpPr>
          <p:cNvPr id="519" name="Google Shape;519;p12"/>
          <p:cNvSpPr txBox="1"/>
          <p:nvPr/>
        </p:nvSpPr>
        <p:spPr>
          <a:xfrm>
            <a:off x="8138160" y="1691640"/>
            <a:ext cx="3291840" cy="35661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lt1"/>
              </a:buClr>
              <a:buSzPts val="1500"/>
              <a:buFont typeface="Arial"/>
              <a:buChar char="•"/>
            </a:pPr>
            <a:r>
              <a:rPr b="0" i="0" lang="en-US" sz="1500" u="none" cap="none" strike="noStrike">
                <a:solidFill>
                  <a:schemeClr val="lt1"/>
                </a:solidFill>
                <a:latin typeface="Arial"/>
                <a:ea typeface="Arial"/>
                <a:cs typeface="Arial"/>
                <a:sym typeface="Arial"/>
              </a:rPr>
              <a:t>15 candidate and 5 headhunter interviews</a:t>
            </a:r>
            <a:endParaRPr b="0" i="0" sz="1500" u="none" cap="none" strike="noStrike">
              <a:solidFill>
                <a:schemeClr val="dk1"/>
              </a:solidFill>
              <a:latin typeface="Arial"/>
              <a:ea typeface="Arial"/>
              <a:cs typeface="Arial"/>
              <a:sym typeface="Arial"/>
            </a:endParaRPr>
          </a:p>
          <a:p>
            <a:pPr indent="-342900" lvl="0" marL="342900" marR="0" rtl="0" algn="l">
              <a:spcBef>
                <a:spcPts val="1000"/>
              </a:spcBef>
              <a:spcAft>
                <a:spcPts val="0"/>
              </a:spcAft>
              <a:buClr>
                <a:schemeClr val="lt1"/>
              </a:buClr>
              <a:buSzPts val="1500"/>
              <a:buFont typeface="Arial"/>
              <a:buChar char="•"/>
            </a:pPr>
            <a:r>
              <a:rPr b="0" i="0" lang="en-US" sz="1500" u="none" cap="none" strike="noStrike">
                <a:solidFill>
                  <a:schemeClr val="lt1"/>
                </a:solidFill>
                <a:latin typeface="Arial"/>
                <a:ea typeface="Arial"/>
                <a:cs typeface="Arial"/>
                <a:sym typeface="Arial"/>
              </a:rPr>
              <a:t>Score vs. expert judgement on 100 labelled profile–job pairs</a:t>
            </a:r>
            <a:endParaRPr b="0" i="0" sz="1500" u="none" cap="none" strike="noStrike">
              <a:solidFill>
                <a:schemeClr val="dk1"/>
              </a:solidFill>
              <a:latin typeface="Arial"/>
              <a:ea typeface="Arial"/>
              <a:cs typeface="Arial"/>
              <a:sym typeface="Arial"/>
            </a:endParaRPr>
          </a:p>
          <a:p>
            <a:pPr indent="-342900" lvl="0" marL="342900" marR="0" rtl="0" algn="l">
              <a:spcBef>
                <a:spcPts val="1000"/>
              </a:spcBef>
              <a:spcAft>
                <a:spcPts val="0"/>
              </a:spcAft>
              <a:buClr>
                <a:schemeClr val="lt1"/>
              </a:buClr>
              <a:buSzPts val="1500"/>
              <a:buFont typeface="Arial"/>
              <a:buChar char="•"/>
            </a:pPr>
            <a:r>
              <a:rPr b="0" i="0" lang="en-US" sz="1500" u="none" cap="none" strike="noStrike">
                <a:solidFill>
                  <a:schemeClr val="lt1"/>
                </a:solidFill>
                <a:latin typeface="Arial"/>
                <a:ea typeface="Arial"/>
                <a:cs typeface="Arial"/>
                <a:sym typeface="Arial"/>
              </a:rPr>
              <a:t>Bundesagentur job coverage per persona</a:t>
            </a:r>
            <a:endParaRPr b="0" i="0" sz="1500" u="none" cap="none" strike="noStrike">
              <a:solidFill>
                <a:schemeClr val="dk1"/>
              </a:solidFill>
              <a:latin typeface="Arial"/>
              <a:ea typeface="Arial"/>
              <a:cs typeface="Arial"/>
              <a:sym typeface="Arial"/>
            </a:endParaRPr>
          </a:p>
          <a:p>
            <a:pPr indent="-342900" lvl="0" marL="342900" marR="0" rtl="0" algn="l">
              <a:spcBef>
                <a:spcPts val="1000"/>
              </a:spcBef>
              <a:spcAft>
                <a:spcPts val="0"/>
              </a:spcAft>
              <a:buClr>
                <a:schemeClr val="lt1"/>
              </a:buClr>
              <a:buSzPts val="1500"/>
              <a:buFont typeface="Arial"/>
              <a:buChar char="•"/>
            </a:pPr>
            <a:r>
              <a:rPr b="0" i="0" lang="en-US" sz="1500" u="none" cap="none" strike="noStrike">
                <a:solidFill>
                  <a:schemeClr val="lt1"/>
                </a:solidFill>
                <a:latin typeface="Arial"/>
                <a:ea typeface="Arial"/>
                <a:cs typeface="Arial"/>
                <a:sym typeface="Arial"/>
              </a:rPr>
              <a:t>GDPR and EU AI Act review before G2</a:t>
            </a:r>
            <a:endParaRPr b="0" i="0" sz="1500" u="none" cap="none" strike="noStrike">
              <a:solidFill>
                <a:schemeClr val="dk1"/>
              </a:solidFill>
              <a:latin typeface="Arial"/>
              <a:ea typeface="Arial"/>
              <a:cs typeface="Arial"/>
              <a:sym typeface="Arial"/>
            </a:endParaRPr>
          </a:p>
        </p:txBody>
      </p:sp>
      <p:pic>
        <p:nvPicPr>
          <p:cNvPr descr="/tmp/claude-0/-home-claude/d1b11841-31a5-5c6c-8b8a-2c68ca1b0a7c/scratchpad/deck/img/logo-white.png" id="520" name="Google Shape;520;p12"/>
          <p:cNvPicPr preferRelativeResize="0"/>
          <p:nvPr/>
        </p:nvPicPr>
        <p:blipFill rotWithShape="1">
          <a:blip r:embed="rId4">
            <a:alphaModFix/>
          </a:blip>
          <a:srcRect b="0" l="0" r="0" t="0"/>
          <a:stretch/>
        </p:blipFill>
        <p:spPr>
          <a:xfrm>
            <a:off x="731520" y="5669280"/>
            <a:ext cx="1828800" cy="36576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5" name="Shape 525"/>
        <p:cNvGrpSpPr/>
        <p:nvPr/>
      </p:nvGrpSpPr>
      <p:grpSpPr>
        <a:xfrm>
          <a:off x="0" y="0"/>
          <a:ext cx="0" cy="0"/>
          <a:chOff x="0" y="0"/>
          <a:chExt cx="0" cy="0"/>
        </a:xfrm>
      </p:grpSpPr>
      <p:sp>
        <p:nvSpPr>
          <p:cNvPr id="526" name="Google Shape;526;p13"/>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APPENDIX · COMPETITION</a:t>
            </a:r>
            <a:endParaRPr sz="1200"/>
          </a:p>
        </p:txBody>
      </p:sp>
      <p:sp>
        <p:nvSpPr>
          <p:cNvPr id="527" name="Google Shape;527;p13"/>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200"/>
              <a:buFont typeface="Arial"/>
              <a:buNone/>
            </a:pPr>
            <a:r>
              <a:rPr b="1" lang="en-US" sz="3200">
                <a:solidFill>
                  <a:schemeClr val="dk1"/>
                </a:solidFill>
              </a:rPr>
              <a:t>Competitors at a glance</a:t>
            </a:r>
            <a:endParaRPr sz="3200"/>
          </a:p>
        </p:txBody>
      </p:sp>
      <p:graphicFrame>
        <p:nvGraphicFramePr>
          <p:cNvPr id="528" name="Google Shape;528;p13"/>
          <p:cNvGraphicFramePr/>
          <p:nvPr/>
        </p:nvGraphicFramePr>
        <p:xfrm>
          <a:off x="548640" y="2011680"/>
          <a:ext cx="3000000" cy="3000000"/>
        </p:xfrm>
        <a:graphic>
          <a:graphicData uri="http://schemas.openxmlformats.org/drawingml/2006/table">
            <a:tbl>
              <a:tblPr>
                <a:noFill/>
                <a:tableStyleId>{355AD317-4925-4BC8-8E0B-B8CEDDE1BA60}</a:tableStyleId>
              </a:tblPr>
              <a:tblGrid>
                <a:gridCol w="2286000"/>
                <a:gridCol w="3108950"/>
                <a:gridCol w="2743200"/>
                <a:gridCol w="2953500"/>
              </a:tblGrid>
              <a:tr h="502925">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rPr>
                        <a:t>Tool</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0F2A4A"/>
                    </a:solidFill>
                  </a:tcPr>
                </a:tc>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rPr>
                        <a:t>What it does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0F2A4A"/>
                    </a:solidFill>
                  </a:tcPr>
                </a:tc>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rPr>
                        <a:t>Price (Oct 2026)</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0F2A4A"/>
                    </a:solidFill>
                  </a:tcPr>
                </a:tc>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rPr>
                        <a:t>Gap vs. CareerPilot</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0F2A4A"/>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Jobscan</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Match rate of CV vs. ad, keyword-based</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$49.95 / month · 5 free scans a month</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Optimises wording; no fit vs. missing-data split</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Teal</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CV builder, keyword matching, job tracker</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Free · Teal+ $29 per 30 days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Keyword matching, no explained fit score</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Huntr</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Job tracker, tailored CVs, basic match score</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Free · Pro $40 / month</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Records applications, doesn't advise where to apply</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JobCopilot</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Auto-applies to matched jobs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From $0.93 / day</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Volume over fit; no review of each application</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Job boards (LinkedIn, StepStone, Indeed)</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Listings, alerts, premium insights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Free · paid premium tiers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Sponsored and premium visibility; no explanation</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F2542D"/>
                        </a:buClr>
                        <a:buSzPts val="1300"/>
                        <a:buFont typeface="Arial"/>
                        <a:buNone/>
                      </a:pPr>
                      <a:r>
                        <a:rPr b="1" lang="en-US" sz="1300" u="none" cap="none" strike="noStrike">
                          <a:solidFill>
                            <a:srgbClr val="F2542D"/>
                          </a:solidFill>
                        </a:rPr>
                        <a:t>CareerPilot</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Explained fit, reviewed documents, tracking</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10 free credits a day · €0.99 / 10 credits (coming soon)</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bl>
          </a:graphicData>
        </a:graphic>
      </p:graphicFrame>
      <p:sp>
        <p:nvSpPr>
          <p:cNvPr id="529" name="Google Shape;529;p13"/>
          <p:cNvSpPr txBox="1"/>
          <p:nvPr/>
        </p:nvSpPr>
        <p:spPr>
          <a:xfrm>
            <a:off x="548640" y="5989320"/>
            <a:ext cx="109728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Sources: Huntr, Teal and JobCopilot pricing pages; Jobscan via The Interview Guys review (2026). Prices in USD as listed, checked 8 Oct 2026.</a:t>
            </a:r>
            <a:endParaRPr b="0" i="0" sz="1000" u="none" cap="none" strike="noStrike">
              <a:solidFill>
                <a:schemeClr val="dk1"/>
              </a:solidFill>
              <a:latin typeface="Arial"/>
              <a:ea typeface="Arial"/>
              <a:cs typeface="Arial"/>
              <a:sym typeface="Arial"/>
            </a:endParaRPr>
          </a:p>
        </p:txBody>
      </p:sp>
      <p:sp>
        <p:nvSpPr>
          <p:cNvPr id="530" name="Google Shape;530;p13"/>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14"/>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APPENDIX · METRICS</a:t>
            </a:r>
            <a:endParaRPr sz="1200"/>
          </a:p>
        </p:txBody>
      </p:sp>
      <p:sp>
        <p:nvSpPr>
          <p:cNvPr id="537" name="Google Shape;537;p14"/>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200"/>
              <a:buFont typeface="Arial"/>
              <a:buNone/>
            </a:pPr>
            <a:r>
              <a:rPr b="1" lang="en-US" sz="3200">
                <a:solidFill>
                  <a:schemeClr val="dk1"/>
                </a:solidFill>
              </a:rPr>
              <a:t>Measurement targets</a:t>
            </a:r>
            <a:endParaRPr sz="3200"/>
          </a:p>
        </p:txBody>
      </p:sp>
      <p:graphicFrame>
        <p:nvGraphicFramePr>
          <p:cNvPr id="538" name="Google Shape;538;p14"/>
          <p:cNvGraphicFramePr/>
          <p:nvPr/>
        </p:nvGraphicFramePr>
        <p:xfrm>
          <a:off x="548640" y="2011680"/>
          <a:ext cx="3000000" cy="3000000"/>
        </p:xfrm>
        <a:graphic>
          <a:graphicData uri="http://schemas.openxmlformats.org/drawingml/2006/table">
            <a:tbl>
              <a:tblPr>
                <a:noFill/>
                <a:tableStyleId>{355AD317-4925-4BC8-8E0B-B8CEDDE1BA60}</a:tableStyleId>
              </a:tblPr>
              <a:tblGrid>
                <a:gridCol w="2743200"/>
                <a:gridCol w="5120650"/>
                <a:gridCol w="3227825"/>
              </a:tblGrid>
              <a:tr h="502925">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rPr>
                        <a:t>Metric</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0F2A4A"/>
                    </a:solidFill>
                  </a:tcPr>
                </a:tc>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rPr>
                        <a:t>Target, 3 months after launch</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0F2A4A"/>
                    </a:solidFill>
                  </a:tcPr>
                </a:tc>
                <a:tc>
                  <a:txBody>
                    <a:bodyPr/>
                    <a:lstStyle/>
                    <a:p>
                      <a:pPr indent="0" lvl="0" marL="0" marR="0" rtl="0" algn="l">
                        <a:spcBef>
                          <a:spcPts val="0"/>
                        </a:spcBef>
                        <a:spcAft>
                          <a:spcPts val="0"/>
                        </a:spcAft>
                        <a:buClr>
                          <a:srgbClr val="FFFFFF"/>
                        </a:buClr>
                        <a:buSzPts val="1300"/>
                        <a:buFont typeface="Arial"/>
                        <a:buNone/>
                      </a:pPr>
                      <a:r>
                        <a:rPr b="1" lang="en-US" sz="1300" u="none" cap="none" strike="noStrike">
                          <a:solidFill>
                            <a:srgbClr val="FFFFFF"/>
                          </a:solidFill>
                        </a:rPr>
                        <a:t>Note</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0F2A4A"/>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Application-to-interview rate</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 20% overall · ≥ 90% band at least 2× the &lt; 70% band</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Main proof that the score works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Score trust</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 90% rated accurate · ≥ 60% explanation-to-decision</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Thumbs on evidence points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Profile completeness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 90% of new users reach 90% within 7 days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Quality signal, not a gate</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Retention</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Week 4 ≥ 50% · week 12 ≥ 35%</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Hired users count as success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Abandonment</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&lt; 25% before first scored match · &lt; 20% unexported documents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Find the drop-off stage</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AI cost</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&lt; €0.01 per complete application at scale</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Tracked from alpha</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Pay-as-you-apply interest</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 20% "Coming soon" clicks among users at 0 credits</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2A4A"/>
                        </a:buClr>
                        <a:buSzPts val="1300"/>
                        <a:buFont typeface="Arial"/>
                        <a:buNone/>
                      </a:pPr>
                      <a:r>
                        <a:rPr lang="en-US" sz="1300" u="none" cap="none" strike="noStrike">
                          <a:solidFill>
                            <a:srgbClr val="0F2A4A"/>
                          </a:solidFill>
                        </a:rPr>
                        <a:t>Fake-door signal</a:t>
                      </a:r>
                      <a:endParaRPr sz="1300" u="none" cap="none" strike="noStrike"/>
                    </a:p>
                  </a:txBody>
                  <a:tcPr marT="54875" marB="54875" marR="109725" marL="109725" anchor="ctr">
                    <a:lnL cap="flat" cmpd="sng" w="9525">
                      <a:solidFill>
                        <a:srgbClr val="D5DEEA"/>
                      </a:solidFill>
                      <a:prstDash val="solid"/>
                      <a:round/>
                      <a:headEnd len="sm" w="sm" type="none"/>
                      <a:tailEnd len="sm" w="sm" type="none"/>
                    </a:lnL>
                    <a:lnR cap="flat" cmpd="sng" w="9525">
                      <a:solidFill>
                        <a:srgbClr val="D5DEEA"/>
                      </a:solidFill>
                      <a:prstDash val="solid"/>
                      <a:round/>
                      <a:headEnd len="sm" w="sm" type="none"/>
                      <a:tailEnd len="sm" w="sm" type="none"/>
                    </a:lnR>
                    <a:lnT cap="flat" cmpd="sng" w="9525">
                      <a:solidFill>
                        <a:srgbClr val="D5DEEA"/>
                      </a:solidFill>
                      <a:prstDash val="solid"/>
                      <a:round/>
                      <a:headEnd len="sm" w="sm" type="none"/>
                      <a:tailEnd len="sm" w="sm" type="none"/>
                    </a:lnT>
                    <a:lnB cap="flat" cmpd="sng" w="9525">
                      <a:solidFill>
                        <a:srgbClr val="D5DEEA"/>
                      </a:solidFill>
                      <a:prstDash val="solid"/>
                      <a:round/>
                      <a:headEnd len="sm" w="sm" type="none"/>
                      <a:tailEnd len="sm" w="sm" type="none"/>
                    </a:lnB>
                    <a:solidFill>
                      <a:srgbClr val="FFFFFF"/>
                    </a:solidFill>
                  </a:tcPr>
                </a:tc>
              </a:tr>
            </a:tbl>
          </a:graphicData>
        </a:graphic>
      </p:graphicFrame>
      <p:sp>
        <p:nvSpPr>
          <p:cNvPr id="539" name="Google Shape;539;p14"/>
          <p:cNvSpPr txBox="1"/>
          <p:nvPr/>
        </p:nvSpPr>
        <p:spPr>
          <a:xfrm>
            <a:off x="548640" y="5989320"/>
            <a:ext cx="109728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All targets are assumptions, reviewed after a four-week beta baseline. Headhunter pilot: 100% eligibility compliance, zero unauthorised disclosures.</a:t>
            </a:r>
            <a:endParaRPr b="0" i="0" sz="1000" u="none" cap="none" strike="noStrike">
              <a:solidFill>
                <a:schemeClr val="dk1"/>
              </a:solidFill>
              <a:latin typeface="Arial"/>
              <a:ea typeface="Arial"/>
              <a:cs typeface="Arial"/>
              <a:sym typeface="Arial"/>
            </a:endParaRPr>
          </a:p>
        </p:txBody>
      </p:sp>
      <p:sp>
        <p:nvSpPr>
          <p:cNvPr id="540" name="Google Shape;540;p14"/>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15"/>
          <p:cNvSpPr txBox="1"/>
          <p:nvPr>
            <p:ph idx="1" type="body"/>
          </p:nvPr>
        </p:nvSpPr>
        <p:spPr>
          <a:xfrm>
            <a:off x="548640" y="822960"/>
            <a:ext cx="110642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1"/>
              </a:buClr>
              <a:buSzPts val="1200"/>
              <a:buNone/>
            </a:pPr>
            <a:r>
              <a:rPr b="1" lang="en-US" spc="200" sz="1200">
                <a:solidFill>
                  <a:schemeClr val="accent1"/>
                </a:solidFill>
              </a:rPr>
              <a:t>APPENDIX · LEGAL</a:t>
            </a:r>
            <a:endParaRPr sz="1200"/>
          </a:p>
        </p:txBody>
      </p:sp>
      <p:sp>
        <p:nvSpPr>
          <p:cNvPr id="547" name="Google Shape;547;p15"/>
          <p:cNvSpPr txBox="1"/>
          <p:nvPr>
            <p:ph type="title"/>
          </p:nvPr>
        </p:nvSpPr>
        <p:spPr>
          <a:xfrm>
            <a:off x="548640" y="1097280"/>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200"/>
              <a:buFont typeface="Arial"/>
              <a:buNone/>
            </a:pPr>
            <a:r>
              <a:rPr b="1" lang="en-US" sz="3200">
                <a:solidFill>
                  <a:schemeClr val="dk1"/>
                </a:solidFill>
              </a:rPr>
              <a:t>What a real pilot would need</a:t>
            </a:r>
            <a:endParaRPr sz="3200"/>
          </a:p>
        </p:txBody>
      </p:sp>
      <p:sp>
        <p:nvSpPr>
          <p:cNvPr id="548" name="Google Shape;548;p15"/>
          <p:cNvSpPr/>
          <p:nvPr/>
        </p:nvSpPr>
        <p:spPr>
          <a:xfrm>
            <a:off x="548640" y="2057400"/>
            <a:ext cx="5449824" cy="1143000"/>
          </a:xfrm>
          <a:prstGeom prst="roundRect">
            <a:avLst>
              <a:gd fmla="val 9600"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15"/>
          <p:cNvSpPr txBox="1"/>
          <p:nvPr/>
        </p:nvSpPr>
        <p:spPr>
          <a:xfrm>
            <a:off x="822960" y="2221992"/>
            <a:ext cx="49377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GDPR and BDSG</a:t>
            </a:r>
            <a:endParaRPr b="0" i="0" sz="1500" u="none" cap="none" strike="noStrike">
              <a:solidFill>
                <a:schemeClr val="dk1"/>
              </a:solidFill>
              <a:latin typeface="Arial"/>
              <a:ea typeface="Arial"/>
              <a:cs typeface="Arial"/>
              <a:sym typeface="Arial"/>
            </a:endParaRPr>
          </a:p>
        </p:txBody>
      </p:sp>
      <p:sp>
        <p:nvSpPr>
          <p:cNvPr id="550" name="Google Shape;550;p15"/>
          <p:cNvSpPr txBox="1"/>
          <p:nvPr/>
        </p:nvSpPr>
        <p:spPr>
          <a:xfrm>
            <a:off x="822960" y="2532888"/>
            <a:ext cx="49377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Legal basis per use, DPIA, data protection officer, EU hosting, deletion that reaches logs and backups</a:t>
            </a:r>
            <a:endParaRPr b="0" i="0" sz="1200" u="none" cap="none" strike="noStrike">
              <a:solidFill>
                <a:schemeClr val="dk1"/>
              </a:solidFill>
              <a:latin typeface="Arial"/>
              <a:ea typeface="Arial"/>
              <a:cs typeface="Arial"/>
              <a:sym typeface="Arial"/>
            </a:endParaRPr>
          </a:p>
        </p:txBody>
      </p:sp>
      <p:sp>
        <p:nvSpPr>
          <p:cNvPr id="551" name="Google Shape;551;p15"/>
          <p:cNvSpPr/>
          <p:nvPr/>
        </p:nvSpPr>
        <p:spPr>
          <a:xfrm>
            <a:off x="6190488" y="2057400"/>
            <a:ext cx="5449824" cy="1143000"/>
          </a:xfrm>
          <a:prstGeom prst="roundRect">
            <a:avLst>
              <a:gd fmla="val 9600"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5"/>
          <p:cNvSpPr txBox="1"/>
          <p:nvPr/>
        </p:nvSpPr>
        <p:spPr>
          <a:xfrm>
            <a:off x="6464808" y="2221992"/>
            <a:ext cx="49377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EU AI Act</a:t>
            </a:r>
            <a:endParaRPr b="0" i="0" sz="1500" u="none" cap="none" strike="noStrike">
              <a:solidFill>
                <a:schemeClr val="dk1"/>
              </a:solidFill>
              <a:latin typeface="Arial"/>
              <a:ea typeface="Arial"/>
              <a:cs typeface="Arial"/>
              <a:sym typeface="Arial"/>
            </a:endParaRPr>
          </a:p>
        </p:txBody>
      </p:sp>
      <p:sp>
        <p:nvSpPr>
          <p:cNvPr id="553" name="Google Shape;553;p15"/>
          <p:cNvSpPr txBox="1"/>
          <p:nvPr/>
        </p:nvSpPr>
        <p:spPr>
          <a:xfrm>
            <a:off x="6464808" y="2532888"/>
            <a:ext cx="49377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Recruitment AI is high-risk (Annex III) from 2 Dec 2027; candidate-side use needs specialist classification</a:t>
            </a:r>
            <a:endParaRPr b="0" i="0" sz="1200" u="none" cap="none" strike="noStrike">
              <a:solidFill>
                <a:schemeClr val="dk1"/>
              </a:solidFill>
              <a:latin typeface="Arial"/>
              <a:ea typeface="Arial"/>
              <a:cs typeface="Arial"/>
              <a:sym typeface="Arial"/>
            </a:endParaRPr>
          </a:p>
        </p:txBody>
      </p:sp>
      <p:sp>
        <p:nvSpPr>
          <p:cNvPr id="554" name="Google Shape;554;p15"/>
          <p:cNvSpPr/>
          <p:nvPr/>
        </p:nvSpPr>
        <p:spPr>
          <a:xfrm>
            <a:off x="548640" y="3383280"/>
            <a:ext cx="5449824" cy="1143000"/>
          </a:xfrm>
          <a:prstGeom prst="roundRect">
            <a:avLst>
              <a:gd fmla="val 9600"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5"/>
          <p:cNvSpPr txBox="1"/>
          <p:nvPr/>
        </p:nvSpPr>
        <p:spPr>
          <a:xfrm>
            <a:off x="822960" y="3547872"/>
            <a:ext cx="49377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Anti-discrimination (AGG)</a:t>
            </a:r>
            <a:endParaRPr b="0" i="0" sz="1500" u="none" cap="none" strike="noStrike">
              <a:solidFill>
                <a:schemeClr val="dk1"/>
              </a:solidFill>
              <a:latin typeface="Arial"/>
              <a:ea typeface="Arial"/>
              <a:cs typeface="Arial"/>
              <a:sym typeface="Arial"/>
            </a:endParaRPr>
          </a:p>
        </p:txBody>
      </p:sp>
      <p:sp>
        <p:nvSpPr>
          <p:cNvPr id="556" name="Google Shape;556;p15"/>
          <p:cNvSpPr txBox="1"/>
          <p:nvPr/>
        </p:nvSpPr>
        <p:spPr>
          <a:xfrm>
            <a:off x="822960" y="3858768"/>
            <a:ext cx="49377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No protected attributes or proxies; bias tests with the four-fifths rule</a:t>
            </a:r>
            <a:endParaRPr b="0" i="0" sz="1200" u="none" cap="none" strike="noStrike">
              <a:solidFill>
                <a:schemeClr val="dk1"/>
              </a:solidFill>
              <a:latin typeface="Arial"/>
              <a:ea typeface="Arial"/>
              <a:cs typeface="Arial"/>
              <a:sym typeface="Arial"/>
            </a:endParaRPr>
          </a:p>
        </p:txBody>
      </p:sp>
      <p:sp>
        <p:nvSpPr>
          <p:cNvPr id="557" name="Google Shape;557;p15"/>
          <p:cNvSpPr/>
          <p:nvPr/>
        </p:nvSpPr>
        <p:spPr>
          <a:xfrm>
            <a:off x="6190488" y="3383280"/>
            <a:ext cx="5449824" cy="1143000"/>
          </a:xfrm>
          <a:prstGeom prst="roundRect">
            <a:avLst>
              <a:gd fmla="val 9600"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5"/>
          <p:cNvSpPr txBox="1"/>
          <p:nvPr/>
        </p:nvSpPr>
        <p:spPr>
          <a:xfrm>
            <a:off x="6464808" y="3547872"/>
            <a:ext cx="49377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Automated decisions</a:t>
            </a:r>
            <a:endParaRPr b="0" i="0" sz="1500" u="none" cap="none" strike="noStrike">
              <a:solidFill>
                <a:schemeClr val="dk1"/>
              </a:solidFill>
              <a:latin typeface="Arial"/>
              <a:ea typeface="Arial"/>
              <a:cs typeface="Arial"/>
              <a:sym typeface="Arial"/>
            </a:endParaRPr>
          </a:p>
        </p:txBody>
      </p:sp>
      <p:sp>
        <p:nvSpPr>
          <p:cNvPr id="559" name="Google Shape;559;p15"/>
          <p:cNvSpPr txBox="1"/>
          <p:nvPr/>
        </p:nvSpPr>
        <p:spPr>
          <a:xfrm>
            <a:off x="6464808" y="3858768"/>
            <a:ext cx="49377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The candidate always decides; recruiter ranking keeps a human in the loop</a:t>
            </a:r>
            <a:endParaRPr b="0" i="0" sz="1200" u="none" cap="none" strike="noStrike">
              <a:solidFill>
                <a:schemeClr val="dk1"/>
              </a:solidFill>
              <a:latin typeface="Arial"/>
              <a:ea typeface="Arial"/>
              <a:cs typeface="Arial"/>
              <a:sym typeface="Arial"/>
            </a:endParaRPr>
          </a:p>
        </p:txBody>
      </p:sp>
      <p:sp>
        <p:nvSpPr>
          <p:cNvPr id="560" name="Google Shape;560;p15"/>
          <p:cNvSpPr/>
          <p:nvPr/>
        </p:nvSpPr>
        <p:spPr>
          <a:xfrm>
            <a:off x="548640" y="4709160"/>
            <a:ext cx="5449824" cy="1143000"/>
          </a:xfrm>
          <a:prstGeom prst="roundRect">
            <a:avLst>
              <a:gd fmla="val 9600"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15"/>
          <p:cNvSpPr txBox="1"/>
          <p:nvPr/>
        </p:nvSpPr>
        <p:spPr>
          <a:xfrm>
            <a:off x="822960" y="4873752"/>
            <a:ext cx="49377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Job data</a:t>
            </a:r>
            <a:endParaRPr b="0" i="0" sz="1500" u="none" cap="none" strike="noStrike">
              <a:solidFill>
                <a:schemeClr val="dk1"/>
              </a:solidFill>
              <a:latin typeface="Arial"/>
              <a:ea typeface="Arial"/>
              <a:cs typeface="Arial"/>
              <a:sym typeface="Arial"/>
            </a:endParaRPr>
          </a:p>
        </p:txBody>
      </p:sp>
      <p:sp>
        <p:nvSpPr>
          <p:cNvPr id="562" name="Google Shape;562;p15"/>
          <p:cNvSpPr txBox="1"/>
          <p:nvPr/>
        </p:nvSpPr>
        <p:spPr>
          <a:xfrm>
            <a:off x="822960" y="5184648"/>
            <a:ext cx="49377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Bundesagentur terms of use, no scraping, mock data labelled</a:t>
            </a:r>
            <a:endParaRPr b="0" i="0" sz="1200" u="none" cap="none" strike="noStrike">
              <a:solidFill>
                <a:schemeClr val="dk1"/>
              </a:solidFill>
              <a:latin typeface="Arial"/>
              <a:ea typeface="Arial"/>
              <a:cs typeface="Arial"/>
              <a:sym typeface="Arial"/>
            </a:endParaRPr>
          </a:p>
        </p:txBody>
      </p:sp>
      <p:sp>
        <p:nvSpPr>
          <p:cNvPr id="563" name="Google Shape;563;p15"/>
          <p:cNvSpPr/>
          <p:nvPr/>
        </p:nvSpPr>
        <p:spPr>
          <a:xfrm>
            <a:off x="6190488" y="4709160"/>
            <a:ext cx="5449824" cy="1143000"/>
          </a:xfrm>
          <a:prstGeom prst="roundRect">
            <a:avLst>
              <a:gd fmla="val 9600" name="adj"/>
            </a:avLst>
          </a:prstGeom>
          <a:solidFill>
            <a:schemeClr val="lt1"/>
          </a:solidFill>
          <a:ln cap="flat" cmpd="sng" w="1270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15"/>
          <p:cNvSpPr txBox="1"/>
          <p:nvPr/>
        </p:nvSpPr>
        <p:spPr>
          <a:xfrm>
            <a:off x="6464808" y="4873752"/>
            <a:ext cx="49377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Arial"/>
              <a:buNone/>
            </a:pPr>
            <a:r>
              <a:rPr b="1" i="0" lang="en-US" sz="1500" u="none" cap="none" strike="noStrike">
                <a:solidFill>
                  <a:schemeClr val="dk1"/>
                </a:solidFill>
                <a:latin typeface="Arial"/>
                <a:ea typeface="Arial"/>
                <a:cs typeface="Arial"/>
                <a:sym typeface="Arial"/>
              </a:rPr>
              <a:t>Wallet</a:t>
            </a:r>
            <a:endParaRPr b="0" i="0" sz="1500" u="none" cap="none" strike="noStrike">
              <a:solidFill>
                <a:schemeClr val="dk1"/>
              </a:solidFill>
              <a:latin typeface="Arial"/>
              <a:ea typeface="Arial"/>
              <a:cs typeface="Arial"/>
              <a:sym typeface="Arial"/>
            </a:endParaRPr>
          </a:p>
        </p:txBody>
      </p:sp>
      <p:sp>
        <p:nvSpPr>
          <p:cNvPr id="565" name="Google Shape;565;p15"/>
          <p:cNvSpPr txBox="1"/>
          <p:nvPr/>
        </p:nvSpPr>
        <p:spPr>
          <a:xfrm>
            <a:off x="6464808" y="5184648"/>
            <a:ext cx="49377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Arial"/>
              <a:buNone/>
            </a:pPr>
            <a:r>
              <a:rPr b="0" i="0" lang="en-US" sz="1200" u="none" cap="none" strike="noStrike">
                <a:solidFill>
                  <a:schemeClr val="dk2"/>
                </a:solidFill>
                <a:latin typeface="Arial"/>
                <a:ea typeface="Arial"/>
                <a:cs typeface="Arial"/>
                <a:sym typeface="Arial"/>
              </a:rPr>
              <a:t>Through a licensed payment provider; prices incl. VAT, withdrawal rules</a:t>
            </a:r>
            <a:endParaRPr b="0" i="0" sz="1200" u="none" cap="none" strike="noStrike">
              <a:solidFill>
                <a:schemeClr val="dk1"/>
              </a:solidFill>
              <a:latin typeface="Arial"/>
              <a:ea typeface="Arial"/>
              <a:cs typeface="Arial"/>
              <a:sym typeface="Arial"/>
            </a:endParaRPr>
          </a:p>
        </p:txBody>
      </p:sp>
      <p:sp>
        <p:nvSpPr>
          <p:cNvPr id="566" name="Google Shape;566;p15"/>
          <p:cNvSpPr txBox="1"/>
          <p:nvPr/>
        </p:nvSpPr>
        <p:spPr>
          <a:xfrm>
            <a:off x="548640" y="6035040"/>
            <a:ext cx="91440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Arial"/>
              <a:buNone/>
            </a:pPr>
            <a:r>
              <a:rPr b="0" i="0" lang="en-US" sz="1000" u="none" cap="none" strike="noStrike">
                <a:solidFill>
                  <a:schemeClr val="dk2"/>
                </a:solidFill>
                <a:latin typeface="Arial"/>
                <a:ea typeface="Arial"/>
                <a:cs typeface="Arial"/>
                <a:sym typeface="Arial"/>
              </a:rPr>
              <a:t>Not legal advice. Details in PRD chapter 12 on Confluence.</a:t>
            </a:r>
            <a:endParaRPr b="0" i="0" sz="1000" u="none" cap="none" strike="noStrike">
              <a:solidFill>
                <a:schemeClr val="dk1"/>
              </a:solidFill>
              <a:latin typeface="Arial"/>
              <a:ea typeface="Arial"/>
              <a:cs typeface="Arial"/>
              <a:sym typeface="Arial"/>
            </a:endParaRPr>
          </a:p>
        </p:txBody>
      </p:sp>
      <p:sp>
        <p:nvSpPr>
          <p:cNvPr id="567" name="Google Shape;567;p15"/>
          <p:cNvSpPr txBox="1"/>
          <p:nvPr>
            <p:ph idx="4294967295" type="sldNum"/>
          </p:nvPr>
        </p:nvSpPr>
        <p:spPr>
          <a:xfrm>
            <a:off x="11155680"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Arial"/>
                <a:ea typeface="Arial"/>
                <a:cs typeface="Arial"/>
                <a:sym typeface="Arial"/>
              </a:rPr>
              <a:t>‹#›</a:t>
            </a:fld>
            <a:endParaRPr b="0" i="0" sz="1000" u="none" cap="none" strike="noStrike">
              <a:solidFill>
                <a:schemeClr val="dk2"/>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CareerPilot">
  <a:themeElements>
    <a:clrScheme name="CareerPilot">
      <a:dk1>
        <a:srgbClr val="0F2A4A"/>
      </a:dk1>
      <a:lt1>
        <a:srgbClr val="FFFFFF"/>
      </a:lt1>
      <a:dk2>
        <a:srgbClr val="5B6B80"/>
      </a:dk2>
      <a:lt2>
        <a:srgbClr val="E8EEF6"/>
      </a:lt2>
      <a:accent1>
        <a:srgbClr val="F2542D"/>
      </a:accent1>
      <a:accent2>
        <a:srgbClr val="1E4A7A"/>
      </a:accent2>
      <a:accent3>
        <a:srgbClr val="2E8B57"/>
      </a:accent3>
      <a:accent4>
        <a:srgbClr val="D5DEEA"/>
      </a:accent4>
      <a:accent5>
        <a:srgbClr val="FDE3DB"/>
      </a:accent5>
      <a:accent6>
        <a:srgbClr val="163A63"/>
      </a:accent6>
      <a:hlink>
        <a:srgbClr val="1E4A7A"/>
      </a:hlink>
      <a:folHlink>
        <a:srgbClr val="5B6B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areerPilot">
  <a:themeElements>
    <a:clrScheme name="CareerPilot">
      <a:dk1>
        <a:srgbClr val="0F2A4A"/>
      </a:dk1>
      <a:lt1>
        <a:srgbClr val="FFFFFF"/>
      </a:lt1>
      <a:dk2>
        <a:srgbClr val="5B6B80"/>
      </a:dk2>
      <a:lt2>
        <a:srgbClr val="E8EEF6"/>
      </a:lt2>
      <a:accent1>
        <a:srgbClr val="F2542D"/>
      </a:accent1>
      <a:accent2>
        <a:srgbClr val="1E4A7A"/>
      </a:accent2>
      <a:accent3>
        <a:srgbClr val="2E8B57"/>
      </a:accent3>
      <a:accent4>
        <a:srgbClr val="D5DEEA"/>
      </a:accent4>
      <a:accent5>
        <a:srgbClr val="FDE3DB"/>
      </a:accent5>
      <a:accent6>
        <a:srgbClr val="163A63"/>
      </a:accent6>
      <a:hlink>
        <a:srgbClr val="1E4A7A"/>
      </a:hlink>
      <a:folHlink>
        <a:srgbClr val="5B6B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2026-10-08T11:18:39Z</dcterms:created>
  <dc:creator>Dan Glogoveanu</dc:creator>
</cp:coreProperties>
</file>