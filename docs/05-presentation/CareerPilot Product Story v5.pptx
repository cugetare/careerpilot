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ede54c45-9a42-d7ed-9a50-62e3ef5e6cea}">
          <p14:sldIdLst>
            <p14:sldId id="256"/>
            <p14:sldId id="257"/>
            <p14:sldId id="258"/>
            <p14:sldId id="259"/>
            <p14:sldId id="260"/>
          </p14:sldIdLst>
        </p14:section>
        <p14:section name="Success" id="{5dcf41ae-e54d-762a-9a98-c19e91594240}">
          <p14:sldIdLst>
            <p14:sldId id="261"/>
            <p14:sldId id="262"/>
          </p14:sldIdLst>
        </p14:section>
        <p14:section name="Demo" id="{ba38f344-0f4c-aa22-519a-0e278c930255}">
          <p14:sldIdLst>
            <p14:sldId id="263"/>
          </p14:sldIdLst>
        </p14:section>
        <p14:section name="Close" id="{dacc15ba-d9f0-38cd-0181-e5977cd333d4}">
          <p14:sldIdLst>
            <p14:sldId id="264"/>
          </p14:sldIdLst>
        </p14:section>
        <p14:section name="Appendix" id="{ba3bd19c-5e84-d8c8-628a-f569d78aef48}">
          <p14:sldIdLst>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CareerPilot tells job seekers whether they fit a job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and WHO. Lena, 24, master's in Leipzig: 40+ applications, 3 interviews, and nobody tells her why. Markus gets 60 alerts a week. Andrei needs the real language requirement and real employers. Sofia, a headhunter, wants available candidates who truly fit. Searches are scattered, rankings are paid for, and no tool explains a score. Personas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CareerPilot gives every job an explained fit score, free. One click shows how it's calculated. When a job is worth it, credits pay for preparation: strategy, CV, cover letter, interview prep, every change approved. Every application lands in one history. Competitors score keywords or apply in bulk; we explain fit, and ranking can't be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built one connected package. The PRD on Confluence defines what and why; Jira turns it into 9 epics and 6 sprints; Figma shows 7 screens and a mobile frame; the Next.js demo makes it clickable on web and mobile. Every feature traces from problem to demo, like this thread for 'unclear fit'. When we dropped the completeness gate, the PRD changed first and the rest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and WHEN. Germany only, German and English, one responsive app for web and mobile, jobs from the Bundesagentur's public lists. We validate until November, design until January, build January to April with an alpha on 2 April, run a closed beta in May and launch in June 27, a date fixed by our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success we first define the lifecycle. New, Activated after a first list and one action within 7 days, Active with an action in the last 14 days, then At risk, Inactive and Defunct as the silence grows. Two exits are not losses: Hired is our success story, Paused is the user's choice. Only Churned counts as a loss. Inactive and defunct users get re-onboarding: refresh the CV, confirm preferences, see what's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applications in the 90%-plus band should reach interviews at least twice as often as those below 70%. Around it: WAU over MAU at 60% because the digest is weekly, activation within 7 days, retention at weeks 4 and 12 without hired users, success stories as hired within 6 months, churn excluding hired and paused, and reactivation after re-onboarding. All targets are assumptions until the beta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at careerpilot.glogoveanu.eu, about 2 minutes: sign in, CV to profile at 72%, ten jobs with two above 90%, how the score is calculated, prepare and generate a CV, apply and see it in the history. Say once that all data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All deliverables are linked: PRD, backlog, prototype, demo and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a weighted sum of six criteria: skills 35, experience 25, role 15, education 10, languages 10, location 5. The points add up to the score. An unmet must-have caps the score just below your minimum fit, but the job stays visible. Completeness never hides scores; it sets confidence. Not a hiring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backlog in Jira mirrors the PRD: 9 epics, 29 stories. MoSCoW sets the scope, RICE ranks inside it, WSJF orders the 7 pilot stories. Every story has a persona, its FR references and Given/When/Then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build sprints in Jira, 11 January to 2 April 2027, 79 points, about 13 per sprint for 2 engineers and an ML engineer. Each sprint has a goal. Before them we validate and design; after them we harden, try the Should stories, run the beta in May and launch in June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Investor-funded MVP, free within 10 credits a day. Matching, why it fits, how it is calculated and applying on the employer site are always free. Credits pay for the tools that make an application stronger: Prepare (fit analysis and strategy), CV, cover letter and interview prep, one each, so fully preparing one application is 4 credits. After launch: top up a prepaid wallet from €10, 10 credits for 99 cents, never expire. Cost target under 1 cent per fully prepared application. Later employers pay for ads and talent search. Credits never buy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Invitation-only pilot. Verified headhunters submit an authorised job description and get an explained shortlist of opted-in candidates with at least 90% fit and confirmed availability. No CV until the candidate approves that recruiter and that job. Empty result is allowed; we never lower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8EEF6"/>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navy.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tx2"/>
                </a:solidFill>
              </a:rPr>
              <a:t>CareerPilot · Germany MVP · public launch June 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4A"/>
        </a:solidFill>
      </p:bgPr>
    </p:bg>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4"/>
                </a:solidFill>
              </a:rPr>
              <a:t>CareerPilot · Germany MVP · public launch June 27 (planned) · demo with illustrative data</a:t>
            </a:r>
            <a:endParaRPr lang="en-US" sz="1000" dirty="0"/>
          </a:p>
        </p:txBody>
      </p:sp>
      <p:sp>
        <p:nvSpPr>
          <p:cNvPr id="4" name="Text 1"/>
          <p:cNvSpPr/>
          <p:nvPr>
            <p:ph idx="102" type="body" hasCustomPrompt="1"/>
          </p:nvPr>
        </p:nvSpPr>
        <p:spPr>
          <a:xfrm>
            <a:off x="548640" y="822960"/>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109728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F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areerpilot.glogoveanu.eu" TargetMode="Externa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logoveanu.atlassian.net/wiki/spaces/PRD/pages/4292609" TargetMode="External"/><Relationship Id="rId3" Type="http://schemas.openxmlformats.org/officeDocument/2006/relationships/hyperlink" Target="https://glogoveanu.atlassian.net/jira/software/projects/CPA/boards/39" TargetMode="External"/><Relationship Id="rId4" Type="http://schemas.openxmlformats.org/officeDocument/2006/relationships/hyperlink" Target="https://www.figma.com/design/4SXo5dQmlYyQCiOW4ZJwCt/CareerPilot-test" TargetMode="External"/><Relationship Id="rId5" Type="http://schemas.openxmlformats.org/officeDocument/2006/relationships/hyperlink" Target="https://careerpilot.glogoveanu.eu" TargetMode="External"/><Relationship Id="rId6" Type="http://schemas.openxmlformats.org/officeDocument/2006/relationships/hyperlink" Target="https://github.com/cugetare/CareerPilot" TargetMode="External"/><Relationship Id="rId1"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logoveanu.atlassian.net/jira/software/projects/CPA/boards/39"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d1b11841-31a5-5c6c-8b8a-2c68ca1b0a7c/scratchpad/deck/img/logo-white.png">    </p:cNvPr>
          <p:cNvPicPr>
            <a:picLocks noChangeAspect="1"/>
          </p:cNvPicPr>
          <p:nvPr/>
        </p:nvPicPr>
        <p:blipFill>
          <a:blip r:embed="rId1"/>
          <a:stretch>
            <a:fillRect/>
          </a:stretch>
        </p:blipFill>
        <p:spPr>
          <a:xfrm>
            <a:off x="731520" y="1417320"/>
            <a:ext cx="5669280" cy="1143000"/>
          </a:xfrm>
          <a:prstGeom prst="rect">
            <a:avLst/>
          </a:prstGeom>
        </p:spPr>
      </p:pic>
      <p:sp>
        <p:nvSpPr>
          <p:cNvPr id="3" name="Text 0"/>
          <p:cNvSpPr txBox="1"/>
          <p:nvPr/>
        </p:nvSpPr>
        <p:spPr>
          <a:xfrm>
            <a:off x="731520" y="2834640"/>
            <a:ext cx="6949440" cy="914400"/>
          </a:xfrm>
          <a:prstGeom prst="rect">
            <a:avLst/>
          </a:prstGeom>
          <a:noFill/>
          <a:ln/>
        </p:spPr>
        <p:txBody>
          <a:bodyPr wrap="square" lIns="0" tIns="0" rIns="0" bIns="0" rtlCol="0" anchor="t"/>
          <a:lstStyle/>
          <a:p>
            <a:pPr indent="0" marL="0">
              <a:buNone/>
            </a:pPr>
            <a:r>
              <a:rPr lang="en-US" sz="2800" b="1" dirty="0">
                <a:solidFill>
                  <a:schemeClr val="bg1"/>
                </a:solidFill>
              </a:rPr>
              <a:t>A clear route from discovery to application.</a:t>
            </a:r>
            <a:endParaRPr lang="en-US" sz="2800" dirty="0"/>
          </a:p>
        </p:txBody>
      </p:sp>
      <p:sp>
        <p:nvSpPr>
          <p:cNvPr id="4" name="Text 1"/>
          <p:cNvSpPr txBox="1"/>
          <p:nvPr/>
        </p:nvSpPr>
        <p:spPr>
          <a:xfrm>
            <a:off x="731520" y="3931920"/>
            <a:ext cx="6400800" cy="731520"/>
          </a:xfrm>
          <a:prstGeom prst="rect">
            <a:avLst/>
          </a:prstGeom>
          <a:noFill/>
          <a:ln/>
        </p:spPr>
        <p:txBody>
          <a:bodyPr wrap="square" lIns="0" tIns="0" rIns="0" bIns="0" rtlCol="0" anchor="t"/>
          <a:lstStyle/>
          <a:p>
            <a:pPr indent="0" marL="0">
              <a:buNone/>
            </a:pPr>
            <a:r>
              <a:rPr lang="en-US" sz="1600" dirty="0">
                <a:solidFill>
                  <a:schemeClr val="accent4"/>
                </a:solidFill>
              </a:rPr>
              <a:t>A job search copilot that explains your fit, drafts documents you approve and tracks every application.</a:t>
            </a:r>
            <a:endParaRPr lang="en-US" sz="1600" dirty="0"/>
          </a:p>
        </p:txBody>
      </p:sp>
      <p:sp>
        <p:nvSpPr>
          <p:cNvPr id="5" name="Text 2"/>
          <p:cNvSpPr txBox="1"/>
          <p:nvPr/>
        </p:nvSpPr>
        <p:spPr>
          <a:xfrm>
            <a:off x="7315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MARKET</a:t>
            </a:r>
            <a:endParaRPr lang="en-US" sz="1000" dirty="0"/>
          </a:p>
        </p:txBody>
      </p:sp>
      <p:sp>
        <p:nvSpPr>
          <p:cNvPr id="6" name="Text 3"/>
          <p:cNvSpPr txBox="1"/>
          <p:nvPr/>
        </p:nvSpPr>
        <p:spPr>
          <a:xfrm>
            <a:off x="7315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Germany · DE / EN</a:t>
            </a:r>
            <a:endParaRPr lang="en-US" sz="1400" dirty="0"/>
          </a:p>
        </p:txBody>
      </p:sp>
      <p:sp>
        <p:nvSpPr>
          <p:cNvPr id="7" name="Text 4"/>
          <p:cNvSpPr txBox="1"/>
          <p:nvPr/>
        </p:nvSpPr>
        <p:spPr>
          <a:xfrm>
            <a:off x="32461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LAUNCH (PLANNED)</a:t>
            </a:r>
            <a:endParaRPr lang="en-US" sz="1000" dirty="0"/>
          </a:p>
        </p:txBody>
      </p:sp>
      <p:sp>
        <p:nvSpPr>
          <p:cNvPr id="8" name="Text 5"/>
          <p:cNvSpPr txBox="1"/>
          <p:nvPr/>
        </p:nvSpPr>
        <p:spPr>
          <a:xfrm>
            <a:off x="32461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June 27</a:t>
            </a:r>
            <a:endParaRPr lang="en-US" sz="1400" dirty="0"/>
          </a:p>
        </p:txBody>
      </p:sp>
      <p:sp>
        <p:nvSpPr>
          <p:cNvPr id="9" name="Text 6"/>
          <p:cNvSpPr txBox="1"/>
          <p:nvPr/>
        </p:nvSpPr>
        <p:spPr>
          <a:xfrm>
            <a:off x="5760720" y="4983480"/>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MVP</a:t>
            </a:r>
            <a:endParaRPr lang="en-US" sz="1000" dirty="0"/>
          </a:p>
        </p:txBody>
      </p:sp>
      <p:sp>
        <p:nvSpPr>
          <p:cNvPr id="10" name="Text 7"/>
          <p:cNvSpPr txBox="1"/>
          <p:nvPr/>
        </p:nvSpPr>
        <p:spPr>
          <a:xfrm>
            <a:off x="5760720" y="5257800"/>
            <a:ext cx="2377440" cy="457200"/>
          </a:xfrm>
          <a:prstGeom prst="rect">
            <a:avLst/>
          </a:prstGeom>
          <a:noFill/>
          <a:ln/>
        </p:spPr>
        <p:txBody>
          <a:bodyPr wrap="square" lIns="0" tIns="0" rIns="0" bIns="0" rtlCol="0" anchor="t"/>
          <a:lstStyle/>
          <a:p>
            <a:pPr indent="0" marL="0">
              <a:buNone/>
            </a:pPr>
            <a:r>
              <a:rPr lang="en-US" sz="1400" dirty="0">
                <a:solidFill>
                  <a:schemeClr val="bg1"/>
                </a:solidFill>
              </a:rPr>
              <a:t>Candidate app + headhunter pilot</a:t>
            </a:r>
            <a:endParaRPr lang="en-US" sz="1400" dirty="0"/>
          </a:p>
        </p:txBody>
      </p:sp>
      <p:pic>
        <p:nvPicPr>
          <p:cNvPr id="11" name="Image 1" descr="/tmp/claude-0/-home-claude/d1b11841-31a5-5c6c-8b8a-2c68ca1b0a7c/scratchpad/deck/img/reticle-light.png">    </p:cNvPr>
          <p:cNvPicPr>
            <a:picLocks noChangeAspect="1"/>
          </p:cNvPicPr>
          <p:nvPr/>
        </p:nvPicPr>
        <p:blipFill>
          <a:blip r:embed="rId2"/>
          <a:stretch>
            <a:fillRect/>
          </a:stretch>
        </p:blipFill>
        <p:spPr>
          <a:xfrm>
            <a:off x="8138160" y="1417320"/>
            <a:ext cx="3291840" cy="3291840"/>
          </a:xfrm>
          <a:prstGeom prst="rect">
            <a:avLst/>
          </a:prstGeom>
        </p:spPr>
      </p:pic>
      <p:sp>
        <p:nvSpPr>
          <p:cNvPr id="12" name="Text 8"/>
          <p:cNvSpPr txBox="1"/>
          <p:nvPr/>
        </p:nvSpPr>
        <p:spPr>
          <a:xfrm>
            <a:off x="731520" y="626364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Ironhack AI Product Management · Mini Project 1 · demo with illustrative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WHY · WHO</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Job seekers can't tell whether they fit a job</a:t>
            </a:r>
            <a:endParaRPr lang="en-US" sz="3200" dirty="0"/>
          </a:p>
        </p:txBody>
      </p:sp>
      <p:sp>
        <p:nvSpPr>
          <p:cNvPr id="4" name="Text 2"/>
          <p:cNvSpPr txBox="1"/>
          <p:nvPr/>
        </p:nvSpPr>
        <p:spPr>
          <a:xfrm>
            <a:off x="5486400"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lena"/>
          <p:cNvSpPr/>
          <p:nvPr/>
        </p:nvSpPr>
        <p:spPr>
          <a:xfrm>
            <a:off x="548640" y="2194560"/>
            <a:ext cx="4206240" cy="3291840"/>
          </a:xfrm>
          <a:prstGeom prst="roundRect">
            <a:avLst>
              <a:gd name="adj" fmla="val 3333"/>
            </a:avLst>
          </a:prstGeom>
          <a:solidFill>
            <a:srgbClr val="0F2A4A"/>
          </a:solidFill>
          <a:ln w="12700">
            <a:solidFill>
              <a:srgbClr val="0F2A4A"/>
            </a:solidFill>
            <a:prstDash val="solid"/>
          </a:ln>
        </p:spPr>
      </p:sp>
      <p:sp>
        <p:nvSpPr>
          <p:cNvPr id="11" name="Text 9"/>
          <p:cNvSpPr txBox="1"/>
          <p:nvPr/>
        </p:nvSpPr>
        <p:spPr>
          <a:xfrm>
            <a:off x="868680" y="246888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LENA, 24, LEIPZIG</a:t>
            </a:r>
            <a:endParaRPr lang="en-US" sz="1200" dirty="0"/>
          </a:p>
        </p:txBody>
      </p:sp>
      <p:sp>
        <p:nvSpPr>
          <p:cNvPr id="12" name="Text 10"/>
          <p:cNvSpPr txBox="1"/>
          <p:nvPr/>
        </p:nvSpPr>
        <p:spPr>
          <a:xfrm>
            <a:off x="868680" y="2834640"/>
            <a:ext cx="1828800" cy="822960"/>
          </a:xfrm>
          <a:prstGeom prst="rect">
            <a:avLst/>
          </a:prstGeom>
          <a:noFill/>
          <a:ln/>
        </p:spPr>
        <p:txBody>
          <a:bodyPr wrap="square" lIns="0" tIns="0" rIns="0" bIns="0" rtlCol="0" anchor="t"/>
          <a:lstStyle/>
          <a:p>
            <a:pPr indent="0" marL="0">
              <a:buNone/>
            </a:pPr>
            <a:r>
              <a:rPr lang="en-US" sz="5400" b="1" dirty="0">
                <a:solidFill>
                  <a:schemeClr val="bg1"/>
                </a:solidFill>
              </a:rPr>
              <a:t>40+</a:t>
            </a:r>
            <a:endParaRPr lang="en-US" sz="5400" dirty="0"/>
          </a:p>
        </p:txBody>
      </p:sp>
      <p:sp>
        <p:nvSpPr>
          <p:cNvPr id="13" name="Text 11"/>
          <p:cNvSpPr txBox="1"/>
          <p:nvPr/>
        </p:nvSpPr>
        <p:spPr>
          <a:xfrm>
            <a:off x="2606040" y="3063240"/>
            <a:ext cx="1828800" cy="457200"/>
          </a:xfrm>
          <a:prstGeom prst="rect">
            <a:avLst/>
          </a:prstGeom>
          <a:noFill/>
          <a:ln/>
        </p:spPr>
        <p:txBody>
          <a:bodyPr wrap="square" lIns="0" tIns="0" rIns="0" bIns="0" rtlCol="0" anchor="t"/>
          <a:lstStyle/>
          <a:p>
            <a:pPr indent="0" marL="0">
              <a:buNone/>
            </a:pPr>
            <a:r>
              <a:rPr lang="en-US" sz="1800" dirty="0">
                <a:solidFill>
                  <a:schemeClr val="accent4"/>
                </a:solidFill>
              </a:rPr>
              <a:t>applications</a:t>
            </a:r>
            <a:endParaRPr lang="en-US" sz="1800" dirty="0"/>
          </a:p>
        </p:txBody>
      </p:sp>
      <p:sp>
        <p:nvSpPr>
          <p:cNvPr id="14" name="Text 12"/>
          <p:cNvSpPr txBox="1"/>
          <p:nvPr/>
        </p:nvSpPr>
        <p:spPr>
          <a:xfrm>
            <a:off x="868680" y="3749040"/>
            <a:ext cx="1828800" cy="822960"/>
          </a:xfrm>
          <a:prstGeom prst="rect">
            <a:avLst/>
          </a:prstGeom>
          <a:noFill/>
          <a:ln/>
        </p:spPr>
        <p:txBody>
          <a:bodyPr wrap="square" lIns="0" tIns="0" rIns="0" bIns="0" rtlCol="0" anchor="t"/>
          <a:lstStyle/>
          <a:p>
            <a:pPr indent="0" marL="0">
              <a:buNone/>
            </a:pPr>
            <a:r>
              <a:rPr lang="en-US" sz="5400" b="1" dirty="0">
                <a:solidFill>
                  <a:schemeClr val="accent1"/>
                </a:solidFill>
              </a:rPr>
              <a:t>3</a:t>
            </a:r>
            <a:endParaRPr lang="en-US" sz="5400" dirty="0"/>
          </a:p>
        </p:txBody>
      </p:sp>
      <p:sp>
        <p:nvSpPr>
          <p:cNvPr id="15" name="Text 13"/>
          <p:cNvSpPr txBox="1"/>
          <p:nvPr/>
        </p:nvSpPr>
        <p:spPr>
          <a:xfrm>
            <a:off x="2606040" y="3977640"/>
            <a:ext cx="1828800" cy="457200"/>
          </a:xfrm>
          <a:prstGeom prst="rect">
            <a:avLst/>
          </a:prstGeom>
          <a:noFill/>
          <a:ln/>
        </p:spPr>
        <p:txBody>
          <a:bodyPr wrap="square" lIns="0" tIns="0" rIns="0" bIns="0" rtlCol="0" anchor="t"/>
          <a:lstStyle/>
          <a:p>
            <a:pPr indent="0" marL="0">
              <a:buNone/>
            </a:pPr>
            <a:r>
              <a:rPr lang="en-US" sz="1800" dirty="0">
                <a:solidFill>
                  <a:schemeClr val="accent4"/>
                </a:solidFill>
              </a:rPr>
              <a:t>interviews</a:t>
            </a:r>
            <a:endParaRPr lang="en-US" sz="1800" dirty="0"/>
          </a:p>
        </p:txBody>
      </p:sp>
      <p:sp>
        <p:nvSpPr>
          <p:cNvPr id="16" name="Text 14"/>
          <p:cNvSpPr txBox="1"/>
          <p:nvPr/>
        </p:nvSpPr>
        <p:spPr>
          <a:xfrm>
            <a:off x="868680" y="4800600"/>
            <a:ext cx="3657600" cy="365760"/>
          </a:xfrm>
          <a:prstGeom prst="rect">
            <a:avLst/>
          </a:prstGeom>
          <a:noFill/>
          <a:ln/>
        </p:spPr>
        <p:txBody>
          <a:bodyPr wrap="square" lIns="0" tIns="0" rIns="0" bIns="0" rtlCol="0" anchor="t"/>
          <a:lstStyle/>
          <a:p>
            <a:pPr indent="0" marL="0">
              <a:buNone/>
            </a:pPr>
            <a:r>
              <a:rPr lang="en-US" sz="1600" i="1" dirty="0">
                <a:solidFill>
                  <a:schemeClr val="bg1"/>
                </a:solidFill>
              </a:rPr>
              <a:t>and still no idea why</a:t>
            </a:r>
            <a:endParaRPr lang="en-US" sz="1600" dirty="0"/>
          </a:p>
        </p:txBody>
      </p:sp>
      <p:pic>
        <p:nvPicPr>
          <p:cNvPr id="17" name="Image 0" descr="/tmp/claude-0/-home-claude/d1b11841-31a5-5c6c-8b8a-2c68ca1b0a7c/scratchpad/deck/img/markus.jpg">    </p:cNvPr>
          <p:cNvPicPr>
            <a:picLocks noChangeAspect="1"/>
          </p:cNvPicPr>
          <p:nvPr/>
        </p:nvPicPr>
        <p:blipFill>
          <a:blip r:embed="rId1"/>
          <a:srcRect l="0" r="0" t="0" b="0"/>
          <a:stretch/>
        </p:blipFill>
        <p:spPr>
          <a:xfrm>
            <a:off x="5303520" y="2194560"/>
            <a:ext cx="658368" cy="658368"/>
          </a:xfrm>
          <a:prstGeom prst="ellipse">
            <a:avLst/>
          </a:prstGeom>
        </p:spPr>
      </p:pic>
      <p:sp>
        <p:nvSpPr>
          <p:cNvPr id="18" name="Text 15"/>
          <p:cNvSpPr txBox="1"/>
          <p:nvPr/>
        </p:nvSpPr>
        <p:spPr>
          <a:xfrm>
            <a:off x="6172200" y="2212848"/>
            <a:ext cx="1828800" cy="320040"/>
          </a:xfrm>
          <a:prstGeom prst="rect">
            <a:avLst/>
          </a:prstGeom>
          <a:noFill/>
          <a:ln/>
        </p:spPr>
        <p:txBody>
          <a:bodyPr wrap="square" lIns="0" tIns="0" rIns="0" bIns="0" rtlCol="0" anchor="t"/>
          <a:lstStyle/>
          <a:p>
            <a:pPr indent="0" marL="0">
              <a:buNone/>
            </a:pPr>
            <a:r>
              <a:rPr lang="en-US" sz="1800" b="1" dirty="0">
                <a:solidFill>
                  <a:schemeClr val="tx1"/>
                </a:solidFill>
              </a:rPr>
              <a:t>Markus</a:t>
            </a:r>
            <a:endParaRPr lang="en-US" sz="1800" dirty="0"/>
          </a:p>
        </p:txBody>
      </p:sp>
      <p:sp>
        <p:nvSpPr>
          <p:cNvPr id="19" name="Text 16"/>
          <p:cNvSpPr txBox="1"/>
          <p:nvPr/>
        </p:nvSpPr>
        <p:spPr>
          <a:xfrm>
            <a:off x="6172200" y="2542032"/>
            <a:ext cx="5486400" cy="292608"/>
          </a:xfrm>
          <a:prstGeom prst="rect">
            <a:avLst/>
          </a:prstGeom>
          <a:noFill/>
          <a:ln/>
        </p:spPr>
        <p:txBody>
          <a:bodyPr wrap="square" lIns="0" tIns="0" rIns="0" bIns="0" rtlCol="0" anchor="t"/>
          <a:lstStyle/>
          <a:p>
            <a:pPr indent="0" marL="0">
              <a:buNone/>
            </a:pPr>
            <a:r>
              <a:rPr lang="en-US" sz="1500" dirty="0">
                <a:solidFill>
                  <a:schemeClr val="tx2"/>
                </a:solidFill>
              </a:rPr>
              <a:t>60 alerts a week, no time</a:t>
            </a:r>
            <a:endParaRPr lang="en-US" sz="1500" dirty="0"/>
          </a:p>
        </p:txBody>
      </p:sp>
      <p:pic>
        <p:nvPicPr>
          <p:cNvPr id="20" name="Image 1" descr="/tmp/claude-0/-home-claude/d1b11841-31a5-5c6c-8b8a-2c68ca1b0a7c/scratchpad/deck/img/lena.jpg">    </p:cNvPr>
          <p:cNvPicPr>
            <a:picLocks noChangeAspect="1"/>
          </p:cNvPicPr>
          <p:nvPr/>
        </p:nvPicPr>
        <p:blipFill>
          <a:blip r:embed="rId2"/>
          <a:srcRect l="0" r="0" t="0" b="0"/>
          <a:stretch/>
        </p:blipFill>
        <p:spPr>
          <a:xfrm>
            <a:off x="5303520" y="3035808"/>
            <a:ext cx="658368" cy="658368"/>
          </a:xfrm>
          <a:prstGeom prst="ellipse">
            <a:avLst/>
          </a:prstGeom>
        </p:spPr>
      </p:pic>
      <p:sp>
        <p:nvSpPr>
          <p:cNvPr id="21" name="Text 17"/>
          <p:cNvSpPr txBox="1"/>
          <p:nvPr/>
        </p:nvSpPr>
        <p:spPr>
          <a:xfrm>
            <a:off x="6172200" y="3054096"/>
            <a:ext cx="1828800" cy="320040"/>
          </a:xfrm>
          <a:prstGeom prst="rect">
            <a:avLst/>
          </a:prstGeom>
          <a:noFill/>
          <a:ln/>
        </p:spPr>
        <p:txBody>
          <a:bodyPr wrap="square" lIns="0" tIns="0" rIns="0" bIns="0" rtlCol="0" anchor="t"/>
          <a:lstStyle/>
          <a:p>
            <a:pPr indent="0" marL="0">
              <a:buNone/>
            </a:pPr>
            <a:r>
              <a:rPr lang="en-US" sz="1800" b="1" dirty="0">
                <a:solidFill>
                  <a:schemeClr val="tx1"/>
                </a:solidFill>
              </a:rPr>
              <a:t>Lena</a:t>
            </a:r>
            <a:endParaRPr lang="en-US" sz="1800" dirty="0"/>
          </a:p>
        </p:txBody>
      </p:sp>
      <p:sp>
        <p:nvSpPr>
          <p:cNvPr id="22" name="Text 18"/>
          <p:cNvSpPr txBox="1"/>
          <p:nvPr/>
        </p:nvSpPr>
        <p:spPr>
          <a:xfrm>
            <a:off x="6172200" y="3383280"/>
            <a:ext cx="5486400" cy="292608"/>
          </a:xfrm>
          <a:prstGeom prst="rect">
            <a:avLst/>
          </a:prstGeom>
          <a:noFill/>
          <a:ln/>
        </p:spPr>
        <p:txBody>
          <a:bodyPr wrap="square" lIns="0" tIns="0" rIns="0" bIns="0" rtlCol="0" anchor="t"/>
          <a:lstStyle/>
          <a:p>
            <a:pPr indent="0" marL="0">
              <a:buNone/>
            </a:pPr>
            <a:r>
              <a:rPr lang="en-US" sz="1500" dirty="0">
                <a:solidFill>
                  <a:schemeClr val="tx2"/>
                </a:solidFill>
              </a:rPr>
              <a:t>Do I even qualify?</a:t>
            </a:r>
            <a:endParaRPr lang="en-US" sz="1500" dirty="0"/>
          </a:p>
        </p:txBody>
      </p:sp>
      <p:pic>
        <p:nvPicPr>
          <p:cNvPr id="23" name="Image 2" descr="/tmp/claude-0/-home-claude/d1b11841-31a5-5c6c-8b8a-2c68ca1b0a7c/scratchpad/deck/img/andrei.jpg">    </p:cNvPr>
          <p:cNvPicPr>
            <a:picLocks noChangeAspect="1"/>
          </p:cNvPicPr>
          <p:nvPr/>
        </p:nvPicPr>
        <p:blipFill>
          <a:blip r:embed="rId3"/>
          <a:srcRect l="0" r="0" t="0" b="0"/>
          <a:stretch/>
        </p:blipFill>
        <p:spPr>
          <a:xfrm>
            <a:off x="5303520" y="3877056"/>
            <a:ext cx="658368" cy="658368"/>
          </a:xfrm>
          <a:prstGeom prst="ellipse">
            <a:avLst/>
          </a:prstGeom>
        </p:spPr>
      </p:pic>
      <p:sp>
        <p:nvSpPr>
          <p:cNvPr id="24" name="Text 19"/>
          <p:cNvSpPr txBox="1"/>
          <p:nvPr/>
        </p:nvSpPr>
        <p:spPr>
          <a:xfrm>
            <a:off x="6172200" y="3895344"/>
            <a:ext cx="1828800" cy="320040"/>
          </a:xfrm>
          <a:prstGeom prst="rect">
            <a:avLst/>
          </a:prstGeom>
          <a:noFill/>
          <a:ln/>
        </p:spPr>
        <p:txBody>
          <a:bodyPr wrap="square" lIns="0" tIns="0" rIns="0" bIns="0" rtlCol="0" anchor="t"/>
          <a:lstStyle/>
          <a:p>
            <a:pPr indent="0" marL="0">
              <a:buNone/>
            </a:pPr>
            <a:r>
              <a:rPr lang="en-US" sz="1800" b="1" dirty="0">
                <a:solidFill>
                  <a:schemeClr val="tx1"/>
                </a:solidFill>
              </a:rPr>
              <a:t>Andrei</a:t>
            </a:r>
            <a:endParaRPr lang="en-US" sz="1800" dirty="0"/>
          </a:p>
        </p:txBody>
      </p:sp>
      <p:sp>
        <p:nvSpPr>
          <p:cNvPr id="25" name="Text 20"/>
          <p:cNvSpPr txBox="1"/>
          <p:nvPr/>
        </p:nvSpPr>
        <p:spPr>
          <a:xfrm>
            <a:off x="6172200" y="4224528"/>
            <a:ext cx="5486400" cy="292608"/>
          </a:xfrm>
          <a:prstGeom prst="rect">
            <a:avLst/>
          </a:prstGeom>
          <a:noFill/>
          <a:ln/>
        </p:spPr>
        <p:txBody>
          <a:bodyPr wrap="square" lIns="0" tIns="0" rIns="0" bIns="0" rtlCol="0" anchor="t"/>
          <a:lstStyle/>
          <a:p>
            <a:pPr indent="0" marL="0">
              <a:buNone/>
            </a:pPr>
            <a:r>
              <a:rPr lang="en-US" sz="1500" dirty="0">
                <a:solidFill>
                  <a:schemeClr val="tx2"/>
                </a:solidFill>
              </a:rPr>
              <a:t>Which language, which employer is real?</a:t>
            </a:r>
            <a:endParaRPr lang="en-US" sz="1500" dirty="0"/>
          </a:p>
        </p:txBody>
      </p:sp>
      <p:pic>
        <p:nvPicPr>
          <p:cNvPr id="26" name="Image 3" descr="/tmp/claude-0/-home-claude/d1b11841-31a5-5c6c-8b8a-2c68ca1b0a7c/scratchpad/deck/img/sofia.jpg">    </p:cNvPr>
          <p:cNvPicPr>
            <a:picLocks noChangeAspect="1"/>
          </p:cNvPicPr>
          <p:nvPr/>
        </p:nvPicPr>
        <p:blipFill>
          <a:blip r:embed="rId4"/>
          <a:srcRect l="0" r="0" t="0" b="0"/>
          <a:stretch/>
        </p:blipFill>
        <p:spPr>
          <a:xfrm>
            <a:off x="5303520" y="4718304"/>
            <a:ext cx="658368" cy="658368"/>
          </a:xfrm>
          <a:prstGeom prst="ellipse">
            <a:avLst/>
          </a:prstGeom>
        </p:spPr>
      </p:pic>
      <p:sp>
        <p:nvSpPr>
          <p:cNvPr id="27" name="Text 21"/>
          <p:cNvSpPr txBox="1"/>
          <p:nvPr/>
        </p:nvSpPr>
        <p:spPr>
          <a:xfrm>
            <a:off x="6172200" y="4736592"/>
            <a:ext cx="1828800" cy="320040"/>
          </a:xfrm>
          <a:prstGeom prst="rect">
            <a:avLst/>
          </a:prstGeom>
          <a:noFill/>
          <a:ln/>
        </p:spPr>
        <p:txBody>
          <a:bodyPr wrap="square" lIns="0" tIns="0" rIns="0" bIns="0" rtlCol="0" anchor="t"/>
          <a:lstStyle/>
          <a:p>
            <a:pPr indent="0" marL="0">
              <a:buNone/>
            </a:pPr>
            <a:r>
              <a:rPr lang="en-US" sz="1800" b="1" dirty="0">
                <a:solidFill>
                  <a:schemeClr val="tx1"/>
                </a:solidFill>
              </a:rPr>
              <a:t>Sofia</a:t>
            </a:r>
            <a:endParaRPr lang="en-US" sz="1800" dirty="0"/>
          </a:p>
        </p:txBody>
      </p:sp>
      <p:sp>
        <p:nvSpPr>
          <p:cNvPr id="28" name="Text 22"/>
          <p:cNvSpPr txBox="1"/>
          <p:nvPr/>
        </p:nvSpPr>
        <p:spPr>
          <a:xfrm>
            <a:off x="6172200" y="5065776"/>
            <a:ext cx="5486400" cy="292608"/>
          </a:xfrm>
          <a:prstGeom prst="rect">
            <a:avLst/>
          </a:prstGeom>
          <a:noFill/>
          <a:ln/>
        </p:spPr>
        <p:txBody>
          <a:bodyPr wrap="square" lIns="0" tIns="0" rIns="0" bIns="0" rtlCol="0" anchor="t"/>
          <a:lstStyle/>
          <a:p>
            <a:pPr indent="0" marL="0">
              <a:buNone/>
            </a:pPr>
            <a:r>
              <a:rPr lang="en-US" sz="1500" dirty="0">
                <a:solidFill>
                  <a:schemeClr val="tx2"/>
                </a:solidFill>
              </a:rPr>
              <a:t>Headhunter: available, high-fit candidates</a:t>
            </a:r>
            <a:endParaRPr lang="en-US" sz="1500" dirty="0"/>
          </a:p>
        </p:txBody>
      </p:sp>
      <p:sp>
        <p:nvSpPr>
          <p:cNvPr id="29" name="Text 23"/>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Searches are scattered, rankings are paid for, and no tool explains a score.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WHAT</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An explained fit score, before you spend any effort</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fit"/>
          <p:cNvSpPr/>
          <p:nvPr/>
        </p:nvSpPr>
        <p:spPr>
          <a:xfrm>
            <a:off x="548640" y="2194560"/>
            <a:ext cx="4206240" cy="3291840"/>
          </a:xfrm>
          <a:prstGeom prst="roundRect">
            <a:avLst>
              <a:gd name="adj" fmla="val 3333"/>
            </a:avLst>
          </a:prstGeom>
          <a:solidFill>
            <a:schemeClr val="bg1"/>
          </a:solidFill>
          <a:ln w="12700">
            <a:solidFill>
              <a:schemeClr val="bg1"/>
            </a:solidFill>
            <a:prstDash val="solid"/>
          </a:ln>
        </p:spPr>
      </p:sp>
      <p:sp>
        <p:nvSpPr>
          <p:cNvPr id="11" name="Shape 9"/>
          <p:cNvSpPr/>
          <p:nvPr/>
        </p:nvSpPr>
        <p:spPr>
          <a:xfrm>
            <a:off x="868680" y="2514600"/>
            <a:ext cx="1371600" cy="1371600"/>
          </a:xfrm>
          <a:prstGeom prst="blockArc">
            <a:avLst>
              <a:gd name="adj1" fmla="val 0"/>
              <a:gd name="adj2" fmla="val 21594000"/>
              <a:gd name="adj3" fmla="val 10000"/>
            </a:avLst>
          </a:prstGeom>
          <a:solidFill>
            <a:srgbClr val="E8EEF6"/>
          </a:solidFill>
          <a:ln w="12700">
            <a:solidFill>
              <a:srgbClr val="E8EEF6"/>
            </a:solidFill>
            <a:prstDash val="solid"/>
          </a:ln>
        </p:spPr>
      </p:sp>
      <p:sp>
        <p:nvSpPr>
          <p:cNvPr id="12" name="Shape 10"/>
          <p:cNvSpPr/>
          <p:nvPr/>
        </p:nvSpPr>
        <p:spPr>
          <a:xfrm>
            <a:off x="868680" y="2514600"/>
            <a:ext cx="1371600" cy="1371600"/>
          </a:xfrm>
          <a:prstGeom prst="blockArc">
            <a:avLst>
              <a:gd name="adj1" fmla="val 16200000"/>
              <a:gd name="adj2" fmla="val 14472000"/>
              <a:gd name="adj3" fmla="val 10000"/>
            </a:avLst>
          </a:prstGeom>
          <a:solidFill>
            <a:srgbClr val="0F2A4A"/>
          </a:solidFill>
          <a:ln w="12700">
            <a:solidFill>
              <a:srgbClr val="0F2A4A"/>
            </a:solidFill>
            <a:prstDash val="solid"/>
          </a:ln>
        </p:spPr>
      </p:sp>
      <p:sp>
        <p:nvSpPr>
          <p:cNvPr id="13" name="Text 11"/>
          <p:cNvSpPr txBox="1"/>
          <p:nvPr/>
        </p:nvSpPr>
        <p:spPr>
          <a:xfrm>
            <a:off x="868680" y="2514600"/>
            <a:ext cx="1371600" cy="1371600"/>
          </a:xfrm>
          <a:prstGeom prst="rect">
            <a:avLst/>
          </a:prstGeom>
          <a:noFill/>
          <a:ln/>
        </p:spPr>
        <p:txBody>
          <a:bodyPr wrap="square" lIns="0" tIns="0" rIns="0" bIns="0" rtlCol="0" anchor="ctr"/>
          <a:lstStyle/>
          <a:p>
            <a:pPr algn="ctr" indent="0" marL="0">
              <a:buNone/>
            </a:pPr>
            <a:r>
              <a:rPr lang="en-US" sz="3000" b="1" dirty="0">
                <a:solidFill>
                  <a:schemeClr val="tx1"/>
                </a:solidFill>
              </a:rPr>
              <a:t>92</a:t>
            </a:r>
            <a:pPr algn="ctr" indent="0" marL="0">
              <a:buNone/>
            </a:pPr>
            <a:r>
              <a:rPr lang="en-US" sz="1500" b="1" dirty="0">
                <a:solidFill>
                  <a:schemeClr val="tx1"/>
                </a:solidFill>
              </a:rPr>
              <a:t>%</a:t>
            </a:r>
            <a:endParaRPr lang="en-US" sz="1400" dirty="0"/>
          </a:p>
        </p:txBody>
      </p:sp>
      <p:sp>
        <p:nvSpPr>
          <p:cNvPr id="14" name="Text 12"/>
          <p:cNvSpPr txBox="1"/>
          <p:nvPr/>
        </p:nvSpPr>
        <p:spPr>
          <a:xfrm>
            <a:off x="251460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CV–job fit</a:t>
            </a:r>
            <a:endParaRPr lang="en-US" sz="1800" dirty="0"/>
          </a:p>
        </p:txBody>
      </p:sp>
      <p:sp>
        <p:nvSpPr>
          <p:cNvPr id="15" name="Shape 13"/>
          <p:cNvSpPr/>
          <p:nvPr/>
        </p:nvSpPr>
        <p:spPr>
          <a:xfrm>
            <a:off x="2514600" y="3154680"/>
            <a:ext cx="1645920" cy="329184"/>
          </a:xfrm>
          <a:prstGeom prst="roundRect">
            <a:avLst>
              <a:gd name="adj" fmla="val 50000"/>
            </a:avLst>
          </a:prstGeom>
          <a:solidFill>
            <a:srgbClr val="DDF0E4"/>
          </a:solidFill>
          <a:ln w="12700">
            <a:solidFill>
              <a:srgbClr val="DDF0E4"/>
            </a:solidFill>
            <a:prstDash val="solid"/>
          </a:ln>
        </p:spPr>
      </p:sp>
      <p:sp>
        <p:nvSpPr>
          <p:cNvPr id="16" name="Text 14"/>
          <p:cNvSpPr txBox="1"/>
          <p:nvPr/>
        </p:nvSpPr>
        <p:spPr>
          <a:xfrm>
            <a:off x="2514600" y="3154680"/>
            <a:ext cx="1645920" cy="329184"/>
          </a:xfrm>
          <a:prstGeom prst="rect">
            <a:avLst/>
          </a:prstGeom>
          <a:noFill/>
          <a:ln/>
        </p:spPr>
        <p:txBody>
          <a:bodyPr wrap="square" lIns="0" tIns="0" rIns="0" bIns="0" rtlCol="0" anchor="ctr"/>
          <a:lstStyle/>
          <a:p>
            <a:pPr algn="ctr" indent="0" marL="0">
              <a:buNone/>
            </a:pPr>
            <a:r>
              <a:rPr lang="en-US" sz="1300" dirty="0">
                <a:solidFill>
                  <a:srgbClr val="2E8B57"/>
                </a:solidFill>
              </a:rPr>
              <a:t>High confidence</a:t>
            </a:r>
            <a:endParaRPr lang="en-US" sz="1300" dirty="0"/>
          </a:p>
        </p:txBody>
      </p:sp>
      <p:sp>
        <p:nvSpPr>
          <p:cNvPr id="17" name="Text 15"/>
          <p:cNvSpPr txBox="1"/>
          <p:nvPr/>
        </p:nvSpPr>
        <p:spPr>
          <a:xfrm>
            <a:off x="868680" y="4160520"/>
            <a:ext cx="3611880" cy="822960"/>
          </a:xfrm>
          <a:prstGeom prst="rect">
            <a:avLst/>
          </a:prstGeom>
          <a:noFill/>
          <a:ln/>
        </p:spPr>
        <p:txBody>
          <a:bodyPr wrap="square" lIns="0" tIns="0" rIns="0" bIns="0" rtlCol="0" anchor="t"/>
          <a:lstStyle/>
          <a:p>
            <a:pPr indent="0" marL="0">
              <a:buNone/>
            </a:pPr>
            <a:r>
              <a:rPr lang="en-US" sz="1500" b="1" dirty="0">
                <a:solidFill>
                  <a:schemeClr val="tx1"/>
                </a:solidFill>
              </a:rPr>
              <a:t>Why it fits · </a:t>
            </a:r>
            <a:pPr indent="0" marL="0">
              <a:buNone/>
            </a:pPr>
            <a:r>
              <a:rPr lang="en-US" sz="1500" dirty="0">
                <a:solidFill>
                  <a:schemeClr val="tx1"/>
                </a:solidFill>
              </a:rPr>
              <a:t>your SQL projects and Python experience align with the role.</a:t>
            </a:r>
            <a:endParaRPr lang="en-US" sz="1500" dirty="0"/>
          </a:p>
        </p:txBody>
      </p:sp>
      <p:sp>
        <p:nvSpPr>
          <p:cNvPr id="18" name="Text 16"/>
          <p:cNvSpPr txBox="1"/>
          <p:nvPr/>
        </p:nvSpPr>
        <p:spPr>
          <a:xfrm>
            <a:off x="868680" y="4983480"/>
            <a:ext cx="3566160" cy="320040"/>
          </a:xfrm>
          <a:prstGeom prst="rect">
            <a:avLst/>
          </a:prstGeom>
          <a:noFill/>
          <a:ln/>
        </p:spPr>
        <p:txBody>
          <a:bodyPr wrap="square" lIns="0" tIns="0" rIns="0" bIns="0" rtlCol="0" anchor="t"/>
          <a:lstStyle/>
          <a:p>
            <a:pPr indent="0" marL="0">
              <a:buNone/>
            </a:pPr>
            <a:r>
              <a:rPr lang="en-US" sz="1300" b="1" dirty="0">
                <a:solidFill>
                  <a:srgbClr val="2E8B57"/>
                </a:solidFill>
              </a:rPr>
              <a:t>Free for every job</a:t>
            </a:r>
            <a:endParaRPr lang="en-US" sz="1300" dirty="0"/>
          </a:p>
        </p:txBody>
      </p:sp>
      <p:sp>
        <p:nvSpPr>
          <p:cNvPr id="19" name="Text 17"/>
          <p:cNvSpPr txBox="1"/>
          <p:nvPr/>
        </p:nvSpPr>
        <p:spPr>
          <a:xfrm>
            <a:off x="5303520" y="2194560"/>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20" name="Text 18"/>
          <p:cNvSpPr txBox="1"/>
          <p:nvPr/>
        </p:nvSpPr>
        <p:spPr>
          <a:xfrm>
            <a:off x="5943600" y="2240280"/>
            <a:ext cx="5486400" cy="365760"/>
          </a:xfrm>
          <a:prstGeom prst="rect">
            <a:avLst/>
          </a:prstGeom>
          <a:noFill/>
          <a:ln/>
        </p:spPr>
        <p:txBody>
          <a:bodyPr wrap="square" lIns="0" tIns="0" rIns="0" bIns="0" rtlCol="0" anchor="t"/>
          <a:lstStyle/>
          <a:p>
            <a:pPr indent="0" marL="0">
              <a:buNone/>
            </a:pPr>
            <a:r>
              <a:rPr lang="en-US" sz="2000" b="1" dirty="0">
                <a:solidFill>
                  <a:schemeClr val="tx1"/>
                </a:solidFill>
              </a:rPr>
              <a:t>Know if you fit</a:t>
            </a:r>
            <a:endParaRPr lang="en-US" sz="2000" dirty="0"/>
          </a:p>
        </p:txBody>
      </p:sp>
      <p:sp>
        <p:nvSpPr>
          <p:cNvPr id="21" name="Text 19"/>
          <p:cNvSpPr txBox="1"/>
          <p:nvPr/>
        </p:nvSpPr>
        <p:spPr>
          <a:xfrm>
            <a:off x="5943600" y="2651760"/>
            <a:ext cx="5669280" cy="457200"/>
          </a:xfrm>
          <a:prstGeom prst="rect">
            <a:avLst/>
          </a:prstGeom>
          <a:noFill/>
          <a:ln/>
        </p:spPr>
        <p:txBody>
          <a:bodyPr wrap="square" lIns="0" tIns="0" rIns="0" bIns="0" rtlCol="0" anchor="t"/>
          <a:lstStyle/>
          <a:p>
            <a:pPr indent="0" marL="0">
              <a:buNone/>
            </a:pPr>
            <a:r>
              <a:rPr lang="en-US" sz="1500" dirty="0">
                <a:solidFill>
                  <a:schemeClr val="tx2"/>
                </a:solidFill>
              </a:rPr>
              <a:t>Score, why it fits and how it's calculated, for free.</a:t>
            </a:r>
            <a:endParaRPr lang="en-US" sz="1500" dirty="0"/>
          </a:p>
        </p:txBody>
      </p:sp>
      <p:sp>
        <p:nvSpPr>
          <p:cNvPr id="22" name="Text 20"/>
          <p:cNvSpPr txBox="1"/>
          <p:nvPr/>
        </p:nvSpPr>
        <p:spPr>
          <a:xfrm>
            <a:off x="5303520" y="3310128"/>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23" name="Text 21"/>
          <p:cNvSpPr txBox="1"/>
          <p:nvPr/>
        </p:nvSpPr>
        <p:spPr>
          <a:xfrm>
            <a:off x="5943600" y="3355848"/>
            <a:ext cx="5486400" cy="365760"/>
          </a:xfrm>
          <a:prstGeom prst="rect">
            <a:avLst/>
          </a:prstGeom>
          <a:noFill/>
          <a:ln/>
        </p:spPr>
        <p:txBody>
          <a:bodyPr wrap="square" lIns="0" tIns="0" rIns="0" bIns="0" rtlCol="0" anchor="t"/>
          <a:lstStyle/>
          <a:p>
            <a:pPr indent="0" marL="0">
              <a:buNone/>
            </a:pPr>
            <a:r>
              <a:rPr lang="en-US" sz="2000" b="1" dirty="0">
                <a:solidFill>
                  <a:schemeClr val="tx1"/>
                </a:solidFill>
              </a:rPr>
              <a:t>Prepare with help</a:t>
            </a:r>
            <a:endParaRPr lang="en-US" sz="2000" dirty="0"/>
          </a:p>
        </p:txBody>
      </p:sp>
      <p:sp>
        <p:nvSpPr>
          <p:cNvPr id="24" name="Text 22"/>
          <p:cNvSpPr txBox="1"/>
          <p:nvPr/>
        </p:nvSpPr>
        <p:spPr>
          <a:xfrm>
            <a:off x="5943600" y="3767328"/>
            <a:ext cx="5669280" cy="457200"/>
          </a:xfrm>
          <a:prstGeom prst="rect">
            <a:avLst/>
          </a:prstGeom>
          <a:noFill/>
          <a:ln/>
        </p:spPr>
        <p:txBody>
          <a:bodyPr wrap="square" lIns="0" tIns="0" rIns="0" bIns="0" rtlCol="0" anchor="t"/>
          <a:lstStyle/>
          <a:p>
            <a:pPr indent="0" marL="0">
              <a:buNone/>
            </a:pPr>
            <a:r>
              <a:rPr lang="en-US" sz="1500" dirty="0">
                <a:solidFill>
                  <a:schemeClr val="tx2"/>
                </a:solidFill>
              </a:rPr>
              <a:t>Strategy, CV, cover letter, interview prep. You approve every change.</a:t>
            </a:r>
            <a:endParaRPr lang="en-US" sz="1500" dirty="0"/>
          </a:p>
        </p:txBody>
      </p:sp>
      <p:sp>
        <p:nvSpPr>
          <p:cNvPr id="25" name="Text 23"/>
          <p:cNvSpPr txBox="1"/>
          <p:nvPr/>
        </p:nvSpPr>
        <p:spPr>
          <a:xfrm>
            <a:off x="5303520" y="4425696"/>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26" name="Text 24"/>
          <p:cNvSpPr txBox="1"/>
          <p:nvPr/>
        </p:nvSpPr>
        <p:spPr>
          <a:xfrm>
            <a:off x="5943600" y="4471416"/>
            <a:ext cx="5486400" cy="365760"/>
          </a:xfrm>
          <a:prstGeom prst="rect">
            <a:avLst/>
          </a:prstGeom>
          <a:noFill/>
          <a:ln/>
        </p:spPr>
        <p:txBody>
          <a:bodyPr wrap="square" lIns="0" tIns="0" rIns="0" bIns="0" rtlCol="0" anchor="t"/>
          <a:lstStyle/>
          <a:p>
            <a:pPr indent="0" marL="0">
              <a:buNone/>
            </a:pPr>
            <a:r>
              <a:rPr lang="en-US" sz="2000" b="1" dirty="0">
                <a:solidFill>
                  <a:schemeClr val="tx1"/>
                </a:solidFill>
              </a:rPr>
              <a:t>Track everything</a:t>
            </a:r>
            <a:endParaRPr lang="en-US" sz="2000" dirty="0"/>
          </a:p>
        </p:txBody>
      </p:sp>
      <p:sp>
        <p:nvSpPr>
          <p:cNvPr id="27" name="Text 25"/>
          <p:cNvSpPr txBox="1"/>
          <p:nvPr/>
        </p:nvSpPr>
        <p:spPr>
          <a:xfrm>
            <a:off x="5943600" y="4882896"/>
            <a:ext cx="5669280" cy="457200"/>
          </a:xfrm>
          <a:prstGeom prst="rect">
            <a:avLst/>
          </a:prstGeom>
          <a:noFill/>
          <a:ln/>
        </p:spPr>
        <p:txBody>
          <a:bodyPr wrap="square" lIns="0" tIns="0" rIns="0" bIns="0" rtlCol="0" anchor="t"/>
          <a:lstStyle/>
          <a:p>
            <a:pPr indent="0" marL="0">
              <a:buNone/>
            </a:pPr>
            <a:r>
              <a:rPr lang="en-US" sz="1500" dirty="0">
                <a:solidFill>
                  <a:schemeClr val="tx2"/>
                </a:solidFill>
              </a:rPr>
              <a:t>One application history with the saved job ad.</a:t>
            </a:r>
            <a:endParaRPr lang="en-US" sz="1500" dirty="0"/>
          </a:p>
        </p:txBody>
      </p:sp>
      <p:sp>
        <p:nvSpPr>
          <p:cNvPr id="28" name="Text 26"/>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Jobscan and Teal score keywords, JobCopilot applies in bulk. We explain fit, and nobody can pay for ranking.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HOW · ONE CONNECTED PACKAGE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From PRD to demo, every piece traces back</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node"/>
          <p:cNvSpPr/>
          <p:nvPr/>
        </p:nvSpPr>
        <p:spPr>
          <a:xfrm>
            <a:off x="548640" y="2194560"/>
            <a:ext cx="2514600" cy="2377440"/>
          </a:xfrm>
          <a:prstGeom prst="roundRect">
            <a:avLst>
              <a:gd name="adj" fmla="val 4615"/>
            </a:avLst>
          </a:prstGeom>
          <a:solidFill>
            <a:schemeClr val="bg1"/>
          </a:solidFill>
          <a:ln w="12700">
            <a:solidFill>
              <a:schemeClr val="bg1"/>
            </a:solidFill>
            <a:prstDash val="solid"/>
          </a:ln>
        </p:spPr>
      </p:sp>
      <p:sp>
        <p:nvSpPr>
          <p:cNvPr id="11" name="Text 9"/>
          <p:cNvSpPr txBox="1"/>
          <p:nvPr/>
        </p:nvSpPr>
        <p:spPr>
          <a:xfrm>
            <a:off x="82296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CONFLUENCE</a:t>
            </a:r>
            <a:endParaRPr lang="en-US" sz="1200" dirty="0"/>
          </a:p>
        </p:txBody>
      </p:sp>
      <p:sp>
        <p:nvSpPr>
          <p:cNvPr id="12" name="Text 10"/>
          <p:cNvSpPr txBox="1"/>
          <p:nvPr/>
        </p:nvSpPr>
        <p:spPr>
          <a:xfrm>
            <a:off x="82296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PRD</a:t>
            </a:r>
            <a:endParaRPr lang="en-US" sz="2400" dirty="0"/>
          </a:p>
        </p:txBody>
      </p:sp>
      <p:sp>
        <p:nvSpPr>
          <p:cNvPr id="13" name="Text 11"/>
          <p:cNvSpPr txBox="1"/>
          <p:nvPr/>
        </p:nvSpPr>
        <p:spPr>
          <a:xfrm>
            <a:off x="82296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12 chapters</a:t>
            </a:r>
            <a:endParaRPr lang="en-US" sz="1400" dirty="0"/>
          </a:p>
          <a:p>
            <a:pPr indent="0" marL="0">
              <a:spcAft>
                <a:spcPts val="400"/>
              </a:spcAft>
              <a:buNone/>
            </a:pPr>
            <a:r>
              <a:rPr lang="en-US" sz="1400" dirty="0">
                <a:solidFill>
                  <a:schemeClr val="tx2"/>
                </a:solidFill>
              </a:rPr>
              <a:t>31 requirements</a:t>
            </a:r>
            <a:endParaRPr lang="en-US" sz="1400" dirty="0"/>
          </a:p>
          <a:p>
            <a:pPr indent="0" marL="0">
              <a:spcAft>
                <a:spcPts val="400"/>
              </a:spcAft>
              <a:buNone/>
            </a:pPr>
            <a:r>
              <a:rPr lang="en-US" sz="1400" dirty="0">
                <a:solidFill>
                  <a:schemeClr val="tx2"/>
                </a:solidFill>
              </a:rPr>
              <a:t>29 user stories</a:t>
            </a:r>
            <a:endParaRPr lang="en-US" sz="1400" dirty="0"/>
          </a:p>
        </p:txBody>
      </p:sp>
      <p:sp>
        <p:nvSpPr>
          <p:cNvPr id="14" name="Shape 12"/>
          <p:cNvSpPr/>
          <p:nvPr/>
        </p:nvSpPr>
        <p:spPr>
          <a:xfrm>
            <a:off x="3108960" y="3383280"/>
            <a:ext cx="274320" cy="0"/>
          </a:xfrm>
          <a:prstGeom prst="line">
            <a:avLst/>
          </a:prstGeom>
          <a:noFill/>
          <a:ln w="31750">
            <a:solidFill>
              <a:srgbClr val="F2542D"/>
            </a:solidFill>
            <a:prstDash val="solid"/>
            <a:tailEnd type="triangle"/>
          </a:ln>
        </p:spPr>
      </p:sp>
      <p:sp>
        <p:nvSpPr>
          <p:cNvPr id="15" name="node"/>
          <p:cNvSpPr/>
          <p:nvPr/>
        </p:nvSpPr>
        <p:spPr>
          <a:xfrm>
            <a:off x="3429000" y="2194560"/>
            <a:ext cx="2514600" cy="2377440"/>
          </a:xfrm>
          <a:prstGeom prst="roundRect">
            <a:avLst>
              <a:gd name="adj" fmla="val 4615"/>
            </a:avLst>
          </a:prstGeom>
          <a:solidFill>
            <a:schemeClr val="bg1"/>
          </a:solidFill>
          <a:ln w="12700">
            <a:solidFill>
              <a:schemeClr val="bg1"/>
            </a:solidFill>
            <a:prstDash val="solid"/>
          </a:ln>
        </p:spPr>
      </p:sp>
      <p:sp>
        <p:nvSpPr>
          <p:cNvPr id="16" name="Text 14"/>
          <p:cNvSpPr txBox="1"/>
          <p:nvPr/>
        </p:nvSpPr>
        <p:spPr>
          <a:xfrm>
            <a:off x="370332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JIRA</a:t>
            </a:r>
            <a:endParaRPr lang="en-US" sz="1200" dirty="0"/>
          </a:p>
        </p:txBody>
      </p:sp>
      <p:sp>
        <p:nvSpPr>
          <p:cNvPr id="17" name="Text 15"/>
          <p:cNvSpPr txBox="1"/>
          <p:nvPr/>
        </p:nvSpPr>
        <p:spPr>
          <a:xfrm>
            <a:off x="370332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Backlog</a:t>
            </a:r>
            <a:endParaRPr lang="en-US" sz="2400" dirty="0"/>
          </a:p>
        </p:txBody>
      </p:sp>
      <p:sp>
        <p:nvSpPr>
          <p:cNvPr id="18" name="Text 16"/>
          <p:cNvSpPr txBox="1"/>
          <p:nvPr/>
        </p:nvSpPr>
        <p:spPr>
          <a:xfrm>
            <a:off x="370332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9 epics</a:t>
            </a:r>
            <a:endParaRPr lang="en-US" sz="1400" dirty="0"/>
          </a:p>
          <a:p>
            <a:pPr indent="0" marL="0">
              <a:spcAft>
                <a:spcPts val="400"/>
              </a:spcAft>
              <a:buNone/>
            </a:pPr>
            <a:r>
              <a:rPr lang="en-US" sz="1400" dirty="0">
                <a:solidFill>
                  <a:schemeClr val="tx2"/>
                </a:solidFill>
              </a:rPr>
              <a:t>6 build sprints</a:t>
            </a:r>
            <a:endParaRPr lang="en-US" sz="1400" dirty="0"/>
          </a:p>
          <a:p>
            <a:pPr indent="0" marL="0">
              <a:spcAft>
                <a:spcPts val="400"/>
              </a:spcAft>
              <a:buNone/>
            </a:pPr>
            <a:r>
              <a:rPr lang="en-US" sz="1400" dirty="0">
                <a:solidFill>
                  <a:schemeClr val="tx2"/>
                </a:solidFill>
              </a:rPr>
              <a:t>79 story points</a:t>
            </a:r>
            <a:endParaRPr lang="en-US" sz="1400" dirty="0"/>
          </a:p>
        </p:txBody>
      </p:sp>
      <p:sp>
        <p:nvSpPr>
          <p:cNvPr id="19" name="Shape 17"/>
          <p:cNvSpPr/>
          <p:nvPr/>
        </p:nvSpPr>
        <p:spPr>
          <a:xfrm>
            <a:off x="5989320" y="3383280"/>
            <a:ext cx="274320" cy="0"/>
          </a:xfrm>
          <a:prstGeom prst="line">
            <a:avLst/>
          </a:prstGeom>
          <a:noFill/>
          <a:ln w="31750">
            <a:solidFill>
              <a:srgbClr val="F2542D"/>
            </a:solidFill>
            <a:prstDash val="solid"/>
            <a:tailEnd type="triangle"/>
          </a:ln>
        </p:spPr>
      </p:sp>
      <p:sp>
        <p:nvSpPr>
          <p:cNvPr id="20" name="node"/>
          <p:cNvSpPr/>
          <p:nvPr/>
        </p:nvSpPr>
        <p:spPr>
          <a:xfrm>
            <a:off x="6309360" y="2194560"/>
            <a:ext cx="2514600" cy="2377440"/>
          </a:xfrm>
          <a:prstGeom prst="roundRect">
            <a:avLst>
              <a:gd name="adj" fmla="val 4615"/>
            </a:avLst>
          </a:prstGeom>
          <a:solidFill>
            <a:schemeClr val="bg1"/>
          </a:solidFill>
          <a:ln w="12700">
            <a:solidFill>
              <a:schemeClr val="bg1"/>
            </a:solidFill>
            <a:prstDash val="solid"/>
          </a:ln>
        </p:spPr>
      </p:sp>
      <p:sp>
        <p:nvSpPr>
          <p:cNvPr id="21" name="Text 19"/>
          <p:cNvSpPr txBox="1"/>
          <p:nvPr/>
        </p:nvSpPr>
        <p:spPr>
          <a:xfrm>
            <a:off x="658368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FIGMA</a:t>
            </a:r>
            <a:endParaRPr lang="en-US" sz="1200" dirty="0"/>
          </a:p>
        </p:txBody>
      </p:sp>
      <p:sp>
        <p:nvSpPr>
          <p:cNvPr id="22" name="Text 20"/>
          <p:cNvSpPr txBox="1"/>
          <p:nvPr/>
        </p:nvSpPr>
        <p:spPr>
          <a:xfrm>
            <a:off x="6583680" y="2697480"/>
            <a:ext cx="1965960" cy="457200"/>
          </a:xfrm>
          <a:prstGeom prst="rect">
            <a:avLst/>
          </a:prstGeom>
          <a:noFill/>
          <a:ln/>
        </p:spPr>
        <p:txBody>
          <a:bodyPr wrap="square" lIns="0" tIns="0" rIns="0" bIns="0" rtlCol="0" anchor="t"/>
          <a:lstStyle/>
          <a:p>
            <a:pPr indent="0" marL="0">
              <a:buNone/>
            </a:pPr>
            <a:r>
              <a:rPr lang="en-US" sz="2400" b="1" dirty="0">
                <a:solidFill>
                  <a:schemeClr val="tx1"/>
                </a:solidFill>
              </a:rPr>
              <a:t>Wireframes</a:t>
            </a:r>
            <a:endParaRPr lang="en-US" sz="2400" dirty="0"/>
          </a:p>
        </p:txBody>
      </p:sp>
      <p:sp>
        <p:nvSpPr>
          <p:cNvPr id="23" name="Text 21"/>
          <p:cNvSpPr txBox="1"/>
          <p:nvPr/>
        </p:nvSpPr>
        <p:spPr>
          <a:xfrm>
            <a:off x="658368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7 screens</a:t>
            </a:r>
            <a:endParaRPr lang="en-US" sz="1400" dirty="0"/>
          </a:p>
          <a:p>
            <a:pPr indent="0" marL="0">
              <a:spcAft>
                <a:spcPts val="400"/>
              </a:spcAft>
              <a:buNone/>
            </a:pPr>
            <a:r>
              <a:rPr lang="en-US" sz="1400" dirty="0">
                <a:solidFill>
                  <a:schemeClr val="tx2"/>
                </a:solidFill>
              </a:rPr>
              <a:t>1 mobile frame</a:t>
            </a:r>
            <a:endParaRPr lang="en-US" sz="1400" dirty="0"/>
          </a:p>
          <a:p>
            <a:pPr indent="0" marL="0">
              <a:spcAft>
                <a:spcPts val="400"/>
              </a:spcAft>
              <a:buNone/>
            </a:pPr>
            <a:r>
              <a:rPr lang="en-US" sz="1400" dirty="0">
                <a:solidFill>
                  <a:schemeClr val="tx2"/>
                </a:solidFill>
              </a:rPr>
              <a:t>Community components</a:t>
            </a:r>
            <a:endParaRPr lang="en-US" sz="1400" dirty="0"/>
          </a:p>
        </p:txBody>
      </p:sp>
      <p:sp>
        <p:nvSpPr>
          <p:cNvPr id="24" name="Shape 22"/>
          <p:cNvSpPr/>
          <p:nvPr/>
        </p:nvSpPr>
        <p:spPr>
          <a:xfrm>
            <a:off x="8869680" y="3383280"/>
            <a:ext cx="274320" cy="0"/>
          </a:xfrm>
          <a:prstGeom prst="line">
            <a:avLst/>
          </a:prstGeom>
          <a:noFill/>
          <a:ln w="31750">
            <a:solidFill>
              <a:srgbClr val="F2542D"/>
            </a:solidFill>
            <a:prstDash val="solid"/>
            <a:tailEnd type="triangle"/>
          </a:ln>
        </p:spPr>
      </p:sp>
      <p:sp>
        <p:nvSpPr>
          <p:cNvPr id="25" name="node"/>
          <p:cNvSpPr/>
          <p:nvPr/>
        </p:nvSpPr>
        <p:spPr>
          <a:xfrm>
            <a:off x="9189720" y="2194560"/>
            <a:ext cx="2514600" cy="2377440"/>
          </a:xfrm>
          <a:prstGeom prst="roundRect">
            <a:avLst>
              <a:gd name="adj" fmla="val 4615"/>
            </a:avLst>
          </a:prstGeom>
          <a:solidFill>
            <a:srgbClr val="0F2A4A"/>
          </a:solidFill>
          <a:ln w="12700">
            <a:solidFill>
              <a:srgbClr val="0F2A4A"/>
            </a:solidFill>
            <a:prstDash val="solid"/>
          </a:ln>
        </p:spPr>
      </p:sp>
      <p:sp>
        <p:nvSpPr>
          <p:cNvPr id="26" name="Text 24"/>
          <p:cNvSpPr txBox="1"/>
          <p:nvPr/>
        </p:nvSpPr>
        <p:spPr>
          <a:xfrm>
            <a:off x="9464040" y="2423160"/>
            <a:ext cx="1965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VERCEL</a:t>
            </a:r>
            <a:endParaRPr lang="en-US" sz="1200" dirty="0"/>
          </a:p>
        </p:txBody>
      </p:sp>
      <p:sp>
        <p:nvSpPr>
          <p:cNvPr id="27" name="Text 25"/>
          <p:cNvSpPr txBox="1"/>
          <p:nvPr/>
        </p:nvSpPr>
        <p:spPr>
          <a:xfrm>
            <a:off x="9464040" y="2697480"/>
            <a:ext cx="1965960" cy="457200"/>
          </a:xfrm>
          <a:prstGeom prst="rect">
            <a:avLst/>
          </a:prstGeom>
          <a:noFill/>
          <a:ln/>
        </p:spPr>
        <p:txBody>
          <a:bodyPr wrap="square" lIns="0" tIns="0" rIns="0" bIns="0" rtlCol="0" anchor="t"/>
          <a:lstStyle/>
          <a:p>
            <a:pPr indent="0" marL="0">
              <a:buNone/>
            </a:pPr>
            <a:r>
              <a:rPr lang="en-US" sz="2400" b="1" dirty="0">
                <a:solidFill>
                  <a:schemeClr val="bg1"/>
                </a:solidFill>
              </a:rPr>
              <a:t>Demo</a:t>
            </a:r>
            <a:endParaRPr lang="en-US" sz="2400" dirty="0"/>
          </a:p>
        </p:txBody>
      </p:sp>
      <p:sp>
        <p:nvSpPr>
          <p:cNvPr id="28" name="Text 26"/>
          <p:cNvSpPr txBox="1"/>
          <p:nvPr/>
        </p:nvSpPr>
        <p:spPr>
          <a:xfrm>
            <a:off x="9464040" y="3291840"/>
            <a:ext cx="2057400" cy="1188720"/>
          </a:xfrm>
          <a:prstGeom prst="rect">
            <a:avLst/>
          </a:prstGeom>
          <a:noFill/>
          <a:ln/>
        </p:spPr>
        <p:txBody>
          <a:bodyPr wrap="square" lIns="0" tIns="0" rIns="0" bIns="0" rtlCol="0" anchor="t"/>
          <a:lstStyle/>
          <a:p>
            <a:pPr indent="0" marL="0">
              <a:spcAft>
                <a:spcPts val="400"/>
              </a:spcAft>
              <a:buNone/>
            </a:pPr>
            <a:r>
              <a:rPr lang="en-US" sz="1400" dirty="0">
                <a:solidFill>
                  <a:schemeClr val="accent4"/>
                </a:solidFill>
              </a:rPr>
              <a:t>Next.js, web and mobile</a:t>
            </a:r>
            <a:endParaRPr lang="en-US" sz="1400" dirty="0"/>
          </a:p>
          <a:p>
            <a:pPr indent="0" marL="0">
              <a:spcAft>
                <a:spcPts val="400"/>
              </a:spcAft>
              <a:buNone/>
            </a:pPr>
            <a:r>
              <a:rPr lang="en-US" sz="1400" dirty="0">
                <a:solidFill>
                  <a:schemeClr val="accent4"/>
                </a:solidFill>
              </a:rPr>
              <a:t>live on Vercel</a:t>
            </a:r>
            <a:endParaRPr lang="en-US" sz="1400" dirty="0"/>
          </a:p>
        </p:txBody>
      </p:sp>
      <p:sp>
        <p:nvSpPr>
          <p:cNvPr id="29" name="Text 27"/>
          <p:cNvSpPr txBox="1"/>
          <p:nvPr/>
        </p:nvSpPr>
        <p:spPr>
          <a:xfrm>
            <a:off x="548640" y="4892040"/>
            <a:ext cx="5486400" cy="274320"/>
          </a:xfrm>
          <a:prstGeom prst="rect">
            <a:avLst/>
          </a:prstGeom>
          <a:noFill/>
          <a:ln/>
        </p:spPr>
        <p:txBody>
          <a:bodyPr wrap="square" lIns="0" tIns="0" rIns="0" bIns="0" rtlCol="0" anchor="t"/>
          <a:lstStyle/>
          <a:p>
            <a:pPr indent="0" marL="0">
              <a:buNone/>
            </a:pPr>
            <a:r>
              <a:rPr lang="en-US" sz="1200" b="1" spc="200" kern="0" dirty="0">
                <a:solidFill>
                  <a:schemeClr val="tx2"/>
                </a:solidFill>
              </a:rPr>
              <a:t>ONE THREAD, END TO END</a:t>
            </a:r>
            <a:endParaRPr lang="en-US" sz="1200" dirty="0"/>
          </a:p>
        </p:txBody>
      </p:sp>
      <p:sp>
        <p:nvSpPr>
          <p:cNvPr id="30" name="Shape 28"/>
          <p:cNvSpPr/>
          <p:nvPr/>
        </p:nvSpPr>
        <p:spPr>
          <a:xfrm>
            <a:off x="548640" y="5257800"/>
            <a:ext cx="2011680" cy="457200"/>
          </a:xfrm>
          <a:prstGeom prst="roundRect">
            <a:avLst>
              <a:gd name="adj" fmla="val 50000"/>
            </a:avLst>
          </a:prstGeom>
          <a:solidFill>
            <a:srgbClr val="FDE3DB"/>
          </a:solidFill>
          <a:ln w="12700">
            <a:solidFill>
              <a:srgbClr val="FDE3DB"/>
            </a:solidFill>
            <a:prstDash val="solid"/>
          </a:ln>
        </p:spPr>
      </p:sp>
      <p:sp>
        <p:nvSpPr>
          <p:cNvPr id="31" name="Text 29"/>
          <p:cNvSpPr txBox="1"/>
          <p:nvPr/>
        </p:nvSpPr>
        <p:spPr>
          <a:xfrm>
            <a:off x="548640" y="5257800"/>
            <a:ext cx="2011680" cy="457200"/>
          </a:xfrm>
          <a:prstGeom prst="rect">
            <a:avLst/>
          </a:prstGeom>
          <a:noFill/>
          <a:ln/>
        </p:spPr>
        <p:txBody>
          <a:bodyPr wrap="square" lIns="0" tIns="0" rIns="0" bIns="0" rtlCol="0" anchor="ctr"/>
          <a:lstStyle/>
          <a:p>
            <a:pPr algn="ctr" indent="0" marL="0">
              <a:buNone/>
            </a:pPr>
            <a:r>
              <a:rPr lang="en-US" sz="1300" b="1" dirty="0">
                <a:solidFill>
                  <a:srgbClr val="B8401F"/>
                </a:solidFill>
              </a:rPr>
              <a:t>P3 Unclear fit</a:t>
            </a:r>
            <a:endParaRPr lang="en-US" sz="1300" dirty="0"/>
          </a:p>
        </p:txBody>
      </p:sp>
      <p:sp>
        <p:nvSpPr>
          <p:cNvPr id="32" name="Text 30"/>
          <p:cNvSpPr txBox="1"/>
          <p:nvPr/>
        </p:nvSpPr>
        <p:spPr>
          <a:xfrm>
            <a:off x="2560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3" name="Shape 31"/>
          <p:cNvSpPr/>
          <p:nvPr/>
        </p:nvSpPr>
        <p:spPr>
          <a:xfrm>
            <a:off x="2834640" y="5257800"/>
            <a:ext cx="2011680" cy="457200"/>
          </a:xfrm>
          <a:prstGeom prst="roundRect">
            <a:avLst>
              <a:gd name="adj" fmla="val 50000"/>
            </a:avLst>
          </a:prstGeom>
          <a:solidFill>
            <a:srgbClr val="FFFFFF"/>
          </a:solidFill>
          <a:ln w="12700">
            <a:solidFill>
              <a:srgbClr val="FFFFFF"/>
            </a:solidFill>
            <a:prstDash val="solid"/>
          </a:ln>
        </p:spPr>
      </p:sp>
      <p:sp>
        <p:nvSpPr>
          <p:cNvPr id="34" name="Text 32"/>
          <p:cNvSpPr txBox="1"/>
          <p:nvPr/>
        </p:nvSpPr>
        <p:spPr>
          <a:xfrm>
            <a:off x="2834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FR18 · FR19</a:t>
            </a:r>
            <a:endParaRPr lang="en-US" sz="1300" dirty="0"/>
          </a:p>
        </p:txBody>
      </p:sp>
      <p:sp>
        <p:nvSpPr>
          <p:cNvPr id="35" name="Text 33"/>
          <p:cNvSpPr txBox="1"/>
          <p:nvPr/>
        </p:nvSpPr>
        <p:spPr>
          <a:xfrm>
            <a:off x="4846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6" name="Shape 34"/>
          <p:cNvSpPr/>
          <p:nvPr/>
        </p:nvSpPr>
        <p:spPr>
          <a:xfrm>
            <a:off x="5120640" y="5257800"/>
            <a:ext cx="2011680" cy="457200"/>
          </a:xfrm>
          <a:prstGeom prst="roundRect">
            <a:avLst>
              <a:gd name="adj" fmla="val 50000"/>
            </a:avLst>
          </a:prstGeom>
          <a:solidFill>
            <a:srgbClr val="FFFFFF"/>
          </a:solidFill>
          <a:ln w="12700">
            <a:solidFill>
              <a:srgbClr val="FFFFFF"/>
            </a:solidFill>
            <a:prstDash val="solid"/>
          </a:ln>
        </p:spPr>
      </p:sp>
      <p:sp>
        <p:nvSpPr>
          <p:cNvPr id="37" name="Text 35"/>
          <p:cNvSpPr txBox="1"/>
          <p:nvPr/>
        </p:nvSpPr>
        <p:spPr>
          <a:xfrm>
            <a:off x="5120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US3 · CPA-25 · Sprint 4</a:t>
            </a:r>
            <a:endParaRPr lang="en-US" sz="1300" dirty="0"/>
          </a:p>
        </p:txBody>
      </p:sp>
      <p:sp>
        <p:nvSpPr>
          <p:cNvPr id="38" name="Text 36"/>
          <p:cNvSpPr txBox="1"/>
          <p:nvPr/>
        </p:nvSpPr>
        <p:spPr>
          <a:xfrm>
            <a:off x="7132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9" name="Shape 37"/>
          <p:cNvSpPr/>
          <p:nvPr/>
        </p:nvSpPr>
        <p:spPr>
          <a:xfrm>
            <a:off x="7406640" y="5257800"/>
            <a:ext cx="2011680" cy="457200"/>
          </a:xfrm>
          <a:prstGeom prst="roundRect">
            <a:avLst>
              <a:gd name="adj" fmla="val 50000"/>
            </a:avLst>
          </a:prstGeom>
          <a:solidFill>
            <a:srgbClr val="FFFFFF"/>
          </a:solidFill>
          <a:ln w="12700">
            <a:solidFill>
              <a:srgbClr val="FFFFFF"/>
            </a:solidFill>
            <a:prstDash val="solid"/>
          </a:ln>
        </p:spPr>
      </p:sp>
      <p:sp>
        <p:nvSpPr>
          <p:cNvPr id="40" name="Text 38"/>
          <p:cNvSpPr txBox="1"/>
          <p:nvPr/>
        </p:nvSpPr>
        <p:spPr>
          <a:xfrm>
            <a:off x="7406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Job list + score view</a:t>
            </a:r>
            <a:endParaRPr lang="en-US" sz="1300" dirty="0"/>
          </a:p>
        </p:txBody>
      </p:sp>
      <p:sp>
        <p:nvSpPr>
          <p:cNvPr id="41" name="Text 39"/>
          <p:cNvSpPr txBox="1"/>
          <p:nvPr/>
        </p:nvSpPr>
        <p:spPr>
          <a:xfrm>
            <a:off x="9418320" y="5257800"/>
            <a:ext cx="274320" cy="45720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42" name="Shape 40"/>
          <p:cNvSpPr/>
          <p:nvPr/>
        </p:nvSpPr>
        <p:spPr>
          <a:xfrm>
            <a:off x="9692640" y="5257800"/>
            <a:ext cx="2011680" cy="457200"/>
          </a:xfrm>
          <a:prstGeom prst="roundRect">
            <a:avLst>
              <a:gd name="adj" fmla="val 50000"/>
            </a:avLst>
          </a:prstGeom>
          <a:solidFill>
            <a:srgbClr val="FFFFFF"/>
          </a:solidFill>
          <a:ln w="12700">
            <a:solidFill>
              <a:srgbClr val="FFFFFF"/>
            </a:solidFill>
            <a:prstDash val="solid"/>
          </a:ln>
        </p:spPr>
      </p:sp>
      <p:sp>
        <p:nvSpPr>
          <p:cNvPr id="43" name="Text 41"/>
          <p:cNvSpPr txBox="1"/>
          <p:nvPr/>
        </p:nvSpPr>
        <p:spPr>
          <a:xfrm>
            <a:off x="9692640" y="5257800"/>
            <a:ext cx="2011680" cy="457200"/>
          </a:xfrm>
          <a:prstGeom prst="rect">
            <a:avLst/>
          </a:prstGeom>
          <a:noFill/>
          <a:ln/>
        </p:spPr>
        <p:txBody>
          <a:bodyPr wrap="square" lIns="0" tIns="0" rIns="0" bIns="0" rtlCol="0" anchor="ctr"/>
          <a:lstStyle/>
          <a:p>
            <a:pPr algn="ctr" indent="0" marL="0">
              <a:buNone/>
            </a:pPr>
            <a:r>
              <a:rPr lang="en-US" sz="1300" b="1" dirty="0">
                <a:solidFill>
                  <a:schemeClr val="tx1"/>
                </a:solidFill>
              </a:rPr>
              <a:t>/jobs</a:t>
            </a:r>
            <a:endParaRPr lang="en-US" sz="1300" dirty="0"/>
          </a:p>
        </p:txBody>
      </p:sp>
      <p:sp>
        <p:nvSpPr>
          <p:cNvPr id="44" name="Text 42"/>
          <p:cNvSpPr txBox="1"/>
          <p:nvPr/>
        </p:nvSpPr>
        <p:spPr>
          <a:xfrm>
            <a:off x="548640" y="5897880"/>
            <a:ext cx="10972800" cy="320040"/>
          </a:xfrm>
          <a:prstGeom prst="rect">
            <a:avLst/>
          </a:prstGeom>
          <a:noFill/>
          <a:ln/>
        </p:spPr>
        <p:txBody>
          <a:bodyPr wrap="square" lIns="0" tIns="0" rIns="0" bIns="0" rtlCol="0" anchor="t"/>
          <a:lstStyle/>
          <a:p>
            <a:pPr indent="0" marL="0">
              <a:buNone/>
            </a:pPr>
            <a:r>
              <a:rPr lang="en-US" sz="1300" dirty="0">
                <a:solidFill>
                  <a:schemeClr val="tx2"/>
                </a:solidFill>
              </a:rPr>
              <a:t>Confluence is the source of truth: a decision changes the PRD first, then Jira, Figma and the demo.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WHERE · WHEN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Germany first, public launch in June 27</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Text 8"/>
          <p:cNvSpPr txBox="1"/>
          <p:nvPr/>
        </p:nvSpPr>
        <p:spPr>
          <a:xfrm>
            <a:off x="548640"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Germany</a:t>
            </a:r>
            <a:endParaRPr lang="en-US" sz="2000" dirty="0"/>
          </a:p>
        </p:txBody>
      </p:sp>
      <p:sp>
        <p:nvSpPr>
          <p:cNvPr id="11" name="Text 9"/>
          <p:cNvSpPr txBox="1"/>
          <p:nvPr/>
        </p:nvSpPr>
        <p:spPr>
          <a:xfrm>
            <a:off x="548640"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one market, to test in a controlled setting</a:t>
            </a:r>
            <a:endParaRPr lang="en-US" sz="1400" dirty="0"/>
          </a:p>
        </p:txBody>
      </p:sp>
      <p:sp>
        <p:nvSpPr>
          <p:cNvPr id="12" name="Text 10"/>
          <p:cNvSpPr txBox="1"/>
          <p:nvPr/>
        </p:nvSpPr>
        <p:spPr>
          <a:xfrm>
            <a:off x="3364992"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German and English</a:t>
            </a:r>
            <a:endParaRPr lang="en-US" sz="2000" dirty="0"/>
          </a:p>
        </p:txBody>
      </p:sp>
      <p:sp>
        <p:nvSpPr>
          <p:cNvPr id="13" name="Text 11"/>
          <p:cNvSpPr txBox="1"/>
          <p:nvPr/>
        </p:nvSpPr>
        <p:spPr>
          <a:xfrm>
            <a:off x="3364992"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interface, job ads and documents</a:t>
            </a:r>
            <a:endParaRPr lang="en-US" sz="1400" dirty="0"/>
          </a:p>
        </p:txBody>
      </p:sp>
      <p:sp>
        <p:nvSpPr>
          <p:cNvPr id="14" name="Text 12"/>
          <p:cNvSpPr txBox="1"/>
          <p:nvPr/>
        </p:nvSpPr>
        <p:spPr>
          <a:xfrm>
            <a:off x="6181344"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Web and mobile</a:t>
            </a:r>
            <a:endParaRPr lang="en-US" sz="2000" dirty="0"/>
          </a:p>
        </p:txBody>
      </p:sp>
      <p:sp>
        <p:nvSpPr>
          <p:cNvPr id="15" name="Text 13"/>
          <p:cNvSpPr txBox="1"/>
          <p:nvPr/>
        </p:nvSpPr>
        <p:spPr>
          <a:xfrm>
            <a:off x="6181344"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one responsive app, no native apps</a:t>
            </a:r>
            <a:endParaRPr lang="en-US" sz="1400" dirty="0"/>
          </a:p>
        </p:txBody>
      </p:sp>
      <p:sp>
        <p:nvSpPr>
          <p:cNvPr id="16" name="Text 14"/>
          <p:cNvSpPr txBox="1"/>
          <p:nvPr/>
        </p:nvSpPr>
        <p:spPr>
          <a:xfrm>
            <a:off x="8997696" y="2194560"/>
            <a:ext cx="2651760" cy="411480"/>
          </a:xfrm>
          <a:prstGeom prst="rect">
            <a:avLst/>
          </a:prstGeom>
          <a:noFill/>
          <a:ln/>
        </p:spPr>
        <p:txBody>
          <a:bodyPr wrap="square" lIns="0" tIns="0" rIns="0" bIns="0" rtlCol="0" anchor="t"/>
          <a:lstStyle/>
          <a:p>
            <a:pPr indent="0" marL="0">
              <a:buNone/>
            </a:pPr>
            <a:r>
              <a:rPr lang="en-US" sz="2000" b="1" dirty="0">
                <a:solidFill>
                  <a:schemeClr val="tx1"/>
                </a:solidFill>
              </a:rPr>
              <a:t>Public job lists</a:t>
            </a:r>
            <a:endParaRPr lang="en-US" sz="2000" dirty="0"/>
          </a:p>
        </p:txBody>
      </p:sp>
      <p:sp>
        <p:nvSpPr>
          <p:cNvPr id="17" name="Text 15"/>
          <p:cNvSpPr txBox="1"/>
          <p:nvPr/>
        </p:nvSpPr>
        <p:spPr>
          <a:xfrm>
            <a:off x="8997696" y="2651760"/>
            <a:ext cx="2560320" cy="548640"/>
          </a:xfrm>
          <a:prstGeom prst="rect">
            <a:avLst/>
          </a:prstGeom>
          <a:noFill/>
          <a:ln/>
        </p:spPr>
        <p:txBody>
          <a:bodyPr wrap="square" lIns="0" tIns="0" rIns="0" bIns="0" rtlCol="0" anchor="t"/>
          <a:lstStyle/>
          <a:p>
            <a:pPr indent="0" marL="0">
              <a:buNone/>
            </a:pPr>
            <a:r>
              <a:rPr lang="en-US" sz="1400" dirty="0">
                <a:solidFill>
                  <a:schemeClr val="tx2"/>
                </a:solidFill>
              </a:rPr>
              <a:t>Bundesagentur für Arbeit, no scraping</a:t>
            </a:r>
            <a:endParaRPr lang="en-US" sz="1400" dirty="0"/>
          </a:p>
        </p:txBody>
      </p:sp>
      <p:sp>
        <p:nvSpPr>
          <p:cNvPr id="18" name="Shape 16"/>
          <p:cNvSpPr/>
          <p:nvPr/>
        </p:nvSpPr>
        <p:spPr>
          <a:xfrm>
            <a:off x="548640" y="3657600"/>
            <a:ext cx="2419096" cy="502920"/>
          </a:xfrm>
          <a:prstGeom prst="rect">
            <a:avLst/>
          </a:prstGeom>
          <a:solidFill>
            <a:srgbClr val="0F2A4A"/>
          </a:solidFill>
          <a:ln w="12700">
            <a:solidFill>
              <a:srgbClr val="FFFFFF"/>
            </a:solidFill>
            <a:prstDash val="solid"/>
          </a:ln>
        </p:spPr>
      </p:sp>
      <p:sp>
        <p:nvSpPr>
          <p:cNvPr id="19" name="Text 17"/>
          <p:cNvSpPr txBox="1"/>
          <p:nvPr/>
        </p:nvSpPr>
        <p:spPr>
          <a:xfrm>
            <a:off x="685800" y="3657600"/>
            <a:ext cx="2236216" cy="502920"/>
          </a:xfrm>
          <a:prstGeom prst="rect">
            <a:avLst/>
          </a:prstGeom>
          <a:noFill/>
          <a:ln/>
        </p:spPr>
        <p:txBody>
          <a:bodyPr wrap="square" lIns="0" tIns="0" rIns="0" bIns="0" rtlCol="0" anchor="ctr"/>
          <a:lstStyle/>
          <a:p>
            <a:pPr indent="0" marL="0">
              <a:buNone/>
            </a:pPr>
            <a:r>
              <a:rPr lang="en-US" sz="1400" b="1" dirty="0">
                <a:solidFill>
                  <a:schemeClr val="bg1"/>
                </a:solidFill>
              </a:rPr>
              <a:t>Validate</a:t>
            </a:r>
            <a:endParaRPr lang="en-US" sz="1400" dirty="0"/>
          </a:p>
        </p:txBody>
      </p:sp>
      <p:sp>
        <p:nvSpPr>
          <p:cNvPr id="20" name="Shape 18"/>
          <p:cNvSpPr/>
          <p:nvPr/>
        </p:nvSpPr>
        <p:spPr>
          <a:xfrm>
            <a:off x="3013456" y="3657600"/>
            <a:ext cx="1556410" cy="502920"/>
          </a:xfrm>
          <a:prstGeom prst="rect">
            <a:avLst/>
          </a:prstGeom>
          <a:solidFill>
            <a:srgbClr val="163A63"/>
          </a:solidFill>
          <a:ln w="12700">
            <a:solidFill>
              <a:srgbClr val="FFFFFF"/>
            </a:solidFill>
            <a:prstDash val="solid"/>
          </a:ln>
        </p:spPr>
      </p:sp>
      <p:sp>
        <p:nvSpPr>
          <p:cNvPr id="21" name="Text 19"/>
          <p:cNvSpPr txBox="1"/>
          <p:nvPr/>
        </p:nvSpPr>
        <p:spPr>
          <a:xfrm>
            <a:off x="3150616" y="3657600"/>
            <a:ext cx="1373530" cy="502920"/>
          </a:xfrm>
          <a:prstGeom prst="rect">
            <a:avLst/>
          </a:prstGeom>
          <a:noFill/>
          <a:ln/>
        </p:spPr>
        <p:txBody>
          <a:bodyPr wrap="square" lIns="0" tIns="0" rIns="0" bIns="0" rtlCol="0" anchor="ctr"/>
          <a:lstStyle/>
          <a:p>
            <a:pPr indent="0" marL="0">
              <a:buNone/>
            </a:pPr>
            <a:r>
              <a:rPr lang="en-US" sz="1400" b="1" dirty="0">
                <a:solidFill>
                  <a:schemeClr val="bg1"/>
                </a:solidFill>
              </a:rPr>
              <a:t>Design</a:t>
            </a:r>
            <a:endParaRPr lang="en-US" sz="1400" dirty="0"/>
          </a:p>
        </p:txBody>
      </p:sp>
      <p:sp>
        <p:nvSpPr>
          <p:cNvPr id="22" name="Shape 20"/>
          <p:cNvSpPr/>
          <p:nvPr/>
        </p:nvSpPr>
        <p:spPr>
          <a:xfrm>
            <a:off x="4615586" y="3657600"/>
            <a:ext cx="4514190" cy="502920"/>
          </a:xfrm>
          <a:prstGeom prst="rect">
            <a:avLst/>
          </a:prstGeom>
          <a:solidFill>
            <a:srgbClr val="0F2A4A"/>
          </a:solidFill>
          <a:ln w="12700">
            <a:solidFill>
              <a:srgbClr val="FFFFFF"/>
            </a:solidFill>
            <a:prstDash val="solid"/>
          </a:ln>
        </p:spPr>
      </p:sp>
      <p:sp>
        <p:nvSpPr>
          <p:cNvPr id="23" name="Text 21"/>
          <p:cNvSpPr txBox="1"/>
          <p:nvPr/>
        </p:nvSpPr>
        <p:spPr>
          <a:xfrm>
            <a:off x="4752746" y="3657600"/>
            <a:ext cx="4331310" cy="502920"/>
          </a:xfrm>
          <a:prstGeom prst="rect">
            <a:avLst/>
          </a:prstGeom>
          <a:noFill/>
          <a:ln/>
        </p:spPr>
        <p:txBody>
          <a:bodyPr wrap="square" lIns="0" tIns="0" rIns="0" bIns="0" rtlCol="0" anchor="ctr"/>
          <a:lstStyle/>
          <a:p>
            <a:pPr indent="0" marL="0">
              <a:buNone/>
            </a:pPr>
            <a:r>
              <a:rPr lang="en-US" sz="1400" b="1" dirty="0">
                <a:solidFill>
                  <a:schemeClr val="bg1"/>
                </a:solidFill>
              </a:rPr>
              <a:t>Build</a:t>
            </a:r>
            <a:endParaRPr lang="en-US" sz="1400" dirty="0"/>
          </a:p>
        </p:txBody>
      </p:sp>
      <p:sp>
        <p:nvSpPr>
          <p:cNvPr id="24" name="Shape 22"/>
          <p:cNvSpPr/>
          <p:nvPr/>
        </p:nvSpPr>
        <p:spPr>
          <a:xfrm>
            <a:off x="9175496" y="3657600"/>
            <a:ext cx="1186688" cy="502920"/>
          </a:xfrm>
          <a:prstGeom prst="rect">
            <a:avLst/>
          </a:prstGeom>
          <a:solidFill>
            <a:srgbClr val="163A63"/>
          </a:solidFill>
          <a:ln w="12700">
            <a:solidFill>
              <a:srgbClr val="FFFFFF"/>
            </a:solidFill>
            <a:prstDash val="solid"/>
          </a:ln>
        </p:spPr>
      </p:sp>
      <p:sp>
        <p:nvSpPr>
          <p:cNvPr id="25" name="Text 23"/>
          <p:cNvSpPr txBox="1"/>
          <p:nvPr/>
        </p:nvSpPr>
        <p:spPr>
          <a:xfrm>
            <a:off x="9312656" y="3657600"/>
            <a:ext cx="1003808" cy="502920"/>
          </a:xfrm>
          <a:prstGeom prst="rect">
            <a:avLst/>
          </a:prstGeom>
          <a:noFill/>
          <a:ln/>
        </p:spPr>
        <p:txBody>
          <a:bodyPr wrap="square" lIns="0" tIns="0" rIns="0" bIns="0" rtlCol="0" anchor="ctr"/>
          <a:lstStyle/>
          <a:p>
            <a:pPr indent="0" marL="0">
              <a:buNone/>
            </a:pPr>
            <a:r>
              <a:rPr lang="en-US" sz="1400" b="1" dirty="0">
                <a:solidFill>
                  <a:schemeClr val="bg1"/>
                </a:solidFill>
              </a:rPr>
              <a:t>Beta</a:t>
            </a:r>
            <a:endParaRPr lang="en-US" sz="1400" dirty="0"/>
          </a:p>
        </p:txBody>
      </p:sp>
      <p:sp>
        <p:nvSpPr>
          <p:cNvPr id="26" name="Shape 24"/>
          <p:cNvSpPr/>
          <p:nvPr/>
        </p:nvSpPr>
        <p:spPr>
          <a:xfrm>
            <a:off x="10407904" y="3657600"/>
            <a:ext cx="1186688" cy="502920"/>
          </a:xfrm>
          <a:prstGeom prst="rect">
            <a:avLst/>
          </a:prstGeom>
          <a:solidFill>
            <a:srgbClr val="F2542D"/>
          </a:solidFill>
          <a:ln w="12700">
            <a:solidFill>
              <a:srgbClr val="FFFFFF"/>
            </a:solidFill>
            <a:prstDash val="solid"/>
          </a:ln>
        </p:spPr>
      </p:sp>
      <p:sp>
        <p:nvSpPr>
          <p:cNvPr id="27" name="Text 25"/>
          <p:cNvSpPr txBox="1"/>
          <p:nvPr/>
        </p:nvSpPr>
        <p:spPr>
          <a:xfrm>
            <a:off x="10545064" y="3657600"/>
            <a:ext cx="1003808" cy="502920"/>
          </a:xfrm>
          <a:prstGeom prst="rect">
            <a:avLst/>
          </a:prstGeom>
          <a:noFill/>
          <a:ln/>
        </p:spPr>
        <p:txBody>
          <a:bodyPr wrap="square" lIns="0" tIns="0" rIns="0" bIns="0" rtlCol="0" anchor="ctr"/>
          <a:lstStyle/>
          <a:p>
            <a:pPr indent="0" marL="0">
              <a:buNone/>
            </a:pPr>
            <a:r>
              <a:rPr lang="en-US" sz="1400" b="1" dirty="0">
                <a:solidFill>
                  <a:schemeClr val="bg1"/>
                </a:solidFill>
              </a:rPr>
              <a:t>Launch</a:t>
            </a:r>
            <a:endParaRPr lang="en-US" sz="1400" dirty="0"/>
          </a:p>
        </p:txBody>
      </p:sp>
      <p:sp>
        <p:nvSpPr>
          <p:cNvPr id="28" name="Text 26"/>
          <p:cNvSpPr txBox="1"/>
          <p:nvPr/>
        </p:nvSpPr>
        <p:spPr>
          <a:xfrm>
            <a:off x="548640"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Oct 26</a:t>
            </a:r>
            <a:endParaRPr lang="en-US" sz="1100" dirty="0"/>
          </a:p>
        </p:txBody>
      </p:sp>
      <p:sp>
        <p:nvSpPr>
          <p:cNvPr id="29" name="Text 27"/>
          <p:cNvSpPr txBox="1"/>
          <p:nvPr/>
        </p:nvSpPr>
        <p:spPr>
          <a:xfrm>
            <a:off x="1781048"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Nov</a:t>
            </a:r>
            <a:endParaRPr lang="en-US" sz="1100" dirty="0"/>
          </a:p>
        </p:txBody>
      </p:sp>
      <p:sp>
        <p:nvSpPr>
          <p:cNvPr id="30" name="Text 28"/>
          <p:cNvSpPr txBox="1"/>
          <p:nvPr/>
        </p:nvSpPr>
        <p:spPr>
          <a:xfrm>
            <a:off x="3013456"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Dec</a:t>
            </a:r>
            <a:endParaRPr lang="en-US" sz="1100" dirty="0"/>
          </a:p>
        </p:txBody>
      </p:sp>
      <p:sp>
        <p:nvSpPr>
          <p:cNvPr id="31" name="Text 29"/>
          <p:cNvSpPr txBox="1"/>
          <p:nvPr/>
        </p:nvSpPr>
        <p:spPr>
          <a:xfrm>
            <a:off x="4245864"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Jan 27</a:t>
            </a:r>
            <a:endParaRPr lang="en-US" sz="1100" dirty="0"/>
          </a:p>
        </p:txBody>
      </p:sp>
      <p:sp>
        <p:nvSpPr>
          <p:cNvPr id="32" name="Text 30"/>
          <p:cNvSpPr txBox="1"/>
          <p:nvPr/>
        </p:nvSpPr>
        <p:spPr>
          <a:xfrm>
            <a:off x="5478272"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Feb</a:t>
            </a:r>
            <a:endParaRPr lang="en-US" sz="1100" dirty="0"/>
          </a:p>
        </p:txBody>
      </p:sp>
      <p:sp>
        <p:nvSpPr>
          <p:cNvPr id="33" name="Text 31"/>
          <p:cNvSpPr txBox="1"/>
          <p:nvPr/>
        </p:nvSpPr>
        <p:spPr>
          <a:xfrm>
            <a:off x="6710680"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Mar</a:t>
            </a:r>
            <a:endParaRPr lang="en-US" sz="1100" dirty="0"/>
          </a:p>
        </p:txBody>
      </p:sp>
      <p:sp>
        <p:nvSpPr>
          <p:cNvPr id="34" name="Text 32"/>
          <p:cNvSpPr txBox="1"/>
          <p:nvPr/>
        </p:nvSpPr>
        <p:spPr>
          <a:xfrm>
            <a:off x="7943088"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Apr</a:t>
            </a:r>
            <a:endParaRPr lang="en-US" sz="1100" dirty="0"/>
          </a:p>
        </p:txBody>
      </p:sp>
      <p:sp>
        <p:nvSpPr>
          <p:cNvPr id="35" name="Text 33"/>
          <p:cNvSpPr txBox="1"/>
          <p:nvPr/>
        </p:nvSpPr>
        <p:spPr>
          <a:xfrm>
            <a:off x="9175496"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May</a:t>
            </a:r>
            <a:endParaRPr lang="en-US" sz="1100" dirty="0"/>
          </a:p>
        </p:txBody>
      </p:sp>
      <p:sp>
        <p:nvSpPr>
          <p:cNvPr id="36" name="Text 34"/>
          <p:cNvSpPr txBox="1"/>
          <p:nvPr/>
        </p:nvSpPr>
        <p:spPr>
          <a:xfrm>
            <a:off x="10407904" y="4224528"/>
            <a:ext cx="1232408" cy="228600"/>
          </a:xfrm>
          <a:prstGeom prst="rect">
            <a:avLst/>
          </a:prstGeom>
          <a:noFill/>
          <a:ln/>
        </p:spPr>
        <p:txBody>
          <a:bodyPr wrap="square" lIns="0" tIns="0" rIns="0" bIns="0" rtlCol="0" anchor="t"/>
          <a:lstStyle/>
          <a:p>
            <a:pPr indent="0" marL="0">
              <a:buNone/>
            </a:pPr>
            <a:r>
              <a:rPr lang="en-US" sz="1100" dirty="0">
                <a:solidFill>
                  <a:schemeClr val="tx2"/>
                </a:solidFill>
              </a:rPr>
              <a:t>Jun</a:t>
            </a:r>
            <a:endParaRPr lang="en-US" sz="1100" dirty="0"/>
          </a:p>
        </p:txBody>
      </p:sp>
      <p:sp>
        <p:nvSpPr>
          <p:cNvPr id="37" name="Shape 35"/>
          <p:cNvSpPr/>
          <p:nvPr/>
        </p:nvSpPr>
        <p:spPr>
          <a:xfrm>
            <a:off x="2807919" y="4572000"/>
            <a:ext cx="164592" cy="164592"/>
          </a:xfrm>
          <a:prstGeom prst="ellipse">
            <a:avLst/>
          </a:prstGeom>
          <a:solidFill>
            <a:srgbClr val="F2542D"/>
          </a:solidFill>
          <a:ln w="12700">
            <a:solidFill>
              <a:srgbClr val="F2542D"/>
            </a:solidFill>
            <a:prstDash val="solid"/>
          </a:ln>
        </p:spPr>
      </p:sp>
      <p:sp>
        <p:nvSpPr>
          <p:cNvPr id="38" name="Text 36"/>
          <p:cNvSpPr txBox="1"/>
          <p:nvPr/>
        </p:nvSpPr>
        <p:spPr>
          <a:xfrm>
            <a:off x="2387295"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G1</a:t>
            </a:r>
            <a:endParaRPr lang="en-US" sz="1200" dirty="0"/>
          </a:p>
        </p:txBody>
      </p:sp>
      <p:sp>
        <p:nvSpPr>
          <p:cNvPr id="39" name="Text 37"/>
          <p:cNvSpPr txBox="1"/>
          <p:nvPr/>
        </p:nvSpPr>
        <p:spPr>
          <a:xfrm>
            <a:off x="2387295"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27 Nov</a:t>
            </a:r>
            <a:endParaRPr lang="en-US" sz="1100" dirty="0"/>
          </a:p>
        </p:txBody>
      </p:sp>
      <p:sp>
        <p:nvSpPr>
          <p:cNvPr id="40" name="Shape 38"/>
          <p:cNvSpPr/>
          <p:nvPr/>
        </p:nvSpPr>
        <p:spPr>
          <a:xfrm>
            <a:off x="4471670" y="4572000"/>
            <a:ext cx="164592" cy="164592"/>
          </a:xfrm>
          <a:prstGeom prst="ellipse">
            <a:avLst/>
          </a:prstGeom>
          <a:solidFill>
            <a:srgbClr val="F2542D"/>
          </a:solidFill>
          <a:ln w="12700">
            <a:solidFill>
              <a:srgbClr val="F2542D"/>
            </a:solidFill>
            <a:prstDash val="solid"/>
          </a:ln>
        </p:spPr>
      </p:sp>
      <p:sp>
        <p:nvSpPr>
          <p:cNvPr id="41" name="Text 39"/>
          <p:cNvSpPr txBox="1"/>
          <p:nvPr/>
        </p:nvSpPr>
        <p:spPr>
          <a:xfrm>
            <a:off x="4051046"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G2</a:t>
            </a:r>
            <a:endParaRPr lang="en-US" sz="1200" dirty="0"/>
          </a:p>
        </p:txBody>
      </p:sp>
      <p:sp>
        <p:nvSpPr>
          <p:cNvPr id="42" name="Text 40"/>
          <p:cNvSpPr txBox="1"/>
          <p:nvPr/>
        </p:nvSpPr>
        <p:spPr>
          <a:xfrm>
            <a:off x="4051046"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8 Jan</a:t>
            </a:r>
            <a:endParaRPr lang="en-US" sz="1100" dirty="0"/>
          </a:p>
        </p:txBody>
      </p:sp>
      <p:sp>
        <p:nvSpPr>
          <p:cNvPr id="43" name="Shape 41"/>
          <p:cNvSpPr/>
          <p:nvPr/>
        </p:nvSpPr>
        <p:spPr>
          <a:xfrm>
            <a:off x="7922412" y="4572000"/>
            <a:ext cx="164592" cy="164592"/>
          </a:xfrm>
          <a:prstGeom prst="ellipse">
            <a:avLst/>
          </a:prstGeom>
          <a:solidFill>
            <a:srgbClr val="F2542D"/>
          </a:solidFill>
          <a:ln w="12700">
            <a:solidFill>
              <a:srgbClr val="F2542D"/>
            </a:solidFill>
            <a:prstDash val="solid"/>
          </a:ln>
        </p:spPr>
      </p:sp>
      <p:sp>
        <p:nvSpPr>
          <p:cNvPr id="44" name="Text 42"/>
          <p:cNvSpPr txBox="1"/>
          <p:nvPr/>
        </p:nvSpPr>
        <p:spPr>
          <a:xfrm>
            <a:off x="7501788"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Alpha</a:t>
            </a:r>
            <a:endParaRPr lang="en-US" sz="1200" dirty="0"/>
          </a:p>
        </p:txBody>
      </p:sp>
      <p:sp>
        <p:nvSpPr>
          <p:cNvPr id="45" name="Text 43"/>
          <p:cNvSpPr txBox="1"/>
          <p:nvPr/>
        </p:nvSpPr>
        <p:spPr>
          <a:xfrm>
            <a:off x="7501788"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 Apr</a:t>
            </a:r>
            <a:endParaRPr lang="en-US" sz="1100" dirty="0"/>
          </a:p>
        </p:txBody>
      </p:sp>
      <p:sp>
        <p:nvSpPr>
          <p:cNvPr id="46" name="Shape 44"/>
          <p:cNvSpPr/>
          <p:nvPr/>
        </p:nvSpPr>
        <p:spPr>
          <a:xfrm>
            <a:off x="9031580" y="4572000"/>
            <a:ext cx="164592" cy="164592"/>
          </a:xfrm>
          <a:prstGeom prst="ellipse">
            <a:avLst/>
          </a:prstGeom>
          <a:solidFill>
            <a:srgbClr val="F2542D"/>
          </a:solidFill>
          <a:ln w="12700">
            <a:solidFill>
              <a:srgbClr val="F2542D"/>
            </a:solidFill>
            <a:prstDash val="solid"/>
          </a:ln>
        </p:spPr>
      </p:sp>
      <p:sp>
        <p:nvSpPr>
          <p:cNvPr id="47" name="Text 45"/>
          <p:cNvSpPr txBox="1"/>
          <p:nvPr/>
        </p:nvSpPr>
        <p:spPr>
          <a:xfrm>
            <a:off x="8610956"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G3</a:t>
            </a:r>
            <a:endParaRPr lang="en-US" sz="1200" dirty="0"/>
          </a:p>
        </p:txBody>
      </p:sp>
      <p:sp>
        <p:nvSpPr>
          <p:cNvPr id="48" name="Text 46"/>
          <p:cNvSpPr txBox="1"/>
          <p:nvPr/>
        </p:nvSpPr>
        <p:spPr>
          <a:xfrm>
            <a:off x="8610956"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30 Apr</a:t>
            </a:r>
            <a:endParaRPr lang="en-US" sz="1100" dirty="0"/>
          </a:p>
        </p:txBody>
      </p:sp>
      <p:sp>
        <p:nvSpPr>
          <p:cNvPr id="49" name="Shape 47"/>
          <p:cNvSpPr/>
          <p:nvPr/>
        </p:nvSpPr>
        <p:spPr>
          <a:xfrm>
            <a:off x="10202367" y="4572000"/>
            <a:ext cx="164592" cy="164592"/>
          </a:xfrm>
          <a:prstGeom prst="ellipse">
            <a:avLst/>
          </a:prstGeom>
          <a:solidFill>
            <a:srgbClr val="F2542D"/>
          </a:solidFill>
          <a:ln w="12700">
            <a:solidFill>
              <a:srgbClr val="F2542D"/>
            </a:solidFill>
            <a:prstDash val="solid"/>
          </a:ln>
        </p:spPr>
      </p:sp>
      <p:sp>
        <p:nvSpPr>
          <p:cNvPr id="50" name="Text 48"/>
          <p:cNvSpPr txBox="1"/>
          <p:nvPr/>
        </p:nvSpPr>
        <p:spPr>
          <a:xfrm>
            <a:off x="9781743"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G4</a:t>
            </a:r>
            <a:endParaRPr lang="en-US" sz="1200" dirty="0"/>
          </a:p>
        </p:txBody>
      </p:sp>
      <p:sp>
        <p:nvSpPr>
          <p:cNvPr id="51" name="Text 49"/>
          <p:cNvSpPr txBox="1"/>
          <p:nvPr/>
        </p:nvSpPr>
        <p:spPr>
          <a:xfrm>
            <a:off x="9781743"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28 May</a:t>
            </a:r>
            <a:endParaRPr lang="en-US" sz="1100" dirty="0"/>
          </a:p>
        </p:txBody>
      </p:sp>
      <p:sp>
        <p:nvSpPr>
          <p:cNvPr id="52" name="Shape 50"/>
          <p:cNvSpPr/>
          <p:nvPr/>
        </p:nvSpPr>
        <p:spPr>
          <a:xfrm>
            <a:off x="10880192" y="4572000"/>
            <a:ext cx="164592" cy="164592"/>
          </a:xfrm>
          <a:prstGeom prst="ellipse">
            <a:avLst/>
          </a:prstGeom>
          <a:solidFill>
            <a:srgbClr val="F2542D"/>
          </a:solidFill>
          <a:ln w="12700">
            <a:solidFill>
              <a:srgbClr val="F2542D"/>
            </a:solidFill>
            <a:prstDash val="solid"/>
          </a:ln>
        </p:spPr>
      </p:sp>
      <p:sp>
        <p:nvSpPr>
          <p:cNvPr id="53" name="Text 51"/>
          <p:cNvSpPr txBox="1"/>
          <p:nvPr/>
        </p:nvSpPr>
        <p:spPr>
          <a:xfrm>
            <a:off x="10459568" y="4773168"/>
            <a:ext cx="1005840" cy="256032"/>
          </a:xfrm>
          <a:prstGeom prst="rect">
            <a:avLst/>
          </a:prstGeom>
          <a:noFill/>
          <a:ln/>
        </p:spPr>
        <p:txBody>
          <a:bodyPr wrap="square" lIns="0" tIns="0" rIns="0" bIns="0" rtlCol="0" anchor="t"/>
          <a:lstStyle/>
          <a:p>
            <a:pPr algn="ctr" indent="0" marL="0">
              <a:buNone/>
            </a:pPr>
            <a:r>
              <a:rPr lang="en-US" sz="1200" b="1" dirty="0">
                <a:solidFill>
                  <a:schemeClr val="tx1"/>
                </a:solidFill>
              </a:rPr>
              <a:t>Launch</a:t>
            </a:r>
            <a:endParaRPr lang="en-US" sz="1200" dirty="0"/>
          </a:p>
        </p:txBody>
      </p:sp>
      <p:sp>
        <p:nvSpPr>
          <p:cNvPr id="54" name="Text 52"/>
          <p:cNvSpPr txBox="1"/>
          <p:nvPr/>
        </p:nvSpPr>
        <p:spPr>
          <a:xfrm>
            <a:off x="10459568" y="5010912"/>
            <a:ext cx="1005840" cy="228600"/>
          </a:xfrm>
          <a:prstGeom prst="rect">
            <a:avLst/>
          </a:prstGeom>
          <a:noFill/>
          <a:ln/>
        </p:spPr>
        <p:txBody>
          <a:bodyPr wrap="square" lIns="0" tIns="0" rIns="0" bIns="0" rtlCol="0" anchor="t"/>
          <a:lstStyle/>
          <a:p>
            <a:pPr algn="ctr" indent="0" marL="0">
              <a:buNone/>
            </a:pPr>
            <a:r>
              <a:rPr lang="en-US" sz="1100" dirty="0">
                <a:solidFill>
                  <a:schemeClr val="tx2"/>
                </a:solidFill>
              </a:rPr>
              <a:t>June 27</a:t>
            </a:r>
            <a:endParaRPr lang="en-US" sz="1100" dirty="0"/>
          </a:p>
        </p:txBody>
      </p:sp>
      <p:sp>
        <p:nvSpPr>
          <p:cNvPr id="55" name="Text 53"/>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dirty="0">
                <a:solidFill>
                  <a:schemeClr val="tx1"/>
                </a:solidFill>
              </a:rPr>
              <a:t>Team of 2 engineers, 1 ML engineer, 1 PM. If time runs short, we cut scope, never the date.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SUCCESS · USER LIFECYCLE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user is in exactly one state</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state"/>
          <p:cNvSpPr/>
          <p:nvPr/>
        </p:nvSpPr>
        <p:spPr>
          <a:xfrm>
            <a:off x="548640" y="2194560"/>
            <a:ext cx="1664208" cy="566928"/>
          </a:xfrm>
          <a:prstGeom prst="roundRect">
            <a:avLst>
              <a:gd name="adj" fmla="val 19355"/>
            </a:avLst>
          </a:prstGeom>
          <a:solidFill>
            <a:srgbClr val="0F2A4A"/>
          </a:solidFill>
          <a:ln w="12700">
            <a:solidFill>
              <a:srgbClr val="0F2A4A"/>
            </a:solidFill>
            <a:prstDash val="solid"/>
          </a:ln>
        </p:spPr>
      </p:sp>
      <p:sp>
        <p:nvSpPr>
          <p:cNvPr id="11" name="Text 9"/>
          <p:cNvSpPr txBox="1"/>
          <p:nvPr/>
        </p:nvSpPr>
        <p:spPr>
          <a:xfrm>
            <a:off x="548640"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New</a:t>
            </a:r>
            <a:endParaRPr lang="en-US" sz="1600" dirty="0"/>
          </a:p>
        </p:txBody>
      </p:sp>
      <p:sp>
        <p:nvSpPr>
          <p:cNvPr id="12" name="Text 10"/>
          <p:cNvSpPr txBox="1"/>
          <p:nvPr/>
        </p:nvSpPr>
        <p:spPr>
          <a:xfrm>
            <a:off x="548640"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signed up</a:t>
            </a:r>
            <a:endParaRPr lang="en-US" sz="1200" dirty="0"/>
          </a:p>
        </p:txBody>
      </p:sp>
      <p:sp>
        <p:nvSpPr>
          <p:cNvPr id="13" name="Shape 11"/>
          <p:cNvSpPr/>
          <p:nvPr/>
        </p:nvSpPr>
        <p:spPr>
          <a:xfrm>
            <a:off x="2231136" y="2478024"/>
            <a:ext cx="182880" cy="0"/>
          </a:xfrm>
          <a:prstGeom prst="line">
            <a:avLst/>
          </a:prstGeom>
          <a:noFill/>
          <a:ln w="19050">
            <a:solidFill>
              <a:srgbClr val="5B6B80"/>
            </a:solidFill>
            <a:prstDash val="solid"/>
            <a:tailEnd type="triangle"/>
          </a:ln>
        </p:spPr>
      </p:sp>
      <p:sp>
        <p:nvSpPr>
          <p:cNvPr id="14" name="state"/>
          <p:cNvSpPr/>
          <p:nvPr/>
        </p:nvSpPr>
        <p:spPr>
          <a:xfrm>
            <a:off x="2432304" y="2194560"/>
            <a:ext cx="1664208" cy="566928"/>
          </a:xfrm>
          <a:prstGeom prst="roundRect">
            <a:avLst>
              <a:gd name="adj" fmla="val 19355"/>
            </a:avLst>
          </a:prstGeom>
          <a:solidFill>
            <a:srgbClr val="0F2A4A"/>
          </a:solidFill>
          <a:ln w="12700">
            <a:solidFill>
              <a:srgbClr val="0F2A4A"/>
            </a:solidFill>
            <a:prstDash val="solid"/>
          </a:ln>
        </p:spPr>
      </p:sp>
      <p:sp>
        <p:nvSpPr>
          <p:cNvPr id="15" name="Text 13"/>
          <p:cNvSpPr txBox="1"/>
          <p:nvPr/>
        </p:nvSpPr>
        <p:spPr>
          <a:xfrm>
            <a:off x="2432304"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Activated</a:t>
            </a:r>
            <a:endParaRPr lang="en-US" sz="1600" dirty="0"/>
          </a:p>
        </p:txBody>
      </p:sp>
      <p:sp>
        <p:nvSpPr>
          <p:cNvPr id="16" name="Text 14"/>
          <p:cNvSpPr txBox="1"/>
          <p:nvPr/>
        </p:nvSpPr>
        <p:spPr>
          <a:xfrm>
            <a:off x="2432304"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first list + 1 action in 7 days</a:t>
            </a:r>
            <a:endParaRPr lang="en-US" sz="1200" dirty="0"/>
          </a:p>
        </p:txBody>
      </p:sp>
      <p:sp>
        <p:nvSpPr>
          <p:cNvPr id="17" name="Shape 15"/>
          <p:cNvSpPr/>
          <p:nvPr/>
        </p:nvSpPr>
        <p:spPr>
          <a:xfrm>
            <a:off x="4114800" y="2478024"/>
            <a:ext cx="182880" cy="0"/>
          </a:xfrm>
          <a:prstGeom prst="line">
            <a:avLst/>
          </a:prstGeom>
          <a:noFill/>
          <a:ln w="19050">
            <a:solidFill>
              <a:srgbClr val="5B6B80"/>
            </a:solidFill>
            <a:prstDash val="solid"/>
            <a:tailEnd type="triangle"/>
          </a:ln>
        </p:spPr>
      </p:sp>
      <p:sp>
        <p:nvSpPr>
          <p:cNvPr id="18" name="state"/>
          <p:cNvSpPr/>
          <p:nvPr/>
        </p:nvSpPr>
        <p:spPr>
          <a:xfrm>
            <a:off x="4315968" y="2194560"/>
            <a:ext cx="1664208" cy="566928"/>
          </a:xfrm>
          <a:prstGeom prst="roundRect">
            <a:avLst>
              <a:gd name="adj" fmla="val 19355"/>
            </a:avLst>
          </a:prstGeom>
          <a:solidFill>
            <a:srgbClr val="0F2A4A"/>
          </a:solidFill>
          <a:ln w="12700">
            <a:solidFill>
              <a:srgbClr val="0F2A4A"/>
            </a:solidFill>
            <a:prstDash val="solid"/>
          </a:ln>
        </p:spPr>
      </p:sp>
      <p:sp>
        <p:nvSpPr>
          <p:cNvPr id="19" name="Text 17"/>
          <p:cNvSpPr txBox="1"/>
          <p:nvPr/>
        </p:nvSpPr>
        <p:spPr>
          <a:xfrm>
            <a:off x="4315968"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Active</a:t>
            </a:r>
            <a:endParaRPr lang="en-US" sz="1600" dirty="0"/>
          </a:p>
        </p:txBody>
      </p:sp>
      <p:sp>
        <p:nvSpPr>
          <p:cNvPr id="20" name="Text 18"/>
          <p:cNvSpPr txBox="1"/>
          <p:nvPr/>
        </p:nvSpPr>
        <p:spPr>
          <a:xfrm>
            <a:off x="4315968"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action in last 14 days</a:t>
            </a:r>
            <a:endParaRPr lang="en-US" sz="1200" dirty="0"/>
          </a:p>
        </p:txBody>
      </p:sp>
      <p:sp>
        <p:nvSpPr>
          <p:cNvPr id="21" name="Shape 19"/>
          <p:cNvSpPr/>
          <p:nvPr/>
        </p:nvSpPr>
        <p:spPr>
          <a:xfrm>
            <a:off x="5998464" y="2478024"/>
            <a:ext cx="182880" cy="0"/>
          </a:xfrm>
          <a:prstGeom prst="line">
            <a:avLst/>
          </a:prstGeom>
          <a:noFill/>
          <a:ln w="19050">
            <a:solidFill>
              <a:srgbClr val="5B6B80"/>
            </a:solidFill>
            <a:prstDash val="solid"/>
            <a:tailEnd type="triangle"/>
          </a:ln>
        </p:spPr>
      </p:sp>
      <p:sp>
        <p:nvSpPr>
          <p:cNvPr id="22" name="state"/>
          <p:cNvSpPr/>
          <p:nvPr/>
        </p:nvSpPr>
        <p:spPr>
          <a:xfrm>
            <a:off x="6199632" y="2194560"/>
            <a:ext cx="1664208" cy="566928"/>
          </a:xfrm>
          <a:prstGeom prst="roundRect">
            <a:avLst>
              <a:gd name="adj" fmla="val 19355"/>
            </a:avLst>
          </a:prstGeom>
          <a:solidFill>
            <a:srgbClr val="163A63"/>
          </a:solidFill>
          <a:ln w="12700">
            <a:solidFill>
              <a:srgbClr val="163A63"/>
            </a:solidFill>
            <a:prstDash val="solid"/>
          </a:ln>
        </p:spPr>
      </p:sp>
      <p:sp>
        <p:nvSpPr>
          <p:cNvPr id="23" name="Text 21"/>
          <p:cNvSpPr txBox="1"/>
          <p:nvPr/>
        </p:nvSpPr>
        <p:spPr>
          <a:xfrm>
            <a:off x="6199632"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At risk</a:t>
            </a:r>
            <a:endParaRPr lang="en-US" sz="1600" dirty="0"/>
          </a:p>
        </p:txBody>
      </p:sp>
      <p:sp>
        <p:nvSpPr>
          <p:cNvPr id="24" name="Text 22"/>
          <p:cNvSpPr txBox="1"/>
          <p:nvPr/>
        </p:nvSpPr>
        <p:spPr>
          <a:xfrm>
            <a:off x="6199632"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15–30 days quiet</a:t>
            </a:r>
            <a:endParaRPr lang="en-US" sz="1200" dirty="0"/>
          </a:p>
        </p:txBody>
      </p:sp>
      <p:sp>
        <p:nvSpPr>
          <p:cNvPr id="25" name="Shape 23"/>
          <p:cNvSpPr/>
          <p:nvPr/>
        </p:nvSpPr>
        <p:spPr>
          <a:xfrm>
            <a:off x="7882128" y="2478024"/>
            <a:ext cx="182880" cy="0"/>
          </a:xfrm>
          <a:prstGeom prst="line">
            <a:avLst/>
          </a:prstGeom>
          <a:noFill/>
          <a:ln w="19050">
            <a:solidFill>
              <a:srgbClr val="5B6B80"/>
            </a:solidFill>
            <a:prstDash val="solid"/>
            <a:tailEnd type="triangle"/>
          </a:ln>
        </p:spPr>
      </p:sp>
      <p:sp>
        <p:nvSpPr>
          <p:cNvPr id="26" name="state"/>
          <p:cNvSpPr/>
          <p:nvPr/>
        </p:nvSpPr>
        <p:spPr>
          <a:xfrm>
            <a:off x="8083296" y="2194560"/>
            <a:ext cx="1664208" cy="566928"/>
          </a:xfrm>
          <a:prstGeom prst="roundRect">
            <a:avLst>
              <a:gd name="adj" fmla="val 19355"/>
            </a:avLst>
          </a:prstGeom>
          <a:solidFill>
            <a:srgbClr val="5B6B80"/>
          </a:solidFill>
          <a:ln w="12700">
            <a:solidFill>
              <a:srgbClr val="5B6B80"/>
            </a:solidFill>
            <a:prstDash val="solid"/>
          </a:ln>
        </p:spPr>
      </p:sp>
      <p:sp>
        <p:nvSpPr>
          <p:cNvPr id="27" name="Text 25"/>
          <p:cNvSpPr txBox="1"/>
          <p:nvPr/>
        </p:nvSpPr>
        <p:spPr>
          <a:xfrm>
            <a:off x="8083296"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Inactive</a:t>
            </a:r>
            <a:endParaRPr lang="en-US" sz="1600" dirty="0"/>
          </a:p>
        </p:txBody>
      </p:sp>
      <p:sp>
        <p:nvSpPr>
          <p:cNvPr id="28" name="Text 26"/>
          <p:cNvSpPr txBox="1"/>
          <p:nvPr/>
        </p:nvSpPr>
        <p:spPr>
          <a:xfrm>
            <a:off x="8083296"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31–90 days quiet</a:t>
            </a:r>
            <a:endParaRPr lang="en-US" sz="1200" dirty="0"/>
          </a:p>
        </p:txBody>
      </p:sp>
      <p:sp>
        <p:nvSpPr>
          <p:cNvPr id="29" name="Shape 27"/>
          <p:cNvSpPr/>
          <p:nvPr/>
        </p:nvSpPr>
        <p:spPr>
          <a:xfrm>
            <a:off x="9765792" y="2478024"/>
            <a:ext cx="182880" cy="0"/>
          </a:xfrm>
          <a:prstGeom prst="line">
            <a:avLst/>
          </a:prstGeom>
          <a:noFill/>
          <a:ln w="19050">
            <a:solidFill>
              <a:srgbClr val="5B6B80"/>
            </a:solidFill>
            <a:prstDash val="solid"/>
            <a:tailEnd type="triangle"/>
          </a:ln>
        </p:spPr>
      </p:sp>
      <p:sp>
        <p:nvSpPr>
          <p:cNvPr id="30" name="state"/>
          <p:cNvSpPr/>
          <p:nvPr/>
        </p:nvSpPr>
        <p:spPr>
          <a:xfrm>
            <a:off x="9966960" y="2194560"/>
            <a:ext cx="1664208" cy="566928"/>
          </a:xfrm>
          <a:prstGeom prst="roundRect">
            <a:avLst>
              <a:gd name="adj" fmla="val 19355"/>
            </a:avLst>
          </a:prstGeom>
          <a:solidFill>
            <a:srgbClr val="5B6B80"/>
          </a:solidFill>
          <a:ln w="12700">
            <a:solidFill>
              <a:srgbClr val="5B6B80"/>
            </a:solidFill>
            <a:prstDash val="solid"/>
          </a:ln>
        </p:spPr>
      </p:sp>
      <p:sp>
        <p:nvSpPr>
          <p:cNvPr id="31" name="Text 29"/>
          <p:cNvSpPr txBox="1"/>
          <p:nvPr/>
        </p:nvSpPr>
        <p:spPr>
          <a:xfrm>
            <a:off x="9966960" y="2194560"/>
            <a:ext cx="1664208" cy="566928"/>
          </a:xfrm>
          <a:prstGeom prst="rect">
            <a:avLst/>
          </a:prstGeom>
          <a:noFill/>
          <a:ln/>
        </p:spPr>
        <p:txBody>
          <a:bodyPr wrap="square" lIns="0" tIns="0" rIns="0" bIns="0" rtlCol="0" anchor="ctr"/>
          <a:lstStyle/>
          <a:p>
            <a:pPr algn="ctr" indent="0" marL="0">
              <a:buNone/>
            </a:pPr>
            <a:r>
              <a:rPr lang="en-US" sz="1600" b="1" dirty="0">
                <a:solidFill>
                  <a:schemeClr val="bg1"/>
                </a:solidFill>
              </a:rPr>
              <a:t>Defunct</a:t>
            </a:r>
            <a:endParaRPr lang="en-US" sz="1600" dirty="0"/>
          </a:p>
        </p:txBody>
      </p:sp>
      <p:sp>
        <p:nvSpPr>
          <p:cNvPr id="32" name="Text 30"/>
          <p:cNvSpPr txBox="1"/>
          <p:nvPr/>
        </p:nvSpPr>
        <p:spPr>
          <a:xfrm>
            <a:off x="9966960" y="2852928"/>
            <a:ext cx="1664208" cy="685800"/>
          </a:xfrm>
          <a:prstGeom prst="rect">
            <a:avLst/>
          </a:prstGeom>
          <a:noFill/>
          <a:ln/>
        </p:spPr>
        <p:txBody>
          <a:bodyPr wrap="square" lIns="0" tIns="0" rIns="0" bIns="0" rtlCol="0" anchor="t"/>
          <a:lstStyle/>
          <a:p>
            <a:pPr algn="ctr" indent="0" marL="0">
              <a:buNone/>
            </a:pPr>
            <a:r>
              <a:rPr lang="en-US" sz="1200" dirty="0">
                <a:solidFill>
                  <a:schemeClr val="tx2"/>
                </a:solidFill>
              </a:rPr>
              <a:t>90+ days, no hire</a:t>
            </a:r>
            <a:endParaRPr lang="en-US" sz="1200" dirty="0"/>
          </a:p>
        </p:txBody>
      </p:sp>
      <p:sp>
        <p:nvSpPr>
          <p:cNvPr id="33" name="Shape 31"/>
          <p:cNvSpPr/>
          <p:nvPr/>
        </p:nvSpPr>
        <p:spPr>
          <a:xfrm>
            <a:off x="5148072" y="3703320"/>
            <a:ext cx="5650992" cy="0"/>
          </a:xfrm>
          <a:prstGeom prst="line">
            <a:avLst/>
          </a:prstGeom>
          <a:noFill/>
          <a:ln w="25400">
            <a:solidFill>
              <a:srgbClr val="F2542D"/>
            </a:solidFill>
            <a:prstDash val="dash"/>
            <a:headEnd type="triangle"/>
          </a:ln>
        </p:spPr>
      </p:sp>
      <p:sp>
        <p:nvSpPr>
          <p:cNvPr id="34" name="Shape 32"/>
          <p:cNvSpPr/>
          <p:nvPr/>
        </p:nvSpPr>
        <p:spPr>
          <a:xfrm>
            <a:off x="10799064" y="3200400"/>
            <a:ext cx="0" cy="502920"/>
          </a:xfrm>
          <a:prstGeom prst="line">
            <a:avLst/>
          </a:prstGeom>
          <a:noFill/>
          <a:ln w="25400">
            <a:solidFill>
              <a:srgbClr val="F2542D"/>
            </a:solidFill>
            <a:prstDash val="dash"/>
          </a:ln>
        </p:spPr>
      </p:sp>
      <p:sp>
        <p:nvSpPr>
          <p:cNvPr id="35" name="Shape 33"/>
          <p:cNvSpPr/>
          <p:nvPr/>
        </p:nvSpPr>
        <p:spPr>
          <a:xfrm>
            <a:off x="5148072" y="3200400"/>
            <a:ext cx="0" cy="502920"/>
          </a:xfrm>
          <a:prstGeom prst="line">
            <a:avLst/>
          </a:prstGeom>
          <a:noFill/>
          <a:ln w="25400">
            <a:solidFill>
              <a:srgbClr val="F2542D"/>
            </a:solidFill>
            <a:prstDash val="dash"/>
            <a:headEnd type="triangle"/>
          </a:ln>
        </p:spPr>
      </p:sp>
      <p:sp>
        <p:nvSpPr>
          <p:cNvPr id="36" name="Text 34"/>
          <p:cNvSpPr txBox="1"/>
          <p:nvPr/>
        </p:nvSpPr>
        <p:spPr>
          <a:xfrm>
            <a:off x="5422392" y="3776472"/>
            <a:ext cx="5102352" cy="320040"/>
          </a:xfrm>
          <a:prstGeom prst="rect">
            <a:avLst/>
          </a:prstGeom>
          <a:noFill/>
          <a:ln/>
        </p:spPr>
        <p:txBody>
          <a:bodyPr wrap="square" lIns="0" tIns="0" rIns="0" bIns="0" rtlCol="0" anchor="t"/>
          <a:lstStyle/>
          <a:p>
            <a:pPr algn="ctr" indent="0" marL="0">
              <a:buNone/>
            </a:pPr>
            <a:r>
              <a:rPr lang="en-US" sz="1300" b="1" dirty="0">
                <a:solidFill>
                  <a:srgbClr val="B8401F"/>
                </a:solidFill>
              </a:rPr>
              <a:t>Re-onboarding: refresh the CV, confirm preferences</a:t>
            </a:r>
            <a:endParaRPr lang="en-US" sz="1300" dirty="0"/>
          </a:p>
        </p:txBody>
      </p:sp>
      <p:sp>
        <p:nvSpPr>
          <p:cNvPr id="37" name="outcome"/>
          <p:cNvSpPr/>
          <p:nvPr/>
        </p:nvSpPr>
        <p:spPr>
          <a:xfrm>
            <a:off x="548640" y="4389120"/>
            <a:ext cx="3593592" cy="1234440"/>
          </a:xfrm>
          <a:prstGeom prst="roundRect">
            <a:avLst>
              <a:gd name="adj" fmla="val 8889"/>
            </a:avLst>
          </a:prstGeom>
          <a:solidFill>
            <a:srgbClr val="DDF0E4"/>
          </a:solidFill>
          <a:ln w="12700">
            <a:solidFill>
              <a:srgbClr val="DDF0E4"/>
            </a:solidFill>
            <a:prstDash val="solid"/>
          </a:ln>
        </p:spPr>
      </p:sp>
      <p:sp>
        <p:nvSpPr>
          <p:cNvPr id="38" name="Text 36"/>
          <p:cNvSpPr txBox="1"/>
          <p:nvPr/>
        </p:nvSpPr>
        <p:spPr>
          <a:xfrm>
            <a:off x="822960" y="4526280"/>
            <a:ext cx="3108960" cy="365760"/>
          </a:xfrm>
          <a:prstGeom prst="rect">
            <a:avLst/>
          </a:prstGeom>
          <a:noFill/>
          <a:ln/>
        </p:spPr>
        <p:txBody>
          <a:bodyPr wrap="square" lIns="0" tIns="0" rIns="0" bIns="0" rtlCol="0" anchor="t"/>
          <a:lstStyle/>
          <a:p>
            <a:pPr indent="0" marL="0">
              <a:buNone/>
            </a:pPr>
            <a:r>
              <a:rPr lang="en-US" sz="1800" b="1" dirty="0">
                <a:solidFill>
                  <a:srgbClr val="2E8B57"/>
                </a:solidFill>
              </a:rPr>
              <a:t>Hired</a:t>
            </a:r>
            <a:endParaRPr lang="en-US" sz="1800" dirty="0"/>
          </a:p>
        </p:txBody>
      </p:sp>
      <p:sp>
        <p:nvSpPr>
          <p:cNvPr id="39" name="Text 37"/>
          <p:cNvSpPr txBox="1"/>
          <p:nvPr/>
        </p:nvSpPr>
        <p:spPr>
          <a:xfrm>
            <a:off x="82296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Success story, never churn. Exit reason "hired" or an offer accepted in the history.</a:t>
            </a:r>
            <a:endParaRPr lang="en-US" sz="1300" dirty="0"/>
          </a:p>
        </p:txBody>
      </p:sp>
      <p:sp>
        <p:nvSpPr>
          <p:cNvPr id="40" name="outcome"/>
          <p:cNvSpPr/>
          <p:nvPr/>
        </p:nvSpPr>
        <p:spPr>
          <a:xfrm>
            <a:off x="4297680" y="4389120"/>
            <a:ext cx="3593592" cy="1234440"/>
          </a:xfrm>
          <a:prstGeom prst="roundRect">
            <a:avLst>
              <a:gd name="adj" fmla="val 8889"/>
            </a:avLst>
          </a:prstGeom>
          <a:solidFill>
            <a:srgbClr val="FFFFFF"/>
          </a:solidFill>
          <a:ln w="12700">
            <a:solidFill>
              <a:srgbClr val="FFFFFF"/>
            </a:solidFill>
            <a:prstDash val="solid"/>
          </a:ln>
        </p:spPr>
      </p:sp>
      <p:sp>
        <p:nvSpPr>
          <p:cNvPr id="41" name="Text 39"/>
          <p:cNvSpPr txBox="1"/>
          <p:nvPr/>
        </p:nvSpPr>
        <p:spPr>
          <a:xfrm>
            <a:off x="4572000" y="4526280"/>
            <a:ext cx="3108960" cy="365760"/>
          </a:xfrm>
          <a:prstGeom prst="rect">
            <a:avLst/>
          </a:prstGeom>
          <a:noFill/>
          <a:ln/>
        </p:spPr>
        <p:txBody>
          <a:bodyPr wrap="square" lIns="0" tIns="0" rIns="0" bIns="0" rtlCol="0" anchor="t"/>
          <a:lstStyle/>
          <a:p>
            <a:pPr indent="0" marL="0">
              <a:buNone/>
            </a:pPr>
            <a:r>
              <a:rPr lang="en-US" sz="1800" b="1" dirty="0">
                <a:solidFill>
                  <a:srgbClr val="0F2A4A"/>
                </a:solidFill>
              </a:rPr>
              <a:t>Paused</a:t>
            </a:r>
            <a:endParaRPr lang="en-US" sz="1800" dirty="0"/>
          </a:p>
        </p:txBody>
      </p:sp>
      <p:sp>
        <p:nvSpPr>
          <p:cNvPr id="42" name="Text 40"/>
          <p:cNvSpPr txBox="1"/>
          <p:nvPr/>
        </p:nvSpPr>
        <p:spPr>
          <a:xfrm>
            <a:off x="457200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Search on hold, chosen by the user. Not churn; no nudges.</a:t>
            </a:r>
            <a:endParaRPr lang="en-US" sz="1300" dirty="0"/>
          </a:p>
        </p:txBody>
      </p:sp>
      <p:sp>
        <p:nvSpPr>
          <p:cNvPr id="43" name="outcome"/>
          <p:cNvSpPr/>
          <p:nvPr/>
        </p:nvSpPr>
        <p:spPr>
          <a:xfrm>
            <a:off x="8046720" y="4389120"/>
            <a:ext cx="3593592" cy="1234440"/>
          </a:xfrm>
          <a:prstGeom prst="roundRect">
            <a:avLst>
              <a:gd name="adj" fmla="val 8889"/>
            </a:avLst>
          </a:prstGeom>
          <a:solidFill>
            <a:srgbClr val="FDE3DB"/>
          </a:solidFill>
          <a:ln w="12700">
            <a:solidFill>
              <a:srgbClr val="FDE3DB"/>
            </a:solidFill>
            <a:prstDash val="solid"/>
          </a:ln>
        </p:spPr>
      </p:sp>
      <p:sp>
        <p:nvSpPr>
          <p:cNvPr id="44" name="Text 42"/>
          <p:cNvSpPr txBox="1"/>
          <p:nvPr/>
        </p:nvSpPr>
        <p:spPr>
          <a:xfrm>
            <a:off x="8321040" y="4526280"/>
            <a:ext cx="3108960" cy="365760"/>
          </a:xfrm>
          <a:prstGeom prst="rect">
            <a:avLst/>
          </a:prstGeom>
          <a:noFill/>
          <a:ln/>
        </p:spPr>
        <p:txBody>
          <a:bodyPr wrap="square" lIns="0" tIns="0" rIns="0" bIns="0" rtlCol="0" anchor="t"/>
          <a:lstStyle/>
          <a:p>
            <a:pPr indent="0" marL="0">
              <a:buNone/>
            </a:pPr>
            <a:r>
              <a:rPr lang="en-US" sz="1800" b="1" dirty="0">
                <a:solidFill>
                  <a:srgbClr val="B8401F"/>
                </a:solidFill>
              </a:rPr>
              <a:t>Churned</a:t>
            </a:r>
            <a:endParaRPr lang="en-US" sz="1800" dirty="0"/>
          </a:p>
        </p:txBody>
      </p:sp>
      <p:sp>
        <p:nvSpPr>
          <p:cNvPr id="45" name="Text 43"/>
          <p:cNvSpPr txBox="1"/>
          <p:nvPr/>
        </p:nvSpPr>
        <p:spPr>
          <a:xfrm>
            <a:off x="8321040" y="4910328"/>
            <a:ext cx="3108960" cy="640080"/>
          </a:xfrm>
          <a:prstGeom prst="rect">
            <a:avLst/>
          </a:prstGeom>
          <a:noFill/>
          <a:ln/>
        </p:spPr>
        <p:txBody>
          <a:bodyPr wrap="square" lIns="0" tIns="0" rIns="0" bIns="0" rtlCol="0" anchor="t"/>
          <a:lstStyle/>
          <a:p>
            <a:pPr indent="0" marL="0">
              <a:buNone/>
            </a:pPr>
            <a:r>
              <a:rPr lang="en-US" sz="1300" dirty="0">
                <a:solidFill>
                  <a:schemeClr val="tx1"/>
                </a:solidFill>
              </a:rPr>
              <a:t>Deleted the account, or defunct with no hire. The only real loss.</a:t>
            </a:r>
            <a:endParaRPr lang="en-US" sz="1300" dirty="0"/>
          </a:p>
        </p:txBody>
      </p:sp>
      <p:sp>
        <p:nvSpPr>
          <p:cNvPr id="46" name="Text 44"/>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400" dirty="0">
                <a:solidFill>
                  <a:schemeClr val="tx2"/>
                </a:solidFill>
              </a:rPr>
              <a:t>A job search lasts months, not years: we expect 3 to 6 active months per search. Thresholds are assumptions until the beta.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SUCCESS · METRICS</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we measure, and what good looks like</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Where · When</a:t>
            </a:r>
            <a:endParaRPr lang="en-US" sz="1000" dirty="0"/>
          </a:p>
        </p:txBody>
      </p:sp>
      <p:sp>
        <p:nvSpPr>
          <p:cNvPr id="8" name="Text 6"/>
          <p:cNvSpPr txBox="1"/>
          <p:nvPr/>
        </p:nvSpPr>
        <p:spPr>
          <a:xfrm>
            <a:off x="9582912"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Success</a:t>
            </a:r>
            <a:endParaRPr lang="en-US" sz="1000" dirty="0"/>
          </a:p>
        </p:txBody>
      </p:sp>
      <p:sp>
        <p:nvSpPr>
          <p:cNvPr id="9" name="Text 7"/>
          <p:cNvSpPr txBox="1"/>
          <p:nvPr/>
        </p:nvSpPr>
        <p:spPr>
          <a:xfrm>
            <a:off x="10607040" y="310896"/>
            <a:ext cx="969264" cy="256032"/>
          </a:xfrm>
          <a:prstGeom prst="rect">
            <a:avLst/>
          </a:prstGeom>
          <a:noFill/>
          <a:ln/>
        </p:spPr>
        <p:txBody>
          <a:bodyPr wrap="square" lIns="0" tIns="0" rIns="0" bIns="0" rtlCol="0" anchor="ctr"/>
          <a:lstStyle/>
          <a:p>
            <a:pPr algn="ctr" indent="0" marL="0">
              <a:buNone/>
            </a:pPr>
            <a:r>
              <a:rPr lang="en-US" sz="1000" dirty="0">
                <a:solidFill>
                  <a:srgbClr val="5B6B80"/>
                </a:solidFill>
              </a:rPr>
              <a:t>Demo</a:t>
            </a:r>
            <a:endParaRPr lang="en-US" sz="1000" dirty="0"/>
          </a:p>
        </p:txBody>
      </p:sp>
      <p:sp>
        <p:nvSpPr>
          <p:cNvPr id="10" name="north"/>
          <p:cNvSpPr/>
          <p:nvPr/>
        </p:nvSpPr>
        <p:spPr>
          <a:xfrm>
            <a:off x="548640" y="2194560"/>
            <a:ext cx="3566160" cy="3383280"/>
          </a:xfrm>
          <a:prstGeom prst="roundRect">
            <a:avLst>
              <a:gd name="adj" fmla="val 3243"/>
            </a:avLst>
          </a:prstGeom>
          <a:solidFill>
            <a:srgbClr val="F2542D"/>
          </a:solidFill>
          <a:ln w="12700">
            <a:solidFill>
              <a:srgbClr val="F2542D"/>
            </a:solidFill>
            <a:prstDash val="solid"/>
          </a:ln>
        </p:spPr>
      </p:sp>
      <p:sp>
        <p:nvSpPr>
          <p:cNvPr id="11" name="Text 9"/>
          <p:cNvSpPr txBox="1"/>
          <p:nvPr/>
        </p:nvSpPr>
        <p:spPr>
          <a:xfrm>
            <a:off x="822960" y="2423160"/>
            <a:ext cx="3017520" cy="274320"/>
          </a:xfrm>
          <a:prstGeom prst="rect">
            <a:avLst/>
          </a:prstGeom>
          <a:noFill/>
          <a:ln/>
        </p:spPr>
        <p:txBody>
          <a:bodyPr wrap="square" lIns="0" tIns="0" rIns="0" bIns="0" rtlCol="0" anchor="t"/>
          <a:lstStyle/>
          <a:p>
            <a:pPr indent="0" marL="0">
              <a:buNone/>
            </a:pPr>
            <a:r>
              <a:rPr lang="en-US" sz="1200" b="1" spc="200" kern="0" dirty="0">
                <a:solidFill>
                  <a:schemeClr val="bg1"/>
                </a:solidFill>
              </a:rPr>
              <a:t>NORTH STAR</a:t>
            </a:r>
            <a:endParaRPr lang="en-US" sz="1200" dirty="0"/>
          </a:p>
        </p:txBody>
      </p:sp>
      <p:sp>
        <p:nvSpPr>
          <p:cNvPr id="12" name="Text 10"/>
          <p:cNvSpPr txBox="1"/>
          <p:nvPr/>
        </p:nvSpPr>
        <p:spPr>
          <a:xfrm>
            <a:off x="822960" y="2743200"/>
            <a:ext cx="3017520" cy="1005840"/>
          </a:xfrm>
          <a:prstGeom prst="rect">
            <a:avLst/>
          </a:prstGeom>
          <a:noFill/>
          <a:ln/>
        </p:spPr>
        <p:txBody>
          <a:bodyPr wrap="square" lIns="0" tIns="0" rIns="0" bIns="0" rtlCol="0" anchor="t"/>
          <a:lstStyle/>
          <a:p>
            <a:pPr indent="0" marL="0">
              <a:buNone/>
            </a:pPr>
            <a:r>
              <a:rPr lang="en-US" sz="6000" b="1" dirty="0">
                <a:solidFill>
                  <a:schemeClr val="bg1"/>
                </a:solidFill>
              </a:rPr>
              <a:t>2×</a:t>
            </a:r>
            <a:endParaRPr lang="en-US" sz="6000" dirty="0"/>
          </a:p>
        </p:txBody>
      </p:sp>
      <p:sp>
        <p:nvSpPr>
          <p:cNvPr id="13" name="Text 11"/>
          <p:cNvSpPr txBox="1"/>
          <p:nvPr/>
        </p:nvSpPr>
        <p:spPr>
          <a:xfrm>
            <a:off x="822960" y="3840480"/>
            <a:ext cx="3017520" cy="1097280"/>
          </a:xfrm>
          <a:prstGeom prst="rect">
            <a:avLst/>
          </a:prstGeom>
          <a:noFill/>
          <a:ln/>
        </p:spPr>
        <p:txBody>
          <a:bodyPr wrap="square" lIns="0" tIns="0" rIns="0" bIns="0" rtlCol="0" anchor="t"/>
          <a:lstStyle/>
          <a:p>
            <a:pPr indent="0" marL="0">
              <a:buNone/>
            </a:pPr>
            <a:r>
              <a:rPr lang="en-US" sz="1600" dirty="0">
                <a:solidFill>
                  <a:schemeClr val="bg1"/>
                </a:solidFill>
              </a:rPr>
              <a:t>interview rate for applications in the ≥ 90% band vs. below 70%</a:t>
            </a:r>
            <a:endParaRPr lang="en-US" sz="1600" dirty="0"/>
          </a:p>
        </p:txBody>
      </p:sp>
      <p:sp>
        <p:nvSpPr>
          <p:cNvPr id="14" name="metric"/>
          <p:cNvSpPr/>
          <p:nvPr/>
        </p:nvSpPr>
        <p:spPr>
          <a:xfrm>
            <a:off x="4434840" y="2194560"/>
            <a:ext cx="2286000" cy="1600200"/>
          </a:xfrm>
          <a:prstGeom prst="roundRect">
            <a:avLst>
              <a:gd name="adj" fmla="val 6857"/>
            </a:avLst>
          </a:prstGeom>
          <a:solidFill>
            <a:schemeClr val="bg1"/>
          </a:solidFill>
          <a:ln w="12700">
            <a:solidFill>
              <a:schemeClr val="bg1"/>
            </a:solidFill>
            <a:prstDash val="solid"/>
          </a:ln>
        </p:spPr>
      </p:sp>
      <p:sp>
        <p:nvSpPr>
          <p:cNvPr id="15" name="Text 13"/>
          <p:cNvSpPr txBox="1"/>
          <p:nvPr/>
        </p:nvSpPr>
        <p:spPr>
          <a:xfrm>
            <a:off x="466344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60%</a:t>
            </a:r>
            <a:endParaRPr lang="en-US" sz="2600" dirty="0"/>
          </a:p>
        </p:txBody>
      </p:sp>
      <p:sp>
        <p:nvSpPr>
          <p:cNvPr id="16" name="Text 14"/>
          <p:cNvSpPr txBox="1"/>
          <p:nvPr/>
        </p:nvSpPr>
        <p:spPr>
          <a:xfrm>
            <a:off x="466344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WAU / MAU</a:t>
            </a:r>
            <a:endParaRPr lang="en-US" sz="1400" dirty="0"/>
          </a:p>
        </p:txBody>
      </p:sp>
      <p:sp>
        <p:nvSpPr>
          <p:cNvPr id="17" name="Text 15"/>
          <p:cNvSpPr txBox="1"/>
          <p:nvPr/>
        </p:nvSpPr>
        <p:spPr>
          <a:xfrm>
            <a:off x="466344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DAU, WAU and MAU tracked; weekly is the core rhythm</a:t>
            </a:r>
            <a:endParaRPr lang="en-US" sz="1100" dirty="0"/>
          </a:p>
        </p:txBody>
      </p:sp>
      <p:sp>
        <p:nvSpPr>
          <p:cNvPr id="18" name="metric"/>
          <p:cNvSpPr/>
          <p:nvPr/>
        </p:nvSpPr>
        <p:spPr>
          <a:xfrm>
            <a:off x="6858000" y="2194560"/>
            <a:ext cx="2286000" cy="1600200"/>
          </a:xfrm>
          <a:prstGeom prst="roundRect">
            <a:avLst>
              <a:gd name="adj" fmla="val 6857"/>
            </a:avLst>
          </a:prstGeom>
          <a:solidFill>
            <a:schemeClr val="bg1"/>
          </a:solidFill>
          <a:ln w="12700">
            <a:solidFill>
              <a:schemeClr val="bg1"/>
            </a:solidFill>
            <a:prstDash val="solid"/>
          </a:ln>
        </p:spPr>
      </p:sp>
      <p:sp>
        <p:nvSpPr>
          <p:cNvPr id="19" name="Text 17"/>
          <p:cNvSpPr txBox="1"/>
          <p:nvPr/>
        </p:nvSpPr>
        <p:spPr>
          <a:xfrm>
            <a:off x="708660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60%</a:t>
            </a:r>
            <a:endParaRPr lang="en-US" sz="2600" dirty="0"/>
          </a:p>
        </p:txBody>
      </p:sp>
      <p:sp>
        <p:nvSpPr>
          <p:cNvPr id="20" name="Text 18"/>
          <p:cNvSpPr txBox="1"/>
          <p:nvPr/>
        </p:nvSpPr>
        <p:spPr>
          <a:xfrm>
            <a:off x="708660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Activation</a:t>
            </a:r>
            <a:endParaRPr lang="en-US" sz="1400" dirty="0"/>
          </a:p>
        </p:txBody>
      </p:sp>
      <p:sp>
        <p:nvSpPr>
          <p:cNvPr id="21" name="Text 19"/>
          <p:cNvSpPr txBox="1"/>
          <p:nvPr/>
        </p:nvSpPr>
        <p:spPr>
          <a:xfrm>
            <a:off x="708660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of sign-ups activated within 7 days</a:t>
            </a:r>
            <a:endParaRPr lang="en-US" sz="1100" dirty="0"/>
          </a:p>
        </p:txBody>
      </p:sp>
      <p:sp>
        <p:nvSpPr>
          <p:cNvPr id="22" name="metric"/>
          <p:cNvSpPr/>
          <p:nvPr/>
        </p:nvSpPr>
        <p:spPr>
          <a:xfrm>
            <a:off x="9281160" y="2194560"/>
            <a:ext cx="2286000" cy="1600200"/>
          </a:xfrm>
          <a:prstGeom prst="roundRect">
            <a:avLst>
              <a:gd name="adj" fmla="val 6857"/>
            </a:avLst>
          </a:prstGeom>
          <a:solidFill>
            <a:schemeClr val="bg1"/>
          </a:solidFill>
          <a:ln w="12700">
            <a:solidFill>
              <a:schemeClr val="bg1"/>
            </a:solidFill>
            <a:prstDash val="solid"/>
          </a:ln>
        </p:spPr>
      </p:sp>
      <p:sp>
        <p:nvSpPr>
          <p:cNvPr id="23" name="Text 21"/>
          <p:cNvSpPr txBox="1"/>
          <p:nvPr/>
        </p:nvSpPr>
        <p:spPr>
          <a:xfrm>
            <a:off x="9509760" y="2331720"/>
            <a:ext cx="1920240" cy="548640"/>
          </a:xfrm>
          <a:prstGeom prst="rect">
            <a:avLst/>
          </a:prstGeom>
          <a:noFill/>
          <a:ln/>
        </p:spPr>
        <p:txBody>
          <a:bodyPr wrap="square" lIns="0" tIns="0" rIns="0" bIns="0" rtlCol="0" anchor="t"/>
          <a:lstStyle/>
          <a:p>
            <a:pPr indent="0" marL="0">
              <a:buNone/>
            </a:pPr>
            <a:r>
              <a:rPr lang="en-US" sz="2600" b="1" dirty="0">
                <a:solidFill>
                  <a:schemeClr val="tx1"/>
                </a:solidFill>
              </a:rPr>
              <a:t>50% · 35%</a:t>
            </a:r>
            <a:endParaRPr lang="en-US" sz="2600" dirty="0"/>
          </a:p>
        </p:txBody>
      </p:sp>
      <p:sp>
        <p:nvSpPr>
          <p:cNvPr id="24" name="Text 22"/>
          <p:cNvSpPr txBox="1"/>
          <p:nvPr/>
        </p:nvSpPr>
        <p:spPr>
          <a:xfrm>
            <a:off x="9509760" y="290779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Retention</a:t>
            </a:r>
            <a:endParaRPr lang="en-US" sz="1400" dirty="0"/>
          </a:p>
        </p:txBody>
      </p:sp>
      <p:sp>
        <p:nvSpPr>
          <p:cNvPr id="25" name="Text 23"/>
          <p:cNvSpPr txBox="1"/>
          <p:nvPr/>
        </p:nvSpPr>
        <p:spPr>
          <a:xfrm>
            <a:off x="9509760" y="3200400"/>
            <a:ext cx="1920240" cy="548640"/>
          </a:xfrm>
          <a:prstGeom prst="rect">
            <a:avLst/>
          </a:prstGeom>
          <a:noFill/>
          <a:ln/>
        </p:spPr>
        <p:txBody>
          <a:bodyPr wrap="square" lIns="0" tIns="0" rIns="0" bIns="0" rtlCol="0" anchor="t"/>
          <a:lstStyle/>
          <a:p>
            <a:pPr indent="0" marL="0">
              <a:buNone/>
            </a:pPr>
            <a:r>
              <a:rPr lang="en-US" sz="1100" dirty="0">
                <a:solidFill>
                  <a:schemeClr val="tx2"/>
                </a:solidFill>
              </a:rPr>
              <a:t>active in week 4 · week 12, hired excluded</a:t>
            </a:r>
            <a:endParaRPr lang="en-US" sz="1100" dirty="0"/>
          </a:p>
        </p:txBody>
      </p:sp>
      <p:sp>
        <p:nvSpPr>
          <p:cNvPr id="26" name="metric"/>
          <p:cNvSpPr/>
          <p:nvPr/>
        </p:nvSpPr>
        <p:spPr>
          <a:xfrm>
            <a:off x="4434840" y="3931920"/>
            <a:ext cx="2286000" cy="1600200"/>
          </a:xfrm>
          <a:prstGeom prst="roundRect">
            <a:avLst>
              <a:gd name="adj" fmla="val 6857"/>
            </a:avLst>
          </a:prstGeom>
          <a:solidFill>
            <a:schemeClr val="bg1"/>
          </a:solidFill>
          <a:ln w="12700">
            <a:solidFill>
              <a:schemeClr val="bg1"/>
            </a:solidFill>
            <a:prstDash val="solid"/>
          </a:ln>
        </p:spPr>
      </p:sp>
      <p:sp>
        <p:nvSpPr>
          <p:cNvPr id="27" name="Text 25"/>
          <p:cNvSpPr txBox="1"/>
          <p:nvPr/>
        </p:nvSpPr>
        <p:spPr>
          <a:xfrm>
            <a:off x="466344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25%</a:t>
            </a:r>
            <a:endParaRPr lang="en-US" sz="2600" dirty="0"/>
          </a:p>
        </p:txBody>
      </p:sp>
      <p:sp>
        <p:nvSpPr>
          <p:cNvPr id="28" name="Text 26"/>
          <p:cNvSpPr txBox="1"/>
          <p:nvPr/>
        </p:nvSpPr>
        <p:spPr>
          <a:xfrm>
            <a:off x="466344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Success stories</a:t>
            </a:r>
            <a:endParaRPr lang="en-US" sz="1400" dirty="0"/>
          </a:p>
        </p:txBody>
      </p:sp>
      <p:sp>
        <p:nvSpPr>
          <p:cNvPr id="29" name="Text 27"/>
          <p:cNvSpPr txBox="1"/>
          <p:nvPr/>
        </p:nvSpPr>
        <p:spPr>
          <a:xfrm>
            <a:off x="466344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of activated users hired within 6 months</a:t>
            </a:r>
            <a:endParaRPr lang="en-US" sz="1100" dirty="0"/>
          </a:p>
        </p:txBody>
      </p:sp>
      <p:sp>
        <p:nvSpPr>
          <p:cNvPr id="30" name="metric"/>
          <p:cNvSpPr/>
          <p:nvPr/>
        </p:nvSpPr>
        <p:spPr>
          <a:xfrm>
            <a:off x="6858000" y="3931920"/>
            <a:ext cx="2286000" cy="1600200"/>
          </a:xfrm>
          <a:prstGeom prst="roundRect">
            <a:avLst>
              <a:gd name="adj" fmla="val 6857"/>
            </a:avLst>
          </a:prstGeom>
          <a:solidFill>
            <a:schemeClr val="bg1"/>
          </a:solidFill>
          <a:ln w="12700">
            <a:solidFill>
              <a:schemeClr val="bg1"/>
            </a:solidFill>
            <a:prstDash val="solid"/>
          </a:ln>
        </p:spPr>
      </p:sp>
      <p:sp>
        <p:nvSpPr>
          <p:cNvPr id="31" name="Text 29"/>
          <p:cNvSpPr txBox="1"/>
          <p:nvPr/>
        </p:nvSpPr>
        <p:spPr>
          <a:xfrm>
            <a:off x="708660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10%</a:t>
            </a:r>
            <a:endParaRPr lang="en-US" sz="2600" dirty="0"/>
          </a:p>
        </p:txBody>
      </p:sp>
      <p:sp>
        <p:nvSpPr>
          <p:cNvPr id="32" name="Text 30"/>
          <p:cNvSpPr txBox="1"/>
          <p:nvPr/>
        </p:nvSpPr>
        <p:spPr>
          <a:xfrm>
            <a:off x="708660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Monthly churn</a:t>
            </a:r>
            <a:endParaRPr lang="en-US" sz="1400" dirty="0"/>
          </a:p>
        </p:txBody>
      </p:sp>
      <p:sp>
        <p:nvSpPr>
          <p:cNvPr id="33" name="Text 31"/>
          <p:cNvSpPr txBox="1"/>
          <p:nvPr/>
        </p:nvSpPr>
        <p:spPr>
          <a:xfrm>
            <a:off x="708660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hired and paused excluded</a:t>
            </a:r>
            <a:endParaRPr lang="en-US" sz="1100" dirty="0"/>
          </a:p>
        </p:txBody>
      </p:sp>
      <p:sp>
        <p:nvSpPr>
          <p:cNvPr id="34" name="metric"/>
          <p:cNvSpPr/>
          <p:nvPr/>
        </p:nvSpPr>
        <p:spPr>
          <a:xfrm>
            <a:off x="9281160" y="3931920"/>
            <a:ext cx="2286000" cy="1600200"/>
          </a:xfrm>
          <a:prstGeom prst="roundRect">
            <a:avLst>
              <a:gd name="adj" fmla="val 6857"/>
            </a:avLst>
          </a:prstGeom>
          <a:solidFill>
            <a:schemeClr val="bg1"/>
          </a:solidFill>
          <a:ln w="12700">
            <a:solidFill>
              <a:schemeClr val="bg1"/>
            </a:solidFill>
            <a:prstDash val="solid"/>
          </a:ln>
        </p:spPr>
      </p:sp>
      <p:sp>
        <p:nvSpPr>
          <p:cNvPr id="35" name="Text 33"/>
          <p:cNvSpPr txBox="1"/>
          <p:nvPr/>
        </p:nvSpPr>
        <p:spPr>
          <a:xfrm>
            <a:off x="9509760" y="4069080"/>
            <a:ext cx="1920240" cy="548640"/>
          </a:xfrm>
          <a:prstGeom prst="rect">
            <a:avLst/>
          </a:prstGeom>
          <a:noFill/>
          <a:ln/>
        </p:spPr>
        <p:txBody>
          <a:bodyPr wrap="square" lIns="0" tIns="0" rIns="0" bIns="0" rtlCol="0" anchor="t"/>
          <a:lstStyle/>
          <a:p>
            <a:pPr indent="0" marL="0">
              <a:buNone/>
            </a:pPr>
            <a:r>
              <a:rPr lang="en-US" sz="2600" b="1" dirty="0">
                <a:solidFill>
                  <a:schemeClr val="tx1"/>
                </a:solidFill>
              </a:rPr>
              <a:t>≥ 15%</a:t>
            </a:r>
            <a:endParaRPr lang="en-US" sz="2600" dirty="0"/>
          </a:p>
        </p:txBody>
      </p:sp>
      <p:sp>
        <p:nvSpPr>
          <p:cNvPr id="36" name="Text 34"/>
          <p:cNvSpPr txBox="1"/>
          <p:nvPr/>
        </p:nvSpPr>
        <p:spPr>
          <a:xfrm>
            <a:off x="9509760" y="4645152"/>
            <a:ext cx="1920240" cy="274320"/>
          </a:xfrm>
          <a:prstGeom prst="rect">
            <a:avLst/>
          </a:prstGeom>
          <a:noFill/>
          <a:ln/>
        </p:spPr>
        <p:txBody>
          <a:bodyPr wrap="square" lIns="0" tIns="0" rIns="0" bIns="0" rtlCol="0" anchor="t"/>
          <a:lstStyle/>
          <a:p>
            <a:pPr indent="0" marL="0">
              <a:buNone/>
            </a:pPr>
            <a:r>
              <a:rPr lang="en-US" sz="1400" b="1" dirty="0">
                <a:solidFill>
                  <a:schemeClr val="accent1"/>
                </a:solidFill>
              </a:rPr>
              <a:t>Reactivation</a:t>
            </a:r>
            <a:endParaRPr lang="en-US" sz="1400" dirty="0"/>
          </a:p>
        </p:txBody>
      </p:sp>
      <p:sp>
        <p:nvSpPr>
          <p:cNvPr id="37" name="Text 35"/>
          <p:cNvSpPr txBox="1"/>
          <p:nvPr/>
        </p:nvSpPr>
        <p:spPr>
          <a:xfrm>
            <a:off x="9509760" y="4937760"/>
            <a:ext cx="1920240" cy="548640"/>
          </a:xfrm>
          <a:prstGeom prst="rect">
            <a:avLst/>
          </a:prstGeom>
          <a:noFill/>
          <a:ln/>
        </p:spPr>
        <p:txBody>
          <a:bodyPr wrap="square" lIns="0" tIns="0" rIns="0" bIns="0" rtlCol="0" anchor="t"/>
          <a:lstStyle/>
          <a:p>
            <a:pPr indent="0" marL="0">
              <a:buNone/>
            </a:pPr>
            <a:r>
              <a:rPr lang="en-US" sz="1100" dirty="0">
                <a:solidFill>
                  <a:schemeClr val="tx2"/>
                </a:solidFill>
              </a:rPr>
              <a:t>of inactive or defunct users back within 30 days</a:t>
            </a:r>
            <a:endParaRPr lang="en-US" sz="1100" dirty="0"/>
          </a:p>
        </p:txBody>
      </p:sp>
      <p:sp>
        <p:nvSpPr>
          <p:cNvPr id="38" name="Text 36"/>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dirty="0">
                <a:solidFill>
                  <a:schemeClr val="tx2"/>
                </a:solidFill>
              </a:rPr>
              <a:t>Targets, not results: set after a four-week beta baseline. Guardrails: ≥ 90% of scores rated accurate, AI cost &lt; €0.01 per prepared application.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LIVE DEMO</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See it working, on web and mobile</a:t>
            </a:r>
            <a:endParaRPr lang="en-US" sz="3200" dirty="0"/>
          </a:p>
        </p:txBody>
      </p:sp>
      <p:sp>
        <p:nvSpPr>
          <p:cNvPr id="4" name="Text 2"/>
          <p:cNvSpPr txBox="1"/>
          <p:nvPr/>
        </p:nvSpPr>
        <p:spPr>
          <a:xfrm>
            <a:off x="5486400"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Why · Who</a:t>
            </a:r>
            <a:endParaRPr lang="en-US" sz="1000" dirty="0"/>
          </a:p>
        </p:txBody>
      </p:sp>
      <p:sp>
        <p:nvSpPr>
          <p:cNvPr id="5" name="Text 3"/>
          <p:cNvSpPr txBox="1"/>
          <p:nvPr/>
        </p:nvSpPr>
        <p:spPr>
          <a:xfrm>
            <a:off x="6510528"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What</a:t>
            </a:r>
            <a:endParaRPr lang="en-US" sz="1000" dirty="0"/>
          </a:p>
        </p:txBody>
      </p:sp>
      <p:sp>
        <p:nvSpPr>
          <p:cNvPr id="6" name="Text 4"/>
          <p:cNvSpPr txBox="1"/>
          <p:nvPr/>
        </p:nvSpPr>
        <p:spPr>
          <a:xfrm>
            <a:off x="7534656"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How</a:t>
            </a:r>
            <a:endParaRPr lang="en-US" sz="1000" dirty="0"/>
          </a:p>
        </p:txBody>
      </p:sp>
      <p:sp>
        <p:nvSpPr>
          <p:cNvPr id="7" name="Text 5"/>
          <p:cNvSpPr txBox="1"/>
          <p:nvPr/>
        </p:nvSpPr>
        <p:spPr>
          <a:xfrm>
            <a:off x="8558784"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Where · When</a:t>
            </a:r>
            <a:endParaRPr lang="en-US" sz="1000" dirty="0"/>
          </a:p>
        </p:txBody>
      </p:sp>
      <p:sp>
        <p:nvSpPr>
          <p:cNvPr id="8" name="Text 6"/>
          <p:cNvSpPr txBox="1"/>
          <p:nvPr/>
        </p:nvSpPr>
        <p:spPr>
          <a:xfrm>
            <a:off x="9582912" y="310896"/>
            <a:ext cx="969264" cy="256032"/>
          </a:xfrm>
          <a:prstGeom prst="rect">
            <a:avLst/>
          </a:prstGeom>
          <a:noFill/>
          <a:ln/>
        </p:spPr>
        <p:txBody>
          <a:bodyPr wrap="square" lIns="0" tIns="0" rIns="0" bIns="0" rtlCol="0" anchor="ctr"/>
          <a:lstStyle/>
          <a:p>
            <a:pPr algn="ctr" indent="0" marL="0">
              <a:buNone/>
            </a:pPr>
            <a:r>
              <a:rPr lang="en-US" sz="1000" dirty="0">
                <a:solidFill>
                  <a:srgbClr val="D5DEEA"/>
                </a:solidFill>
              </a:rPr>
              <a:t>Success</a:t>
            </a:r>
            <a:endParaRPr lang="en-US" sz="1000" dirty="0"/>
          </a:p>
        </p:txBody>
      </p:sp>
      <p:sp>
        <p:nvSpPr>
          <p:cNvPr id="9" name="Text 7"/>
          <p:cNvSpPr txBox="1"/>
          <p:nvPr/>
        </p:nvSpPr>
        <p:spPr>
          <a:xfrm>
            <a:off x="10607040" y="310896"/>
            <a:ext cx="969264" cy="256032"/>
          </a:xfrm>
          <a:prstGeom prst="rect">
            <a:avLst/>
          </a:prstGeom>
          <a:solidFill>
            <a:srgbClr val="F2542D"/>
          </a:solidFill>
          <a:ln/>
        </p:spPr>
        <p:txBody>
          <a:bodyPr wrap="square" lIns="0" tIns="0" rIns="0" bIns="0" rtlCol="0" anchor="ctr"/>
          <a:lstStyle/>
          <a:p>
            <a:pPr algn="ctr" indent="0" marL="0">
              <a:buNone/>
            </a:pPr>
            <a:r>
              <a:rPr lang="en-US" sz="1000" b="1" dirty="0">
                <a:solidFill>
                  <a:srgbClr val="FFFFFF"/>
                </a:solidFill>
              </a:rPr>
              <a:t>Demo</a:t>
            </a:r>
            <a:endParaRPr lang="en-US" sz="1000" dirty="0"/>
          </a:p>
        </p:txBody>
      </p:sp>
      <p:sp>
        <p:nvSpPr>
          <p:cNvPr id="10" name="demo-button">
            <a:hlinkClick r:id="rId1" tooltip="Open the live demo"/>
          </p:cNvPr>
          <p:cNvSpPr/>
          <p:nvPr/>
        </p:nvSpPr>
        <p:spPr>
          <a:xfrm>
            <a:off x="3355848" y="2240280"/>
            <a:ext cx="5486400" cy="1280160"/>
          </a:xfrm>
          <a:prstGeom prst="roundRect">
            <a:avLst>
              <a:gd name="adj" fmla="val 50000"/>
            </a:avLst>
          </a:prstGeom>
          <a:solidFill>
            <a:srgbClr val="F2542D"/>
          </a:solidFill>
          <a:ln>
            <a:solidFill>
              <a:srgbClr val="F2542D"/>
            </a:solidFill>
          </a:ln>
          <a:effectLst>
            <a:outerShdw sx="100000" sy="100000" kx="0" ky="0" algn="bl" rotWithShape="0" blurRad="101600" dist="38100" dir="5400000">
              <a:srgbClr val="000000">
                <a:alpha val="35000"/>
              </a:srgbClr>
            </a:outerShdw>
          </a:effectLst>
        </p:spPr>
        <p:txBody>
          <a:bodyPr wrap="square" lIns="0" tIns="0" rIns="0" bIns="0" rtlCol="0" anchor="ctr"/>
          <a:lstStyle/>
          <a:p>
            <a:pPr algn="ctr" indent="0" marL="0">
              <a:buNone/>
            </a:pPr>
            <a:r>
              <a:rPr lang="en-US" sz="3000" b="1" dirty="0">
                <a:solidFill>
                  <a:srgbClr val="FFFFFF"/>
                </a:solidFill>
              </a:rPr>
              <a:t>Open the live demo  →</a:t>
            </a:r>
            <a:endParaRPr lang="en-US" sz="3000" dirty="0"/>
          </a:p>
        </p:txBody>
      </p:sp>
      <p:sp>
        <p:nvSpPr>
          <p:cNvPr id="11" name="demo"/>
          <p:cNvSpPr/>
          <p:nvPr/>
        </p:nvSpPr>
        <p:spPr>
          <a:xfrm>
            <a:off x="548640" y="4160520"/>
            <a:ext cx="1737360" cy="1005840"/>
          </a:xfrm>
          <a:prstGeom prst="roundRect">
            <a:avLst>
              <a:gd name="adj" fmla="val 10909"/>
            </a:avLst>
          </a:prstGeom>
          <a:solidFill>
            <a:srgbClr val="163A63"/>
          </a:solidFill>
          <a:ln w="12700">
            <a:solidFill>
              <a:srgbClr val="163A63"/>
            </a:solidFill>
            <a:prstDash val="solid"/>
          </a:ln>
        </p:spPr>
      </p:sp>
      <p:sp>
        <p:nvSpPr>
          <p:cNvPr id="12" name="Text 10"/>
          <p:cNvSpPr txBox="1"/>
          <p:nvPr/>
        </p:nvSpPr>
        <p:spPr>
          <a:xfrm>
            <a:off x="731520"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3" name="Text 11"/>
          <p:cNvSpPr txBox="1"/>
          <p:nvPr/>
        </p:nvSpPr>
        <p:spPr>
          <a:xfrm>
            <a:off x="731520"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Sign in</a:t>
            </a:r>
            <a:endParaRPr lang="en-US" sz="1300" dirty="0"/>
          </a:p>
        </p:txBody>
      </p:sp>
      <p:sp>
        <p:nvSpPr>
          <p:cNvPr id="14" name="demo"/>
          <p:cNvSpPr/>
          <p:nvPr/>
        </p:nvSpPr>
        <p:spPr>
          <a:xfrm>
            <a:off x="2414016" y="4160520"/>
            <a:ext cx="1737360" cy="1005840"/>
          </a:xfrm>
          <a:prstGeom prst="roundRect">
            <a:avLst>
              <a:gd name="adj" fmla="val 10909"/>
            </a:avLst>
          </a:prstGeom>
          <a:solidFill>
            <a:srgbClr val="163A63"/>
          </a:solidFill>
          <a:ln w="12700">
            <a:solidFill>
              <a:srgbClr val="163A63"/>
            </a:solidFill>
            <a:prstDash val="solid"/>
          </a:ln>
        </p:spPr>
      </p:sp>
      <p:sp>
        <p:nvSpPr>
          <p:cNvPr id="15" name="Text 13"/>
          <p:cNvSpPr txBox="1"/>
          <p:nvPr/>
        </p:nvSpPr>
        <p:spPr>
          <a:xfrm>
            <a:off x="2596896"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6" name="Text 14"/>
          <p:cNvSpPr txBox="1"/>
          <p:nvPr/>
        </p:nvSpPr>
        <p:spPr>
          <a:xfrm>
            <a:off x="2596896"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CV → profile</a:t>
            </a:r>
            <a:endParaRPr lang="en-US" sz="1300" dirty="0"/>
          </a:p>
        </p:txBody>
      </p:sp>
      <p:sp>
        <p:nvSpPr>
          <p:cNvPr id="17" name="demo"/>
          <p:cNvSpPr/>
          <p:nvPr/>
        </p:nvSpPr>
        <p:spPr>
          <a:xfrm>
            <a:off x="4279392" y="4160520"/>
            <a:ext cx="1737360" cy="1005840"/>
          </a:xfrm>
          <a:prstGeom prst="roundRect">
            <a:avLst>
              <a:gd name="adj" fmla="val 10909"/>
            </a:avLst>
          </a:prstGeom>
          <a:solidFill>
            <a:srgbClr val="163A63"/>
          </a:solidFill>
          <a:ln w="12700">
            <a:solidFill>
              <a:srgbClr val="163A63"/>
            </a:solidFill>
            <a:prstDash val="solid"/>
          </a:ln>
        </p:spPr>
      </p:sp>
      <p:sp>
        <p:nvSpPr>
          <p:cNvPr id="18" name="Text 16"/>
          <p:cNvSpPr txBox="1"/>
          <p:nvPr/>
        </p:nvSpPr>
        <p:spPr>
          <a:xfrm>
            <a:off x="4462272"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9" name="Text 17"/>
          <p:cNvSpPr txBox="1"/>
          <p:nvPr/>
        </p:nvSpPr>
        <p:spPr>
          <a:xfrm>
            <a:off x="4462272"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10 jobs, 2 above 90%</a:t>
            </a:r>
            <a:endParaRPr lang="en-US" sz="1300" dirty="0"/>
          </a:p>
        </p:txBody>
      </p:sp>
      <p:sp>
        <p:nvSpPr>
          <p:cNvPr id="20" name="demo"/>
          <p:cNvSpPr/>
          <p:nvPr/>
        </p:nvSpPr>
        <p:spPr>
          <a:xfrm>
            <a:off x="6144768" y="4160520"/>
            <a:ext cx="1737360" cy="1005840"/>
          </a:xfrm>
          <a:prstGeom prst="roundRect">
            <a:avLst>
              <a:gd name="adj" fmla="val 10909"/>
            </a:avLst>
          </a:prstGeom>
          <a:solidFill>
            <a:srgbClr val="163A63"/>
          </a:solidFill>
          <a:ln w="12700">
            <a:solidFill>
              <a:srgbClr val="163A63"/>
            </a:solidFill>
            <a:prstDash val="solid"/>
          </a:ln>
        </p:spPr>
      </p:sp>
      <p:sp>
        <p:nvSpPr>
          <p:cNvPr id="21" name="Text 19"/>
          <p:cNvSpPr txBox="1"/>
          <p:nvPr/>
        </p:nvSpPr>
        <p:spPr>
          <a:xfrm>
            <a:off x="6327648"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2" name="Text 20"/>
          <p:cNvSpPr txBox="1"/>
          <p:nvPr/>
        </p:nvSpPr>
        <p:spPr>
          <a:xfrm>
            <a:off x="6327648"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How it's calculated</a:t>
            </a:r>
            <a:endParaRPr lang="en-US" sz="1300" dirty="0"/>
          </a:p>
        </p:txBody>
      </p:sp>
      <p:sp>
        <p:nvSpPr>
          <p:cNvPr id="23" name="demo"/>
          <p:cNvSpPr/>
          <p:nvPr/>
        </p:nvSpPr>
        <p:spPr>
          <a:xfrm>
            <a:off x="8010144" y="4160520"/>
            <a:ext cx="1737360" cy="1005840"/>
          </a:xfrm>
          <a:prstGeom prst="roundRect">
            <a:avLst>
              <a:gd name="adj" fmla="val 10909"/>
            </a:avLst>
          </a:prstGeom>
          <a:solidFill>
            <a:srgbClr val="163A63"/>
          </a:solidFill>
          <a:ln w="12700">
            <a:solidFill>
              <a:srgbClr val="163A63"/>
            </a:solidFill>
            <a:prstDash val="solid"/>
          </a:ln>
        </p:spPr>
      </p:sp>
      <p:sp>
        <p:nvSpPr>
          <p:cNvPr id="24" name="Text 22"/>
          <p:cNvSpPr txBox="1"/>
          <p:nvPr/>
        </p:nvSpPr>
        <p:spPr>
          <a:xfrm>
            <a:off x="8193024"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25" name="Text 23"/>
          <p:cNvSpPr txBox="1"/>
          <p:nvPr/>
        </p:nvSpPr>
        <p:spPr>
          <a:xfrm>
            <a:off x="8193024"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Prepare + CV</a:t>
            </a:r>
            <a:endParaRPr lang="en-US" sz="1300" dirty="0"/>
          </a:p>
        </p:txBody>
      </p:sp>
      <p:sp>
        <p:nvSpPr>
          <p:cNvPr id="26" name="demo"/>
          <p:cNvSpPr/>
          <p:nvPr/>
        </p:nvSpPr>
        <p:spPr>
          <a:xfrm>
            <a:off x="9875520" y="4160520"/>
            <a:ext cx="1737360" cy="1005840"/>
          </a:xfrm>
          <a:prstGeom prst="roundRect">
            <a:avLst>
              <a:gd name="adj" fmla="val 10909"/>
            </a:avLst>
          </a:prstGeom>
          <a:solidFill>
            <a:srgbClr val="163A63"/>
          </a:solidFill>
          <a:ln w="12700">
            <a:solidFill>
              <a:srgbClr val="163A63"/>
            </a:solidFill>
            <a:prstDash val="solid"/>
          </a:ln>
        </p:spPr>
      </p:sp>
      <p:sp>
        <p:nvSpPr>
          <p:cNvPr id="27" name="Text 25"/>
          <p:cNvSpPr txBox="1"/>
          <p:nvPr/>
        </p:nvSpPr>
        <p:spPr>
          <a:xfrm>
            <a:off x="10058400" y="427024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6</a:t>
            </a:r>
            <a:endParaRPr lang="en-US" sz="1800" dirty="0"/>
          </a:p>
        </p:txBody>
      </p:sp>
      <p:sp>
        <p:nvSpPr>
          <p:cNvPr id="28" name="Text 26"/>
          <p:cNvSpPr txBox="1"/>
          <p:nvPr/>
        </p:nvSpPr>
        <p:spPr>
          <a:xfrm>
            <a:off x="10058400" y="4617720"/>
            <a:ext cx="1463040" cy="457200"/>
          </a:xfrm>
          <a:prstGeom prst="rect">
            <a:avLst/>
          </a:prstGeom>
          <a:noFill/>
          <a:ln/>
        </p:spPr>
        <p:txBody>
          <a:bodyPr wrap="square" lIns="0" tIns="0" rIns="0" bIns="0" rtlCol="0" anchor="t"/>
          <a:lstStyle/>
          <a:p>
            <a:pPr indent="0" marL="0">
              <a:buNone/>
            </a:pPr>
            <a:r>
              <a:rPr lang="en-US" sz="1300" b="1" dirty="0">
                <a:solidFill>
                  <a:schemeClr val="bg1"/>
                </a:solidFill>
              </a:rPr>
              <a:t>Apply + history</a:t>
            </a:r>
            <a:endParaRPr lang="en-US" sz="1300" dirty="0"/>
          </a:p>
        </p:txBody>
      </p:sp>
      <p:sp>
        <p:nvSpPr>
          <p:cNvPr id="29" name="Text 27"/>
          <p:cNvSpPr txBox="1"/>
          <p:nvPr/>
        </p:nvSpPr>
        <p:spPr>
          <a:xfrm>
            <a:off x="548640" y="5486400"/>
            <a:ext cx="10058400" cy="320040"/>
          </a:xfrm>
          <a:prstGeom prst="rect">
            <a:avLst/>
          </a:prstGeom>
          <a:noFill/>
          <a:ln/>
        </p:spPr>
        <p:txBody>
          <a:bodyPr wrap="square" lIns="0" tIns="0" rIns="0" bIns="0" rtlCol="0" anchor="t"/>
          <a:lstStyle/>
          <a:p>
            <a:pPr indent="0" marL="0">
              <a:buNone/>
            </a:pPr>
            <a:r>
              <a:rPr lang="en-US" sz="1400" dirty="0">
                <a:solidFill>
                  <a:schemeClr val="accent4"/>
                </a:solidFill>
              </a:rPr>
              <a:t>All jobs and scores are illustrative demo 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claude/d1b11841-31a5-5c6c-8b8a-2c68ca1b0a7c/scratchpad/deck/img/reticle-light.png">    </p:cNvPr>
          <p:cNvPicPr>
            <a:picLocks noChangeAspect="1"/>
          </p:cNvPicPr>
          <p:nvPr/>
        </p:nvPicPr>
        <p:blipFill>
          <a:blip r:embed="rId1"/>
          <a:stretch>
            <a:fillRect/>
          </a:stretch>
        </p:blipFill>
        <p:spPr>
          <a:xfrm>
            <a:off x="731520" y="914400"/>
            <a:ext cx="1188720" cy="1188720"/>
          </a:xfrm>
          <a:prstGeom prst="rect">
            <a:avLst/>
          </a:prstGeom>
        </p:spPr>
      </p:pic>
      <p:sp>
        <p:nvSpPr>
          <p:cNvPr id="3" name="Text 0"/>
          <p:cNvSpPr txBox="1"/>
          <p:nvPr/>
        </p:nvSpPr>
        <p:spPr>
          <a:xfrm>
            <a:off x="731520" y="2377440"/>
            <a:ext cx="6766560" cy="1280160"/>
          </a:xfrm>
          <a:prstGeom prst="rect">
            <a:avLst/>
          </a:prstGeom>
          <a:noFill/>
          <a:ln/>
        </p:spPr>
        <p:txBody>
          <a:bodyPr wrap="square" lIns="0" tIns="0" rIns="0" bIns="0" rtlCol="0" anchor="t"/>
          <a:lstStyle/>
          <a:p>
            <a:pPr indent="0" marL="0">
              <a:buNone/>
            </a:pPr>
            <a:r>
              <a:rPr lang="en-US" sz="4000" b="1" dirty="0">
                <a:solidFill>
                  <a:schemeClr val="bg1"/>
                </a:solidFill>
              </a:rPr>
              <a:t>A clear route from</a:t>
            </a:r>
            <a:endParaRPr lang="en-US" sz="4000" dirty="0"/>
          </a:p>
          <a:p>
            <a:pPr indent="0" marL="0">
              <a:buNone/>
            </a:pPr>
            <a:r>
              <a:rPr lang="en-US" sz="4000" b="1" dirty="0">
                <a:solidFill>
                  <a:schemeClr val="bg1"/>
                </a:solidFill>
              </a:rPr>
              <a:t>discovery to application.</a:t>
            </a:r>
            <a:endParaRPr lang="en-US" sz="4000" dirty="0"/>
          </a:p>
        </p:txBody>
      </p:sp>
      <p:sp>
        <p:nvSpPr>
          <p:cNvPr id="4" name="Text 1"/>
          <p:cNvSpPr txBox="1"/>
          <p:nvPr/>
        </p:nvSpPr>
        <p:spPr>
          <a:xfrm>
            <a:off x="731520" y="3794760"/>
            <a:ext cx="5486400" cy="365760"/>
          </a:xfrm>
          <a:prstGeom prst="rect">
            <a:avLst/>
          </a:prstGeom>
          <a:noFill/>
          <a:ln/>
        </p:spPr>
        <p:txBody>
          <a:bodyPr wrap="square" lIns="0" tIns="0" rIns="0" bIns="0" rtlCol="0" anchor="t"/>
          <a:lstStyle/>
          <a:p>
            <a:pPr indent="0" marL="0">
              <a:buNone/>
            </a:pPr>
            <a:r>
              <a:rPr lang="en-US" sz="1800" dirty="0">
                <a:solidFill>
                  <a:schemeClr val="accent4"/>
                </a:solidFill>
              </a:rPr>
              <a:t>Thank you · questions welcome</a:t>
            </a:r>
            <a:endParaRPr lang="en-US" sz="1800" dirty="0"/>
          </a:p>
        </p:txBody>
      </p:sp>
      <p:sp>
        <p:nvSpPr>
          <p:cNvPr id="5" name="links"/>
          <p:cNvSpPr/>
          <p:nvPr/>
        </p:nvSpPr>
        <p:spPr>
          <a:xfrm>
            <a:off x="7680960" y="914400"/>
            <a:ext cx="3959352" cy="4206240"/>
          </a:xfrm>
          <a:prstGeom prst="roundRect">
            <a:avLst>
              <a:gd name="adj" fmla="val 2771"/>
            </a:avLst>
          </a:prstGeom>
          <a:solidFill>
            <a:srgbClr val="163A63"/>
          </a:solidFill>
          <a:ln w="12700">
            <a:solidFill>
              <a:srgbClr val="163A63"/>
            </a:solidFill>
            <a:prstDash val="solid"/>
          </a:ln>
        </p:spPr>
      </p:sp>
      <p:sp>
        <p:nvSpPr>
          <p:cNvPr id="6" name="Text 3"/>
          <p:cNvSpPr txBox="1"/>
          <p:nvPr/>
        </p:nvSpPr>
        <p:spPr>
          <a:xfrm>
            <a:off x="7955280" y="1143000"/>
            <a:ext cx="34747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EVERYTHING IS LINKED</a:t>
            </a:r>
            <a:endParaRPr lang="en-US" sz="1100" dirty="0"/>
          </a:p>
        </p:txBody>
      </p:sp>
      <p:sp>
        <p:nvSpPr>
          <p:cNvPr id="7" name="Text 4"/>
          <p:cNvSpPr txBox="1"/>
          <p:nvPr/>
        </p:nvSpPr>
        <p:spPr>
          <a:xfrm>
            <a:off x="7955280" y="16002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PRD</a:t>
            </a:r>
            <a:endParaRPr lang="en-US" sz="1500" dirty="0"/>
          </a:p>
        </p:txBody>
      </p:sp>
      <p:sp>
        <p:nvSpPr>
          <p:cNvPr id="8" name="Text 5"/>
          <p:cNvSpPr txBox="1"/>
          <p:nvPr/>
        </p:nvSpPr>
        <p:spPr>
          <a:xfrm>
            <a:off x="9144000" y="16002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2" invalidUrl="" action="" tgtFrame="" tooltip="" history="1" highlightClick="0" endSnd="0">
                  <a:extLst>
                    <a:ext uri="{A12FA001-AC4F-418D-AE19-62706E023703}">
                      <ahyp:hlinkClr xmlns:ahyp="http://schemas.microsoft.com/office/drawing/2018/hyperlinkcolor" val="tx"/>
                    </a:ext>
                  </a:extLst>
                </a:hlinkClick>
              </a:rPr>
              <a:t>Confluence</a:t>
            </a:r>
            <a:endParaRPr lang="en-US" sz="1400" dirty="0"/>
          </a:p>
        </p:txBody>
      </p:sp>
      <p:sp>
        <p:nvSpPr>
          <p:cNvPr id="9" name="Text 6"/>
          <p:cNvSpPr txBox="1"/>
          <p:nvPr/>
        </p:nvSpPr>
        <p:spPr>
          <a:xfrm>
            <a:off x="7955280" y="22860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Backlog</a:t>
            </a:r>
            <a:endParaRPr lang="en-US" sz="1500" dirty="0"/>
          </a:p>
        </p:txBody>
      </p:sp>
      <p:sp>
        <p:nvSpPr>
          <p:cNvPr id="10" name="Text 7"/>
          <p:cNvSpPr txBox="1"/>
          <p:nvPr/>
        </p:nvSpPr>
        <p:spPr>
          <a:xfrm>
            <a:off x="9144000" y="22860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Jira CPA</a:t>
            </a:r>
            <a:endParaRPr lang="en-US" sz="1400" dirty="0"/>
          </a:p>
        </p:txBody>
      </p:sp>
      <p:sp>
        <p:nvSpPr>
          <p:cNvPr id="11" name="Text 8"/>
          <p:cNvSpPr txBox="1"/>
          <p:nvPr/>
        </p:nvSpPr>
        <p:spPr>
          <a:xfrm>
            <a:off x="7955280" y="29718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Prototype</a:t>
            </a:r>
            <a:endParaRPr lang="en-US" sz="1500" dirty="0"/>
          </a:p>
        </p:txBody>
      </p:sp>
      <p:sp>
        <p:nvSpPr>
          <p:cNvPr id="12" name="Text 9"/>
          <p:cNvSpPr txBox="1"/>
          <p:nvPr/>
        </p:nvSpPr>
        <p:spPr>
          <a:xfrm>
            <a:off x="9144000" y="29718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Figma</a:t>
            </a:r>
            <a:endParaRPr lang="en-US" sz="1400" dirty="0"/>
          </a:p>
        </p:txBody>
      </p:sp>
      <p:sp>
        <p:nvSpPr>
          <p:cNvPr id="13" name="Text 10"/>
          <p:cNvSpPr txBox="1"/>
          <p:nvPr/>
        </p:nvSpPr>
        <p:spPr>
          <a:xfrm>
            <a:off x="7955280" y="36576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Demo</a:t>
            </a:r>
            <a:endParaRPr lang="en-US" sz="1500" dirty="0"/>
          </a:p>
        </p:txBody>
      </p:sp>
      <p:sp>
        <p:nvSpPr>
          <p:cNvPr id="14" name="Text 11"/>
          <p:cNvSpPr txBox="1"/>
          <p:nvPr/>
        </p:nvSpPr>
        <p:spPr>
          <a:xfrm>
            <a:off x="9144000" y="36576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5" invalidUrl="" action="" tgtFrame="" tooltip="" history="1" highlightClick="0" endSnd="0">
                  <a:extLst>
                    <a:ext uri="{A12FA001-AC4F-418D-AE19-62706E023703}">
                      <ahyp:hlinkClr xmlns:ahyp="http://schemas.microsoft.com/office/drawing/2018/hyperlinkcolor" val="tx"/>
                    </a:ext>
                  </a:extLst>
                </a:hlinkClick>
              </a:rPr>
              <a:t>Live demo</a:t>
            </a:r>
            <a:endParaRPr lang="en-US" sz="1400" dirty="0"/>
          </a:p>
        </p:txBody>
      </p:sp>
      <p:sp>
        <p:nvSpPr>
          <p:cNvPr id="15" name="Text 12"/>
          <p:cNvSpPr txBox="1"/>
          <p:nvPr/>
        </p:nvSpPr>
        <p:spPr>
          <a:xfrm>
            <a:off x="7955280" y="4343400"/>
            <a:ext cx="1188720" cy="457200"/>
          </a:xfrm>
          <a:prstGeom prst="rect">
            <a:avLst/>
          </a:prstGeom>
          <a:noFill/>
          <a:ln/>
        </p:spPr>
        <p:txBody>
          <a:bodyPr wrap="square" lIns="0" tIns="0" rIns="0" bIns="0" rtlCol="0" anchor="ctr"/>
          <a:lstStyle/>
          <a:p>
            <a:pPr indent="0" marL="0">
              <a:buNone/>
            </a:pPr>
            <a:r>
              <a:rPr lang="en-US" sz="1500" b="1" dirty="0">
                <a:solidFill>
                  <a:schemeClr val="bg1"/>
                </a:solidFill>
              </a:rPr>
              <a:t>Code</a:t>
            </a:r>
            <a:endParaRPr lang="en-US" sz="1500" dirty="0"/>
          </a:p>
        </p:txBody>
      </p:sp>
      <p:sp>
        <p:nvSpPr>
          <p:cNvPr id="16" name="Text 13"/>
          <p:cNvSpPr txBox="1"/>
          <p:nvPr/>
        </p:nvSpPr>
        <p:spPr>
          <a:xfrm>
            <a:off x="9144000" y="4343400"/>
            <a:ext cx="2377440" cy="457200"/>
          </a:xfrm>
          <a:prstGeom prst="rect">
            <a:avLst/>
          </a:prstGeom>
          <a:noFill/>
          <a:ln/>
        </p:spPr>
        <p:txBody>
          <a:bodyPr wrap="square" lIns="0" tIns="0" rIns="0" bIns="0" rtlCol="0" anchor="ctr"/>
          <a:lstStyle/>
          <a:p>
            <a:pPr indent="0" marL="0">
              <a:buNone/>
            </a:pPr>
            <a:r>
              <a:rPr lang="en-US" sz="1400" u="sng" dirty="0">
                <a:solidFill>
                  <a:schemeClr val="accent4"/>
                </a:solidFill>
                <a:hlinkClick r:id="rId6" invalidUrl="" action="" tgtFrame="" tooltip="" history="1" highlightClick="0" endSnd="0">
                  <a:extLst>
                    <a:ext uri="{A12FA001-AC4F-418D-AE19-62706E023703}">
                      <ahyp:hlinkClr xmlns:ahyp="http://schemas.microsoft.com/office/drawing/2018/hyperlinkcolor" val="tx"/>
                    </a:ext>
                  </a:extLst>
                </a:hlinkClick>
              </a:rPr>
              <a:t>GitHub</a:t>
            </a:r>
            <a:endParaRPr lang="en-US" sz="1400" dirty="0"/>
          </a:p>
        </p:txBody>
      </p:sp>
      <p:pic>
        <p:nvPicPr>
          <p:cNvPr id="17" name="Image 1" descr="/tmp/claude-0/-home-claude/d1b11841-31a5-5c6c-8b8a-2c68ca1b0a7c/scratchpad/deck/img/logo-white.png">    </p:cNvPr>
          <p:cNvPicPr>
            <a:picLocks noChangeAspect="1"/>
          </p:cNvPicPr>
          <p:nvPr/>
        </p:nvPicPr>
        <p:blipFill>
          <a:blip r:embed="rId7"/>
          <a:stretch>
            <a:fillRect/>
          </a:stretch>
        </p:blipFill>
        <p:spPr>
          <a:xfrm>
            <a:off x="731520" y="5760720"/>
            <a:ext cx="1828800" cy="365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MATCH SCORE</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Every point of the score has a reason you can see</a:t>
            </a:r>
            <a:endParaRPr lang="en-US" sz="3200" dirty="0"/>
          </a:p>
        </p:txBody>
      </p:sp>
      <p:sp>
        <p:nvSpPr>
          <p:cNvPr id="4" name="scorecard"/>
          <p:cNvSpPr/>
          <p:nvPr/>
        </p:nvSpPr>
        <p:spPr>
          <a:xfrm>
            <a:off x="548640" y="2057400"/>
            <a:ext cx="5669280" cy="4023360"/>
          </a:xfrm>
          <a:prstGeom prst="roundRect">
            <a:avLst>
              <a:gd name="adj" fmla="val 2727"/>
            </a:avLst>
          </a:prstGeom>
          <a:solidFill>
            <a:schemeClr val="bg1"/>
          </a:solidFill>
          <a:ln w="12700">
            <a:solidFill>
              <a:schemeClr val="bg1"/>
            </a:solidFill>
            <a:prstDash val="solid"/>
          </a:ln>
        </p:spPr>
      </p:sp>
      <p:sp>
        <p:nvSpPr>
          <p:cNvPr id="5" name="fit-track"/>
          <p:cNvSpPr/>
          <p:nvPr/>
        </p:nvSpPr>
        <p:spPr>
          <a:xfrm>
            <a:off x="868680" y="2286000"/>
            <a:ext cx="1143000" cy="1143000"/>
          </a:xfrm>
          <a:prstGeom prst="blockArc">
            <a:avLst>
              <a:gd name="adj1" fmla="val 0"/>
              <a:gd name="adj2" fmla="val 21594000"/>
              <a:gd name="adj3" fmla="val 10000"/>
            </a:avLst>
          </a:prstGeom>
          <a:solidFill>
            <a:srgbClr val="E8EEF6"/>
          </a:solidFill>
          <a:ln w="12700">
            <a:solidFill>
              <a:srgbClr val="E8EEF6"/>
            </a:solidFill>
            <a:prstDash val="solid"/>
          </a:ln>
        </p:spPr>
      </p:sp>
      <p:sp>
        <p:nvSpPr>
          <p:cNvPr id="6" name="fit-arc"/>
          <p:cNvSpPr/>
          <p:nvPr/>
        </p:nvSpPr>
        <p:spPr>
          <a:xfrm>
            <a:off x="868680" y="2286000"/>
            <a:ext cx="1143000" cy="1143000"/>
          </a:xfrm>
          <a:prstGeom prst="blockArc">
            <a:avLst>
              <a:gd name="adj1" fmla="val 16200000"/>
              <a:gd name="adj2" fmla="val 14472000"/>
              <a:gd name="adj3" fmla="val 10000"/>
            </a:avLst>
          </a:prstGeom>
          <a:solidFill>
            <a:srgbClr val="0F2A4A"/>
          </a:solidFill>
          <a:ln w="12700">
            <a:solidFill>
              <a:srgbClr val="0F2A4A"/>
            </a:solidFill>
            <a:prstDash val="solid"/>
          </a:ln>
        </p:spPr>
      </p:sp>
      <p:sp>
        <p:nvSpPr>
          <p:cNvPr id="7" name="Text 5"/>
          <p:cNvSpPr txBox="1"/>
          <p:nvPr/>
        </p:nvSpPr>
        <p:spPr>
          <a:xfrm>
            <a:off x="868680" y="2286000"/>
            <a:ext cx="1143000" cy="1143000"/>
          </a:xfrm>
          <a:prstGeom prst="rect">
            <a:avLst/>
          </a:prstGeom>
          <a:noFill/>
          <a:ln/>
        </p:spPr>
        <p:txBody>
          <a:bodyPr wrap="square" lIns="0" tIns="0" rIns="0" bIns="0" rtlCol="0" anchor="ctr"/>
          <a:lstStyle/>
          <a:p>
            <a:pPr algn="ctr" indent="0" marL="0">
              <a:buNone/>
            </a:pPr>
            <a:r>
              <a:rPr lang="en-US" sz="2400" b="1" dirty="0">
                <a:solidFill>
                  <a:schemeClr val="tx1"/>
                </a:solidFill>
              </a:rPr>
              <a:t>92</a:t>
            </a:r>
            <a:pPr algn="ctr" indent="0" marL="0">
              <a:buNone/>
            </a:pPr>
            <a:r>
              <a:rPr lang="en-US" sz="1300" b="1" dirty="0">
                <a:solidFill>
                  <a:schemeClr val="tx1"/>
                </a:solidFill>
              </a:rPr>
              <a:t>%</a:t>
            </a:r>
            <a:endParaRPr lang="en-US" sz="1400" dirty="0"/>
          </a:p>
        </p:txBody>
      </p:sp>
      <p:sp>
        <p:nvSpPr>
          <p:cNvPr id="8" name="Text 6"/>
          <p:cNvSpPr txBox="1"/>
          <p:nvPr/>
        </p:nvSpPr>
        <p:spPr>
          <a:xfrm>
            <a:off x="2240280" y="2377440"/>
            <a:ext cx="3840480" cy="320040"/>
          </a:xfrm>
          <a:prstGeom prst="rect">
            <a:avLst/>
          </a:prstGeom>
          <a:noFill/>
          <a:ln/>
        </p:spPr>
        <p:txBody>
          <a:bodyPr wrap="square" lIns="0" tIns="0" rIns="0" bIns="0" rtlCol="0" anchor="t"/>
          <a:lstStyle/>
          <a:p>
            <a:pPr indent="0" marL="0">
              <a:buNone/>
            </a:pPr>
            <a:r>
              <a:rPr lang="en-US" sz="1700" b="1" dirty="0">
                <a:solidFill>
                  <a:schemeClr val="tx1"/>
                </a:solidFill>
              </a:rPr>
              <a:t>CV–job fit</a:t>
            </a:r>
            <a:endParaRPr lang="en-US" sz="1700" dirty="0"/>
          </a:p>
        </p:txBody>
      </p:sp>
      <p:sp>
        <p:nvSpPr>
          <p:cNvPr id="9" name="Shape 7"/>
          <p:cNvSpPr/>
          <p:nvPr/>
        </p:nvSpPr>
        <p:spPr>
          <a:xfrm>
            <a:off x="2240280" y="2743200"/>
            <a:ext cx="1508760" cy="310896"/>
          </a:xfrm>
          <a:prstGeom prst="roundRect">
            <a:avLst>
              <a:gd name="adj" fmla="val 50000"/>
            </a:avLst>
          </a:prstGeom>
          <a:solidFill>
            <a:srgbClr val="DDF0E4"/>
          </a:solidFill>
          <a:ln w="12700">
            <a:solidFill>
              <a:srgbClr val="DDF0E4"/>
            </a:solidFill>
            <a:prstDash val="solid"/>
          </a:ln>
        </p:spPr>
      </p:sp>
      <p:sp>
        <p:nvSpPr>
          <p:cNvPr id="10" name="Text 8"/>
          <p:cNvSpPr txBox="1"/>
          <p:nvPr/>
        </p:nvSpPr>
        <p:spPr>
          <a:xfrm>
            <a:off x="2240280" y="2743200"/>
            <a:ext cx="1508760" cy="310896"/>
          </a:xfrm>
          <a:prstGeom prst="rect">
            <a:avLst/>
          </a:prstGeom>
          <a:noFill/>
          <a:ln/>
        </p:spPr>
        <p:txBody>
          <a:bodyPr wrap="square" lIns="0" tIns="0" rIns="0" bIns="0" rtlCol="0" anchor="ctr"/>
          <a:lstStyle/>
          <a:p>
            <a:pPr algn="ctr" indent="0" marL="0">
              <a:buNone/>
            </a:pPr>
            <a:r>
              <a:rPr lang="en-US" sz="1200" dirty="0">
                <a:solidFill>
                  <a:srgbClr val="2E8B57"/>
                </a:solidFill>
              </a:rPr>
              <a:t>High confidence</a:t>
            </a:r>
            <a:endParaRPr lang="en-US" sz="1200" dirty="0"/>
          </a:p>
        </p:txBody>
      </p:sp>
      <p:sp>
        <p:nvSpPr>
          <p:cNvPr id="11" name="Text 9"/>
          <p:cNvSpPr txBox="1"/>
          <p:nvPr/>
        </p:nvSpPr>
        <p:spPr>
          <a:xfrm>
            <a:off x="2240280" y="3154680"/>
            <a:ext cx="3840480" cy="457200"/>
          </a:xfrm>
          <a:prstGeom prst="rect">
            <a:avLst/>
          </a:prstGeom>
          <a:noFill/>
          <a:ln/>
        </p:spPr>
        <p:txBody>
          <a:bodyPr wrap="square" lIns="0" tIns="0" rIns="0" bIns="0" rtlCol="0" anchor="t"/>
          <a:lstStyle/>
          <a:p>
            <a:pPr indent="0" marL="0">
              <a:buNone/>
            </a:pPr>
            <a:r>
              <a:rPr lang="en-US" sz="1100" dirty="0">
                <a:solidFill>
                  <a:schemeClr val="tx2"/>
                </a:solidFill>
              </a:rPr>
              <a:t>Data analyst · Example Systems. Illustrative score, not a hiring probability. </a:t>
            </a:r>
            <a:pPr indent="0" marL="0">
              <a:buNone/>
            </a:pPr>
            <a:r>
              <a:rPr lang="en-US" sz="1100" b="1" u="sng" dirty="0">
                <a:solidFill>
                  <a:schemeClr val="tx2"/>
                </a:solidFill>
              </a:rPr>
              <a:t>How it's calculated</a:t>
            </a:r>
            <a:endParaRPr lang="en-US" sz="1100" dirty="0"/>
          </a:p>
        </p:txBody>
      </p:sp>
      <p:sp>
        <p:nvSpPr>
          <p:cNvPr id="12" name="Text 10"/>
          <p:cNvSpPr txBox="1"/>
          <p:nvPr/>
        </p:nvSpPr>
        <p:spPr>
          <a:xfrm>
            <a:off x="868680" y="3675888"/>
            <a:ext cx="1828800" cy="274320"/>
          </a:xfrm>
          <a:prstGeom prst="rect">
            <a:avLst/>
          </a:prstGeom>
          <a:noFill/>
          <a:ln/>
        </p:spPr>
        <p:txBody>
          <a:bodyPr wrap="square" lIns="0" tIns="0" rIns="0" bIns="0" rtlCol="0" anchor="ctr"/>
          <a:lstStyle/>
          <a:p>
            <a:pPr indent="0" marL="0">
              <a:buNone/>
            </a:pPr>
            <a:r>
              <a:rPr lang="en-US" sz="1200" dirty="0">
                <a:solidFill>
                  <a:schemeClr val="tx1"/>
                </a:solidFill>
              </a:rPr>
              <a:t>Required skills</a:t>
            </a:r>
            <a:endParaRPr lang="en-US" sz="1200" dirty="0"/>
          </a:p>
        </p:txBody>
      </p:sp>
      <p:sp>
        <p:nvSpPr>
          <p:cNvPr id="13" name="Text 11"/>
          <p:cNvSpPr txBox="1"/>
          <p:nvPr/>
        </p:nvSpPr>
        <p:spPr>
          <a:xfrm>
            <a:off x="2697480" y="3675888"/>
            <a:ext cx="457200" cy="274320"/>
          </a:xfrm>
          <a:prstGeom prst="rect">
            <a:avLst/>
          </a:prstGeom>
          <a:noFill/>
          <a:ln/>
        </p:spPr>
        <p:txBody>
          <a:bodyPr wrap="square" lIns="0" tIns="0" rIns="0" bIns="0" rtlCol="0" anchor="ctr"/>
          <a:lstStyle/>
          <a:p>
            <a:pPr indent="0" marL="0">
              <a:buNone/>
            </a:pPr>
            <a:r>
              <a:rPr lang="en-US" sz="1200" dirty="0">
                <a:solidFill>
                  <a:schemeClr val="tx2"/>
                </a:solidFill>
              </a:rPr>
              <a:t>35%</a:t>
            </a:r>
            <a:endParaRPr lang="en-US" sz="1200" dirty="0"/>
          </a:p>
        </p:txBody>
      </p:sp>
      <p:sp>
        <p:nvSpPr>
          <p:cNvPr id="14" name="Shape 12"/>
          <p:cNvSpPr/>
          <p:nvPr/>
        </p:nvSpPr>
        <p:spPr>
          <a:xfrm>
            <a:off x="3200400" y="3758184"/>
            <a:ext cx="2194560" cy="118872"/>
          </a:xfrm>
          <a:prstGeom prst="rect">
            <a:avLst/>
          </a:prstGeom>
          <a:solidFill>
            <a:srgbClr val="E8EEF6"/>
          </a:solidFill>
          <a:ln w="12700">
            <a:solidFill>
              <a:srgbClr val="E8EEF6"/>
            </a:solidFill>
            <a:prstDash val="solid"/>
          </a:ln>
        </p:spPr>
      </p:sp>
      <p:sp>
        <p:nvSpPr>
          <p:cNvPr id="15" name="Shape 13"/>
          <p:cNvSpPr/>
          <p:nvPr/>
        </p:nvSpPr>
        <p:spPr>
          <a:xfrm>
            <a:off x="3200400" y="3758184"/>
            <a:ext cx="2094237" cy="118872"/>
          </a:xfrm>
          <a:prstGeom prst="rect">
            <a:avLst/>
          </a:prstGeom>
          <a:solidFill>
            <a:srgbClr val="0F2A4A"/>
          </a:solidFill>
          <a:ln w="12700">
            <a:solidFill>
              <a:srgbClr val="0F2A4A"/>
            </a:solidFill>
            <a:prstDash val="solid"/>
          </a:ln>
        </p:spPr>
      </p:sp>
      <p:sp>
        <p:nvSpPr>
          <p:cNvPr id="16" name="Text 14"/>
          <p:cNvSpPr txBox="1"/>
          <p:nvPr/>
        </p:nvSpPr>
        <p:spPr>
          <a:xfrm>
            <a:off x="5440680" y="367588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33.4</a:t>
            </a:r>
            <a:endParaRPr lang="en-US" sz="1200" dirty="0"/>
          </a:p>
        </p:txBody>
      </p:sp>
      <p:sp>
        <p:nvSpPr>
          <p:cNvPr id="17" name="Text 15"/>
          <p:cNvSpPr txBox="1"/>
          <p:nvPr/>
        </p:nvSpPr>
        <p:spPr>
          <a:xfrm>
            <a:off x="868680" y="4005072"/>
            <a:ext cx="1828800" cy="274320"/>
          </a:xfrm>
          <a:prstGeom prst="rect">
            <a:avLst/>
          </a:prstGeom>
          <a:noFill/>
          <a:ln/>
        </p:spPr>
        <p:txBody>
          <a:bodyPr wrap="square" lIns="0" tIns="0" rIns="0" bIns="0" rtlCol="0" anchor="ctr"/>
          <a:lstStyle/>
          <a:p>
            <a:pPr indent="0" marL="0">
              <a:buNone/>
            </a:pPr>
            <a:r>
              <a:rPr lang="en-US" sz="1200" dirty="0">
                <a:solidFill>
                  <a:schemeClr val="tx1"/>
                </a:solidFill>
              </a:rPr>
              <a:t>Relevant experience</a:t>
            </a:r>
            <a:endParaRPr lang="en-US" sz="1200" dirty="0"/>
          </a:p>
        </p:txBody>
      </p:sp>
      <p:sp>
        <p:nvSpPr>
          <p:cNvPr id="18" name="Text 16"/>
          <p:cNvSpPr txBox="1"/>
          <p:nvPr/>
        </p:nvSpPr>
        <p:spPr>
          <a:xfrm>
            <a:off x="2697480" y="4005072"/>
            <a:ext cx="457200" cy="274320"/>
          </a:xfrm>
          <a:prstGeom prst="rect">
            <a:avLst/>
          </a:prstGeom>
          <a:noFill/>
          <a:ln/>
        </p:spPr>
        <p:txBody>
          <a:bodyPr wrap="square" lIns="0" tIns="0" rIns="0" bIns="0" rtlCol="0" anchor="ctr"/>
          <a:lstStyle/>
          <a:p>
            <a:pPr indent="0" marL="0">
              <a:buNone/>
            </a:pPr>
            <a:r>
              <a:rPr lang="en-US" sz="1200" dirty="0">
                <a:solidFill>
                  <a:schemeClr val="tx2"/>
                </a:solidFill>
              </a:rPr>
              <a:t>25%</a:t>
            </a:r>
            <a:endParaRPr lang="en-US" sz="1200" dirty="0"/>
          </a:p>
        </p:txBody>
      </p:sp>
      <p:sp>
        <p:nvSpPr>
          <p:cNvPr id="19" name="Shape 17"/>
          <p:cNvSpPr/>
          <p:nvPr/>
        </p:nvSpPr>
        <p:spPr>
          <a:xfrm>
            <a:off x="3200400" y="4087368"/>
            <a:ext cx="2194560" cy="118872"/>
          </a:xfrm>
          <a:prstGeom prst="rect">
            <a:avLst/>
          </a:prstGeom>
          <a:solidFill>
            <a:srgbClr val="E8EEF6"/>
          </a:solidFill>
          <a:ln w="12700">
            <a:solidFill>
              <a:srgbClr val="E8EEF6"/>
            </a:solidFill>
            <a:prstDash val="solid"/>
          </a:ln>
        </p:spPr>
      </p:sp>
      <p:sp>
        <p:nvSpPr>
          <p:cNvPr id="20" name="Shape 18"/>
          <p:cNvSpPr/>
          <p:nvPr/>
        </p:nvSpPr>
        <p:spPr>
          <a:xfrm>
            <a:off x="3200400" y="4087368"/>
            <a:ext cx="1904878" cy="118872"/>
          </a:xfrm>
          <a:prstGeom prst="rect">
            <a:avLst/>
          </a:prstGeom>
          <a:solidFill>
            <a:srgbClr val="0F2A4A"/>
          </a:solidFill>
          <a:ln w="12700">
            <a:solidFill>
              <a:srgbClr val="0F2A4A"/>
            </a:solidFill>
            <a:prstDash val="solid"/>
          </a:ln>
        </p:spPr>
      </p:sp>
      <p:sp>
        <p:nvSpPr>
          <p:cNvPr id="21" name="Text 19"/>
          <p:cNvSpPr txBox="1"/>
          <p:nvPr/>
        </p:nvSpPr>
        <p:spPr>
          <a:xfrm>
            <a:off x="5440680" y="4005072"/>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21.7</a:t>
            </a:r>
            <a:endParaRPr lang="en-US" sz="1200" dirty="0"/>
          </a:p>
        </p:txBody>
      </p:sp>
      <p:sp>
        <p:nvSpPr>
          <p:cNvPr id="22" name="Text 20"/>
          <p:cNvSpPr txBox="1"/>
          <p:nvPr/>
        </p:nvSpPr>
        <p:spPr>
          <a:xfrm>
            <a:off x="868680" y="4334256"/>
            <a:ext cx="1828800" cy="274320"/>
          </a:xfrm>
          <a:prstGeom prst="rect">
            <a:avLst/>
          </a:prstGeom>
          <a:noFill/>
          <a:ln/>
        </p:spPr>
        <p:txBody>
          <a:bodyPr wrap="square" lIns="0" tIns="0" rIns="0" bIns="0" rtlCol="0" anchor="ctr"/>
          <a:lstStyle/>
          <a:p>
            <a:pPr indent="0" marL="0">
              <a:buNone/>
            </a:pPr>
            <a:r>
              <a:rPr lang="en-US" sz="1200" dirty="0">
                <a:solidFill>
                  <a:schemeClr val="tx1"/>
                </a:solidFill>
              </a:rPr>
              <a:t>Role / title</a:t>
            </a:r>
            <a:endParaRPr lang="en-US" sz="1200" dirty="0"/>
          </a:p>
        </p:txBody>
      </p:sp>
      <p:sp>
        <p:nvSpPr>
          <p:cNvPr id="23" name="Text 21"/>
          <p:cNvSpPr txBox="1"/>
          <p:nvPr/>
        </p:nvSpPr>
        <p:spPr>
          <a:xfrm>
            <a:off x="2697480" y="4334256"/>
            <a:ext cx="457200" cy="274320"/>
          </a:xfrm>
          <a:prstGeom prst="rect">
            <a:avLst/>
          </a:prstGeom>
          <a:noFill/>
          <a:ln/>
        </p:spPr>
        <p:txBody>
          <a:bodyPr wrap="square" lIns="0" tIns="0" rIns="0" bIns="0" rtlCol="0" anchor="ctr"/>
          <a:lstStyle/>
          <a:p>
            <a:pPr indent="0" marL="0">
              <a:buNone/>
            </a:pPr>
            <a:r>
              <a:rPr lang="en-US" sz="1200" dirty="0">
                <a:solidFill>
                  <a:schemeClr val="tx2"/>
                </a:solidFill>
              </a:rPr>
              <a:t>15%</a:t>
            </a:r>
            <a:endParaRPr lang="en-US" sz="1200" dirty="0"/>
          </a:p>
        </p:txBody>
      </p:sp>
      <p:sp>
        <p:nvSpPr>
          <p:cNvPr id="24" name="Shape 22"/>
          <p:cNvSpPr/>
          <p:nvPr/>
        </p:nvSpPr>
        <p:spPr>
          <a:xfrm>
            <a:off x="3200400" y="4416552"/>
            <a:ext cx="2194560" cy="118872"/>
          </a:xfrm>
          <a:prstGeom prst="rect">
            <a:avLst/>
          </a:prstGeom>
          <a:solidFill>
            <a:srgbClr val="E8EEF6"/>
          </a:solidFill>
          <a:ln w="12700">
            <a:solidFill>
              <a:srgbClr val="E8EEF6"/>
            </a:solidFill>
            <a:prstDash val="solid"/>
          </a:ln>
        </p:spPr>
      </p:sp>
      <p:sp>
        <p:nvSpPr>
          <p:cNvPr id="25" name="Shape 23"/>
          <p:cNvSpPr/>
          <p:nvPr/>
        </p:nvSpPr>
        <p:spPr>
          <a:xfrm>
            <a:off x="3200400" y="4416552"/>
            <a:ext cx="2004365" cy="118872"/>
          </a:xfrm>
          <a:prstGeom prst="rect">
            <a:avLst/>
          </a:prstGeom>
          <a:solidFill>
            <a:srgbClr val="0F2A4A"/>
          </a:solidFill>
          <a:ln w="12700">
            <a:solidFill>
              <a:srgbClr val="0F2A4A"/>
            </a:solidFill>
            <a:prstDash val="solid"/>
          </a:ln>
        </p:spPr>
      </p:sp>
      <p:sp>
        <p:nvSpPr>
          <p:cNvPr id="26" name="Text 24"/>
          <p:cNvSpPr txBox="1"/>
          <p:nvPr/>
        </p:nvSpPr>
        <p:spPr>
          <a:xfrm>
            <a:off x="5440680" y="4334256"/>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13.7</a:t>
            </a:r>
            <a:endParaRPr lang="en-US" sz="1200" dirty="0"/>
          </a:p>
        </p:txBody>
      </p:sp>
      <p:sp>
        <p:nvSpPr>
          <p:cNvPr id="27" name="Text 25"/>
          <p:cNvSpPr txBox="1"/>
          <p:nvPr/>
        </p:nvSpPr>
        <p:spPr>
          <a:xfrm>
            <a:off x="868680" y="4663440"/>
            <a:ext cx="1828800" cy="274320"/>
          </a:xfrm>
          <a:prstGeom prst="rect">
            <a:avLst/>
          </a:prstGeom>
          <a:noFill/>
          <a:ln/>
        </p:spPr>
        <p:txBody>
          <a:bodyPr wrap="square" lIns="0" tIns="0" rIns="0" bIns="0" rtlCol="0" anchor="ctr"/>
          <a:lstStyle/>
          <a:p>
            <a:pPr indent="0" marL="0">
              <a:buNone/>
            </a:pPr>
            <a:r>
              <a:rPr lang="en-US" sz="1200" dirty="0">
                <a:solidFill>
                  <a:schemeClr val="tx1"/>
                </a:solidFill>
              </a:rPr>
              <a:t>Education</a:t>
            </a:r>
            <a:endParaRPr lang="en-US" sz="1200" dirty="0"/>
          </a:p>
        </p:txBody>
      </p:sp>
      <p:sp>
        <p:nvSpPr>
          <p:cNvPr id="28" name="Text 26"/>
          <p:cNvSpPr txBox="1"/>
          <p:nvPr/>
        </p:nvSpPr>
        <p:spPr>
          <a:xfrm>
            <a:off x="2697480" y="4663440"/>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29" name="Shape 27"/>
          <p:cNvSpPr/>
          <p:nvPr/>
        </p:nvSpPr>
        <p:spPr>
          <a:xfrm>
            <a:off x="3200400" y="4745736"/>
            <a:ext cx="2194560" cy="118872"/>
          </a:xfrm>
          <a:prstGeom prst="rect">
            <a:avLst/>
          </a:prstGeom>
          <a:solidFill>
            <a:srgbClr val="E8EEF6"/>
          </a:solidFill>
          <a:ln w="12700">
            <a:solidFill>
              <a:srgbClr val="E8EEF6"/>
            </a:solidFill>
            <a:prstDash val="solid"/>
          </a:ln>
        </p:spPr>
      </p:sp>
      <p:sp>
        <p:nvSpPr>
          <p:cNvPr id="30" name="Shape 28"/>
          <p:cNvSpPr/>
          <p:nvPr/>
        </p:nvSpPr>
        <p:spPr>
          <a:xfrm>
            <a:off x="3200400" y="4745736"/>
            <a:ext cx="1799539" cy="118872"/>
          </a:xfrm>
          <a:prstGeom prst="rect">
            <a:avLst/>
          </a:prstGeom>
          <a:solidFill>
            <a:srgbClr val="0F2A4A"/>
          </a:solidFill>
          <a:ln w="12700">
            <a:solidFill>
              <a:srgbClr val="0F2A4A"/>
            </a:solidFill>
            <a:prstDash val="solid"/>
          </a:ln>
        </p:spPr>
      </p:sp>
      <p:sp>
        <p:nvSpPr>
          <p:cNvPr id="31" name="Text 29"/>
          <p:cNvSpPr txBox="1"/>
          <p:nvPr/>
        </p:nvSpPr>
        <p:spPr>
          <a:xfrm>
            <a:off x="5440680" y="4663440"/>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8.2</a:t>
            </a:r>
            <a:endParaRPr lang="en-US" sz="1200" dirty="0"/>
          </a:p>
        </p:txBody>
      </p:sp>
      <p:sp>
        <p:nvSpPr>
          <p:cNvPr id="32" name="Text 30"/>
          <p:cNvSpPr txBox="1"/>
          <p:nvPr/>
        </p:nvSpPr>
        <p:spPr>
          <a:xfrm>
            <a:off x="868680" y="4992624"/>
            <a:ext cx="1828800" cy="274320"/>
          </a:xfrm>
          <a:prstGeom prst="rect">
            <a:avLst/>
          </a:prstGeom>
          <a:noFill/>
          <a:ln/>
        </p:spPr>
        <p:txBody>
          <a:bodyPr wrap="square" lIns="0" tIns="0" rIns="0" bIns="0" rtlCol="0" anchor="ctr"/>
          <a:lstStyle/>
          <a:p>
            <a:pPr indent="0" marL="0">
              <a:buNone/>
            </a:pPr>
            <a:r>
              <a:rPr lang="en-US" sz="1200" dirty="0">
                <a:solidFill>
                  <a:schemeClr val="tx1"/>
                </a:solidFill>
              </a:rPr>
              <a:t>Languages</a:t>
            </a:r>
            <a:endParaRPr lang="en-US" sz="1200" dirty="0"/>
          </a:p>
        </p:txBody>
      </p:sp>
      <p:sp>
        <p:nvSpPr>
          <p:cNvPr id="33" name="Text 31"/>
          <p:cNvSpPr txBox="1"/>
          <p:nvPr/>
        </p:nvSpPr>
        <p:spPr>
          <a:xfrm>
            <a:off x="2697480" y="4992624"/>
            <a:ext cx="457200" cy="274320"/>
          </a:xfrm>
          <a:prstGeom prst="rect">
            <a:avLst/>
          </a:prstGeom>
          <a:noFill/>
          <a:ln/>
        </p:spPr>
        <p:txBody>
          <a:bodyPr wrap="square" lIns="0" tIns="0" rIns="0" bIns="0" rtlCol="0" anchor="ctr"/>
          <a:lstStyle/>
          <a:p>
            <a:pPr indent="0" marL="0">
              <a:buNone/>
            </a:pPr>
            <a:r>
              <a:rPr lang="en-US" sz="1200" dirty="0">
                <a:solidFill>
                  <a:schemeClr val="tx2"/>
                </a:solidFill>
              </a:rPr>
              <a:t>10%</a:t>
            </a:r>
            <a:endParaRPr lang="en-US" sz="1200" dirty="0"/>
          </a:p>
        </p:txBody>
      </p:sp>
      <p:sp>
        <p:nvSpPr>
          <p:cNvPr id="34" name="Shape 32"/>
          <p:cNvSpPr/>
          <p:nvPr/>
        </p:nvSpPr>
        <p:spPr>
          <a:xfrm>
            <a:off x="3200400" y="5074920"/>
            <a:ext cx="2194560" cy="118872"/>
          </a:xfrm>
          <a:prstGeom prst="rect">
            <a:avLst/>
          </a:prstGeom>
          <a:solidFill>
            <a:srgbClr val="E8EEF6"/>
          </a:solidFill>
          <a:ln w="12700">
            <a:solidFill>
              <a:srgbClr val="E8EEF6"/>
            </a:solidFill>
            <a:prstDash val="solid"/>
          </a:ln>
        </p:spPr>
      </p:sp>
      <p:sp>
        <p:nvSpPr>
          <p:cNvPr id="35" name="Shape 33"/>
          <p:cNvSpPr/>
          <p:nvPr/>
        </p:nvSpPr>
        <p:spPr>
          <a:xfrm>
            <a:off x="3200400" y="5074920"/>
            <a:ext cx="2194560" cy="118872"/>
          </a:xfrm>
          <a:prstGeom prst="rect">
            <a:avLst/>
          </a:prstGeom>
          <a:solidFill>
            <a:srgbClr val="0F2A4A"/>
          </a:solidFill>
          <a:ln w="12700">
            <a:solidFill>
              <a:srgbClr val="0F2A4A"/>
            </a:solidFill>
            <a:prstDash val="solid"/>
          </a:ln>
        </p:spPr>
      </p:sp>
      <p:sp>
        <p:nvSpPr>
          <p:cNvPr id="36" name="Text 34"/>
          <p:cNvSpPr txBox="1"/>
          <p:nvPr/>
        </p:nvSpPr>
        <p:spPr>
          <a:xfrm>
            <a:off x="5440680" y="4992624"/>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10.0</a:t>
            </a:r>
            <a:endParaRPr lang="en-US" sz="1200" dirty="0"/>
          </a:p>
        </p:txBody>
      </p:sp>
      <p:sp>
        <p:nvSpPr>
          <p:cNvPr id="37" name="Text 35"/>
          <p:cNvSpPr txBox="1"/>
          <p:nvPr/>
        </p:nvSpPr>
        <p:spPr>
          <a:xfrm>
            <a:off x="868680" y="5321808"/>
            <a:ext cx="1828800" cy="274320"/>
          </a:xfrm>
          <a:prstGeom prst="rect">
            <a:avLst/>
          </a:prstGeom>
          <a:noFill/>
          <a:ln/>
        </p:spPr>
        <p:txBody>
          <a:bodyPr wrap="square" lIns="0" tIns="0" rIns="0" bIns="0" rtlCol="0" anchor="ctr"/>
          <a:lstStyle/>
          <a:p>
            <a:pPr indent="0" marL="0">
              <a:buNone/>
            </a:pPr>
            <a:r>
              <a:rPr lang="en-US" sz="1200" dirty="0">
                <a:solidFill>
                  <a:schemeClr val="tx1"/>
                </a:solidFill>
              </a:rPr>
              <a:t>Location</a:t>
            </a:r>
            <a:endParaRPr lang="en-US" sz="1200" dirty="0"/>
          </a:p>
        </p:txBody>
      </p:sp>
      <p:sp>
        <p:nvSpPr>
          <p:cNvPr id="38" name="Text 36"/>
          <p:cNvSpPr txBox="1"/>
          <p:nvPr/>
        </p:nvSpPr>
        <p:spPr>
          <a:xfrm>
            <a:off x="2697480" y="5321808"/>
            <a:ext cx="457200" cy="274320"/>
          </a:xfrm>
          <a:prstGeom prst="rect">
            <a:avLst/>
          </a:prstGeom>
          <a:noFill/>
          <a:ln/>
        </p:spPr>
        <p:txBody>
          <a:bodyPr wrap="square" lIns="0" tIns="0" rIns="0" bIns="0" rtlCol="0" anchor="ctr"/>
          <a:lstStyle/>
          <a:p>
            <a:pPr indent="0" marL="0">
              <a:buNone/>
            </a:pPr>
            <a:r>
              <a:rPr lang="en-US" sz="1200" dirty="0">
                <a:solidFill>
                  <a:schemeClr val="tx2"/>
                </a:solidFill>
              </a:rPr>
              <a:t>5%</a:t>
            </a:r>
            <a:endParaRPr lang="en-US" sz="1200" dirty="0"/>
          </a:p>
        </p:txBody>
      </p:sp>
      <p:sp>
        <p:nvSpPr>
          <p:cNvPr id="39" name="Shape 37"/>
          <p:cNvSpPr/>
          <p:nvPr/>
        </p:nvSpPr>
        <p:spPr>
          <a:xfrm>
            <a:off x="3200400" y="5404104"/>
            <a:ext cx="2194560" cy="118872"/>
          </a:xfrm>
          <a:prstGeom prst="rect">
            <a:avLst/>
          </a:prstGeom>
          <a:solidFill>
            <a:srgbClr val="E8EEF6"/>
          </a:solidFill>
          <a:ln w="12700">
            <a:solidFill>
              <a:srgbClr val="E8EEF6"/>
            </a:solidFill>
            <a:prstDash val="solid"/>
          </a:ln>
        </p:spPr>
      </p:sp>
      <p:sp>
        <p:nvSpPr>
          <p:cNvPr id="40" name="Shape 38"/>
          <p:cNvSpPr/>
          <p:nvPr/>
        </p:nvSpPr>
        <p:spPr>
          <a:xfrm>
            <a:off x="3200400" y="5404104"/>
            <a:ext cx="2194560" cy="118872"/>
          </a:xfrm>
          <a:prstGeom prst="rect">
            <a:avLst/>
          </a:prstGeom>
          <a:solidFill>
            <a:srgbClr val="0F2A4A"/>
          </a:solidFill>
          <a:ln w="12700">
            <a:solidFill>
              <a:srgbClr val="0F2A4A"/>
            </a:solidFill>
            <a:prstDash val="solid"/>
          </a:ln>
        </p:spPr>
      </p:sp>
      <p:sp>
        <p:nvSpPr>
          <p:cNvPr id="41" name="Text 39"/>
          <p:cNvSpPr txBox="1"/>
          <p:nvPr/>
        </p:nvSpPr>
        <p:spPr>
          <a:xfrm>
            <a:off x="5440680" y="5321808"/>
            <a:ext cx="548640" cy="274320"/>
          </a:xfrm>
          <a:prstGeom prst="rect">
            <a:avLst/>
          </a:prstGeom>
          <a:noFill/>
          <a:ln/>
        </p:spPr>
        <p:txBody>
          <a:bodyPr wrap="square" lIns="0" tIns="0" rIns="0" bIns="0" rtlCol="0" anchor="ctr"/>
          <a:lstStyle/>
          <a:p>
            <a:pPr algn="r" indent="0" marL="0">
              <a:buNone/>
            </a:pPr>
            <a:r>
              <a:rPr lang="en-US" sz="1200" b="1" dirty="0">
                <a:solidFill>
                  <a:schemeClr val="tx1"/>
                </a:solidFill>
              </a:rPr>
              <a:t>5.0</a:t>
            </a:r>
            <a:endParaRPr lang="en-US" sz="1200" dirty="0"/>
          </a:p>
        </p:txBody>
      </p:sp>
      <p:sp>
        <p:nvSpPr>
          <p:cNvPr id="42" name="Text 40"/>
          <p:cNvSpPr txBox="1"/>
          <p:nvPr/>
        </p:nvSpPr>
        <p:spPr>
          <a:xfrm>
            <a:off x="868680" y="5715000"/>
            <a:ext cx="5120640" cy="228600"/>
          </a:xfrm>
          <a:prstGeom prst="rect">
            <a:avLst/>
          </a:prstGeom>
          <a:noFill/>
          <a:ln/>
        </p:spPr>
        <p:txBody>
          <a:bodyPr wrap="square" lIns="0" tIns="0" rIns="0" bIns="0" rtlCol="0" anchor="t"/>
          <a:lstStyle/>
          <a:p>
            <a:pPr indent="0" marL="0">
              <a:buNone/>
            </a:pPr>
            <a:r>
              <a:rPr lang="en-US" sz="1000" dirty="0">
                <a:solidFill>
                  <a:schemeClr val="tx2"/>
                </a:solidFill>
              </a:rPr>
              <a:t>Illustrative demo job · weights published, not yet validated</a:t>
            </a:r>
            <a:endParaRPr lang="en-US" sz="1000" dirty="0"/>
          </a:p>
        </p:txBody>
      </p:sp>
      <p:sp>
        <p:nvSpPr>
          <p:cNvPr id="43" name="Text 41"/>
          <p:cNvSpPr txBox="1"/>
          <p:nvPr/>
        </p:nvSpPr>
        <p:spPr>
          <a:xfrm>
            <a:off x="6583680" y="2057400"/>
            <a:ext cx="5029200" cy="292608"/>
          </a:xfrm>
          <a:prstGeom prst="rect">
            <a:avLst/>
          </a:prstGeom>
          <a:noFill/>
          <a:ln/>
        </p:spPr>
        <p:txBody>
          <a:bodyPr wrap="square" lIns="0" tIns="0" rIns="0" bIns="0" rtlCol="0" anchor="t"/>
          <a:lstStyle/>
          <a:p>
            <a:pPr indent="0" marL="0">
              <a:buNone/>
            </a:pPr>
            <a:r>
              <a:rPr lang="en-US" sz="1600" b="1" dirty="0">
                <a:solidFill>
                  <a:schemeClr val="tx1"/>
                </a:solidFill>
              </a:rPr>
              <a:t>Six criteria, fixed weights</a:t>
            </a:r>
            <a:endParaRPr lang="en-US" sz="1600" dirty="0"/>
          </a:p>
        </p:txBody>
      </p:sp>
      <p:sp>
        <p:nvSpPr>
          <p:cNvPr id="44" name="Text 42"/>
          <p:cNvSpPr txBox="1"/>
          <p:nvPr/>
        </p:nvSpPr>
        <p:spPr>
          <a:xfrm>
            <a:off x="6583680" y="2377440"/>
            <a:ext cx="5029200" cy="640080"/>
          </a:xfrm>
          <a:prstGeom prst="rect">
            <a:avLst/>
          </a:prstGeom>
          <a:noFill/>
          <a:ln/>
        </p:spPr>
        <p:txBody>
          <a:bodyPr wrap="square" lIns="0" tIns="0" rIns="0" bIns="0" rtlCol="0" anchor="t"/>
          <a:lstStyle/>
          <a:p>
            <a:pPr indent="0" marL="0">
              <a:buNone/>
            </a:pPr>
            <a:r>
              <a:rPr lang="en-US" sz="1300" dirty="0">
                <a:solidFill>
                  <a:schemeClr val="tx2"/>
                </a:solidFill>
              </a:rPr>
              <a:t>Match = Σ weight × fit. Skills are mapped to the EU ESCO taxonomy, so copying keywords doesn't help.</a:t>
            </a:r>
            <a:endParaRPr lang="en-US" sz="1300" dirty="0"/>
          </a:p>
        </p:txBody>
      </p:sp>
      <p:sp>
        <p:nvSpPr>
          <p:cNvPr id="45" name="Text 43"/>
          <p:cNvSpPr txBox="1"/>
          <p:nvPr/>
        </p:nvSpPr>
        <p:spPr>
          <a:xfrm>
            <a:off x="6583680" y="3063240"/>
            <a:ext cx="5029200" cy="292608"/>
          </a:xfrm>
          <a:prstGeom prst="rect">
            <a:avLst/>
          </a:prstGeom>
          <a:noFill/>
          <a:ln/>
        </p:spPr>
        <p:txBody>
          <a:bodyPr wrap="square" lIns="0" tIns="0" rIns="0" bIns="0" rtlCol="0" anchor="t"/>
          <a:lstStyle/>
          <a:p>
            <a:pPr indent="0" marL="0">
              <a:buNone/>
            </a:pPr>
            <a:r>
              <a:rPr lang="en-US" sz="1600" b="1" dirty="0">
                <a:solidFill>
                  <a:schemeClr val="tx1"/>
                </a:solidFill>
              </a:rPr>
              <a:t>Must-haves cap, never hide</a:t>
            </a:r>
            <a:endParaRPr lang="en-US" sz="1600" dirty="0"/>
          </a:p>
        </p:txBody>
      </p:sp>
      <p:sp>
        <p:nvSpPr>
          <p:cNvPr id="46" name="Text 44"/>
          <p:cNvSpPr txBox="1"/>
          <p:nvPr/>
        </p:nvSpPr>
        <p:spPr>
          <a:xfrm>
            <a:off x="6583680" y="3383280"/>
            <a:ext cx="5029200" cy="640080"/>
          </a:xfrm>
          <a:prstGeom prst="rect">
            <a:avLst/>
          </a:prstGeom>
          <a:noFill/>
          <a:ln/>
        </p:spPr>
        <p:txBody>
          <a:bodyPr wrap="square" lIns="0" tIns="0" rIns="0" bIns="0" rtlCol="0" anchor="t"/>
          <a:lstStyle/>
          <a:p>
            <a:pPr indent="0" marL="0">
              <a:buNone/>
            </a:pPr>
            <a:r>
              <a:rPr lang="en-US" sz="1300" dirty="0">
                <a:solidFill>
                  <a:schemeClr val="tx2"/>
                </a:solidFill>
              </a:rPr>
              <a:t>An unmet must-have caps the score 1 point below your minimum fit (90% → 89%). The job stays visible with the reason.</a:t>
            </a:r>
            <a:endParaRPr lang="en-US" sz="1300" dirty="0"/>
          </a:p>
        </p:txBody>
      </p:sp>
      <p:sp>
        <p:nvSpPr>
          <p:cNvPr id="47" name="Text 45"/>
          <p:cNvSpPr txBox="1"/>
          <p:nvPr/>
        </p:nvSpPr>
        <p:spPr>
          <a:xfrm>
            <a:off x="6583680" y="4069080"/>
            <a:ext cx="5029200" cy="292608"/>
          </a:xfrm>
          <a:prstGeom prst="rect">
            <a:avLst/>
          </a:prstGeom>
          <a:noFill/>
          <a:ln/>
        </p:spPr>
        <p:txBody>
          <a:bodyPr wrap="square" lIns="0" tIns="0" rIns="0" bIns="0" rtlCol="0" anchor="t"/>
          <a:lstStyle/>
          <a:p>
            <a:pPr indent="0" marL="0">
              <a:buNone/>
            </a:pPr>
            <a:r>
              <a:rPr lang="en-US" sz="1600" b="1" dirty="0">
                <a:solidFill>
                  <a:schemeClr val="tx1"/>
                </a:solidFill>
              </a:rPr>
              <a:t>Completeness sets confidence</a:t>
            </a:r>
            <a:endParaRPr lang="en-US" sz="1600" dirty="0"/>
          </a:p>
        </p:txBody>
      </p:sp>
      <p:sp>
        <p:nvSpPr>
          <p:cNvPr id="48" name="Text 46"/>
          <p:cNvSpPr txBox="1"/>
          <p:nvPr/>
        </p:nvSpPr>
        <p:spPr>
          <a:xfrm>
            <a:off x="6583680" y="4389120"/>
            <a:ext cx="5029200" cy="640080"/>
          </a:xfrm>
          <a:prstGeom prst="rect">
            <a:avLst/>
          </a:prstGeom>
          <a:noFill/>
          <a:ln/>
        </p:spPr>
        <p:txBody>
          <a:bodyPr wrap="square" lIns="0" tIns="0" rIns="0" bIns="0" rtlCol="0" anchor="t"/>
          <a:lstStyle/>
          <a:p>
            <a:pPr indent="0" marL="0">
              <a:buNone/>
            </a:pPr>
            <a:r>
              <a:rPr lang="en-US" sz="1300" dirty="0">
                <a:solidFill>
                  <a:schemeClr val="tx2"/>
                </a:solidFill>
              </a:rPr>
              <a:t>A thin profile still gets scores; it lowers the label and we name the missing fields.</a:t>
            </a:r>
            <a:endParaRPr lang="en-US" sz="1300" dirty="0"/>
          </a:p>
        </p:txBody>
      </p:sp>
      <p:sp>
        <p:nvSpPr>
          <p:cNvPr id="49" name="Text 47"/>
          <p:cNvSpPr txBox="1"/>
          <p:nvPr/>
        </p:nvSpPr>
        <p:spPr>
          <a:xfrm>
            <a:off x="6583680" y="5074920"/>
            <a:ext cx="5029200" cy="292608"/>
          </a:xfrm>
          <a:prstGeom prst="rect">
            <a:avLst/>
          </a:prstGeom>
          <a:noFill/>
          <a:ln/>
        </p:spPr>
        <p:txBody>
          <a:bodyPr wrap="square" lIns="0" tIns="0" rIns="0" bIns="0" rtlCol="0" anchor="t"/>
          <a:lstStyle/>
          <a:p>
            <a:pPr indent="0" marL="0">
              <a:buNone/>
            </a:pPr>
            <a:r>
              <a:rPr lang="en-US" sz="1600" b="1" dirty="0">
                <a:solidFill>
                  <a:schemeClr val="tx1"/>
                </a:solidFill>
              </a:rPr>
              <a:t>A score is not a hiring probability</a:t>
            </a:r>
            <a:endParaRPr lang="en-US" sz="1600" dirty="0"/>
          </a:p>
        </p:txBody>
      </p:sp>
      <p:sp>
        <p:nvSpPr>
          <p:cNvPr id="50" name="Text 48"/>
          <p:cNvSpPr txBox="1"/>
          <p:nvPr/>
        </p:nvSpPr>
        <p:spPr>
          <a:xfrm>
            <a:off x="6583680" y="5394960"/>
            <a:ext cx="5029200" cy="640080"/>
          </a:xfrm>
          <a:prstGeom prst="rect">
            <a:avLst/>
          </a:prstGeom>
          <a:noFill/>
          <a:ln/>
        </p:spPr>
        <p:txBody>
          <a:bodyPr wrap="square" lIns="0" tIns="0" rIns="0" bIns="0" rtlCol="0" anchor="t"/>
          <a:lstStyle/>
          <a:p>
            <a:pPr indent="0" marL="0">
              <a:buNone/>
            </a:pPr>
            <a:r>
              <a:rPr lang="en-US" sz="1300" dirty="0">
                <a:solidFill>
                  <a:schemeClr val="tx2"/>
                </a:solidFill>
              </a:rPr>
              <a:t>No age, gender, nationality, photo or other protected attributes are used.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BACKLOG</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9 epics and 29 stories, each traced to the PRD</a:t>
            </a:r>
            <a:endParaRPr lang="en-US" sz="3200" dirty="0"/>
          </a:p>
        </p:txBody>
      </p:sp>
      <p:sp>
        <p:nvSpPr>
          <p:cNvPr id="4" name="epic"/>
          <p:cNvSpPr/>
          <p:nvPr/>
        </p:nvSpPr>
        <p:spPr>
          <a:xfrm>
            <a:off x="548640" y="2057400"/>
            <a:ext cx="2258568" cy="1207008"/>
          </a:xfrm>
          <a:prstGeom prst="roundRect">
            <a:avLst>
              <a:gd name="adj" fmla="val 9091"/>
            </a:avLst>
          </a:prstGeom>
          <a:solidFill>
            <a:schemeClr val="bg1"/>
          </a:solidFill>
          <a:ln w="12700">
            <a:solidFill>
              <a:schemeClr val="bg1"/>
            </a:solidFill>
            <a:prstDash val="solid"/>
          </a:ln>
        </p:spPr>
      </p:sp>
      <p:sp>
        <p:nvSpPr>
          <p:cNvPr id="5" name="Text 3"/>
          <p:cNvSpPr txBox="1"/>
          <p:nvPr/>
        </p:nvSpPr>
        <p:spPr>
          <a:xfrm>
            <a:off x="731520"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CPA-2</a:t>
            </a:r>
            <a:endParaRPr lang="en-US" sz="1000" dirty="0"/>
          </a:p>
        </p:txBody>
      </p:sp>
      <p:sp>
        <p:nvSpPr>
          <p:cNvPr id="6" name="Text 4"/>
          <p:cNvSpPr txBox="1"/>
          <p:nvPr/>
        </p:nvSpPr>
        <p:spPr>
          <a:xfrm>
            <a:off x="731520"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Profile &amp; Onboarding</a:t>
            </a:r>
            <a:endParaRPr lang="en-US" sz="1400" dirty="0"/>
          </a:p>
        </p:txBody>
      </p:sp>
      <p:sp>
        <p:nvSpPr>
          <p:cNvPr id="7" name="Text 5"/>
          <p:cNvSpPr txBox="1"/>
          <p:nvPr/>
        </p:nvSpPr>
        <p:spPr>
          <a:xfrm>
            <a:off x="2148840"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5</a:t>
            </a:r>
            <a:endParaRPr lang="en-US" sz="2600" dirty="0"/>
          </a:p>
        </p:txBody>
      </p:sp>
      <p:sp>
        <p:nvSpPr>
          <p:cNvPr id="8" name="epic"/>
          <p:cNvSpPr/>
          <p:nvPr/>
        </p:nvSpPr>
        <p:spPr>
          <a:xfrm>
            <a:off x="2944368" y="2057400"/>
            <a:ext cx="2258568" cy="1207008"/>
          </a:xfrm>
          <a:prstGeom prst="roundRect">
            <a:avLst>
              <a:gd name="adj" fmla="val 9091"/>
            </a:avLst>
          </a:prstGeom>
          <a:solidFill>
            <a:schemeClr val="bg1"/>
          </a:solidFill>
          <a:ln w="12700">
            <a:solidFill>
              <a:schemeClr val="bg1"/>
            </a:solidFill>
            <a:prstDash val="solid"/>
          </a:ln>
        </p:spPr>
      </p:sp>
      <p:sp>
        <p:nvSpPr>
          <p:cNvPr id="9" name="Text 7"/>
          <p:cNvSpPr txBox="1"/>
          <p:nvPr/>
        </p:nvSpPr>
        <p:spPr>
          <a:xfrm>
            <a:off x="3127248"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CPA-3</a:t>
            </a:r>
            <a:endParaRPr lang="en-US" sz="1000" dirty="0"/>
          </a:p>
        </p:txBody>
      </p:sp>
      <p:sp>
        <p:nvSpPr>
          <p:cNvPr id="10" name="Text 8"/>
          <p:cNvSpPr txBox="1"/>
          <p:nvPr/>
        </p:nvSpPr>
        <p:spPr>
          <a:xfrm>
            <a:off x="3127248"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Job Discovery</a:t>
            </a:r>
            <a:endParaRPr lang="en-US" sz="1400" dirty="0"/>
          </a:p>
        </p:txBody>
      </p:sp>
      <p:sp>
        <p:nvSpPr>
          <p:cNvPr id="11" name="Text 9"/>
          <p:cNvSpPr txBox="1"/>
          <p:nvPr/>
        </p:nvSpPr>
        <p:spPr>
          <a:xfrm>
            <a:off x="4544568"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12" name="epic"/>
          <p:cNvSpPr/>
          <p:nvPr/>
        </p:nvSpPr>
        <p:spPr>
          <a:xfrm>
            <a:off x="5340096" y="2057400"/>
            <a:ext cx="2258568" cy="1207008"/>
          </a:xfrm>
          <a:prstGeom prst="roundRect">
            <a:avLst>
              <a:gd name="adj" fmla="val 9091"/>
            </a:avLst>
          </a:prstGeom>
          <a:solidFill>
            <a:schemeClr val="bg1"/>
          </a:solidFill>
          <a:ln w="12700">
            <a:solidFill>
              <a:schemeClr val="bg1"/>
            </a:solidFill>
            <a:prstDash val="solid"/>
          </a:ln>
        </p:spPr>
      </p:sp>
      <p:sp>
        <p:nvSpPr>
          <p:cNvPr id="13" name="Text 11"/>
          <p:cNvSpPr txBox="1"/>
          <p:nvPr/>
        </p:nvSpPr>
        <p:spPr>
          <a:xfrm>
            <a:off x="5522976" y="2194560"/>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CPA-4</a:t>
            </a:r>
            <a:endParaRPr lang="en-US" sz="1000" dirty="0"/>
          </a:p>
        </p:txBody>
      </p:sp>
      <p:sp>
        <p:nvSpPr>
          <p:cNvPr id="14" name="Text 12"/>
          <p:cNvSpPr txBox="1"/>
          <p:nvPr/>
        </p:nvSpPr>
        <p:spPr>
          <a:xfrm>
            <a:off x="5522976" y="2441448"/>
            <a:ext cx="1463040" cy="685800"/>
          </a:xfrm>
          <a:prstGeom prst="rect">
            <a:avLst/>
          </a:prstGeom>
          <a:noFill/>
          <a:ln/>
        </p:spPr>
        <p:txBody>
          <a:bodyPr wrap="square" lIns="0" tIns="0" rIns="0" bIns="0" rtlCol="0" anchor="t"/>
          <a:lstStyle/>
          <a:p>
            <a:pPr indent="0" marL="0">
              <a:buNone/>
            </a:pPr>
            <a:r>
              <a:rPr lang="en-US" sz="1400" b="1" dirty="0">
                <a:solidFill>
                  <a:schemeClr val="tx1"/>
                </a:solidFill>
              </a:rPr>
              <a:t>Explainable Matching</a:t>
            </a:r>
            <a:endParaRPr lang="en-US" sz="1400" dirty="0"/>
          </a:p>
        </p:txBody>
      </p:sp>
      <p:sp>
        <p:nvSpPr>
          <p:cNvPr id="15" name="Text 13"/>
          <p:cNvSpPr txBox="1"/>
          <p:nvPr/>
        </p:nvSpPr>
        <p:spPr>
          <a:xfrm>
            <a:off x="6940296" y="2514600"/>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4</a:t>
            </a:r>
            <a:endParaRPr lang="en-US" sz="2600" dirty="0"/>
          </a:p>
        </p:txBody>
      </p:sp>
      <p:sp>
        <p:nvSpPr>
          <p:cNvPr id="16" name="epic"/>
          <p:cNvSpPr/>
          <p:nvPr/>
        </p:nvSpPr>
        <p:spPr>
          <a:xfrm>
            <a:off x="548640" y="3401568"/>
            <a:ext cx="2258568" cy="1207008"/>
          </a:xfrm>
          <a:prstGeom prst="roundRect">
            <a:avLst>
              <a:gd name="adj" fmla="val 9091"/>
            </a:avLst>
          </a:prstGeom>
          <a:solidFill>
            <a:schemeClr val="bg1"/>
          </a:solidFill>
          <a:ln w="12700">
            <a:solidFill>
              <a:schemeClr val="bg1"/>
            </a:solidFill>
            <a:prstDash val="solid"/>
          </a:ln>
        </p:spPr>
      </p:sp>
      <p:sp>
        <p:nvSpPr>
          <p:cNvPr id="17" name="Text 15"/>
          <p:cNvSpPr txBox="1"/>
          <p:nvPr/>
        </p:nvSpPr>
        <p:spPr>
          <a:xfrm>
            <a:off x="731520"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CPA-5</a:t>
            </a:r>
            <a:endParaRPr lang="en-US" sz="1000" dirty="0"/>
          </a:p>
        </p:txBody>
      </p:sp>
      <p:sp>
        <p:nvSpPr>
          <p:cNvPr id="18" name="Text 16"/>
          <p:cNvSpPr txBox="1"/>
          <p:nvPr/>
        </p:nvSpPr>
        <p:spPr>
          <a:xfrm>
            <a:off x="731520"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Documents</a:t>
            </a:r>
            <a:endParaRPr lang="en-US" sz="1400" dirty="0"/>
          </a:p>
        </p:txBody>
      </p:sp>
      <p:sp>
        <p:nvSpPr>
          <p:cNvPr id="19" name="Text 17"/>
          <p:cNvSpPr txBox="1"/>
          <p:nvPr/>
        </p:nvSpPr>
        <p:spPr>
          <a:xfrm>
            <a:off x="2148840"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20" name="epic"/>
          <p:cNvSpPr/>
          <p:nvPr/>
        </p:nvSpPr>
        <p:spPr>
          <a:xfrm>
            <a:off x="2944368" y="3401568"/>
            <a:ext cx="2258568" cy="1207008"/>
          </a:xfrm>
          <a:prstGeom prst="roundRect">
            <a:avLst>
              <a:gd name="adj" fmla="val 9091"/>
            </a:avLst>
          </a:prstGeom>
          <a:solidFill>
            <a:schemeClr val="bg1"/>
          </a:solidFill>
          <a:ln w="12700">
            <a:solidFill>
              <a:schemeClr val="bg1"/>
            </a:solidFill>
            <a:prstDash val="solid"/>
          </a:ln>
        </p:spPr>
      </p:sp>
      <p:sp>
        <p:nvSpPr>
          <p:cNvPr id="21" name="Text 19"/>
          <p:cNvSpPr txBox="1"/>
          <p:nvPr/>
        </p:nvSpPr>
        <p:spPr>
          <a:xfrm>
            <a:off x="3127248"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CPA-6</a:t>
            </a:r>
            <a:endParaRPr lang="en-US" sz="1000" dirty="0"/>
          </a:p>
        </p:txBody>
      </p:sp>
      <p:sp>
        <p:nvSpPr>
          <p:cNvPr id="22" name="Text 20"/>
          <p:cNvSpPr txBox="1"/>
          <p:nvPr/>
        </p:nvSpPr>
        <p:spPr>
          <a:xfrm>
            <a:off x="3127248"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Application History</a:t>
            </a:r>
            <a:endParaRPr lang="en-US" sz="1400" dirty="0"/>
          </a:p>
        </p:txBody>
      </p:sp>
      <p:sp>
        <p:nvSpPr>
          <p:cNvPr id="23" name="Text 21"/>
          <p:cNvSpPr txBox="1"/>
          <p:nvPr/>
        </p:nvSpPr>
        <p:spPr>
          <a:xfrm>
            <a:off x="4544568"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24" name="epic"/>
          <p:cNvSpPr/>
          <p:nvPr/>
        </p:nvSpPr>
        <p:spPr>
          <a:xfrm>
            <a:off x="5340096" y="3401568"/>
            <a:ext cx="2258568" cy="1207008"/>
          </a:xfrm>
          <a:prstGeom prst="roundRect">
            <a:avLst>
              <a:gd name="adj" fmla="val 9091"/>
            </a:avLst>
          </a:prstGeom>
          <a:solidFill>
            <a:schemeClr val="bg1"/>
          </a:solidFill>
          <a:ln w="12700">
            <a:solidFill>
              <a:schemeClr val="bg1"/>
            </a:solidFill>
            <a:prstDash val="solid"/>
          </a:ln>
        </p:spPr>
      </p:sp>
      <p:sp>
        <p:nvSpPr>
          <p:cNvPr id="25" name="Text 23"/>
          <p:cNvSpPr txBox="1"/>
          <p:nvPr/>
        </p:nvSpPr>
        <p:spPr>
          <a:xfrm>
            <a:off x="5522976" y="3538728"/>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CPA-8</a:t>
            </a:r>
            <a:endParaRPr lang="en-US" sz="1000" dirty="0"/>
          </a:p>
        </p:txBody>
      </p:sp>
      <p:sp>
        <p:nvSpPr>
          <p:cNvPr id="26" name="Text 24"/>
          <p:cNvSpPr txBox="1"/>
          <p:nvPr/>
        </p:nvSpPr>
        <p:spPr>
          <a:xfrm>
            <a:off x="5522976" y="3785616"/>
            <a:ext cx="1463040" cy="685800"/>
          </a:xfrm>
          <a:prstGeom prst="rect">
            <a:avLst/>
          </a:prstGeom>
          <a:noFill/>
          <a:ln/>
        </p:spPr>
        <p:txBody>
          <a:bodyPr wrap="square" lIns="0" tIns="0" rIns="0" bIns="0" rtlCol="0" anchor="t"/>
          <a:lstStyle/>
          <a:p>
            <a:pPr indent="0" marL="0">
              <a:buNone/>
            </a:pPr>
            <a:r>
              <a:rPr lang="en-US" sz="1400" b="1" dirty="0">
                <a:solidFill>
                  <a:schemeClr val="tx1"/>
                </a:solidFill>
              </a:rPr>
              <a:t>Trust &amp; Privacy</a:t>
            </a:r>
            <a:endParaRPr lang="en-US" sz="1400" dirty="0"/>
          </a:p>
        </p:txBody>
      </p:sp>
      <p:sp>
        <p:nvSpPr>
          <p:cNvPr id="27" name="Text 25"/>
          <p:cNvSpPr txBox="1"/>
          <p:nvPr/>
        </p:nvSpPr>
        <p:spPr>
          <a:xfrm>
            <a:off x="6940296" y="3858768"/>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3</a:t>
            </a:r>
            <a:endParaRPr lang="en-US" sz="2600" dirty="0"/>
          </a:p>
        </p:txBody>
      </p:sp>
      <p:sp>
        <p:nvSpPr>
          <p:cNvPr id="28" name="epic"/>
          <p:cNvSpPr/>
          <p:nvPr/>
        </p:nvSpPr>
        <p:spPr>
          <a:xfrm>
            <a:off x="548640" y="4745736"/>
            <a:ext cx="2258568" cy="1207008"/>
          </a:xfrm>
          <a:prstGeom prst="roundRect">
            <a:avLst>
              <a:gd name="adj" fmla="val 9091"/>
            </a:avLst>
          </a:prstGeom>
          <a:solidFill>
            <a:schemeClr val="bg1"/>
          </a:solidFill>
          <a:ln w="12700">
            <a:solidFill>
              <a:schemeClr val="bg1"/>
            </a:solidFill>
            <a:prstDash val="solid"/>
          </a:ln>
        </p:spPr>
      </p:sp>
      <p:sp>
        <p:nvSpPr>
          <p:cNvPr id="29" name="Text 27"/>
          <p:cNvSpPr txBox="1"/>
          <p:nvPr/>
        </p:nvSpPr>
        <p:spPr>
          <a:xfrm>
            <a:off x="731520" y="4882896"/>
            <a:ext cx="1920240" cy="228600"/>
          </a:xfrm>
          <a:prstGeom prst="rect">
            <a:avLst/>
          </a:prstGeom>
          <a:noFill/>
          <a:ln/>
        </p:spPr>
        <p:txBody>
          <a:bodyPr wrap="square" lIns="0" tIns="0" rIns="0" bIns="0" rtlCol="0" anchor="t"/>
          <a:lstStyle/>
          <a:p>
            <a:pPr indent="0" marL="0">
              <a:buNone/>
            </a:pPr>
            <a:r>
              <a:rPr lang="en-US" sz="1000" b="1" dirty="0">
                <a:solidFill>
                  <a:schemeClr val="tx2"/>
                </a:solidFill>
              </a:rPr>
              <a:t>CPA-78</a:t>
            </a:r>
            <a:endParaRPr lang="en-US" sz="1000" dirty="0"/>
          </a:p>
        </p:txBody>
      </p:sp>
      <p:sp>
        <p:nvSpPr>
          <p:cNvPr id="30" name="Text 28"/>
          <p:cNvSpPr txBox="1"/>
          <p:nvPr/>
        </p:nvSpPr>
        <p:spPr>
          <a:xfrm>
            <a:off x="731520" y="5129784"/>
            <a:ext cx="1463040" cy="685800"/>
          </a:xfrm>
          <a:prstGeom prst="rect">
            <a:avLst/>
          </a:prstGeom>
          <a:noFill/>
          <a:ln/>
        </p:spPr>
        <p:txBody>
          <a:bodyPr wrap="square" lIns="0" tIns="0" rIns="0" bIns="0" rtlCol="0" anchor="t"/>
          <a:lstStyle/>
          <a:p>
            <a:pPr indent="0" marL="0">
              <a:buNone/>
            </a:pPr>
            <a:r>
              <a:rPr lang="en-US" sz="1400" b="1" dirty="0">
                <a:solidFill>
                  <a:schemeClr val="tx1"/>
                </a:solidFill>
              </a:rPr>
              <a:t>Career &amp; Interview</a:t>
            </a:r>
            <a:endParaRPr lang="en-US" sz="1400" dirty="0"/>
          </a:p>
        </p:txBody>
      </p:sp>
      <p:sp>
        <p:nvSpPr>
          <p:cNvPr id="31" name="Text 29"/>
          <p:cNvSpPr txBox="1"/>
          <p:nvPr/>
        </p:nvSpPr>
        <p:spPr>
          <a:xfrm>
            <a:off x="2148840" y="5202936"/>
            <a:ext cx="502920" cy="548640"/>
          </a:xfrm>
          <a:prstGeom prst="rect">
            <a:avLst/>
          </a:prstGeom>
          <a:noFill/>
          <a:ln/>
        </p:spPr>
        <p:txBody>
          <a:bodyPr wrap="square" lIns="0" tIns="0" rIns="0" bIns="0" rtlCol="0" anchor="t"/>
          <a:lstStyle/>
          <a:p>
            <a:pPr algn="r" indent="0" marL="0">
              <a:buNone/>
            </a:pPr>
            <a:r>
              <a:rPr lang="en-US" sz="2600" b="1" dirty="0">
                <a:solidFill>
                  <a:schemeClr val="accent1"/>
                </a:solidFill>
              </a:rPr>
              <a:t>2</a:t>
            </a:r>
            <a:endParaRPr lang="en-US" sz="2600" dirty="0"/>
          </a:p>
        </p:txBody>
      </p:sp>
      <p:sp>
        <p:nvSpPr>
          <p:cNvPr id="32" name="epic"/>
          <p:cNvSpPr/>
          <p:nvPr/>
        </p:nvSpPr>
        <p:spPr>
          <a:xfrm>
            <a:off x="2944368" y="4745736"/>
            <a:ext cx="2258568" cy="1207008"/>
          </a:xfrm>
          <a:prstGeom prst="roundRect">
            <a:avLst>
              <a:gd name="adj" fmla="val 9091"/>
            </a:avLst>
          </a:prstGeom>
          <a:solidFill>
            <a:srgbClr val="0F2A4A"/>
          </a:solidFill>
          <a:ln w="12700">
            <a:solidFill>
              <a:srgbClr val="0F2A4A"/>
            </a:solidFill>
            <a:prstDash val="solid"/>
          </a:ln>
        </p:spPr>
      </p:sp>
      <p:sp>
        <p:nvSpPr>
          <p:cNvPr id="33" name="Text 31"/>
          <p:cNvSpPr txBox="1"/>
          <p:nvPr/>
        </p:nvSpPr>
        <p:spPr>
          <a:xfrm>
            <a:off x="3127248"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CPA-88 · PILOT</a:t>
            </a:r>
            <a:endParaRPr lang="en-US" sz="1000" dirty="0"/>
          </a:p>
        </p:txBody>
      </p:sp>
      <p:sp>
        <p:nvSpPr>
          <p:cNvPr id="34" name="Text 32"/>
          <p:cNvSpPr txBox="1"/>
          <p:nvPr/>
        </p:nvSpPr>
        <p:spPr>
          <a:xfrm>
            <a:off x="3127248"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Headhunter Matching</a:t>
            </a:r>
            <a:endParaRPr lang="en-US" sz="1400" dirty="0"/>
          </a:p>
        </p:txBody>
      </p:sp>
      <p:sp>
        <p:nvSpPr>
          <p:cNvPr id="35" name="Text 33"/>
          <p:cNvSpPr txBox="1"/>
          <p:nvPr/>
        </p:nvSpPr>
        <p:spPr>
          <a:xfrm>
            <a:off x="4544568"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5</a:t>
            </a:r>
            <a:endParaRPr lang="en-US" sz="2600" dirty="0"/>
          </a:p>
        </p:txBody>
      </p:sp>
      <p:sp>
        <p:nvSpPr>
          <p:cNvPr id="36" name="epic"/>
          <p:cNvSpPr/>
          <p:nvPr/>
        </p:nvSpPr>
        <p:spPr>
          <a:xfrm>
            <a:off x="5340096" y="4745736"/>
            <a:ext cx="2258568" cy="1207008"/>
          </a:xfrm>
          <a:prstGeom prst="roundRect">
            <a:avLst>
              <a:gd name="adj" fmla="val 9091"/>
            </a:avLst>
          </a:prstGeom>
          <a:solidFill>
            <a:srgbClr val="0F2A4A"/>
          </a:solidFill>
          <a:ln w="12700">
            <a:solidFill>
              <a:srgbClr val="0F2A4A"/>
            </a:solidFill>
            <a:prstDash val="solid"/>
          </a:ln>
        </p:spPr>
      </p:sp>
      <p:sp>
        <p:nvSpPr>
          <p:cNvPr id="37" name="Text 35"/>
          <p:cNvSpPr txBox="1"/>
          <p:nvPr/>
        </p:nvSpPr>
        <p:spPr>
          <a:xfrm>
            <a:off x="5522976" y="4882896"/>
            <a:ext cx="1920240" cy="228600"/>
          </a:xfrm>
          <a:prstGeom prst="rect">
            <a:avLst/>
          </a:prstGeom>
          <a:noFill/>
          <a:ln/>
        </p:spPr>
        <p:txBody>
          <a:bodyPr wrap="square" lIns="0" tIns="0" rIns="0" bIns="0" rtlCol="0" anchor="t"/>
          <a:lstStyle/>
          <a:p>
            <a:pPr indent="0" marL="0">
              <a:buNone/>
            </a:pPr>
            <a:r>
              <a:rPr lang="en-US" sz="1000" b="1" dirty="0">
                <a:solidFill>
                  <a:schemeClr val="accent1"/>
                </a:solidFill>
              </a:rPr>
              <a:t>CPA-89 · PILOT</a:t>
            </a:r>
            <a:endParaRPr lang="en-US" sz="1000" dirty="0"/>
          </a:p>
        </p:txBody>
      </p:sp>
      <p:sp>
        <p:nvSpPr>
          <p:cNvPr id="38" name="Text 36"/>
          <p:cNvSpPr txBox="1"/>
          <p:nvPr/>
        </p:nvSpPr>
        <p:spPr>
          <a:xfrm>
            <a:off x="5522976" y="5129784"/>
            <a:ext cx="1463040" cy="685800"/>
          </a:xfrm>
          <a:prstGeom prst="rect">
            <a:avLst/>
          </a:prstGeom>
          <a:noFill/>
          <a:ln/>
        </p:spPr>
        <p:txBody>
          <a:bodyPr wrap="square" lIns="0" tIns="0" rIns="0" bIns="0" rtlCol="0" anchor="t"/>
          <a:lstStyle/>
          <a:p>
            <a:pPr indent="0" marL="0">
              <a:buNone/>
            </a:pPr>
            <a:r>
              <a:rPr lang="en-US" sz="1400" b="1" dirty="0">
                <a:solidFill>
                  <a:schemeClr val="bg1"/>
                </a:solidFill>
              </a:rPr>
              <a:t>Consent &amp; Availability</a:t>
            </a:r>
            <a:endParaRPr lang="en-US" sz="1400" dirty="0"/>
          </a:p>
        </p:txBody>
      </p:sp>
      <p:sp>
        <p:nvSpPr>
          <p:cNvPr id="39" name="Text 37"/>
          <p:cNvSpPr txBox="1"/>
          <p:nvPr/>
        </p:nvSpPr>
        <p:spPr>
          <a:xfrm>
            <a:off x="6940296" y="5202936"/>
            <a:ext cx="502920" cy="548640"/>
          </a:xfrm>
          <a:prstGeom prst="rect">
            <a:avLst/>
          </a:prstGeom>
          <a:noFill/>
          <a:ln/>
        </p:spPr>
        <p:txBody>
          <a:bodyPr wrap="square" lIns="0" tIns="0" rIns="0" bIns="0" rtlCol="0" anchor="t"/>
          <a:lstStyle/>
          <a:p>
            <a:pPr algn="r" indent="0" marL="0">
              <a:buNone/>
            </a:pPr>
            <a:r>
              <a:rPr lang="en-US" sz="2600" b="1" dirty="0">
                <a:solidFill>
                  <a:schemeClr val="bg1"/>
                </a:solidFill>
              </a:rPr>
              <a:t>2</a:t>
            </a:r>
            <a:endParaRPr lang="en-US" sz="2600" dirty="0"/>
          </a:p>
        </p:txBody>
      </p:sp>
      <p:sp>
        <p:nvSpPr>
          <p:cNvPr id="40" name="Text 38"/>
          <p:cNvSpPr txBox="1"/>
          <p:nvPr/>
        </p:nvSpPr>
        <p:spPr>
          <a:xfrm>
            <a:off x="7909560" y="2057400"/>
            <a:ext cx="3749040" cy="292608"/>
          </a:xfrm>
          <a:prstGeom prst="rect">
            <a:avLst/>
          </a:prstGeom>
          <a:noFill/>
          <a:ln/>
        </p:spPr>
        <p:txBody>
          <a:bodyPr wrap="square" lIns="0" tIns="0" rIns="0" bIns="0" rtlCol="0" anchor="t"/>
          <a:lstStyle/>
          <a:p>
            <a:pPr indent="0" marL="0">
              <a:buNone/>
            </a:pPr>
            <a:r>
              <a:rPr lang="en-US" sz="1500" b="1" dirty="0">
                <a:solidFill>
                  <a:schemeClr val="tx1"/>
                </a:solidFill>
              </a:rPr>
              <a:t>MoSCoW sets the scope</a:t>
            </a:r>
            <a:endParaRPr lang="en-US" sz="1500" dirty="0"/>
          </a:p>
        </p:txBody>
      </p:sp>
      <p:sp>
        <p:nvSpPr>
          <p:cNvPr id="41" name="Text 39"/>
          <p:cNvSpPr txBox="1"/>
          <p:nvPr/>
        </p:nvSpPr>
        <p:spPr>
          <a:xfrm>
            <a:off x="7909560" y="2368296"/>
            <a:ext cx="3749040" cy="640080"/>
          </a:xfrm>
          <a:prstGeom prst="rect">
            <a:avLst/>
          </a:prstGeom>
          <a:noFill/>
          <a:ln/>
        </p:spPr>
        <p:txBody>
          <a:bodyPr wrap="square" lIns="0" tIns="0" rIns="0" bIns="0" rtlCol="0" anchor="t"/>
          <a:lstStyle/>
          <a:p>
            <a:pPr indent="0" marL="0">
              <a:buNone/>
            </a:pPr>
            <a:r>
              <a:rPr lang="en-US" sz="1200" dirty="0">
                <a:solidFill>
                  <a:schemeClr val="tx2"/>
                </a:solidFill>
              </a:rPr>
              <a:t>22 candidate stories: 13 Must, 6 Should, 2 Could, 1 post-MVP.</a:t>
            </a:r>
            <a:endParaRPr lang="en-US" sz="1200" dirty="0"/>
          </a:p>
        </p:txBody>
      </p:sp>
      <p:sp>
        <p:nvSpPr>
          <p:cNvPr id="42" name="Text 40"/>
          <p:cNvSpPr txBox="1"/>
          <p:nvPr/>
        </p:nvSpPr>
        <p:spPr>
          <a:xfrm>
            <a:off x="7909560" y="3063240"/>
            <a:ext cx="3749040" cy="292608"/>
          </a:xfrm>
          <a:prstGeom prst="rect">
            <a:avLst/>
          </a:prstGeom>
          <a:noFill/>
          <a:ln/>
        </p:spPr>
        <p:txBody>
          <a:bodyPr wrap="square" lIns="0" tIns="0" rIns="0" bIns="0" rtlCol="0" anchor="t"/>
          <a:lstStyle/>
          <a:p>
            <a:pPr indent="0" marL="0">
              <a:buNone/>
            </a:pPr>
            <a:r>
              <a:rPr lang="en-US" sz="1500" b="1" dirty="0">
                <a:solidFill>
                  <a:schemeClr val="tx1"/>
                </a:solidFill>
              </a:rPr>
              <a:t>RICE ranks within it</a:t>
            </a:r>
            <a:endParaRPr lang="en-US" sz="1500" dirty="0"/>
          </a:p>
        </p:txBody>
      </p:sp>
      <p:sp>
        <p:nvSpPr>
          <p:cNvPr id="43" name="Text 41"/>
          <p:cNvSpPr txBox="1"/>
          <p:nvPr/>
        </p:nvSpPr>
        <p:spPr>
          <a:xfrm>
            <a:off x="7909560" y="3374136"/>
            <a:ext cx="3749040" cy="640080"/>
          </a:xfrm>
          <a:prstGeom prst="rect">
            <a:avLst/>
          </a:prstGeom>
          <a:noFill/>
          <a:ln/>
        </p:spPr>
        <p:txBody>
          <a:bodyPr wrap="square" lIns="0" tIns="0" rIns="0" bIns="0" rtlCol="0" anchor="t"/>
          <a:lstStyle/>
          <a:p>
            <a:pPr indent="0" marL="0">
              <a:buNone/>
            </a:pPr>
            <a:r>
              <a:rPr lang="en-US" sz="1200" dirty="0">
                <a:solidFill>
                  <a:schemeClr val="tx2"/>
                </a:solidFill>
              </a:rPr>
              <a:t>Reach × impact × confidence ÷ effort. Matching without a gate scores highest (800).</a:t>
            </a:r>
            <a:endParaRPr lang="en-US" sz="1200" dirty="0"/>
          </a:p>
        </p:txBody>
      </p:sp>
      <p:sp>
        <p:nvSpPr>
          <p:cNvPr id="44" name="Text 42"/>
          <p:cNvSpPr txBox="1"/>
          <p:nvPr/>
        </p:nvSpPr>
        <p:spPr>
          <a:xfrm>
            <a:off x="7909560" y="4069080"/>
            <a:ext cx="3749040" cy="292608"/>
          </a:xfrm>
          <a:prstGeom prst="rect">
            <a:avLst/>
          </a:prstGeom>
          <a:noFill/>
          <a:ln/>
        </p:spPr>
        <p:txBody>
          <a:bodyPr wrap="square" lIns="0" tIns="0" rIns="0" bIns="0" rtlCol="0" anchor="t"/>
          <a:lstStyle/>
          <a:p>
            <a:pPr indent="0" marL="0">
              <a:buNone/>
            </a:pPr>
            <a:r>
              <a:rPr lang="en-US" sz="1500" b="1" dirty="0">
                <a:solidFill>
                  <a:schemeClr val="tx1"/>
                </a:solidFill>
              </a:rPr>
              <a:t>WSJF for the pilot</a:t>
            </a:r>
            <a:endParaRPr lang="en-US" sz="1500" dirty="0"/>
          </a:p>
        </p:txBody>
      </p:sp>
      <p:sp>
        <p:nvSpPr>
          <p:cNvPr id="45" name="Text 43"/>
          <p:cNvSpPr txBox="1"/>
          <p:nvPr/>
        </p:nvSpPr>
        <p:spPr>
          <a:xfrm>
            <a:off x="7909560" y="4379976"/>
            <a:ext cx="3749040" cy="640080"/>
          </a:xfrm>
          <a:prstGeom prst="rect">
            <a:avLst/>
          </a:prstGeom>
          <a:noFill/>
          <a:ln/>
        </p:spPr>
        <p:txBody>
          <a:bodyPr wrap="square" lIns="0" tIns="0" rIns="0" bIns="0" rtlCol="0" anchor="t"/>
          <a:lstStyle/>
          <a:p>
            <a:pPr indent="0" marL="0">
              <a:buNone/>
            </a:pPr>
            <a:r>
              <a:rPr lang="en-US" sz="1200" dirty="0">
                <a:solidFill>
                  <a:schemeClr val="tx2"/>
                </a:solidFill>
              </a:rPr>
              <a:t>7 headhunter stories, ordered by dependencies; capacity decided at G2.</a:t>
            </a:r>
            <a:endParaRPr lang="en-US" sz="1200" dirty="0"/>
          </a:p>
        </p:txBody>
      </p:sp>
      <p:sp>
        <p:nvSpPr>
          <p:cNvPr id="46" name="Text 44"/>
          <p:cNvSpPr txBox="1"/>
          <p:nvPr/>
        </p:nvSpPr>
        <p:spPr>
          <a:xfrm>
            <a:off x="7909560" y="5074920"/>
            <a:ext cx="3749040" cy="292608"/>
          </a:xfrm>
          <a:prstGeom prst="rect">
            <a:avLst/>
          </a:prstGeom>
          <a:noFill/>
          <a:ln/>
        </p:spPr>
        <p:txBody>
          <a:bodyPr wrap="square" lIns="0" tIns="0" rIns="0" bIns="0" rtlCol="0" anchor="t"/>
          <a:lstStyle/>
          <a:p>
            <a:pPr indent="0" marL="0">
              <a:buNone/>
            </a:pPr>
            <a:r>
              <a:rPr lang="en-US" sz="1500" b="1" dirty="0">
                <a:solidFill>
                  <a:schemeClr val="tx1"/>
                </a:solidFill>
              </a:rPr>
              <a:t>Same template everywhere</a:t>
            </a:r>
            <a:endParaRPr lang="en-US" sz="1500" dirty="0"/>
          </a:p>
        </p:txBody>
      </p:sp>
      <p:sp>
        <p:nvSpPr>
          <p:cNvPr id="47" name="Text 45"/>
          <p:cNvSpPr txBox="1"/>
          <p:nvPr/>
        </p:nvSpPr>
        <p:spPr>
          <a:xfrm>
            <a:off x="7909560" y="5385816"/>
            <a:ext cx="3749040" cy="640080"/>
          </a:xfrm>
          <a:prstGeom prst="rect">
            <a:avLst/>
          </a:prstGeom>
          <a:noFill/>
          <a:ln/>
        </p:spPr>
        <p:txBody>
          <a:bodyPr wrap="square" lIns="0" tIns="0" rIns="0" bIns="0" rtlCol="0" anchor="t"/>
          <a:lstStyle/>
          <a:p>
            <a:pPr indent="0" marL="0">
              <a:buNone/>
            </a:pPr>
            <a:r>
              <a:rPr lang="en-US" sz="1200" dirty="0">
                <a:solidFill>
                  <a:schemeClr val="tx2"/>
                </a:solidFill>
              </a:rPr>
              <a:t>Persona, FR reference, Given / When / Then criteria, epic link.</a:t>
            </a:r>
            <a:endParaRPr lang="en-US" sz="1200" dirty="0"/>
          </a:p>
        </p:txBody>
      </p:sp>
      <p:sp>
        <p:nvSpPr>
          <p:cNvPr id="48" name="Text 46"/>
          <p:cNvSpPr txBox="1"/>
          <p:nvPr/>
        </p:nvSpPr>
        <p:spPr>
          <a:xfrm>
            <a:off x="548640" y="6126480"/>
            <a:ext cx="10058400" cy="228600"/>
          </a:xfrm>
          <a:prstGeom prst="rect">
            <a:avLst/>
          </a:prstGeom>
          <a:noFill/>
          <a:ln/>
        </p:spPr>
        <p:txBody>
          <a:bodyPr wrap="square" lIns="0" tIns="0" rIns="0" bIns="0" rtlCol="0" anchor="t"/>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Jira · project CPA · board 39</a:t>
            </a:r>
            <a:pPr indent="0" marL="0">
              <a:buNone/>
            </a:pPr>
            <a:r>
              <a:rPr lang="en-US" sz="1100" dirty="0">
                <a:solidFill>
                  <a:schemeClr val="tx2"/>
                </a:solidFill>
              </a:rPr>
              <a:t> · number = stories per epic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SPRINT PLAN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Six build sprints, 79 story points, alpha on 2 April 2027</a:t>
            </a:r>
            <a:endParaRPr lang="en-US" sz="3200" dirty="0"/>
          </a:p>
        </p:txBody>
      </p:sp>
      <p:sp>
        <p:nvSpPr>
          <p:cNvPr id="4" name="sprint"/>
          <p:cNvSpPr/>
          <p:nvPr/>
        </p:nvSpPr>
        <p:spPr>
          <a:xfrm>
            <a:off x="548640" y="2057400"/>
            <a:ext cx="1737360" cy="3154680"/>
          </a:xfrm>
          <a:prstGeom prst="roundRect">
            <a:avLst>
              <a:gd name="adj" fmla="val 6316"/>
            </a:avLst>
          </a:prstGeom>
          <a:solidFill>
            <a:schemeClr val="bg1"/>
          </a:solidFill>
          <a:ln w="12700">
            <a:solidFill>
              <a:schemeClr val="bg1"/>
            </a:solidFill>
            <a:prstDash val="solid"/>
          </a:ln>
        </p:spPr>
      </p:sp>
      <p:sp>
        <p:nvSpPr>
          <p:cNvPr id="5" name="Text 3"/>
          <p:cNvSpPr txBox="1"/>
          <p:nvPr/>
        </p:nvSpPr>
        <p:spPr>
          <a:xfrm>
            <a:off x="71323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1</a:t>
            </a:r>
            <a:endParaRPr lang="en-US" sz="1000" dirty="0"/>
          </a:p>
        </p:txBody>
      </p:sp>
      <p:sp>
        <p:nvSpPr>
          <p:cNvPr id="6" name="Text 4"/>
          <p:cNvSpPr txBox="1"/>
          <p:nvPr/>
        </p:nvSpPr>
        <p:spPr>
          <a:xfrm>
            <a:off x="713232"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Profile</a:t>
            </a:r>
            <a:endParaRPr lang="en-US" sz="1500" dirty="0"/>
          </a:p>
        </p:txBody>
      </p:sp>
      <p:sp>
        <p:nvSpPr>
          <p:cNvPr id="7" name="Text 5"/>
          <p:cNvSpPr txBox="1"/>
          <p:nvPr/>
        </p:nvSpPr>
        <p:spPr>
          <a:xfrm>
            <a:off x="713232"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11–22 Jan</a:t>
            </a:r>
            <a:endParaRPr lang="en-US" sz="1100" dirty="0"/>
          </a:p>
        </p:txBody>
      </p:sp>
      <p:sp>
        <p:nvSpPr>
          <p:cNvPr id="8" name="Text 6"/>
          <p:cNvSpPr txBox="1"/>
          <p:nvPr/>
        </p:nvSpPr>
        <p:spPr>
          <a:xfrm>
            <a:off x="71323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US8 CV to profile</a:t>
            </a:r>
            <a:endParaRPr lang="en-US" sz="1100" dirty="0"/>
          </a:p>
          <a:p>
            <a:pPr indent="0" marL="0">
              <a:spcAft>
                <a:spcPts val="300"/>
              </a:spcAft>
              <a:buNone/>
            </a:pPr>
            <a:r>
              <a:rPr lang="en-US" sz="1100" dirty="0">
                <a:solidFill>
                  <a:schemeClr val="tx1"/>
                </a:solidFill>
              </a:rPr>
              <a:t>US9 Completeness</a:t>
            </a:r>
            <a:endParaRPr lang="en-US" sz="1100" dirty="0"/>
          </a:p>
        </p:txBody>
      </p:sp>
      <p:sp>
        <p:nvSpPr>
          <p:cNvPr id="9" name="Text 7"/>
          <p:cNvSpPr txBox="1"/>
          <p:nvPr/>
        </p:nvSpPr>
        <p:spPr>
          <a:xfrm>
            <a:off x="713232"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10" name="sprint"/>
          <p:cNvSpPr/>
          <p:nvPr/>
        </p:nvSpPr>
        <p:spPr>
          <a:xfrm>
            <a:off x="2414016" y="2057400"/>
            <a:ext cx="1737360" cy="3154680"/>
          </a:xfrm>
          <a:prstGeom prst="roundRect">
            <a:avLst>
              <a:gd name="adj" fmla="val 6316"/>
            </a:avLst>
          </a:prstGeom>
          <a:solidFill>
            <a:schemeClr val="bg1"/>
          </a:solidFill>
          <a:ln w="12700">
            <a:solidFill>
              <a:schemeClr val="bg1"/>
            </a:solidFill>
            <a:prstDash val="solid"/>
          </a:ln>
        </p:spPr>
      </p:sp>
      <p:sp>
        <p:nvSpPr>
          <p:cNvPr id="11" name="Text 9"/>
          <p:cNvSpPr txBox="1"/>
          <p:nvPr/>
        </p:nvSpPr>
        <p:spPr>
          <a:xfrm>
            <a:off x="2578608"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2</a:t>
            </a:r>
            <a:endParaRPr lang="en-US" sz="1000" dirty="0"/>
          </a:p>
        </p:txBody>
      </p:sp>
      <p:sp>
        <p:nvSpPr>
          <p:cNvPr id="12" name="Text 10"/>
          <p:cNvSpPr txBox="1"/>
          <p:nvPr/>
        </p:nvSpPr>
        <p:spPr>
          <a:xfrm>
            <a:off x="2578608"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Discovery</a:t>
            </a:r>
            <a:endParaRPr lang="en-US" sz="1500" dirty="0"/>
          </a:p>
        </p:txBody>
      </p:sp>
      <p:sp>
        <p:nvSpPr>
          <p:cNvPr id="13" name="Text 11"/>
          <p:cNvSpPr txBox="1"/>
          <p:nvPr/>
        </p:nvSpPr>
        <p:spPr>
          <a:xfrm>
            <a:off x="2578608"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25 Jan–5 Feb</a:t>
            </a:r>
            <a:endParaRPr lang="en-US" sz="1100" dirty="0"/>
          </a:p>
        </p:txBody>
      </p:sp>
      <p:sp>
        <p:nvSpPr>
          <p:cNvPr id="14" name="Text 12"/>
          <p:cNvSpPr txBox="1"/>
          <p:nvPr/>
        </p:nvSpPr>
        <p:spPr>
          <a:xfrm>
            <a:off x="2578608"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US1 One digest</a:t>
            </a:r>
            <a:endParaRPr lang="en-US" sz="1100" dirty="0"/>
          </a:p>
          <a:p>
            <a:pPr indent="0" marL="0">
              <a:spcAft>
                <a:spcPts val="300"/>
              </a:spcAft>
              <a:buNone/>
            </a:pPr>
            <a:r>
              <a:rPr lang="en-US" sz="1100" dirty="0">
                <a:solidFill>
                  <a:schemeClr val="tx1"/>
                </a:solidFill>
              </a:rPr>
              <a:t>US14 Preferences</a:t>
            </a:r>
            <a:endParaRPr lang="en-US" sz="1100" dirty="0"/>
          </a:p>
        </p:txBody>
      </p:sp>
      <p:sp>
        <p:nvSpPr>
          <p:cNvPr id="15" name="Text 13"/>
          <p:cNvSpPr txBox="1"/>
          <p:nvPr/>
        </p:nvSpPr>
        <p:spPr>
          <a:xfrm>
            <a:off x="2578608"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16" name="sprint"/>
          <p:cNvSpPr/>
          <p:nvPr/>
        </p:nvSpPr>
        <p:spPr>
          <a:xfrm>
            <a:off x="4279392" y="2057400"/>
            <a:ext cx="1737360" cy="3154680"/>
          </a:xfrm>
          <a:prstGeom prst="roundRect">
            <a:avLst>
              <a:gd name="adj" fmla="val 6316"/>
            </a:avLst>
          </a:prstGeom>
          <a:solidFill>
            <a:schemeClr val="bg1"/>
          </a:solidFill>
          <a:ln w="12700">
            <a:solidFill>
              <a:schemeClr val="bg1"/>
            </a:solidFill>
            <a:prstDash val="solid"/>
          </a:ln>
        </p:spPr>
      </p:sp>
      <p:sp>
        <p:nvSpPr>
          <p:cNvPr id="17" name="Text 15"/>
          <p:cNvSpPr txBox="1"/>
          <p:nvPr/>
        </p:nvSpPr>
        <p:spPr>
          <a:xfrm>
            <a:off x="4443984"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3</a:t>
            </a:r>
            <a:endParaRPr lang="en-US" sz="1000" dirty="0"/>
          </a:p>
        </p:txBody>
      </p:sp>
      <p:sp>
        <p:nvSpPr>
          <p:cNvPr id="18" name="Text 16"/>
          <p:cNvSpPr txBox="1"/>
          <p:nvPr/>
        </p:nvSpPr>
        <p:spPr>
          <a:xfrm>
            <a:off x="4443984"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Matching</a:t>
            </a:r>
            <a:endParaRPr lang="en-US" sz="1500" dirty="0"/>
          </a:p>
        </p:txBody>
      </p:sp>
      <p:sp>
        <p:nvSpPr>
          <p:cNvPr id="19" name="Text 17"/>
          <p:cNvSpPr txBox="1"/>
          <p:nvPr/>
        </p:nvSpPr>
        <p:spPr>
          <a:xfrm>
            <a:off x="4443984"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Feb</a:t>
            </a:r>
            <a:endParaRPr lang="en-US" sz="1100" dirty="0"/>
          </a:p>
        </p:txBody>
      </p:sp>
      <p:sp>
        <p:nvSpPr>
          <p:cNvPr id="20" name="Text 18"/>
          <p:cNvSpPr txBox="1"/>
          <p:nvPr/>
        </p:nvSpPr>
        <p:spPr>
          <a:xfrm>
            <a:off x="4443984"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US2 Explained score</a:t>
            </a:r>
            <a:endParaRPr lang="en-US" sz="1100" dirty="0"/>
          </a:p>
          <a:p>
            <a:pPr indent="0" marL="0">
              <a:spcAft>
                <a:spcPts val="300"/>
              </a:spcAft>
              <a:buNone/>
            </a:pPr>
            <a:r>
              <a:rPr lang="en-US" sz="1100" dirty="0">
                <a:solidFill>
                  <a:schemeClr val="tx1"/>
                </a:solidFill>
              </a:rPr>
              <a:t>US6 Language level</a:t>
            </a:r>
            <a:endParaRPr lang="en-US" sz="1100" dirty="0"/>
          </a:p>
        </p:txBody>
      </p:sp>
      <p:sp>
        <p:nvSpPr>
          <p:cNvPr id="21" name="Text 19"/>
          <p:cNvSpPr txBox="1"/>
          <p:nvPr/>
        </p:nvSpPr>
        <p:spPr>
          <a:xfrm>
            <a:off x="4443984"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2" name="sprint"/>
          <p:cNvSpPr/>
          <p:nvPr/>
        </p:nvSpPr>
        <p:spPr>
          <a:xfrm>
            <a:off x="6144768" y="2057400"/>
            <a:ext cx="1737360" cy="3154680"/>
          </a:xfrm>
          <a:prstGeom prst="roundRect">
            <a:avLst>
              <a:gd name="adj" fmla="val 6316"/>
            </a:avLst>
          </a:prstGeom>
          <a:solidFill>
            <a:schemeClr val="bg1"/>
          </a:solidFill>
          <a:ln w="12700">
            <a:solidFill>
              <a:schemeClr val="bg1"/>
            </a:solidFill>
            <a:prstDash val="solid"/>
          </a:ln>
        </p:spPr>
      </p:sp>
      <p:sp>
        <p:nvSpPr>
          <p:cNvPr id="23" name="Text 21"/>
          <p:cNvSpPr txBox="1"/>
          <p:nvPr/>
        </p:nvSpPr>
        <p:spPr>
          <a:xfrm>
            <a:off x="6309360"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4</a:t>
            </a:r>
            <a:endParaRPr lang="en-US" sz="1000" dirty="0"/>
          </a:p>
        </p:txBody>
      </p:sp>
      <p:sp>
        <p:nvSpPr>
          <p:cNvPr id="24" name="Text 22"/>
          <p:cNvSpPr txBox="1"/>
          <p:nvPr/>
        </p:nvSpPr>
        <p:spPr>
          <a:xfrm>
            <a:off x="6309360"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Fit &amp; privacy</a:t>
            </a:r>
            <a:endParaRPr lang="en-US" sz="1500" dirty="0"/>
          </a:p>
        </p:txBody>
      </p:sp>
      <p:sp>
        <p:nvSpPr>
          <p:cNvPr id="25" name="Text 23"/>
          <p:cNvSpPr txBox="1"/>
          <p:nvPr/>
        </p:nvSpPr>
        <p:spPr>
          <a:xfrm>
            <a:off x="6309360"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22 Feb–5 Mar</a:t>
            </a:r>
            <a:endParaRPr lang="en-US" sz="1100" dirty="0"/>
          </a:p>
        </p:txBody>
      </p:sp>
      <p:sp>
        <p:nvSpPr>
          <p:cNvPr id="26" name="Text 24"/>
          <p:cNvSpPr txBox="1"/>
          <p:nvPr/>
        </p:nvSpPr>
        <p:spPr>
          <a:xfrm>
            <a:off x="6309360"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US3 Fit, not missing data</a:t>
            </a:r>
            <a:endParaRPr lang="en-US" sz="1100" dirty="0"/>
          </a:p>
          <a:p>
            <a:pPr indent="0" marL="0">
              <a:spcAft>
                <a:spcPts val="300"/>
              </a:spcAft>
              <a:buNone/>
            </a:pPr>
            <a:r>
              <a:rPr lang="en-US" sz="1100" dirty="0">
                <a:solidFill>
                  <a:schemeClr val="tx1"/>
                </a:solidFill>
              </a:rPr>
              <a:t>US12 My data</a:t>
            </a:r>
            <a:endParaRPr lang="en-US" sz="1100" dirty="0"/>
          </a:p>
          <a:p>
            <a:pPr indent="0" marL="0">
              <a:spcAft>
                <a:spcPts val="300"/>
              </a:spcAft>
              <a:buNone/>
            </a:pPr>
            <a:r>
              <a:rPr lang="en-US" sz="1100" dirty="0">
                <a:solidFill>
                  <a:schemeClr val="tx1"/>
                </a:solidFill>
              </a:rPr>
              <a:t>US17 Confidence</a:t>
            </a:r>
            <a:endParaRPr lang="en-US" sz="1100" dirty="0"/>
          </a:p>
        </p:txBody>
      </p:sp>
      <p:sp>
        <p:nvSpPr>
          <p:cNvPr id="27" name="Text 25"/>
          <p:cNvSpPr txBox="1"/>
          <p:nvPr/>
        </p:nvSpPr>
        <p:spPr>
          <a:xfrm>
            <a:off x="6309360"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28" name="sprint"/>
          <p:cNvSpPr/>
          <p:nvPr/>
        </p:nvSpPr>
        <p:spPr>
          <a:xfrm>
            <a:off x="8010144" y="2057400"/>
            <a:ext cx="1737360" cy="3154680"/>
          </a:xfrm>
          <a:prstGeom prst="roundRect">
            <a:avLst>
              <a:gd name="adj" fmla="val 6316"/>
            </a:avLst>
          </a:prstGeom>
          <a:solidFill>
            <a:schemeClr val="bg1"/>
          </a:solidFill>
          <a:ln w="12700">
            <a:solidFill>
              <a:schemeClr val="bg1"/>
            </a:solidFill>
            <a:prstDash val="solid"/>
          </a:ln>
        </p:spPr>
      </p:sp>
      <p:sp>
        <p:nvSpPr>
          <p:cNvPr id="29" name="Text 27"/>
          <p:cNvSpPr txBox="1"/>
          <p:nvPr/>
        </p:nvSpPr>
        <p:spPr>
          <a:xfrm>
            <a:off x="8174736"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5</a:t>
            </a:r>
            <a:endParaRPr lang="en-US" sz="1000" dirty="0"/>
          </a:p>
        </p:txBody>
      </p:sp>
      <p:sp>
        <p:nvSpPr>
          <p:cNvPr id="30" name="Text 28"/>
          <p:cNvSpPr txBox="1"/>
          <p:nvPr/>
        </p:nvSpPr>
        <p:spPr>
          <a:xfrm>
            <a:off x="8174736" y="2468880"/>
            <a:ext cx="1463040" cy="320040"/>
          </a:xfrm>
          <a:prstGeom prst="rect">
            <a:avLst/>
          </a:prstGeom>
          <a:noFill/>
          <a:ln/>
        </p:spPr>
        <p:txBody>
          <a:bodyPr wrap="square" lIns="0" tIns="0" rIns="0" bIns="0" rtlCol="0" anchor="t"/>
          <a:lstStyle/>
          <a:p>
            <a:pPr indent="0" marL="0">
              <a:buNone/>
            </a:pPr>
            <a:r>
              <a:rPr lang="en-US" sz="1500" b="1" dirty="0">
                <a:solidFill>
                  <a:schemeClr val="tx1"/>
                </a:solidFill>
              </a:rPr>
              <a:t>Documents</a:t>
            </a:r>
            <a:endParaRPr lang="en-US" sz="1500" dirty="0"/>
          </a:p>
        </p:txBody>
      </p:sp>
      <p:sp>
        <p:nvSpPr>
          <p:cNvPr id="31" name="Text 29"/>
          <p:cNvSpPr txBox="1"/>
          <p:nvPr/>
        </p:nvSpPr>
        <p:spPr>
          <a:xfrm>
            <a:off x="8174736" y="2788920"/>
            <a:ext cx="1463040" cy="228600"/>
          </a:xfrm>
          <a:prstGeom prst="rect">
            <a:avLst/>
          </a:prstGeom>
          <a:noFill/>
          <a:ln/>
        </p:spPr>
        <p:txBody>
          <a:bodyPr wrap="square" lIns="0" tIns="0" rIns="0" bIns="0" rtlCol="0" anchor="t"/>
          <a:lstStyle/>
          <a:p>
            <a:pPr indent="0" marL="0">
              <a:buNone/>
            </a:pPr>
            <a:r>
              <a:rPr lang="en-US" sz="1100" dirty="0">
                <a:solidFill>
                  <a:schemeClr val="tx2"/>
                </a:solidFill>
              </a:rPr>
              <a:t>8–19 Mar</a:t>
            </a:r>
            <a:endParaRPr lang="en-US" sz="1100" dirty="0"/>
          </a:p>
        </p:txBody>
      </p:sp>
      <p:sp>
        <p:nvSpPr>
          <p:cNvPr id="32" name="Text 30"/>
          <p:cNvSpPr txBox="1"/>
          <p:nvPr/>
        </p:nvSpPr>
        <p:spPr>
          <a:xfrm>
            <a:off x="8174736"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tx1"/>
                </a:solidFill>
              </a:rPr>
              <a:t>US5 CV and letter</a:t>
            </a:r>
            <a:endParaRPr lang="en-US" sz="1100" dirty="0"/>
          </a:p>
          <a:p>
            <a:pPr indent="0" marL="0">
              <a:spcAft>
                <a:spcPts val="300"/>
              </a:spcAft>
              <a:buNone/>
            </a:pPr>
            <a:r>
              <a:rPr lang="en-US" sz="1100" dirty="0">
                <a:solidFill>
                  <a:schemeClr val="tx1"/>
                </a:solidFill>
              </a:rPr>
              <a:t>US10 Credits</a:t>
            </a:r>
            <a:endParaRPr lang="en-US" sz="1100" dirty="0"/>
          </a:p>
          <a:p>
            <a:pPr indent="0" marL="0">
              <a:spcAft>
                <a:spcPts val="300"/>
              </a:spcAft>
              <a:buNone/>
            </a:pPr>
            <a:r>
              <a:rPr lang="en-US" sz="1100" dirty="0">
                <a:solidFill>
                  <a:schemeClr val="tx1"/>
                </a:solidFill>
              </a:rPr>
              <a:t>US22 What's free</a:t>
            </a:r>
            <a:endParaRPr lang="en-US" sz="1100" dirty="0"/>
          </a:p>
        </p:txBody>
      </p:sp>
      <p:sp>
        <p:nvSpPr>
          <p:cNvPr id="33" name="Text 31"/>
          <p:cNvSpPr txBox="1"/>
          <p:nvPr/>
        </p:nvSpPr>
        <p:spPr>
          <a:xfrm>
            <a:off x="8174736" y="4754880"/>
            <a:ext cx="1463040" cy="320040"/>
          </a:xfrm>
          <a:prstGeom prst="rect">
            <a:avLst/>
          </a:prstGeom>
          <a:noFill/>
          <a:ln/>
        </p:spPr>
        <p:txBody>
          <a:bodyPr wrap="square" lIns="0" tIns="0" rIns="0" bIns="0" rtlCol="0" anchor="t"/>
          <a:lstStyle/>
          <a:p>
            <a:pPr indent="0" marL="0">
              <a:buNone/>
            </a:pPr>
            <a:r>
              <a:rPr lang="en-US" sz="1600" b="1" dirty="0">
                <a:solidFill>
                  <a:schemeClr val="tx1"/>
                </a:solidFill>
              </a:rPr>
              <a:t>13 pts</a:t>
            </a:r>
            <a:endParaRPr lang="en-US" sz="1600" dirty="0"/>
          </a:p>
        </p:txBody>
      </p:sp>
      <p:sp>
        <p:nvSpPr>
          <p:cNvPr id="34" name="sprint"/>
          <p:cNvSpPr/>
          <p:nvPr/>
        </p:nvSpPr>
        <p:spPr>
          <a:xfrm>
            <a:off x="9875520" y="2057400"/>
            <a:ext cx="1737360" cy="3154680"/>
          </a:xfrm>
          <a:prstGeom prst="roundRect">
            <a:avLst>
              <a:gd name="adj" fmla="val 6316"/>
            </a:avLst>
          </a:prstGeom>
          <a:solidFill>
            <a:srgbClr val="0F2A4A"/>
          </a:solidFill>
          <a:ln w="12700">
            <a:solidFill>
              <a:srgbClr val="0F2A4A"/>
            </a:solidFill>
            <a:prstDash val="solid"/>
          </a:ln>
        </p:spPr>
      </p:sp>
      <p:sp>
        <p:nvSpPr>
          <p:cNvPr id="35" name="Text 33"/>
          <p:cNvSpPr txBox="1"/>
          <p:nvPr/>
        </p:nvSpPr>
        <p:spPr>
          <a:xfrm>
            <a:off x="10040112" y="2212848"/>
            <a:ext cx="1463040" cy="228600"/>
          </a:xfrm>
          <a:prstGeom prst="rect">
            <a:avLst/>
          </a:prstGeom>
          <a:noFill/>
          <a:ln/>
        </p:spPr>
        <p:txBody>
          <a:bodyPr wrap="square" lIns="0" tIns="0" rIns="0" bIns="0" rtlCol="0" anchor="t"/>
          <a:lstStyle/>
          <a:p>
            <a:pPr indent="0" marL="0">
              <a:buNone/>
            </a:pPr>
            <a:r>
              <a:rPr lang="en-US" sz="1000" b="1" dirty="0">
                <a:solidFill>
                  <a:schemeClr val="accent1"/>
                </a:solidFill>
              </a:rPr>
              <a:t>SPRINT 6</a:t>
            </a:r>
            <a:endParaRPr lang="en-US" sz="1000" dirty="0"/>
          </a:p>
        </p:txBody>
      </p:sp>
      <p:sp>
        <p:nvSpPr>
          <p:cNvPr id="36" name="Text 34"/>
          <p:cNvSpPr txBox="1"/>
          <p:nvPr/>
        </p:nvSpPr>
        <p:spPr>
          <a:xfrm>
            <a:off x="10040112" y="2468880"/>
            <a:ext cx="1463040" cy="320040"/>
          </a:xfrm>
          <a:prstGeom prst="rect">
            <a:avLst/>
          </a:prstGeom>
          <a:noFill/>
          <a:ln/>
        </p:spPr>
        <p:txBody>
          <a:bodyPr wrap="square" lIns="0" tIns="0" rIns="0" bIns="0" rtlCol="0" anchor="t"/>
          <a:lstStyle/>
          <a:p>
            <a:pPr indent="0" marL="0">
              <a:buNone/>
            </a:pPr>
            <a:r>
              <a:rPr lang="en-US" sz="1500" b="1" dirty="0">
                <a:solidFill>
                  <a:schemeClr val="bg1"/>
                </a:solidFill>
              </a:rPr>
              <a:t>Tracking</a:t>
            </a:r>
            <a:endParaRPr lang="en-US" sz="1500" dirty="0"/>
          </a:p>
        </p:txBody>
      </p:sp>
      <p:sp>
        <p:nvSpPr>
          <p:cNvPr id="37" name="Text 35"/>
          <p:cNvSpPr txBox="1"/>
          <p:nvPr/>
        </p:nvSpPr>
        <p:spPr>
          <a:xfrm>
            <a:off x="10040112" y="2788920"/>
            <a:ext cx="1463040" cy="228600"/>
          </a:xfrm>
          <a:prstGeom prst="rect">
            <a:avLst/>
          </a:prstGeom>
          <a:noFill/>
          <a:ln/>
        </p:spPr>
        <p:txBody>
          <a:bodyPr wrap="square" lIns="0" tIns="0" rIns="0" bIns="0" rtlCol="0" anchor="t"/>
          <a:lstStyle/>
          <a:p>
            <a:pPr indent="0" marL="0">
              <a:buNone/>
            </a:pPr>
            <a:r>
              <a:rPr lang="en-US" sz="1100" dirty="0">
                <a:solidFill>
                  <a:schemeClr val="accent4"/>
                </a:solidFill>
              </a:rPr>
              <a:t>22 Mar–2 Apr</a:t>
            </a:r>
            <a:endParaRPr lang="en-US" sz="1100" dirty="0"/>
          </a:p>
        </p:txBody>
      </p:sp>
      <p:sp>
        <p:nvSpPr>
          <p:cNvPr id="38" name="Text 36"/>
          <p:cNvSpPr txBox="1"/>
          <p:nvPr/>
        </p:nvSpPr>
        <p:spPr>
          <a:xfrm>
            <a:off x="10040112" y="3154680"/>
            <a:ext cx="1463040" cy="1463040"/>
          </a:xfrm>
          <a:prstGeom prst="rect">
            <a:avLst/>
          </a:prstGeom>
          <a:noFill/>
          <a:ln/>
        </p:spPr>
        <p:txBody>
          <a:bodyPr wrap="square" lIns="0" tIns="0" rIns="0" bIns="0" rtlCol="0" anchor="t"/>
          <a:lstStyle/>
          <a:p>
            <a:pPr indent="0" marL="0">
              <a:spcAft>
                <a:spcPts val="300"/>
              </a:spcAft>
              <a:buNone/>
            </a:pPr>
            <a:r>
              <a:rPr lang="en-US" sz="1100" dirty="0">
                <a:solidFill>
                  <a:schemeClr val="bg1"/>
                </a:solidFill>
              </a:rPr>
              <a:t>US4 History</a:t>
            </a:r>
            <a:endParaRPr lang="en-US" sz="1100" dirty="0"/>
          </a:p>
          <a:p>
            <a:pPr indent="0" marL="0">
              <a:spcAft>
                <a:spcPts val="300"/>
              </a:spcAft>
              <a:buNone/>
            </a:pPr>
            <a:r>
              <a:rPr lang="en-US" sz="1100" dirty="0">
                <a:solidFill>
                  <a:schemeClr val="bg1"/>
                </a:solidFill>
              </a:rPr>
              <a:t>US11 Reminders</a:t>
            </a:r>
            <a:endParaRPr lang="en-US" sz="1100" dirty="0"/>
          </a:p>
          <a:p>
            <a:pPr indent="0" marL="0">
              <a:spcAft>
                <a:spcPts val="300"/>
              </a:spcAft>
              <a:buNone/>
            </a:pPr>
            <a:r>
              <a:rPr lang="en-US" sz="1100" dirty="0">
                <a:solidFill>
                  <a:schemeClr val="bg1"/>
                </a:solidFill>
              </a:rPr>
              <a:t>US20 Language</a:t>
            </a:r>
            <a:endParaRPr lang="en-US" sz="1100" dirty="0"/>
          </a:p>
          <a:p>
            <a:pPr indent="0" marL="0">
              <a:spcAft>
                <a:spcPts val="300"/>
              </a:spcAft>
              <a:buNone/>
            </a:pPr>
            <a:r>
              <a:rPr lang="en-US" sz="1100" dirty="0">
                <a:solidFill>
                  <a:schemeClr val="bg1"/>
                </a:solidFill>
              </a:rPr>
              <a:t>US21 Apply + confirm</a:t>
            </a:r>
            <a:endParaRPr lang="en-US" sz="1100" dirty="0"/>
          </a:p>
        </p:txBody>
      </p:sp>
      <p:sp>
        <p:nvSpPr>
          <p:cNvPr id="39" name="Text 37"/>
          <p:cNvSpPr txBox="1"/>
          <p:nvPr/>
        </p:nvSpPr>
        <p:spPr>
          <a:xfrm>
            <a:off x="10040112" y="4754880"/>
            <a:ext cx="1463040" cy="320040"/>
          </a:xfrm>
          <a:prstGeom prst="rect">
            <a:avLst/>
          </a:prstGeom>
          <a:noFill/>
          <a:ln/>
        </p:spPr>
        <p:txBody>
          <a:bodyPr wrap="square" lIns="0" tIns="0" rIns="0" bIns="0" rtlCol="0" anchor="t"/>
          <a:lstStyle/>
          <a:p>
            <a:pPr indent="0" marL="0">
              <a:buNone/>
            </a:pPr>
            <a:r>
              <a:rPr lang="en-US" sz="1600" b="1" dirty="0">
                <a:solidFill>
                  <a:schemeClr val="bg1"/>
                </a:solidFill>
              </a:rPr>
              <a:t>14 pts</a:t>
            </a:r>
            <a:endParaRPr lang="en-US" sz="1600" dirty="0"/>
          </a:p>
        </p:txBody>
      </p:sp>
      <p:sp>
        <p:nvSpPr>
          <p:cNvPr id="40" name="around"/>
          <p:cNvSpPr/>
          <p:nvPr/>
        </p:nvSpPr>
        <p:spPr>
          <a:xfrm>
            <a:off x="548640" y="5394960"/>
            <a:ext cx="11091672" cy="658368"/>
          </a:xfrm>
          <a:prstGeom prst="roundRect">
            <a:avLst>
              <a:gd name="adj" fmla="val 16667"/>
            </a:avLst>
          </a:prstGeom>
          <a:solidFill>
            <a:schemeClr val="bg1"/>
          </a:solidFill>
          <a:ln w="12700">
            <a:solidFill>
              <a:schemeClr val="bg1"/>
            </a:solidFill>
            <a:prstDash val="solid"/>
          </a:ln>
        </p:spPr>
      </p:sp>
      <p:sp>
        <p:nvSpPr>
          <p:cNvPr id="41" name="Text 39"/>
          <p:cNvSpPr txBox="1"/>
          <p:nvPr/>
        </p:nvSpPr>
        <p:spPr>
          <a:xfrm>
            <a:off x="777240" y="5394960"/>
            <a:ext cx="10698480" cy="658368"/>
          </a:xfrm>
          <a:prstGeom prst="rect">
            <a:avLst/>
          </a:prstGeom>
          <a:noFill/>
          <a:ln/>
        </p:spPr>
        <p:txBody>
          <a:bodyPr wrap="square" lIns="0" tIns="0" rIns="0" bIns="0" rtlCol="0" anchor="ctr"/>
          <a:lstStyle/>
          <a:p>
            <a:pPr indent="0" marL="0">
              <a:buNone/>
            </a:pPr>
            <a:r>
              <a:rPr lang="en-US" sz="1200" b="1" dirty="0">
                <a:solidFill>
                  <a:schemeClr val="tx1"/>
                </a:solidFill>
              </a:rPr>
              <a:t>Before: </a:t>
            </a:r>
            <a:pPr indent="0" marL="0">
              <a:buNone/>
            </a:pPr>
            <a:r>
              <a:rPr lang="en-US" sz="1200" dirty="0">
                <a:solidFill>
                  <a:schemeClr val="tx1"/>
                </a:solidFill>
              </a:rPr>
              <a:t>S1–S6 validate and design (Oct 2026 – Jan 2027).   </a:t>
            </a:r>
            <a:pPr indent="0" marL="0">
              <a:buNone/>
            </a:pPr>
            <a:r>
              <a:rPr lang="en-US" sz="1200" b="1" dirty="0">
                <a:solidFill>
                  <a:schemeClr val="tx1"/>
                </a:solidFill>
              </a:rPr>
              <a:t>After: </a:t>
            </a:r>
            <a:pPr indent="0" marL="0">
              <a:buNone/>
            </a:pPr>
            <a:r>
              <a:rPr lang="en-US" sz="1200" dirty="0">
                <a:solidFill>
                  <a:schemeClr val="tx1"/>
                </a:solidFill>
              </a:rPr>
              <a:t>hardening and Should stretch (US18 interview prep, US7, US15, US16, US19), beta in May, launch June 27.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BUSINESS MODEL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Matching is free; credits pay for preparation</a:t>
            </a:r>
            <a:endParaRPr lang="en-US" sz="3200" dirty="0"/>
          </a:p>
        </p:txBody>
      </p:sp>
      <p:sp>
        <p:nvSpPr>
          <p:cNvPr id="4" name="stat"/>
          <p:cNvSpPr/>
          <p:nvPr/>
        </p:nvSpPr>
        <p:spPr>
          <a:xfrm>
            <a:off x="548640" y="2103120"/>
            <a:ext cx="2194560" cy="1645920"/>
          </a:xfrm>
          <a:prstGeom prst="roundRect">
            <a:avLst>
              <a:gd name="adj" fmla="val 6667"/>
            </a:avLst>
          </a:prstGeom>
          <a:solidFill>
            <a:schemeClr val="bg1"/>
          </a:solidFill>
          <a:ln w="12700">
            <a:solidFill>
              <a:schemeClr val="bg1"/>
            </a:solidFill>
            <a:prstDash val="solid"/>
          </a:ln>
        </p:spPr>
      </p:sp>
      <p:sp>
        <p:nvSpPr>
          <p:cNvPr id="5" name="Text 3"/>
          <p:cNvSpPr txBox="1"/>
          <p:nvPr/>
        </p:nvSpPr>
        <p:spPr>
          <a:xfrm>
            <a:off x="77724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10</a:t>
            </a:r>
            <a:endParaRPr lang="en-US" sz="4000" dirty="0"/>
          </a:p>
        </p:txBody>
      </p:sp>
      <p:sp>
        <p:nvSpPr>
          <p:cNvPr id="6" name="Text 4"/>
          <p:cNvSpPr txBox="1"/>
          <p:nvPr/>
        </p:nvSpPr>
        <p:spPr>
          <a:xfrm>
            <a:off x="77724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free credits per user per day</a:t>
            </a:r>
            <a:endParaRPr lang="en-US" sz="1300" dirty="0"/>
          </a:p>
        </p:txBody>
      </p:sp>
      <p:sp>
        <p:nvSpPr>
          <p:cNvPr id="7" name="stat"/>
          <p:cNvSpPr/>
          <p:nvPr/>
        </p:nvSpPr>
        <p:spPr>
          <a:xfrm>
            <a:off x="2926080" y="2103120"/>
            <a:ext cx="2194560" cy="1645920"/>
          </a:xfrm>
          <a:prstGeom prst="roundRect">
            <a:avLst>
              <a:gd name="adj" fmla="val 6667"/>
            </a:avLst>
          </a:prstGeom>
          <a:solidFill>
            <a:schemeClr val="bg1"/>
          </a:solidFill>
          <a:ln w="12700">
            <a:solidFill>
              <a:schemeClr val="bg1"/>
            </a:solidFill>
            <a:prstDash val="solid"/>
          </a:ln>
        </p:spPr>
      </p:sp>
      <p:sp>
        <p:nvSpPr>
          <p:cNvPr id="8" name="Text 6"/>
          <p:cNvSpPr txBox="1"/>
          <p:nvPr/>
        </p:nvSpPr>
        <p:spPr>
          <a:xfrm>
            <a:off x="3154680" y="2240280"/>
            <a:ext cx="1828800" cy="777240"/>
          </a:xfrm>
          <a:prstGeom prst="rect">
            <a:avLst/>
          </a:prstGeom>
          <a:noFill/>
          <a:ln/>
        </p:spPr>
        <p:txBody>
          <a:bodyPr wrap="square" lIns="0" tIns="0" rIns="0" bIns="0" rtlCol="0" anchor="ctr"/>
          <a:lstStyle/>
          <a:p>
            <a:pPr indent="0" marL="0">
              <a:buNone/>
            </a:pPr>
            <a:r>
              <a:rPr lang="en-US" sz="4000" b="1" dirty="0">
                <a:solidFill>
                  <a:schemeClr val="tx1"/>
                </a:solidFill>
              </a:rPr>
              <a:t>4</a:t>
            </a:r>
            <a:endParaRPr lang="en-US" sz="4000" dirty="0"/>
          </a:p>
        </p:txBody>
      </p:sp>
      <p:sp>
        <p:nvSpPr>
          <p:cNvPr id="9" name="Text 7"/>
          <p:cNvSpPr txBox="1"/>
          <p:nvPr/>
        </p:nvSpPr>
        <p:spPr>
          <a:xfrm>
            <a:off x="315468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credits to fully prepare one application</a:t>
            </a:r>
            <a:endParaRPr lang="en-US" sz="1300" dirty="0"/>
          </a:p>
        </p:txBody>
      </p:sp>
      <p:sp>
        <p:nvSpPr>
          <p:cNvPr id="10" name="stat"/>
          <p:cNvSpPr/>
          <p:nvPr/>
        </p:nvSpPr>
        <p:spPr>
          <a:xfrm>
            <a:off x="5303520" y="2103120"/>
            <a:ext cx="2194560" cy="1645920"/>
          </a:xfrm>
          <a:prstGeom prst="roundRect">
            <a:avLst>
              <a:gd name="adj" fmla="val 6667"/>
            </a:avLst>
          </a:prstGeom>
          <a:solidFill>
            <a:schemeClr val="bg1"/>
          </a:solidFill>
          <a:ln w="12700">
            <a:solidFill>
              <a:schemeClr val="bg1"/>
            </a:solidFill>
            <a:prstDash val="solid"/>
          </a:ln>
        </p:spPr>
      </p:sp>
      <p:sp>
        <p:nvSpPr>
          <p:cNvPr id="11" name="Text 9"/>
          <p:cNvSpPr txBox="1"/>
          <p:nvPr/>
        </p:nvSpPr>
        <p:spPr>
          <a:xfrm>
            <a:off x="5532120" y="2240280"/>
            <a:ext cx="1828800" cy="777240"/>
          </a:xfrm>
          <a:prstGeom prst="rect">
            <a:avLst/>
          </a:prstGeom>
          <a:noFill/>
          <a:ln/>
        </p:spPr>
        <p:txBody>
          <a:bodyPr wrap="square" lIns="0" tIns="0" rIns="0" bIns="0" rtlCol="0" anchor="ctr"/>
          <a:lstStyle/>
          <a:p>
            <a:pPr indent="0" marL="0">
              <a:buNone/>
            </a:pPr>
            <a:r>
              <a:rPr lang="en-US" sz="3000" b="1" dirty="0">
                <a:solidFill>
                  <a:schemeClr val="accent1"/>
                </a:solidFill>
              </a:rPr>
              <a:t>&lt; €0.01</a:t>
            </a:r>
            <a:endParaRPr lang="en-US" sz="3000" dirty="0"/>
          </a:p>
        </p:txBody>
      </p:sp>
      <p:sp>
        <p:nvSpPr>
          <p:cNvPr id="12" name="Text 10"/>
          <p:cNvSpPr txBox="1"/>
          <p:nvPr/>
        </p:nvSpPr>
        <p:spPr>
          <a:xfrm>
            <a:off x="5532120" y="3017520"/>
            <a:ext cx="1783080" cy="640080"/>
          </a:xfrm>
          <a:prstGeom prst="rect">
            <a:avLst/>
          </a:prstGeom>
          <a:noFill/>
          <a:ln/>
        </p:spPr>
        <p:txBody>
          <a:bodyPr wrap="square" lIns="0" tIns="0" rIns="0" bIns="0" rtlCol="0" anchor="t"/>
          <a:lstStyle/>
          <a:p>
            <a:pPr indent="0" marL="0">
              <a:buNone/>
            </a:pPr>
            <a:r>
              <a:rPr lang="en-US" sz="1300" dirty="0">
                <a:solidFill>
                  <a:schemeClr val="tx2"/>
                </a:solidFill>
              </a:rPr>
              <a:t>AI cost target per fully prepared application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6949440" cy="914400"/>
        </p:xfrm>
        <a:graphic>
          <a:graphicData uri="http://schemas.openxmlformats.org/drawingml/2006/table">
            <a:tbl>
              <a:tblPr/>
              <a:tblGrid>
                <a:gridCol w="5120640"/>
                <a:gridCol w="1828800"/>
              </a:tblGrid>
              <a:tr h="329184">
                <a:tc>
                  <a:txBody>
                    <a:bodyPr/>
                    <a:lstStyle/>
                    <a:p>
                      <a:pPr indent="0" marL="0">
                        <a:buNone/>
                      </a:pPr>
                      <a:r>
                        <a:rPr lang="en-US" sz="1300" b="1" dirty="0">
                          <a:solidFill>
                            <a:srgbClr val="5B6B80"/>
                          </a:solidFill>
                        </a:rPr>
                        <a:t>Action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5B6B80"/>
                          </a:solidFill>
                        </a:rPr>
                        <a:t>Cost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Match score, why it fits, how it's calculated</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Apply on job site, save a job</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Prepare application (gaps, risks, strategy)</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Tailored CV · cover letter</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 each</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F2A4A"/>
                          </a:solidFill>
                        </a:rPr>
                        <a:t>Interview prep, from the application</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 credit</a:t>
                      </a:r>
                      <a:endParaRPr lang="en-US" sz="1300" dirty="0"/>
                    </a:p>
                  </a:txBody>
                  <a:tcPr marL="109728" marR="109728" marT="36576" marB="36576">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14" name="later"/>
          <p:cNvSpPr/>
          <p:nvPr/>
        </p:nvSpPr>
        <p:spPr>
          <a:xfrm>
            <a:off x="7863840" y="2103120"/>
            <a:ext cx="3776472" cy="3931920"/>
          </a:xfrm>
          <a:prstGeom prst="roundRect">
            <a:avLst>
              <a:gd name="adj" fmla="val 2906"/>
            </a:avLst>
          </a:prstGeom>
          <a:solidFill>
            <a:srgbClr val="0F2A4A"/>
          </a:solidFill>
          <a:ln w="12700">
            <a:solidFill>
              <a:srgbClr val="0F2A4A"/>
            </a:solidFill>
            <a:prstDash val="solid"/>
          </a:ln>
        </p:spPr>
      </p:sp>
      <p:sp>
        <p:nvSpPr>
          <p:cNvPr id="15" name="Text 12"/>
          <p:cNvSpPr txBox="1"/>
          <p:nvPr/>
        </p:nvSpPr>
        <p:spPr>
          <a:xfrm>
            <a:off x="8138160" y="233172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COMING SOON</a:t>
            </a:r>
            <a:endParaRPr lang="en-US" sz="1100" dirty="0"/>
          </a:p>
        </p:txBody>
      </p:sp>
      <p:sp>
        <p:nvSpPr>
          <p:cNvPr id="16" name="Text 13"/>
          <p:cNvSpPr txBox="1"/>
          <p:nvPr/>
        </p:nvSpPr>
        <p:spPr>
          <a:xfrm>
            <a:off x="8138160" y="2606040"/>
            <a:ext cx="3291840" cy="365760"/>
          </a:xfrm>
          <a:prstGeom prst="rect">
            <a:avLst/>
          </a:prstGeom>
          <a:noFill/>
          <a:ln/>
        </p:spPr>
        <p:txBody>
          <a:bodyPr wrap="square" lIns="0" tIns="0" rIns="0" bIns="0" rtlCol="0" anchor="t"/>
          <a:lstStyle/>
          <a:p>
            <a:pPr indent="0" marL="0">
              <a:buNone/>
            </a:pPr>
            <a:r>
              <a:rPr lang="en-US" sz="1800" b="1" dirty="0">
                <a:solidFill>
                  <a:schemeClr val="bg1"/>
                </a:solidFill>
              </a:rPr>
              <a:t>Top up credits</a:t>
            </a:r>
            <a:endParaRPr lang="en-US" sz="1800" dirty="0"/>
          </a:p>
        </p:txBody>
      </p:sp>
      <p:sp>
        <p:nvSpPr>
          <p:cNvPr id="17" name="Text 14"/>
          <p:cNvSpPr txBox="1"/>
          <p:nvPr/>
        </p:nvSpPr>
        <p:spPr>
          <a:xfrm>
            <a:off x="8138160" y="3063240"/>
            <a:ext cx="329184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Prepaid wallet, top-up from €10</a:t>
            </a:r>
            <a:endParaRPr lang="en-US" sz="1400" dirty="0"/>
          </a:p>
          <a:p>
            <a:pPr marL="342900" indent="-342900">
              <a:spcAft>
                <a:spcPts val="400"/>
              </a:spcAft>
              <a:buSzPct val="100000"/>
              <a:buChar char="•"/>
            </a:pPr>
            <a:r>
              <a:rPr lang="en-US" sz="1400" dirty="0">
                <a:solidFill>
                  <a:schemeClr val="accent4"/>
                </a:solidFill>
              </a:rPr>
              <a:t>10 credits for €0.99</a:t>
            </a:r>
            <a:endParaRPr lang="en-US" sz="1400" dirty="0"/>
          </a:p>
          <a:p>
            <a:pPr marL="342900" indent="-342900">
              <a:spcAft>
                <a:spcPts val="400"/>
              </a:spcAft>
              <a:buSzPct val="100000"/>
              <a:buChar char="•"/>
            </a:pPr>
            <a:r>
              <a:rPr lang="en-US" sz="1400" dirty="0">
                <a:solidFill>
                  <a:schemeClr val="accent4"/>
                </a:solidFill>
              </a:rPr>
              <a:t>Bought credits never expire</a:t>
            </a:r>
            <a:endParaRPr lang="en-US" sz="1400" dirty="0"/>
          </a:p>
        </p:txBody>
      </p:sp>
      <p:sp>
        <p:nvSpPr>
          <p:cNvPr id="18" name="Text 15"/>
          <p:cNvSpPr txBox="1"/>
          <p:nvPr/>
        </p:nvSpPr>
        <p:spPr>
          <a:xfrm>
            <a:off x="8138160" y="4251960"/>
            <a:ext cx="32918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LATER</a:t>
            </a:r>
            <a:endParaRPr lang="en-US" sz="1100" dirty="0"/>
          </a:p>
        </p:txBody>
      </p:sp>
      <p:sp>
        <p:nvSpPr>
          <p:cNvPr id="19" name="Text 16"/>
          <p:cNvSpPr txBox="1"/>
          <p:nvPr/>
        </p:nvSpPr>
        <p:spPr>
          <a:xfrm>
            <a:off x="8138160" y="4526280"/>
            <a:ext cx="3291840" cy="640080"/>
          </a:xfrm>
          <a:prstGeom prst="rect">
            <a:avLst/>
          </a:prstGeom>
          <a:noFill/>
          <a:ln/>
        </p:spPr>
        <p:txBody>
          <a:bodyPr wrap="square" lIns="0" tIns="0" rIns="0" bIns="0" rtlCol="0" anchor="t"/>
          <a:lstStyle/>
          <a:p>
            <a:pPr indent="0" marL="0">
              <a:buNone/>
            </a:pPr>
            <a:r>
              <a:rPr lang="en-US" sz="1400" dirty="0">
                <a:solidFill>
                  <a:schemeClr val="accent4"/>
                </a:solidFill>
              </a:rPr>
              <a:t>Employers pay for job ads and talent search, behind an employer login.</a:t>
            </a:r>
            <a:endParaRPr lang="en-US" sz="1400" dirty="0"/>
          </a:p>
        </p:txBody>
      </p:sp>
      <p:sp>
        <p:nvSpPr>
          <p:cNvPr id="20" name="Text 17"/>
          <p:cNvSpPr txBox="1"/>
          <p:nvPr/>
        </p:nvSpPr>
        <p:spPr>
          <a:xfrm>
            <a:off x="8138160" y="5257800"/>
            <a:ext cx="3291840" cy="548640"/>
          </a:xfrm>
          <a:prstGeom prst="rect">
            <a:avLst/>
          </a:prstGeom>
          <a:noFill/>
          <a:ln/>
        </p:spPr>
        <p:txBody>
          <a:bodyPr wrap="square" lIns="0" tIns="0" rIns="0" bIns="0" rtlCol="0" anchor="t"/>
          <a:lstStyle/>
          <a:p>
            <a:pPr indent="0" marL="0">
              <a:buNone/>
            </a:pPr>
            <a:r>
              <a:rPr lang="en-US" sz="1400" b="1" dirty="0">
                <a:solidFill>
                  <a:schemeClr val="bg1"/>
                </a:solidFill>
              </a:rPr>
              <a:t>Credits buy preparation tools, never a better ranking.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HEADHUNTER PILOT</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A match is an invitation; the candidate decides</a:t>
            </a:r>
            <a:endParaRPr lang="en-US" sz="3200" dirty="0"/>
          </a:p>
        </p:txBody>
      </p:sp>
      <p:sp>
        <p:nvSpPr>
          <p:cNvPr id="4" name="filter"/>
          <p:cNvSpPr/>
          <p:nvPr/>
        </p:nvSpPr>
        <p:spPr>
          <a:xfrm>
            <a:off x="548640" y="2103120"/>
            <a:ext cx="6583680" cy="548640"/>
          </a:xfrm>
          <a:prstGeom prst="roundRect">
            <a:avLst>
              <a:gd name="adj" fmla="val 13333"/>
            </a:avLst>
          </a:prstGeom>
          <a:solidFill>
            <a:srgbClr val="163A63"/>
          </a:solidFill>
          <a:ln w="12700">
            <a:solidFill>
              <a:srgbClr val="163A63"/>
            </a:solidFill>
            <a:prstDash val="solid"/>
          </a:ln>
        </p:spPr>
      </p:sp>
      <p:sp>
        <p:nvSpPr>
          <p:cNvPr id="5" name="Text 3"/>
          <p:cNvSpPr txBox="1"/>
          <p:nvPr/>
        </p:nvSpPr>
        <p:spPr>
          <a:xfrm>
            <a:off x="777240" y="21031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1  Verified recruiter</a:t>
            </a:r>
            <a:endParaRPr lang="en-US" sz="1400" dirty="0"/>
          </a:p>
        </p:txBody>
      </p:sp>
      <p:sp>
        <p:nvSpPr>
          <p:cNvPr id="6" name="Text 4"/>
          <p:cNvSpPr txBox="1"/>
          <p:nvPr/>
        </p:nvSpPr>
        <p:spPr>
          <a:xfrm>
            <a:off x="4251960" y="2103120"/>
            <a:ext cx="2697480" cy="548640"/>
          </a:xfrm>
          <a:prstGeom prst="rect">
            <a:avLst/>
          </a:prstGeom>
          <a:noFill/>
          <a:ln/>
        </p:spPr>
        <p:txBody>
          <a:bodyPr wrap="square" lIns="0" tIns="0" rIns="0" bIns="0" rtlCol="0" anchor="ctr"/>
          <a:lstStyle/>
          <a:p>
            <a:pPr indent="0" marL="0">
              <a:buNone/>
            </a:pPr>
            <a:r>
              <a:rPr lang="en-US" sz="1100" dirty="0">
                <a:solidFill>
                  <a:schemeClr val="accent4"/>
                </a:solidFill>
              </a:rPr>
              <a:t>Identity and organisation checked by an admin</a:t>
            </a:r>
            <a:endParaRPr lang="en-US" sz="1100" dirty="0"/>
          </a:p>
        </p:txBody>
      </p:sp>
      <p:sp>
        <p:nvSpPr>
          <p:cNvPr id="7" name="filter"/>
          <p:cNvSpPr/>
          <p:nvPr/>
        </p:nvSpPr>
        <p:spPr>
          <a:xfrm>
            <a:off x="548640" y="2743200"/>
            <a:ext cx="6400800" cy="548640"/>
          </a:xfrm>
          <a:prstGeom prst="roundRect">
            <a:avLst>
              <a:gd name="adj" fmla="val 13333"/>
            </a:avLst>
          </a:prstGeom>
          <a:solidFill>
            <a:srgbClr val="163A63"/>
          </a:solidFill>
          <a:ln w="12700">
            <a:solidFill>
              <a:srgbClr val="163A63"/>
            </a:solidFill>
            <a:prstDash val="solid"/>
          </a:ln>
        </p:spPr>
      </p:sp>
      <p:sp>
        <p:nvSpPr>
          <p:cNvPr id="8" name="Text 6"/>
          <p:cNvSpPr txBox="1"/>
          <p:nvPr/>
        </p:nvSpPr>
        <p:spPr>
          <a:xfrm>
            <a:off x="777240" y="274320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2  Authorised job description</a:t>
            </a:r>
            <a:endParaRPr lang="en-US" sz="1400" dirty="0"/>
          </a:p>
        </p:txBody>
      </p:sp>
      <p:sp>
        <p:nvSpPr>
          <p:cNvPr id="9" name="Text 7"/>
          <p:cNvSpPr txBox="1"/>
          <p:nvPr/>
        </p:nvSpPr>
        <p:spPr>
          <a:xfrm>
            <a:off x="4251960" y="2743200"/>
            <a:ext cx="2514600" cy="548640"/>
          </a:xfrm>
          <a:prstGeom prst="rect">
            <a:avLst/>
          </a:prstGeom>
          <a:noFill/>
          <a:ln/>
        </p:spPr>
        <p:txBody>
          <a:bodyPr wrap="square" lIns="0" tIns="0" rIns="0" bIns="0" rtlCol="0" anchor="ctr"/>
          <a:lstStyle/>
          <a:p>
            <a:pPr indent="0" marL="0">
              <a:buNone/>
            </a:pPr>
            <a:r>
              <a:rPr lang="en-US" sz="1100" dirty="0">
                <a:solidFill>
                  <a:schemeClr val="accent4"/>
                </a:solidFill>
              </a:rPr>
              <a:t>Must-haves and start date confirmed</a:t>
            </a:r>
            <a:endParaRPr lang="en-US" sz="1100" dirty="0"/>
          </a:p>
        </p:txBody>
      </p:sp>
      <p:sp>
        <p:nvSpPr>
          <p:cNvPr id="10" name="filter"/>
          <p:cNvSpPr/>
          <p:nvPr/>
        </p:nvSpPr>
        <p:spPr>
          <a:xfrm>
            <a:off x="548640" y="3383280"/>
            <a:ext cx="6217920" cy="548640"/>
          </a:xfrm>
          <a:prstGeom prst="roundRect">
            <a:avLst>
              <a:gd name="adj" fmla="val 13333"/>
            </a:avLst>
          </a:prstGeom>
          <a:solidFill>
            <a:srgbClr val="163A63"/>
          </a:solidFill>
          <a:ln w="12700">
            <a:solidFill>
              <a:srgbClr val="163A63"/>
            </a:solidFill>
            <a:prstDash val="solid"/>
          </a:ln>
        </p:spPr>
      </p:sp>
      <p:sp>
        <p:nvSpPr>
          <p:cNvPr id="11" name="Text 9"/>
          <p:cNvSpPr txBox="1"/>
          <p:nvPr/>
        </p:nvSpPr>
        <p:spPr>
          <a:xfrm>
            <a:off x="777240" y="338328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3  Opted-in candidates only</a:t>
            </a:r>
            <a:endParaRPr lang="en-US" sz="1400" dirty="0"/>
          </a:p>
        </p:txBody>
      </p:sp>
      <p:sp>
        <p:nvSpPr>
          <p:cNvPr id="12" name="Text 10"/>
          <p:cNvSpPr txBox="1"/>
          <p:nvPr/>
        </p:nvSpPr>
        <p:spPr>
          <a:xfrm>
            <a:off x="4251960" y="3383280"/>
            <a:ext cx="2331720" cy="548640"/>
          </a:xfrm>
          <a:prstGeom prst="rect">
            <a:avLst/>
          </a:prstGeom>
          <a:noFill/>
          <a:ln/>
        </p:spPr>
        <p:txBody>
          <a:bodyPr wrap="square" lIns="0" tIns="0" rIns="0" bIns="0" rtlCol="0" anchor="ctr"/>
          <a:lstStyle/>
          <a:p>
            <a:pPr indent="0" marL="0">
              <a:buNone/>
            </a:pPr>
            <a:r>
              <a:rPr lang="en-US" sz="1100" dirty="0">
                <a:solidFill>
                  <a:schemeClr val="accent4"/>
                </a:solidFill>
              </a:rPr>
              <a:t>Discovery is off by default</a:t>
            </a:r>
            <a:endParaRPr lang="en-US" sz="1100" dirty="0"/>
          </a:p>
        </p:txBody>
      </p:sp>
      <p:sp>
        <p:nvSpPr>
          <p:cNvPr id="13" name="filter"/>
          <p:cNvSpPr/>
          <p:nvPr/>
        </p:nvSpPr>
        <p:spPr>
          <a:xfrm>
            <a:off x="548640" y="4023360"/>
            <a:ext cx="6035040" cy="548640"/>
          </a:xfrm>
          <a:prstGeom prst="roundRect">
            <a:avLst>
              <a:gd name="adj" fmla="val 13333"/>
            </a:avLst>
          </a:prstGeom>
          <a:solidFill>
            <a:srgbClr val="163A63"/>
          </a:solidFill>
          <a:ln w="12700">
            <a:solidFill>
              <a:srgbClr val="163A63"/>
            </a:solidFill>
            <a:prstDash val="solid"/>
          </a:ln>
        </p:spPr>
      </p:sp>
      <p:sp>
        <p:nvSpPr>
          <p:cNvPr id="14" name="Text 12"/>
          <p:cNvSpPr txBox="1"/>
          <p:nvPr/>
        </p:nvSpPr>
        <p:spPr>
          <a:xfrm>
            <a:off x="777240" y="402336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4  Fit ≥ 90% and completeness ≥ 90%</a:t>
            </a:r>
            <a:endParaRPr lang="en-US" sz="1400" dirty="0"/>
          </a:p>
        </p:txBody>
      </p:sp>
      <p:sp>
        <p:nvSpPr>
          <p:cNvPr id="15" name="Text 13"/>
          <p:cNvSpPr txBox="1"/>
          <p:nvPr/>
        </p:nvSpPr>
        <p:spPr>
          <a:xfrm>
            <a:off x="4251960" y="4023360"/>
            <a:ext cx="2148840" cy="548640"/>
          </a:xfrm>
          <a:prstGeom prst="rect">
            <a:avLst/>
          </a:prstGeom>
          <a:noFill/>
          <a:ln/>
        </p:spPr>
        <p:txBody>
          <a:bodyPr wrap="square" lIns="0" tIns="0" rIns="0" bIns="0" rtlCol="0" anchor="ctr"/>
          <a:lstStyle/>
          <a:p>
            <a:pPr indent="0" marL="0">
              <a:buNone/>
            </a:pPr>
            <a:r>
              <a:rPr lang="en-US" sz="1100" dirty="0">
                <a:solidFill>
                  <a:schemeClr val="accent4"/>
                </a:solidFill>
              </a:rPr>
              <a:t>Must-haves met, high confidence</a:t>
            </a:r>
            <a:endParaRPr lang="en-US" sz="1100" dirty="0"/>
          </a:p>
        </p:txBody>
      </p:sp>
      <p:sp>
        <p:nvSpPr>
          <p:cNvPr id="16" name="filter"/>
          <p:cNvSpPr/>
          <p:nvPr/>
        </p:nvSpPr>
        <p:spPr>
          <a:xfrm>
            <a:off x="548640" y="4663440"/>
            <a:ext cx="5852160" cy="548640"/>
          </a:xfrm>
          <a:prstGeom prst="roundRect">
            <a:avLst>
              <a:gd name="adj" fmla="val 13333"/>
            </a:avLst>
          </a:prstGeom>
          <a:solidFill>
            <a:srgbClr val="163A63"/>
          </a:solidFill>
          <a:ln w="12700">
            <a:solidFill>
              <a:srgbClr val="163A63"/>
            </a:solidFill>
            <a:prstDash val="solid"/>
          </a:ln>
        </p:spPr>
      </p:sp>
      <p:sp>
        <p:nvSpPr>
          <p:cNvPr id="17" name="Text 15"/>
          <p:cNvSpPr txBox="1"/>
          <p:nvPr/>
        </p:nvSpPr>
        <p:spPr>
          <a:xfrm>
            <a:off x="777240" y="466344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5  Available now</a:t>
            </a:r>
            <a:endParaRPr lang="en-US" sz="1400" dirty="0"/>
          </a:p>
        </p:txBody>
      </p:sp>
      <p:sp>
        <p:nvSpPr>
          <p:cNvPr id="18" name="Text 16"/>
          <p:cNvSpPr txBox="1"/>
          <p:nvPr/>
        </p:nvSpPr>
        <p:spPr>
          <a:xfrm>
            <a:off x="4251960" y="4663440"/>
            <a:ext cx="1965960" cy="548640"/>
          </a:xfrm>
          <a:prstGeom prst="rect">
            <a:avLst/>
          </a:prstGeom>
          <a:noFill/>
          <a:ln/>
        </p:spPr>
        <p:txBody>
          <a:bodyPr wrap="square" lIns="0" tIns="0" rIns="0" bIns="0" rtlCol="0" anchor="ctr"/>
          <a:lstStyle/>
          <a:p>
            <a:pPr indent="0" marL="0">
              <a:buNone/>
            </a:pPr>
            <a:r>
              <a:rPr lang="en-US" sz="1100" dirty="0">
                <a:solidFill>
                  <a:schemeClr val="accent4"/>
                </a:solidFill>
              </a:rPr>
              <a:t>Confirmed in the last 7 days</a:t>
            </a:r>
            <a:endParaRPr lang="en-US" sz="1100" dirty="0"/>
          </a:p>
        </p:txBody>
      </p:sp>
      <p:sp>
        <p:nvSpPr>
          <p:cNvPr id="19" name="filter"/>
          <p:cNvSpPr/>
          <p:nvPr/>
        </p:nvSpPr>
        <p:spPr>
          <a:xfrm>
            <a:off x="548640" y="5303520"/>
            <a:ext cx="5669280" cy="548640"/>
          </a:xfrm>
          <a:prstGeom prst="roundRect">
            <a:avLst>
              <a:gd name="adj" fmla="val 13333"/>
            </a:avLst>
          </a:prstGeom>
          <a:solidFill>
            <a:srgbClr val="F2542D"/>
          </a:solidFill>
          <a:ln w="12700">
            <a:solidFill>
              <a:srgbClr val="F2542D"/>
            </a:solidFill>
            <a:prstDash val="solid"/>
          </a:ln>
        </p:spPr>
      </p:sp>
      <p:sp>
        <p:nvSpPr>
          <p:cNvPr id="20" name="Text 18"/>
          <p:cNvSpPr txBox="1"/>
          <p:nvPr/>
        </p:nvSpPr>
        <p:spPr>
          <a:xfrm>
            <a:off x="777240" y="530352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6  Explained, pseudonymised shortlist</a:t>
            </a:r>
            <a:endParaRPr lang="en-US" sz="1400" dirty="0"/>
          </a:p>
        </p:txBody>
      </p:sp>
      <p:sp>
        <p:nvSpPr>
          <p:cNvPr id="21" name="Text 19"/>
          <p:cNvSpPr txBox="1"/>
          <p:nvPr/>
        </p:nvSpPr>
        <p:spPr>
          <a:xfrm>
            <a:off x="4251960" y="5303520"/>
            <a:ext cx="1783080" cy="548640"/>
          </a:xfrm>
          <a:prstGeom prst="rect">
            <a:avLst/>
          </a:prstGeom>
          <a:noFill/>
          <a:ln/>
        </p:spPr>
        <p:txBody>
          <a:bodyPr wrap="square" lIns="0" tIns="0" rIns="0" bIns="0" rtlCol="0" anchor="ctr"/>
          <a:lstStyle/>
          <a:p>
            <a:pPr indent="0" marL="0">
              <a:buNone/>
            </a:pPr>
            <a:r>
              <a:rPr lang="en-US" sz="1100" dirty="0">
                <a:solidFill>
                  <a:schemeClr val="bg1"/>
                </a:solidFill>
              </a:rPr>
              <a:t>No CV or contact details yet</a:t>
            </a:r>
            <a:endParaRPr lang="en-US" sz="1100" dirty="0"/>
          </a:p>
        </p:txBody>
      </p:sp>
      <p:sp>
        <p:nvSpPr>
          <p:cNvPr id="22" name="consent"/>
          <p:cNvSpPr/>
          <p:nvPr/>
        </p:nvSpPr>
        <p:spPr>
          <a:xfrm>
            <a:off x="7498080" y="2103120"/>
            <a:ext cx="4142232" cy="3749040"/>
          </a:xfrm>
          <a:prstGeom prst="roundRect">
            <a:avLst>
              <a:gd name="adj" fmla="val 2927"/>
            </a:avLst>
          </a:prstGeom>
          <a:solidFill>
            <a:srgbClr val="163A63"/>
          </a:solidFill>
          <a:ln w="12700">
            <a:solidFill>
              <a:srgbClr val="163A63"/>
            </a:solidFill>
            <a:prstDash val="solid"/>
          </a:ln>
        </p:spPr>
      </p:sp>
      <p:sp>
        <p:nvSpPr>
          <p:cNvPr id="23" name="Text 21"/>
          <p:cNvSpPr txBox="1"/>
          <p:nvPr/>
        </p:nvSpPr>
        <p:spPr>
          <a:xfrm>
            <a:off x="7772400" y="2286000"/>
            <a:ext cx="3657600" cy="365760"/>
          </a:xfrm>
          <a:prstGeom prst="rect">
            <a:avLst/>
          </a:prstGeom>
          <a:noFill/>
          <a:ln/>
        </p:spPr>
        <p:txBody>
          <a:bodyPr wrap="square" lIns="0" tIns="0" rIns="0" bIns="0" rtlCol="0" anchor="t"/>
          <a:lstStyle/>
          <a:p>
            <a:pPr indent="0" marL="0">
              <a:buNone/>
            </a:pPr>
            <a:r>
              <a:rPr lang="en-US" sz="1800" b="1" dirty="0">
                <a:solidFill>
                  <a:schemeClr val="bg1"/>
                </a:solidFill>
              </a:rPr>
              <a:t>Candidate control</a:t>
            </a:r>
            <a:endParaRPr lang="en-US" sz="1800" dirty="0"/>
          </a:p>
        </p:txBody>
      </p:sp>
      <p:sp>
        <p:nvSpPr>
          <p:cNvPr id="24" name="Text 22"/>
          <p:cNvSpPr txBox="1"/>
          <p:nvPr/>
        </p:nvSpPr>
        <p:spPr>
          <a:xfrm>
            <a:off x="7772400" y="2743200"/>
            <a:ext cx="36576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4"/>
                </a:solidFill>
              </a:rPr>
              <a:t>Approves each CV share, per recruiter and job</a:t>
            </a:r>
            <a:endParaRPr lang="en-US" sz="1400" dirty="0"/>
          </a:p>
          <a:p>
            <a:pPr marL="342900" indent="-342900">
              <a:spcAft>
                <a:spcPts val="800"/>
              </a:spcAft>
              <a:buSzPct val="100000"/>
              <a:buChar char="•"/>
            </a:pPr>
            <a:r>
              <a:rPr lang="en-US" sz="1400" dirty="0">
                <a:solidFill>
                  <a:schemeClr val="accent4"/>
                </a:solidFill>
              </a:rPr>
              <a:t>Access expires and every view is logged</a:t>
            </a:r>
            <a:endParaRPr lang="en-US" sz="1400" dirty="0"/>
          </a:p>
          <a:p>
            <a:pPr marL="342900" indent="-342900">
              <a:spcAft>
                <a:spcPts val="800"/>
              </a:spcAft>
              <a:buSzPct val="100000"/>
              <a:buChar char="•"/>
            </a:pPr>
            <a:r>
              <a:rPr lang="en-US" sz="1400" dirty="0">
                <a:solidFill>
                  <a:schemeClr val="accent4"/>
                </a:solidFill>
              </a:rPr>
              <a:t>Can revoke discovery at any time</a:t>
            </a:r>
            <a:endParaRPr lang="en-US" sz="1400" dirty="0"/>
          </a:p>
          <a:p>
            <a:pPr marL="342900" indent="-342900">
              <a:spcAft>
                <a:spcPts val="800"/>
              </a:spcAft>
              <a:buSzPct val="100000"/>
              <a:buChar char="•"/>
            </a:pPr>
            <a:r>
              <a:rPr lang="en-US" sz="1400" dirty="0">
                <a:solidFill>
                  <a:schemeClr val="accent4"/>
                </a:solidFill>
              </a:rPr>
              <a:t>No bulk export, no automatic decisions</a:t>
            </a:r>
            <a:endParaRPr lang="en-US" sz="1400" dirty="0"/>
          </a:p>
        </p:txBody>
      </p:sp>
      <p:sp>
        <p:nvSpPr>
          <p:cNvPr id="25" name="Text 23"/>
          <p:cNvSpPr txBox="1"/>
          <p:nvPr/>
        </p:nvSpPr>
        <p:spPr>
          <a:xfrm>
            <a:off x="7772400" y="4846320"/>
            <a:ext cx="3657600" cy="731520"/>
          </a:xfrm>
          <a:prstGeom prst="rect">
            <a:avLst/>
          </a:prstGeom>
          <a:noFill/>
          <a:ln/>
        </p:spPr>
        <p:txBody>
          <a:bodyPr wrap="square" lIns="0" tIns="0" rIns="0" bIns="0" rtlCol="0" anchor="t"/>
          <a:lstStyle/>
          <a:p>
            <a:pPr indent="0" marL="0">
              <a:buNone/>
            </a:pPr>
            <a:r>
              <a:rPr lang="en-US" sz="1300" b="1" dirty="0">
                <a:solidFill>
                  <a:schemeClr val="bg1"/>
                </a:solidFill>
              </a:rPr>
              <a:t>No match? An honest empty list. Thresholds are never lowered.</a:t>
            </a:r>
            <a:endParaRPr lang="en-US" sz="1300" dirty="0"/>
          </a:p>
        </p:txBody>
      </p:sp>
      <p:sp>
        <p:nvSpPr>
          <p:cNvPr id="26" name="Text 24"/>
          <p:cNvSpPr txBox="1"/>
          <p:nvPr/>
        </p:nvSpPr>
        <p:spPr>
          <a:xfrm>
            <a:off x="548640" y="5989320"/>
            <a:ext cx="10058400" cy="274320"/>
          </a:xfrm>
          <a:prstGeom prst="rect">
            <a:avLst/>
          </a:prstGeom>
          <a:noFill/>
          <a:ln/>
        </p:spPr>
        <p:txBody>
          <a:bodyPr wrap="square" lIns="0" tIns="0" rIns="0" bIns="0" rtlCol="0" anchor="t"/>
          <a:lstStyle/>
          <a:p>
            <a:pPr indent="0" marL="0">
              <a:buNone/>
            </a:pPr>
            <a:r>
              <a:rPr lang="en-US" sz="1100" dirty="0">
                <a:solidFill>
                  <a:schemeClr val="accent4"/>
                </a:solidFill>
              </a:rPr>
              <a:t>Pilot work is estimated at G2 (8 Jan 2027); it never delays the candidate launch.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COMPETITION</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Competitors at a glance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286000"/>
                <a:gridCol w="3108960"/>
                <a:gridCol w="2743200"/>
                <a:gridCol w="2953512"/>
              </a:tblGrid>
              <a:tr h="502920">
                <a:tc>
                  <a:txBody>
                    <a:bodyPr/>
                    <a:lstStyle/>
                    <a:p>
                      <a:pPr indent="0" marL="0">
                        <a:buNone/>
                      </a:pPr>
                      <a:r>
                        <a:rPr lang="en-US" sz="1300" b="1" dirty="0">
                          <a:solidFill>
                            <a:srgbClr val="FFFFFF"/>
                          </a:solidFill>
                        </a:rPr>
                        <a:t>Tool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What it does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Price (Oct 2026)</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rPr>
                        <a:t>Gap vs. 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A4A"/>
                    </a:solidFill>
                  </a:tcPr>
                </a:tc>
              </a:tr>
              <a:tr h="502920">
                <a:tc>
                  <a:txBody>
                    <a:bodyPr/>
                    <a:lstStyle/>
                    <a:p>
                      <a:pPr indent="0" marL="0">
                        <a:buNone/>
                      </a:pPr>
                      <a:r>
                        <a:rPr lang="en-US" sz="1300" dirty="0">
                          <a:solidFill>
                            <a:srgbClr val="0F2A4A"/>
                          </a:solidFill>
                        </a:rPr>
                        <a:t>Jobscan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Match rate of CV vs. ad, keyword-based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$49.95 / month · 5 free scans a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Optimises wording; no fit vs. missing-data split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Teal</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CV builder, keyword matching, job tracker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Teal+ $29 per 30 days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Keyword matching, no explained fit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Huntr</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Job tracker, tailored CVs, basic match score</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Pro $40 / month</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Records applications, doesn't advise where to apply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JobCopilot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Auto-applies to matched jobs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From $0.93 / day</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Volume over fit; no review of each application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F2A4A"/>
                          </a:solidFill>
                        </a:rPr>
                        <a:t>Job boards (LinkedIn, StepStone, Indeed)</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Listings, alerts, premium insights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Free · paid premium tiers</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Sponsored and premium visibility; no explanation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F2542D"/>
                          </a:solidFill>
                        </a:rPr>
                        <a:t>CareerPilot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Explained fit, reviewed documents, tracking</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10 free credits a day · €0.99 / 10 credits (coming soon)</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F2A4A"/>
                          </a:solidFill>
                        </a:rPr>
                        <a:t>—</a:t>
                      </a:r>
                      <a:endParaRPr lang="en-US" sz="1300" dirty="0"/>
                    </a:p>
                  </a:txBody>
                  <a:tcPr marL="109728" marR="109728" marT="54864" marB="54864"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000" dirty="0">
                <a:solidFill>
                  <a:schemeClr val="tx2"/>
                </a:solidFill>
              </a:rPr>
              <a:t>Sources: Huntr, Teal and JobCopilot pricing pages; Jobscan via The Interview Guys review (2026). Prices in USD as listed, checked 8 Oct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822960"/>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LEGAL</a:t>
            </a:r>
            <a:endParaRPr lang="en-US" sz="1200" dirty="0"/>
          </a:p>
        </p:txBody>
      </p:sp>
      <p:sp>
        <p:nvSpPr>
          <p:cNvPr id="3" name="Text 1"/>
          <p:cNvSpPr/>
          <p:nvPr>
            <p:ph idx="103" type="title" hasCustomPrompt="1"/>
          </p:nvPr>
        </p:nvSpPr>
        <p:spPr>
          <a:xfrm>
            <a:off x="548640" y="109728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a real pilot would need</a:t>
            </a:r>
            <a:endParaRPr lang="en-US" sz="3200" dirty="0"/>
          </a:p>
        </p:txBody>
      </p:sp>
      <p:sp>
        <p:nvSpPr>
          <p:cNvPr id="4" name="legal"/>
          <p:cNvSpPr/>
          <p:nvPr/>
        </p:nvSpPr>
        <p:spPr>
          <a:xfrm>
            <a:off x="548640" y="2057400"/>
            <a:ext cx="5449824" cy="1143000"/>
          </a:xfrm>
          <a:prstGeom prst="roundRect">
            <a:avLst>
              <a:gd name="adj" fmla="val 9600"/>
            </a:avLst>
          </a:prstGeom>
          <a:solidFill>
            <a:schemeClr val="bg1"/>
          </a:solidFill>
          <a:ln w="12700">
            <a:solidFill>
              <a:schemeClr val="bg1"/>
            </a:solidFill>
            <a:prstDash val="solid"/>
          </a:ln>
        </p:spPr>
      </p:sp>
      <p:sp>
        <p:nvSpPr>
          <p:cNvPr id="5" name="Text 3"/>
          <p:cNvSpPr txBox="1"/>
          <p:nvPr/>
        </p:nvSpPr>
        <p:spPr>
          <a:xfrm>
            <a:off x="822960"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GDPR and BDSG</a:t>
            </a:r>
            <a:endParaRPr lang="en-US" sz="1500" dirty="0"/>
          </a:p>
        </p:txBody>
      </p:sp>
      <p:sp>
        <p:nvSpPr>
          <p:cNvPr id="6" name="Text 4"/>
          <p:cNvSpPr txBox="1"/>
          <p:nvPr/>
        </p:nvSpPr>
        <p:spPr>
          <a:xfrm>
            <a:off x="822960"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Legal basis per use, DPIA, data protection officer, EU hosting, deletion that reaches logs and backups</a:t>
            </a:r>
            <a:endParaRPr lang="en-US" sz="1200" dirty="0"/>
          </a:p>
        </p:txBody>
      </p:sp>
      <p:sp>
        <p:nvSpPr>
          <p:cNvPr id="7" name="legal"/>
          <p:cNvSpPr/>
          <p:nvPr/>
        </p:nvSpPr>
        <p:spPr>
          <a:xfrm>
            <a:off x="6190488" y="2057400"/>
            <a:ext cx="5449824" cy="1143000"/>
          </a:xfrm>
          <a:prstGeom prst="roundRect">
            <a:avLst>
              <a:gd name="adj" fmla="val 9600"/>
            </a:avLst>
          </a:prstGeom>
          <a:solidFill>
            <a:schemeClr val="bg1"/>
          </a:solidFill>
          <a:ln w="12700">
            <a:solidFill>
              <a:schemeClr val="bg1"/>
            </a:solidFill>
            <a:prstDash val="solid"/>
          </a:ln>
        </p:spPr>
      </p:sp>
      <p:sp>
        <p:nvSpPr>
          <p:cNvPr id="8" name="Text 6"/>
          <p:cNvSpPr txBox="1"/>
          <p:nvPr/>
        </p:nvSpPr>
        <p:spPr>
          <a:xfrm>
            <a:off x="6464808" y="2221992"/>
            <a:ext cx="4937760" cy="292608"/>
          </a:xfrm>
          <a:prstGeom prst="rect">
            <a:avLst/>
          </a:prstGeom>
          <a:noFill/>
          <a:ln/>
        </p:spPr>
        <p:txBody>
          <a:bodyPr wrap="square" lIns="0" tIns="0" rIns="0" bIns="0" rtlCol="0" anchor="t"/>
          <a:lstStyle/>
          <a:p>
            <a:pPr indent="0" marL="0">
              <a:buNone/>
            </a:pPr>
            <a:r>
              <a:rPr lang="en-US" sz="1500" b="1" dirty="0">
                <a:solidFill>
                  <a:schemeClr val="tx1"/>
                </a:solidFill>
              </a:rPr>
              <a:t>EU AI Act</a:t>
            </a:r>
            <a:endParaRPr lang="en-US" sz="1500" dirty="0"/>
          </a:p>
        </p:txBody>
      </p:sp>
      <p:sp>
        <p:nvSpPr>
          <p:cNvPr id="9" name="Text 7"/>
          <p:cNvSpPr txBox="1"/>
          <p:nvPr/>
        </p:nvSpPr>
        <p:spPr>
          <a:xfrm>
            <a:off x="6464808" y="2532888"/>
            <a:ext cx="4937760" cy="594360"/>
          </a:xfrm>
          <a:prstGeom prst="rect">
            <a:avLst/>
          </a:prstGeom>
          <a:noFill/>
          <a:ln/>
        </p:spPr>
        <p:txBody>
          <a:bodyPr wrap="square" lIns="0" tIns="0" rIns="0" bIns="0" rtlCol="0" anchor="t"/>
          <a:lstStyle/>
          <a:p>
            <a:pPr indent="0" marL="0">
              <a:buNone/>
            </a:pPr>
            <a:r>
              <a:rPr lang="en-US" sz="1200" dirty="0">
                <a:solidFill>
                  <a:schemeClr val="tx2"/>
                </a:solidFill>
              </a:rPr>
              <a:t>Recruitment AI is high-risk (Annex III) from 2 Dec 2027; candidate-side use needs specialist classification</a:t>
            </a:r>
            <a:endParaRPr lang="en-US" sz="1200" dirty="0"/>
          </a:p>
        </p:txBody>
      </p:sp>
      <p:sp>
        <p:nvSpPr>
          <p:cNvPr id="10" name="legal"/>
          <p:cNvSpPr/>
          <p:nvPr/>
        </p:nvSpPr>
        <p:spPr>
          <a:xfrm>
            <a:off x="548640" y="3383280"/>
            <a:ext cx="5449824" cy="1143000"/>
          </a:xfrm>
          <a:prstGeom prst="roundRect">
            <a:avLst>
              <a:gd name="adj" fmla="val 9600"/>
            </a:avLst>
          </a:prstGeom>
          <a:solidFill>
            <a:schemeClr val="bg1"/>
          </a:solidFill>
          <a:ln w="12700">
            <a:solidFill>
              <a:schemeClr val="bg1"/>
            </a:solidFill>
            <a:prstDash val="solid"/>
          </a:ln>
        </p:spPr>
      </p:sp>
      <p:sp>
        <p:nvSpPr>
          <p:cNvPr id="11" name="Text 9"/>
          <p:cNvSpPr txBox="1"/>
          <p:nvPr/>
        </p:nvSpPr>
        <p:spPr>
          <a:xfrm>
            <a:off x="822960"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Anti-discrimination (AGG)</a:t>
            </a:r>
            <a:endParaRPr lang="en-US" sz="1500" dirty="0"/>
          </a:p>
        </p:txBody>
      </p:sp>
      <p:sp>
        <p:nvSpPr>
          <p:cNvPr id="12" name="Text 10"/>
          <p:cNvSpPr txBox="1"/>
          <p:nvPr/>
        </p:nvSpPr>
        <p:spPr>
          <a:xfrm>
            <a:off x="822960"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No protected attributes or proxies; bias tests with the four-fifths rule</a:t>
            </a:r>
            <a:endParaRPr lang="en-US" sz="1200" dirty="0"/>
          </a:p>
        </p:txBody>
      </p:sp>
      <p:sp>
        <p:nvSpPr>
          <p:cNvPr id="13" name="legal"/>
          <p:cNvSpPr/>
          <p:nvPr/>
        </p:nvSpPr>
        <p:spPr>
          <a:xfrm>
            <a:off x="6190488" y="3383280"/>
            <a:ext cx="5449824" cy="1143000"/>
          </a:xfrm>
          <a:prstGeom prst="roundRect">
            <a:avLst>
              <a:gd name="adj" fmla="val 9600"/>
            </a:avLst>
          </a:prstGeom>
          <a:solidFill>
            <a:schemeClr val="bg1"/>
          </a:solidFill>
          <a:ln w="12700">
            <a:solidFill>
              <a:schemeClr val="bg1"/>
            </a:solidFill>
            <a:prstDash val="solid"/>
          </a:ln>
        </p:spPr>
      </p:sp>
      <p:sp>
        <p:nvSpPr>
          <p:cNvPr id="14" name="Text 12"/>
          <p:cNvSpPr txBox="1"/>
          <p:nvPr/>
        </p:nvSpPr>
        <p:spPr>
          <a:xfrm>
            <a:off x="6464808" y="3547872"/>
            <a:ext cx="4937760" cy="292608"/>
          </a:xfrm>
          <a:prstGeom prst="rect">
            <a:avLst/>
          </a:prstGeom>
          <a:noFill/>
          <a:ln/>
        </p:spPr>
        <p:txBody>
          <a:bodyPr wrap="square" lIns="0" tIns="0" rIns="0" bIns="0" rtlCol="0" anchor="t"/>
          <a:lstStyle/>
          <a:p>
            <a:pPr indent="0" marL="0">
              <a:buNone/>
            </a:pPr>
            <a:r>
              <a:rPr lang="en-US" sz="1500" b="1" dirty="0">
                <a:solidFill>
                  <a:schemeClr val="tx1"/>
                </a:solidFill>
              </a:rPr>
              <a:t>Automated decisions</a:t>
            </a:r>
            <a:endParaRPr lang="en-US" sz="1500" dirty="0"/>
          </a:p>
        </p:txBody>
      </p:sp>
      <p:sp>
        <p:nvSpPr>
          <p:cNvPr id="15" name="Text 13"/>
          <p:cNvSpPr txBox="1"/>
          <p:nvPr/>
        </p:nvSpPr>
        <p:spPr>
          <a:xfrm>
            <a:off x="6464808" y="3858768"/>
            <a:ext cx="4937760" cy="594360"/>
          </a:xfrm>
          <a:prstGeom prst="rect">
            <a:avLst/>
          </a:prstGeom>
          <a:noFill/>
          <a:ln/>
        </p:spPr>
        <p:txBody>
          <a:bodyPr wrap="square" lIns="0" tIns="0" rIns="0" bIns="0" rtlCol="0" anchor="t"/>
          <a:lstStyle/>
          <a:p>
            <a:pPr indent="0" marL="0">
              <a:buNone/>
            </a:pPr>
            <a:r>
              <a:rPr lang="en-US" sz="1200" dirty="0">
                <a:solidFill>
                  <a:schemeClr val="tx2"/>
                </a:solidFill>
              </a:rPr>
              <a:t>The candidate always decides; recruiter ranking keeps a human in the loop</a:t>
            </a:r>
            <a:endParaRPr lang="en-US" sz="1200" dirty="0"/>
          </a:p>
        </p:txBody>
      </p:sp>
      <p:sp>
        <p:nvSpPr>
          <p:cNvPr id="16" name="legal"/>
          <p:cNvSpPr/>
          <p:nvPr/>
        </p:nvSpPr>
        <p:spPr>
          <a:xfrm>
            <a:off x="548640" y="4709160"/>
            <a:ext cx="5449824" cy="1143000"/>
          </a:xfrm>
          <a:prstGeom prst="roundRect">
            <a:avLst>
              <a:gd name="adj" fmla="val 9600"/>
            </a:avLst>
          </a:prstGeom>
          <a:solidFill>
            <a:schemeClr val="bg1"/>
          </a:solidFill>
          <a:ln w="12700">
            <a:solidFill>
              <a:schemeClr val="bg1"/>
            </a:solidFill>
            <a:prstDash val="solid"/>
          </a:ln>
        </p:spPr>
      </p:sp>
      <p:sp>
        <p:nvSpPr>
          <p:cNvPr id="17" name="Text 15"/>
          <p:cNvSpPr txBox="1"/>
          <p:nvPr/>
        </p:nvSpPr>
        <p:spPr>
          <a:xfrm>
            <a:off x="822960"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Job data</a:t>
            </a:r>
            <a:endParaRPr lang="en-US" sz="1500" dirty="0"/>
          </a:p>
        </p:txBody>
      </p:sp>
      <p:sp>
        <p:nvSpPr>
          <p:cNvPr id="18" name="Text 16"/>
          <p:cNvSpPr txBox="1"/>
          <p:nvPr/>
        </p:nvSpPr>
        <p:spPr>
          <a:xfrm>
            <a:off x="822960"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Bundesagentur terms of use, no scraping, mock data labelled</a:t>
            </a:r>
            <a:endParaRPr lang="en-US" sz="1200" dirty="0"/>
          </a:p>
        </p:txBody>
      </p:sp>
      <p:sp>
        <p:nvSpPr>
          <p:cNvPr id="19" name="legal"/>
          <p:cNvSpPr/>
          <p:nvPr/>
        </p:nvSpPr>
        <p:spPr>
          <a:xfrm>
            <a:off x="6190488" y="4709160"/>
            <a:ext cx="5449824" cy="1143000"/>
          </a:xfrm>
          <a:prstGeom prst="roundRect">
            <a:avLst>
              <a:gd name="adj" fmla="val 9600"/>
            </a:avLst>
          </a:prstGeom>
          <a:solidFill>
            <a:schemeClr val="bg1"/>
          </a:solidFill>
          <a:ln w="12700">
            <a:solidFill>
              <a:schemeClr val="bg1"/>
            </a:solidFill>
            <a:prstDash val="solid"/>
          </a:ln>
        </p:spPr>
      </p:sp>
      <p:sp>
        <p:nvSpPr>
          <p:cNvPr id="20" name="Text 18"/>
          <p:cNvSpPr txBox="1"/>
          <p:nvPr/>
        </p:nvSpPr>
        <p:spPr>
          <a:xfrm>
            <a:off x="6464808" y="4873752"/>
            <a:ext cx="4937760" cy="292608"/>
          </a:xfrm>
          <a:prstGeom prst="rect">
            <a:avLst/>
          </a:prstGeom>
          <a:noFill/>
          <a:ln/>
        </p:spPr>
        <p:txBody>
          <a:bodyPr wrap="square" lIns="0" tIns="0" rIns="0" bIns="0" rtlCol="0" anchor="t"/>
          <a:lstStyle/>
          <a:p>
            <a:pPr indent="0" marL="0">
              <a:buNone/>
            </a:pPr>
            <a:r>
              <a:rPr lang="en-US" sz="1500" b="1" dirty="0">
                <a:solidFill>
                  <a:schemeClr val="tx1"/>
                </a:solidFill>
              </a:rPr>
              <a:t>Wallet</a:t>
            </a:r>
            <a:endParaRPr lang="en-US" sz="1500" dirty="0"/>
          </a:p>
        </p:txBody>
      </p:sp>
      <p:sp>
        <p:nvSpPr>
          <p:cNvPr id="21" name="Text 19"/>
          <p:cNvSpPr txBox="1"/>
          <p:nvPr/>
        </p:nvSpPr>
        <p:spPr>
          <a:xfrm>
            <a:off x="6464808" y="5184648"/>
            <a:ext cx="4937760" cy="594360"/>
          </a:xfrm>
          <a:prstGeom prst="rect">
            <a:avLst/>
          </a:prstGeom>
          <a:noFill/>
          <a:ln/>
        </p:spPr>
        <p:txBody>
          <a:bodyPr wrap="square" lIns="0" tIns="0" rIns="0" bIns="0" rtlCol="0" anchor="t"/>
          <a:lstStyle/>
          <a:p>
            <a:pPr indent="0" marL="0">
              <a:buNone/>
            </a:pPr>
            <a:r>
              <a:rPr lang="en-US" sz="1200" dirty="0">
                <a:solidFill>
                  <a:schemeClr val="tx2"/>
                </a:solidFill>
              </a:rPr>
              <a:t>Through a licensed payment provider; prices incl. VAT, withdrawal rules</a:t>
            </a:r>
            <a:endParaRPr lang="en-US" sz="1200" dirty="0"/>
          </a:p>
        </p:txBody>
      </p:sp>
      <p:sp>
        <p:nvSpPr>
          <p:cNvPr id="22" name="Text 20"/>
          <p:cNvSpPr txBox="1"/>
          <p:nvPr/>
        </p:nvSpPr>
        <p:spPr>
          <a:xfrm>
            <a:off x="548640" y="6035040"/>
            <a:ext cx="9144000" cy="228600"/>
          </a:xfrm>
          <a:prstGeom prst="rect">
            <a:avLst/>
          </a:prstGeom>
          <a:noFill/>
          <a:ln/>
        </p:spPr>
        <p:txBody>
          <a:bodyPr wrap="square" lIns="0" tIns="0" rIns="0" bIns="0" rtlCol="0" anchor="t"/>
          <a:lstStyle/>
          <a:p>
            <a:pPr indent="0" marL="0">
              <a:buNone/>
            </a:pPr>
            <a:r>
              <a:rPr lang="en-US" sz="1000" dirty="0">
                <a:solidFill>
                  <a:schemeClr val="tx2"/>
                </a:solidFill>
              </a:rPr>
              <a:t>Not legal advice. Details in PRD chapter 12 on Confluence.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areerPilot">
  <a:themeElements>
    <a:clrScheme name="CareerPilot">
      <a:dk1>
        <a:srgbClr val="0F2A4A"/>
      </a:dk1>
      <a:lt1>
        <a:srgbClr val="FFFFFF"/>
      </a:lt1>
      <a:dk2>
        <a:srgbClr val="5B6B80"/>
      </a:dk2>
      <a:lt2>
        <a:srgbClr val="E8EEF6"/>
      </a:lt2>
      <a:accent1>
        <a:srgbClr val="F2542D"/>
      </a:accent1>
      <a:accent2>
        <a:srgbClr val="1E4A7A"/>
      </a:accent2>
      <a:accent3>
        <a:srgbClr val="2E8B57"/>
      </a:accent3>
      <a:accent4>
        <a:srgbClr val="D5DEEA"/>
      </a:accent4>
      <a:accent5>
        <a:srgbClr val="FDE3DB"/>
      </a:accent5>
      <a:accent6>
        <a:srgbClr val="163A63"/>
      </a:accent6>
      <a:hlink>
        <a:srgbClr val="1E4A7A"/>
      </a:hlink>
      <a:folHlink>
        <a:srgbClr val="5B6B80"/>
      </a:folHlink>
    </a:clrScheme>
    <a:fontScheme name="Career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CareerPilot Product Story v5</dc:title>
  <dc:subject>PptxGenJS Presentation</dc:subject>
  <dc:creator>Dan Glogoveanu</dc:creator>
  <cp:lastModifiedBy>Dan Glogoveanu</cp:lastModifiedBy>
  <cp:revision>1</cp:revision>
  <dcterms:created xsi:type="dcterms:W3CDTF">2026-10-08T14:29:45Z</dcterms:created>
  <dcterms:modified xsi:type="dcterms:W3CDTF">2026-10-08T14:29:45Z</dcterms:modified>
</cp:coreProperties>
</file>