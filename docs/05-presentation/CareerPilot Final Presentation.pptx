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CC134517-0DD4-9BA4-AB2D-981BF26AB670}">
          <p14:sldIdLst>
            <p14:sldId id="256"/>
            <p14:sldId id="257"/>
          </p14:sldIdLst>
        </p14:section>
        <p14:section name="PRD" id="{057173DF-B428-709F-D9CE-57B1E3C14806}">
          <p14:sldIdLst>
            <p14:sldId id="258"/>
          </p14:sldIdLst>
        </p14:section>
        <p14:section name="Backlog" id="{CAC6750B-F795-892C-8D45-C4A140EE1739}">
          <p14:sldIdLst>
            <p14:sldId id="259"/>
          </p14:sldIdLst>
        </p14:section>
        <p14:section name="Figma" id="{9EFCA599-8FB3-7AD4-3C55-DE05332D39D8}">
          <p14:sldIdLst>
            <p14:sldId id="260"/>
          </p14:sldIdLst>
        </p14:section>
        <p14:section name="Demo" id="{72C048AD-BF38-45B1-5922-0F5522F94EBE}">
          <p14:sldIdLst>
            <p14:sldId id="261"/>
          </p14:sldIdLst>
        </p14:section>
        <p14:section name="Close" id="{7F568040-F724-6F95-0081-642CACDF7B11}">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740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Hi, we're presenting CareerPilot: a clear route from discovery to application. The problem: job seekers in Germany search several job boards, they can't tell whether they actually fit a job, and they don't trust rankings that are shaped by ads and premium accounts. Our solution is a job search copilot. It collects public jobs into one digest, gives every job an explained fit score, helps prepare the application with documents the user approves, and keeps one application history. The value in one line: know if you fit, prepare with help, and stay in control.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Who are we building for? Four personas from our ideation workshop. Markus, a senior engineer, gets about 60 alerts a week; he needs one digest and to skip a job in seconds. Lena, a graduate, sent 40 applications and got 3 interviews; she needs to know whether she qualifies. Andrei works in three languages and has met fake recruiters; he needs the real language level and documents in the ad's language. And Sofia, a headhunter in our pilot, wants available candidates who truly fit, but only with their consent. These are illustrative personas; validating them with interviews is our next step.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Our PRD on Confluence is the foundation and the source of truth. It defines 31 functional and 14 non-functional requirements and 29 user stories. The MVP is deliberately narrow: Germany, German and English, web and mobile, jobs from the public Bundesagentur lists, a free explained score, and 10 daily credits for preparation. Three stories carry the core. US2: see how the score is calculated. US3: the score reflects fit, not missing data, so an incomplete profile still gets scores with a confidence label. US4: every application is saved with its job ad. And some things we will never do: auto-apply, paid ranking, or sharing a CV without consent.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We turned the PRD into a Jira backlog: 9 epics and 29 stories. We used three methods, each for a reason. MoSCoW sets the scope, because our launch date is fixed, so scope has to flex. RICE ranks stories inside that scope by value per effort, which is why matching without a gate comes early. WSJF orders the seven headhunter stories, because they depend on each other and consent must come first. Every story has Given-When-Then acceptance criteria, like this one for the application history. The six build sprints are planned in Jira from January to April 2027, about 13 points each. The backlog and plan are done; executing the sprints is the next phase.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In Figma we turned the stories into a clickable wireframe prototype: 44 primary views, 58 states for loading, empty and error cases, and one mobile frame. This is Lena's journey: sign in with SSO, upload a CV, review the profile, set preferences, see the job list, open a job with its fit score and why it fits, prepare the application with evidence and a strategy she confirms, review the tailored CV change by change, and confirm 'Did you apply?' so it lands in her history. The Flows page maps each persona's tasks to these screens, and every frame is annotated with the stories it covers.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[4:30–6:15] LIVE DEMO. Click 'Open the live demo'. (1) Sign in with any SSO button. (2) Upload CV, then Review: the profile is 72% complete, and scores still show. (3) Preferences: minimum fit 90%, then Show my matches. (4) Job list: two jobs above 90%, eight more labelled below the minimum, so Lena always sees ten. (5) Open Data analyst: the fit ring, why it fits, How it's calculated: the points add up to 92. (6) Prepare application spends one credit: strengths, gaps, transferables, risks, then confirm the strategy. (7) Generate the CV: review each change. (8) Apply on job site, then 'Yes, log application': it appears under Applications. Then switch to the Figma tab to show the same journey as wireframes, and the GitHub tab: public repo, docs and app folders, deployed from main to Vercel. Say clearly: the app is real and deployed, but CV parsing, AI generation and job data are simulated with illustrative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[6:15–7:00] To wrap up: the four parts form one package. The PRD defines what and why, Jira turns it into stories and sprints, Figma shows how it looks and flows, and the Next.js prototype shows how it works. Every feature traces through all four; for example, unclear fit becomes FR18 and FR19, story US3 in sprint 4, the job list and score screens, and the jobs page in the demo. Our key decisions: no completeness gate, public job lists only, and free matching with paid preparation. What we learned: keep one source of truth, expect every decision to ripple, and verify what AI drafts. Next: interviews, testing the score against expert labels, and an engineering and legal review before building.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8EEF6"/>
        </a:solidFill>
        <a:effectLst/>
      </p:bgPr>
    </p:bg>
    <p:spTree>
      <p:nvGrpSpPr>
        <p:cNvPr id="1" name=""/>
        <p:cNvGrpSpPr/>
        <p:nvPr/>
      </p:nvGrpSpPr>
      <p:grpSpPr>
        <a:xfrm>
          <a:off x="0" y="0"/>
          <a:ext cx="0" cy="0"/>
          <a:chOff x="0" y="0"/>
          <a:chExt cx="0" cy="0"/>
        </a:xfrm>
      </p:grpSpPr>
      <p:pic>
        <p:nvPicPr>
          <p:cNvPr id="2" name="Image 0" descr="/tmp/claude-0/-home-claude/d1b11841-31a5-5c6c-8b8a-2c68ca1b0a7c/scratchpad/deck/img/logo-navy.png"/>
          <p:cNvPicPr>
            <a:picLocks noChangeAspect="1"/>
          </p:cNvPicPr>
          <p:nvPr/>
        </p:nvPicPr>
        <p:blipFill>
          <a:blip r:embed="rId2"/>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chemeClr val="tx2"/>
                </a:solidFill>
              </a:rPr>
              <a:t>CareerPilot · Ironhack AI PM · Mini Project 1 · demo with illustrative data</a:t>
            </a:r>
            <a:endParaRPr lang="en-US" sz="1000" dirty="0"/>
          </a:p>
        </p:txBody>
      </p:sp>
      <p:sp>
        <p:nvSpPr>
          <p:cNvPr id="4" name="Text 1"/>
          <p:cNvSpPr>
            <a:spLocks noGrp="1"/>
          </p:cNvSpPr>
          <p:nvPr>
            <p:ph type="body" idx="102" hasCustomPrompt="1"/>
          </p:nvPr>
        </p:nvSpPr>
        <p:spPr>
          <a:xfrm>
            <a:off x="548640" y="822960"/>
            <a:ext cx="1106424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5" name="Text 1"/>
          <p:cNvSpPr>
            <a:spLocks noGrp="1"/>
          </p:cNvSpPr>
          <p:nvPr>
            <p:ph type="title" idx="103" hasCustomPrompt="1"/>
          </p:nvPr>
        </p:nvSpPr>
        <p:spPr>
          <a:xfrm>
            <a:off x="548640" y="1097280"/>
            <a:ext cx="11064240"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4A"/>
        </a:solidFill>
        <a:effectLst/>
      </p:bgPr>
    </p:bg>
    <p:spTree>
      <p:nvGrpSpPr>
        <p:cNvPr id="1" name=""/>
        <p:cNvGrpSpPr/>
        <p:nvPr/>
      </p:nvGrpSpPr>
      <p:grpSpPr>
        <a:xfrm>
          <a:off x="0" y="0"/>
          <a:ext cx="0" cy="0"/>
          <a:chOff x="0" y="0"/>
          <a:chExt cx="0" cy="0"/>
        </a:xfrm>
      </p:grpSpPr>
      <p:pic>
        <p:nvPicPr>
          <p:cNvPr id="2" name="Image 0" descr="/tmp/claude-0/-home-claude/d1b11841-31a5-5c6c-8b8a-2c68ca1b0a7c/scratchpad/deck/img/logo-white.png"/>
          <p:cNvPicPr>
            <a:picLocks noChangeAspect="1"/>
          </p:cNvPicPr>
          <p:nvPr/>
        </p:nvPicPr>
        <p:blipFill>
          <a:blip r:embed="rId2"/>
          <a:stretch>
            <a:fillRect/>
          </a:stretch>
        </p:blipFill>
        <p:spPr>
          <a:xfrm>
            <a:off x="548640" y="292608"/>
            <a:ext cx="1353312" cy="274320"/>
          </a:xfrm>
          <a:prstGeom prst="rect">
            <a:avLst/>
          </a:prstGeom>
        </p:spPr>
      </p:pic>
      <p:sp>
        <p:nvSpPr>
          <p:cNvPr id="3" name="Text 0"/>
          <p:cNvSpPr/>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chemeClr val="accent4"/>
                </a:solidFill>
              </a:rPr>
              <a:t>CareerPilot · Ironhack AI PM · Mini Project 1 · demo with illustrative data</a:t>
            </a:r>
            <a:endParaRPr lang="en-US" sz="1000" dirty="0"/>
          </a:p>
        </p:txBody>
      </p:sp>
      <p:sp>
        <p:nvSpPr>
          <p:cNvPr id="4" name="Text 1"/>
          <p:cNvSpPr>
            <a:spLocks noGrp="1"/>
          </p:cNvSpPr>
          <p:nvPr>
            <p:ph type="body" idx="102" hasCustomPrompt="1"/>
          </p:nvPr>
        </p:nvSpPr>
        <p:spPr>
          <a:xfrm>
            <a:off x="548640" y="822960"/>
            <a:ext cx="1106424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5" name="Text 1"/>
          <p:cNvSpPr>
            <a:spLocks noGrp="1"/>
          </p:cNvSpPr>
          <p:nvPr>
            <p:ph type="title" idx="103" hasCustomPrompt="1"/>
          </p:nvPr>
        </p:nvSpPr>
        <p:spPr>
          <a:xfrm>
            <a:off x="548640" y="1097280"/>
            <a:ext cx="1106424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F2A4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hyperlink" Target="https://glogoveanu.atlassian.net/wiki/spaces/PRD/pages/4292609"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logoveanu.atlassian.net/jira/software/projects/CPA/boards/39"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www.figma.com/proto/jiH6XiAkRDHMY5UeNhoZyp/CareerPilot?node-id=16-252&amp;page-id=5%3A3&amp;starting-point-node-id=16-25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hyperlink" Target="https://www.figma.com/proto/jiH6XiAkRDHMY5UeNhoZyp/CareerPilot?node-id=16-252&amp;page-id=5%3A3&amp;starting-point-node-id=16-252" TargetMode="External"/><Relationship Id="rId3" Type="http://schemas.openxmlformats.org/officeDocument/2006/relationships/image" Target="../media/image12.png"/><Relationship Id="rId7" Type="http://schemas.openxmlformats.org/officeDocument/2006/relationships/hyperlink" Target="https://careerpilot.glogoveanu.eu"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hyperlink" Target="https://github.com/cugetare/CareerPilo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01 · INTRODUCTION AND PROBLEM</a:t>
            </a:r>
            <a:endParaRPr lang="en-US" sz="1200" dirty="0"/>
          </a:p>
        </p:txBody>
      </p:sp>
      <p:sp>
        <p:nvSpPr>
          <p:cNvPr id="3" name="Text 1"/>
          <p:cNvSpPr txBox="1"/>
          <p:nvPr/>
        </p:nvSpPr>
        <p:spPr>
          <a:xfrm>
            <a:off x="5074920"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Problem</a:t>
            </a:r>
            <a:endParaRPr lang="en-US" sz="1000" dirty="0"/>
          </a:p>
        </p:txBody>
      </p:sp>
      <p:sp>
        <p:nvSpPr>
          <p:cNvPr id="4" name="Text 2"/>
          <p:cNvSpPr txBox="1"/>
          <p:nvPr/>
        </p:nvSpPr>
        <p:spPr>
          <a:xfrm>
            <a:off x="6016752"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Users</a:t>
            </a:r>
            <a:endParaRPr lang="en-US" sz="1000" dirty="0"/>
          </a:p>
        </p:txBody>
      </p:sp>
      <p:sp>
        <p:nvSpPr>
          <p:cNvPr id="5" name="Text 3"/>
          <p:cNvSpPr txBox="1"/>
          <p:nvPr/>
        </p:nvSpPr>
        <p:spPr>
          <a:xfrm>
            <a:off x="6958584"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PRD</a:t>
            </a:r>
            <a:endParaRPr lang="en-US" sz="1000" dirty="0"/>
          </a:p>
        </p:txBody>
      </p:sp>
      <p:sp>
        <p:nvSpPr>
          <p:cNvPr id="6" name="Text 4"/>
          <p:cNvSpPr txBox="1"/>
          <p:nvPr/>
        </p:nvSpPr>
        <p:spPr>
          <a:xfrm>
            <a:off x="7900416"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Backlog</a:t>
            </a:r>
            <a:endParaRPr lang="en-US" sz="1000" dirty="0"/>
          </a:p>
        </p:txBody>
      </p:sp>
      <p:sp>
        <p:nvSpPr>
          <p:cNvPr id="7" name="Text 5"/>
          <p:cNvSpPr txBox="1"/>
          <p:nvPr/>
        </p:nvSpPr>
        <p:spPr>
          <a:xfrm>
            <a:off x="8842248"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Figma</a:t>
            </a:r>
            <a:endParaRPr lang="en-US" sz="1000" dirty="0"/>
          </a:p>
        </p:txBody>
      </p:sp>
      <p:sp>
        <p:nvSpPr>
          <p:cNvPr id="8" name="Text 6"/>
          <p:cNvSpPr txBox="1"/>
          <p:nvPr/>
        </p:nvSpPr>
        <p:spPr>
          <a:xfrm>
            <a:off x="9784080"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Demo</a:t>
            </a:r>
            <a:endParaRPr lang="en-US" sz="1000" dirty="0"/>
          </a:p>
        </p:txBody>
      </p:sp>
      <p:sp>
        <p:nvSpPr>
          <p:cNvPr id="9" name="Text 7"/>
          <p:cNvSpPr txBox="1"/>
          <p:nvPr/>
        </p:nvSpPr>
        <p:spPr>
          <a:xfrm>
            <a:off x="10725912"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Integration</a:t>
            </a:r>
            <a:endParaRPr lang="en-US" sz="1000" dirty="0"/>
          </a:p>
        </p:txBody>
      </p:sp>
      <p:pic>
        <p:nvPicPr>
          <p:cNvPr id="10" name="Image 0" descr="/tmp/claude-0/-home-claude/d1b11841-31a5-5c6c-8b8a-2c68ca1b0a7c/scratchpad/deck/img/logo-white.png"/>
          <p:cNvPicPr>
            <a:picLocks noChangeAspect="1"/>
          </p:cNvPicPr>
          <p:nvPr/>
        </p:nvPicPr>
        <p:blipFill>
          <a:blip r:embed="rId3"/>
          <a:stretch>
            <a:fillRect/>
          </a:stretch>
        </p:blipFill>
        <p:spPr>
          <a:xfrm>
            <a:off x="548640" y="1143000"/>
            <a:ext cx="4206240" cy="850392"/>
          </a:xfrm>
          <a:prstGeom prst="rect">
            <a:avLst/>
          </a:prstGeom>
        </p:spPr>
      </p:pic>
      <p:sp>
        <p:nvSpPr>
          <p:cNvPr id="11" name="Text 8"/>
          <p:cNvSpPr txBox="1"/>
          <p:nvPr/>
        </p:nvSpPr>
        <p:spPr>
          <a:xfrm>
            <a:off x="548640" y="2194560"/>
            <a:ext cx="5669280" cy="822960"/>
          </a:xfrm>
          <a:prstGeom prst="rect">
            <a:avLst/>
          </a:prstGeom>
          <a:noFill/>
          <a:ln/>
        </p:spPr>
        <p:txBody>
          <a:bodyPr wrap="square" lIns="0" tIns="0" rIns="0" bIns="0" rtlCol="0" anchor="t"/>
          <a:lstStyle/>
          <a:p>
            <a:pPr marL="0" indent="0">
              <a:buNone/>
            </a:pPr>
            <a:r>
              <a:rPr lang="en-US" sz="2400" b="1" dirty="0">
                <a:solidFill>
                  <a:schemeClr val="bg1"/>
                </a:solidFill>
              </a:rPr>
              <a:t>A clear route from discovery to application.</a:t>
            </a:r>
            <a:endParaRPr lang="en-US" sz="2400" dirty="0"/>
          </a:p>
        </p:txBody>
      </p:sp>
      <p:sp>
        <p:nvSpPr>
          <p:cNvPr id="12" name="Text 9"/>
          <p:cNvSpPr txBox="1"/>
          <p:nvPr/>
        </p:nvSpPr>
        <p:spPr>
          <a:xfrm>
            <a:off x="548640" y="3246120"/>
            <a:ext cx="45720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THE PROBLEM</a:t>
            </a:r>
            <a:endParaRPr lang="en-US" sz="1200" dirty="0"/>
          </a:p>
        </p:txBody>
      </p:sp>
      <p:sp>
        <p:nvSpPr>
          <p:cNvPr id="13" name="Text 10"/>
          <p:cNvSpPr txBox="1"/>
          <p:nvPr/>
        </p:nvSpPr>
        <p:spPr>
          <a:xfrm>
            <a:off x="548640" y="3520440"/>
            <a:ext cx="5577840" cy="914400"/>
          </a:xfrm>
          <a:prstGeom prst="rect">
            <a:avLst/>
          </a:prstGeom>
          <a:noFill/>
          <a:ln/>
        </p:spPr>
        <p:txBody>
          <a:bodyPr wrap="square" lIns="0" tIns="0" rIns="0" bIns="0" rtlCol="0" anchor="t"/>
          <a:lstStyle/>
          <a:p>
            <a:pPr marL="0" indent="0">
              <a:buNone/>
            </a:pPr>
            <a:r>
              <a:rPr lang="en-US" sz="1600" dirty="0">
                <a:solidFill>
                  <a:schemeClr val="accent4"/>
                </a:solidFill>
              </a:rPr>
              <a:t>Job seekers in Germany search several boards, can't tell whether they fit a job, and don't trust rankings shaped by ads.</a:t>
            </a:r>
            <a:endParaRPr lang="en-US" sz="1600" dirty="0"/>
          </a:p>
        </p:txBody>
      </p:sp>
      <p:sp>
        <p:nvSpPr>
          <p:cNvPr id="14" name="Text 11"/>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OUR SOLUTION</a:t>
            </a:r>
            <a:endParaRPr lang="en-US" sz="1200" dirty="0"/>
          </a:p>
        </p:txBody>
      </p:sp>
      <p:sp>
        <p:nvSpPr>
          <p:cNvPr id="15" name="Text 12"/>
          <p:cNvSpPr txBox="1"/>
          <p:nvPr/>
        </p:nvSpPr>
        <p:spPr>
          <a:xfrm>
            <a:off x="548640" y="4846320"/>
            <a:ext cx="5577840" cy="914400"/>
          </a:xfrm>
          <a:prstGeom prst="rect">
            <a:avLst/>
          </a:prstGeom>
          <a:noFill/>
          <a:ln/>
        </p:spPr>
        <p:txBody>
          <a:bodyPr wrap="square" lIns="0" tIns="0" rIns="0" bIns="0" rtlCol="0" anchor="t"/>
          <a:lstStyle/>
          <a:p>
            <a:pPr marL="0" indent="0">
              <a:buNone/>
            </a:pPr>
            <a:r>
              <a:rPr lang="en-US" sz="1600" dirty="0">
                <a:solidFill>
                  <a:schemeClr val="accent4"/>
                </a:solidFill>
              </a:rPr>
              <a:t>A job search copilot: one digest of public jobs, an explained fit score for every job, preparation tools you approve, one application history.</a:t>
            </a:r>
            <a:endParaRPr lang="en-US" sz="1600" dirty="0"/>
          </a:p>
        </p:txBody>
      </p:sp>
      <p:sp>
        <p:nvSpPr>
          <p:cNvPr id="16" name="value"/>
          <p:cNvSpPr/>
          <p:nvPr/>
        </p:nvSpPr>
        <p:spPr>
          <a:xfrm>
            <a:off x="6675120" y="1143000"/>
            <a:ext cx="4965192" cy="4846320"/>
          </a:xfrm>
          <a:prstGeom prst="roundRect">
            <a:avLst>
              <a:gd name="adj" fmla="val 2264"/>
            </a:avLst>
          </a:prstGeom>
          <a:solidFill>
            <a:srgbClr val="163A63"/>
          </a:solidFill>
          <a:ln w="12700">
            <a:solidFill>
              <a:srgbClr val="163A63"/>
            </a:solidFill>
            <a:prstDash val="solid"/>
          </a:ln>
        </p:spPr>
        <p:txBody>
          <a:bodyPr/>
          <a:lstStyle/>
          <a:p>
            <a:endParaRPr lang="en-US"/>
          </a:p>
        </p:txBody>
      </p:sp>
      <p:sp>
        <p:nvSpPr>
          <p:cNvPr id="17" name="Text 14"/>
          <p:cNvSpPr txBox="1"/>
          <p:nvPr/>
        </p:nvSpPr>
        <p:spPr>
          <a:xfrm>
            <a:off x="6995160" y="1371600"/>
            <a:ext cx="438912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VALUE PROPOSITION</a:t>
            </a:r>
            <a:endParaRPr lang="en-US" sz="1200" dirty="0"/>
          </a:p>
        </p:txBody>
      </p:sp>
      <p:pic>
        <p:nvPicPr>
          <p:cNvPr id="18" name="Image 1" descr="/tmp/claude-0/-home-claude/d1b11841-31a5-5c6c-8b8a-2c68ca1b0a7c/scratchpad/deck/img/reticle-light.png"/>
          <p:cNvPicPr>
            <a:picLocks noChangeAspect="1"/>
          </p:cNvPicPr>
          <p:nvPr/>
        </p:nvPicPr>
        <p:blipFill>
          <a:blip r:embed="rId4"/>
          <a:stretch>
            <a:fillRect/>
          </a:stretch>
        </p:blipFill>
        <p:spPr>
          <a:xfrm>
            <a:off x="6995160" y="1920240"/>
            <a:ext cx="502920" cy="502920"/>
          </a:xfrm>
          <a:prstGeom prst="rect">
            <a:avLst/>
          </a:prstGeom>
        </p:spPr>
      </p:pic>
      <p:sp>
        <p:nvSpPr>
          <p:cNvPr id="19" name="Text 15"/>
          <p:cNvSpPr txBox="1"/>
          <p:nvPr/>
        </p:nvSpPr>
        <p:spPr>
          <a:xfrm>
            <a:off x="7680960" y="1874520"/>
            <a:ext cx="3749040" cy="365760"/>
          </a:xfrm>
          <a:prstGeom prst="rect">
            <a:avLst/>
          </a:prstGeom>
          <a:noFill/>
          <a:ln/>
        </p:spPr>
        <p:txBody>
          <a:bodyPr wrap="square" lIns="0" tIns="0" rIns="0" bIns="0" rtlCol="0" anchor="t"/>
          <a:lstStyle/>
          <a:p>
            <a:pPr marL="0" indent="0">
              <a:buNone/>
            </a:pPr>
            <a:r>
              <a:rPr lang="en-US" sz="2000" b="1" dirty="0">
                <a:solidFill>
                  <a:schemeClr val="bg1"/>
                </a:solidFill>
              </a:rPr>
              <a:t>Know if you fit</a:t>
            </a:r>
            <a:endParaRPr lang="en-US" sz="2000" dirty="0"/>
          </a:p>
        </p:txBody>
      </p:sp>
      <p:sp>
        <p:nvSpPr>
          <p:cNvPr id="20" name="Text 16"/>
          <p:cNvSpPr txBox="1"/>
          <p:nvPr/>
        </p:nvSpPr>
        <p:spPr>
          <a:xfrm>
            <a:off x="7680960" y="2286000"/>
            <a:ext cx="3749040" cy="640080"/>
          </a:xfrm>
          <a:prstGeom prst="rect">
            <a:avLst/>
          </a:prstGeom>
          <a:noFill/>
          <a:ln/>
        </p:spPr>
        <p:txBody>
          <a:bodyPr wrap="square" lIns="0" tIns="0" rIns="0" bIns="0" rtlCol="0" anchor="t"/>
          <a:lstStyle/>
          <a:p>
            <a:pPr marL="0" indent="0">
              <a:buNone/>
            </a:pPr>
            <a:r>
              <a:rPr lang="en-US" sz="1500" dirty="0">
                <a:solidFill>
                  <a:schemeClr val="accent4"/>
                </a:solidFill>
              </a:rPr>
              <a:t>A free score with the reasons behind it</a:t>
            </a:r>
            <a:endParaRPr lang="en-US" sz="1500" dirty="0"/>
          </a:p>
        </p:txBody>
      </p:sp>
      <p:pic>
        <p:nvPicPr>
          <p:cNvPr id="21" name="Image 2" descr="/tmp/claude-0/-home-claude/d1b11841-31a5-5c6c-8b8a-2c68ca1b0a7c/scratchpad/deck/img/reticle-light.png"/>
          <p:cNvPicPr>
            <a:picLocks noChangeAspect="1"/>
          </p:cNvPicPr>
          <p:nvPr/>
        </p:nvPicPr>
        <p:blipFill>
          <a:blip r:embed="rId4"/>
          <a:stretch>
            <a:fillRect/>
          </a:stretch>
        </p:blipFill>
        <p:spPr>
          <a:xfrm>
            <a:off x="6995160" y="3246120"/>
            <a:ext cx="502920" cy="502920"/>
          </a:xfrm>
          <a:prstGeom prst="rect">
            <a:avLst/>
          </a:prstGeom>
        </p:spPr>
      </p:pic>
      <p:sp>
        <p:nvSpPr>
          <p:cNvPr id="22" name="Text 17"/>
          <p:cNvSpPr txBox="1"/>
          <p:nvPr/>
        </p:nvSpPr>
        <p:spPr>
          <a:xfrm>
            <a:off x="7680960" y="3200400"/>
            <a:ext cx="3749040" cy="365760"/>
          </a:xfrm>
          <a:prstGeom prst="rect">
            <a:avLst/>
          </a:prstGeom>
          <a:noFill/>
          <a:ln/>
        </p:spPr>
        <p:txBody>
          <a:bodyPr wrap="square" lIns="0" tIns="0" rIns="0" bIns="0" rtlCol="0" anchor="t"/>
          <a:lstStyle/>
          <a:p>
            <a:pPr marL="0" indent="0">
              <a:buNone/>
            </a:pPr>
            <a:r>
              <a:rPr lang="en-US" sz="2000" b="1" dirty="0">
                <a:solidFill>
                  <a:schemeClr val="bg1"/>
                </a:solidFill>
              </a:rPr>
              <a:t>Prepare with help</a:t>
            </a:r>
            <a:endParaRPr lang="en-US" sz="2000" dirty="0"/>
          </a:p>
        </p:txBody>
      </p:sp>
      <p:sp>
        <p:nvSpPr>
          <p:cNvPr id="23" name="Text 18"/>
          <p:cNvSpPr txBox="1"/>
          <p:nvPr/>
        </p:nvSpPr>
        <p:spPr>
          <a:xfrm>
            <a:off x="7680960" y="3611880"/>
            <a:ext cx="3749040" cy="640080"/>
          </a:xfrm>
          <a:prstGeom prst="rect">
            <a:avLst/>
          </a:prstGeom>
          <a:noFill/>
          <a:ln/>
        </p:spPr>
        <p:txBody>
          <a:bodyPr wrap="square" lIns="0" tIns="0" rIns="0" bIns="0" rtlCol="0" anchor="t"/>
          <a:lstStyle/>
          <a:p>
            <a:pPr marL="0" indent="0">
              <a:buNone/>
            </a:pPr>
            <a:r>
              <a:rPr lang="en-US" sz="1500" dirty="0">
                <a:solidFill>
                  <a:schemeClr val="accent4"/>
                </a:solidFill>
              </a:rPr>
              <a:t>Strategy, CV and cover letter, every change approved</a:t>
            </a:r>
            <a:endParaRPr lang="en-US" sz="1500" dirty="0"/>
          </a:p>
        </p:txBody>
      </p:sp>
      <p:pic>
        <p:nvPicPr>
          <p:cNvPr id="24" name="Image 3" descr="/tmp/claude-0/-home-claude/d1b11841-31a5-5c6c-8b8a-2c68ca1b0a7c/scratchpad/deck/img/reticle-light.png"/>
          <p:cNvPicPr>
            <a:picLocks noChangeAspect="1"/>
          </p:cNvPicPr>
          <p:nvPr/>
        </p:nvPicPr>
        <p:blipFill>
          <a:blip r:embed="rId4"/>
          <a:stretch>
            <a:fillRect/>
          </a:stretch>
        </p:blipFill>
        <p:spPr>
          <a:xfrm>
            <a:off x="6995160" y="4572000"/>
            <a:ext cx="502920" cy="502920"/>
          </a:xfrm>
          <a:prstGeom prst="rect">
            <a:avLst/>
          </a:prstGeom>
        </p:spPr>
      </p:pic>
      <p:sp>
        <p:nvSpPr>
          <p:cNvPr id="25" name="Text 19"/>
          <p:cNvSpPr txBox="1"/>
          <p:nvPr/>
        </p:nvSpPr>
        <p:spPr>
          <a:xfrm>
            <a:off x="7680960" y="4526280"/>
            <a:ext cx="3749040" cy="365760"/>
          </a:xfrm>
          <a:prstGeom prst="rect">
            <a:avLst/>
          </a:prstGeom>
          <a:noFill/>
          <a:ln/>
        </p:spPr>
        <p:txBody>
          <a:bodyPr wrap="square" lIns="0" tIns="0" rIns="0" bIns="0" rtlCol="0" anchor="t"/>
          <a:lstStyle/>
          <a:p>
            <a:pPr marL="0" indent="0">
              <a:buNone/>
            </a:pPr>
            <a:r>
              <a:rPr lang="en-US" sz="2000" b="1" dirty="0">
                <a:solidFill>
                  <a:schemeClr val="bg1"/>
                </a:solidFill>
              </a:rPr>
              <a:t>Stay in control</a:t>
            </a:r>
            <a:endParaRPr lang="en-US" sz="2000" dirty="0"/>
          </a:p>
        </p:txBody>
      </p:sp>
      <p:sp>
        <p:nvSpPr>
          <p:cNvPr id="26" name="Text 20"/>
          <p:cNvSpPr txBox="1"/>
          <p:nvPr/>
        </p:nvSpPr>
        <p:spPr>
          <a:xfrm>
            <a:off x="7680960" y="4937760"/>
            <a:ext cx="3749040" cy="640080"/>
          </a:xfrm>
          <a:prstGeom prst="rect">
            <a:avLst/>
          </a:prstGeom>
          <a:noFill/>
          <a:ln/>
        </p:spPr>
        <p:txBody>
          <a:bodyPr wrap="square" lIns="0" tIns="0" rIns="0" bIns="0" rtlCol="0" anchor="t"/>
          <a:lstStyle/>
          <a:p>
            <a:pPr marL="0" indent="0">
              <a:buNone/>
            </a:pPr>
            <a:r>
              <a:rPr lang="en-US" sz="1500" dirty="0">
                <a:solidFill>
                  <a:schemeClr val="accent4"/>
                </a:solidFill>
              </a:rPr>
              <a:t>Apply yourself; nobody can pay for ranking</a:t>
            </a:r>
            <a:endParaRPr lang="en-US" sz="15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02 · TARGET USERS AND NEEDS</a:t>
            </a:r>
            <a:endParaRPr lang="en-US" sz="1200" dirty="0"/>
          </a:p>
        </p:txBody>
      </p:sp>
      <p:sp>
        <p:nvSpPr>
          <p:cNvPr id="3" name="Text 1"/>
          <p:cNvSpPr>
            <a:spLocks noGrp="1"/>
          </p:cNvSpPr>
          <p:nvPr>
            <p:ph type="title" idx="103" hasCustomPrompt="1"/>
          </p:nvPr>
        </p:nvSpPr>
        <p:spPr>
          <a:xfrm>
            <a:off x="548640" y="1097280"/>
            <a:ext cx="11064240" cy="731520"/>
          </a:xfrm>
          <a:prstGeom prst="rect">
            <a:avLst/>
          </a:prstGeom>
          <a:noFill/>
          <a:ln/>
        </p:spPr>
        <p:txBody>
          <a:bodyPr wrap="square" lIns="0" tIns="0" rIns="0" bIns="0" rtlCol="0" anchor="t"/>
          <a:lstStyle/>
          <a:p>
            <a:pPr marL="0" indent="0" algn="l">
              <a:buNone/>
            </a:pPr>
            <a:r>
              <a:rPr lang="en-US" sz="3200" b="1" dirty="0">
                <a:solidFill>
                  <a:schemeClr val="tx1"/>
                </a:solidFill>
              </a:rPr>
              <a:t>Four people, one question: is this job a fit?</a:t>
            </a:r>
            <a:endParaRPr lang="en-US" sz="3200" dirty="0"/>
          </a:p>
        </p:txBody>
      </p:sp>
      <p:sp>
        <p:nvSpPr>
          <p:cNvPr id="4" name="Text 2"/>
          <p:cNvSpPr txBox="1"/>
          <p:nvPr/>
        </p:nvSpPr>
        <p:spPr>
          <a:xfrm>
            <a:off x="507492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Problem</a:t>
            </a:r>
            <a:endParaRPr lang="en-US" sz="1000" dirty="0"/>
          </a:p>
        </p:txBody>
      </p:sp>
      <p:sp>
        <p:nvSpPr>
          <p:cNvPr id="5" name="Text 3"/>
          <p:cNvSpPr txBox="1"/>
          <p:nvPr/>
        </p:nvSpPr>
        <p:spPr>
          <a:xfrm>
            <a:off x="6016752"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Users</a:t>
            </a:r>
            <a:endParaRPr lang="en-US" sz="1000" dirty="0"/>
          </a:p>
        </p:txBody>
      </p:sp>
      <p:sp>
        <p:nvSpPr>
          <p:cNvPr id="6" name="Text 4"/>
          <p:cNvSpPr txBox="1"/>
          <p:nvPr/>
        </p:nvSpPr>
        <p:spPr>
          <a:xfrm>
            <a:off x="6958584"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PRD</a:t>
            </a:r>
            <a:endParaRPr lang="en-US" sz="1000" dirty="0"/>
          </a:p>
        </p:txBody>
      </p:sp>
      <p:sp>
        <p:nvSpPr>
          <p:cNvPr id="7" name="Text 5"/>
          <p:cNvSpPr txBox="1"/>
          <p:nvPr/>
        </p:nvSpPr>
        <p:spPr>
          <a:xfrm>
            <a:off x="7900416"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Backlog</a:t>
            </a:r>
            <a:endParaRPr lang="en-US" sz="1000" dirty="0"/>
          </a:p>
        </p:txBody>
      </p:sp>
      <p:sp>
        <p:nvSpPr>
          <p:cNvPr id="8" name="Text 6"/>
          <p:cNvSpPr txBox="1"/>
          <p:nvPr/>
        </p:nvSpPr>
        <p:spPr>
          <a:xfrm>
            <a:off x="8842248"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Figma</a:t>
            </a:r>
            <a:endParaRPr lang="en-US" sz="1000" dirty="0"/>
          </a:p>
        </p:txBody>
      </p:sp>
      <p:sp>
        <p:nvSpPr>
          <p:cNvPr id="9" name="Text 7"/>
          <p:cNvSpPr txBox="1"/>
          <p:nvPr/>
        </p:nvSpPr>
        <p:spPr>
          <a:xfrm>
            <a:off x="978408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Demo</a:t>
            </a:r>
            <a:endParaRPr lang="en-US" sz="1000" dirty="0"/>
          </a:p>
        </p:txBody>
      </p:sp>
      <p:sp>
        <p:nvSpPr>
          <p:cNvPr id="10" name="Text 8"/>
          <p:cNvSpPr txBox="1"/>
          <p:nvPr/>
        </p:nvSpPr>
        <p:spPr>
          <a:xfrm>
            <a:off x="1072591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Integration</a:t>
            </a:r>
            <a:endParaRPr lang="en-US" sz="1000" dirty="0"/>
          </a:p>
        </p:txBody>
      </p:sp>
      <p:sp>
        <p:nvSpPr>
          <p:cNvPr id="11" name="persona"/>
          <p:cNvSpPr/>
          <p:nvPr/>
        </p:nvSpPr>
        <p:spPr>
          <a:xfrm>
            <a:off x="548640" y="2057400"/>
            <a:ext cx="2633472" cy="3977640"/>
          </a:xfrm>
          <a:prstGeom prst="roundRect">
            <a:avLst>
              <a:gd name="adj" fmla="val 4167"/>
            </a:avLst>
          </a:prstGeom>
          <a:solidFill>
            <a:schemeClr val="bg1"/>
          </a:solidFill>
          <a:ln w="12700">
            <a:solidFill>
              <a:schemeClr val="bg1"/>
            </a:solidFill>
            <a:prstDash val="solid"/>
          </a:ln>
        </p:spPr>
        <p:txBody>
          <a:bodyPr/>
          <a:lstStyle/>
          <a:p>
            <a:endParaRPr lang="en-US"/>
          </a:p>
        </p:txBody>
      </p:sp>
      <p:pic>
        <p:nvPicPr>
          <p:cNvPr id="12" name="Image 0" descr="/tmp/claude-0/-home-claude/d1b11841-31a5-5c6c-8b8a-2c68ca1b0a7c/scratchpad/deck/img/markus.jpg"/>
          <p:cNvPicPr>
            <a:picLocks noChangeAspect="1"/>
          </p:cNvPicPr>
          <p:nvPr/>
        </p:nvPicPr>
        <p:blipFill>
          <a:blip r:embed="rId3"/>
          <a:srcRect/>
          <a:stretch/>
        </p:blipFill>
        <p:spPr>
          <a:xfrm>
            <a:off x="822960" y="2286000"/>
            <a:ext cx="822960" cy="822960"/>
          </a:xfrm>
          <a:prstGeom prst="ellipse">
            <a:avLst/>
          </a:prstGeom>
        </p:spPr>
      </p:pic>
      <p:sp>
        <p:nvSpPr>
          <p:cNvPr id="13" name="Text 10"/>
          <p:cNvSpPr txBox="1"/>
          <p:nvPr/>
        </p:nvSpPr>
        <p:spPr>
          <a:xfrm>
            <a:off x="1783080" y="2331720"/>
            <a:ext cx="1325880" cy="365760"/>
          </a:xfrm>
          <a:prstGeom prst="rect">
            <a:avLst/>
          </a:prstGeom>
          <a:noFill/>
          <a:ln/>
        </p:spPr>
        <p:txBody>
          <a:bodyPr wrap="square" lIns="0" tIns="0" rIns="0" bIns="0" rtlCol="0" anchor="t"/>
          <a:lstStyle/>
          <a:p>
            <a:pPr marL="0" indent="0">
              <a:buNone/>
            </a:pPr>
            <a:r>
              <a:rPr lang="en-US" sz="2000" b="1" dirty="0">
                <a:solidFill>
                  <a:schemeClr val="tx1"/>
                </a:solidFill>
              </a:rPr>
              <a:t>Markus</a:t>
            </a:r>
            <a:endParaRPr lang="en-US" sz="2000" dirty="0"/>
          </a:p>
        </p:txBody>
      </p:sp>
      <p:sp>
        <p:nvSpPr>
          <p:cNvPr id="14" name="Text 11"/>
          <p:cNvSpPr txBox="1"/>
          <p:nvPr/>
        </p:nvSpPr>
        <p:spPr>
          <a:xfrm>
            <a:off x="1783080" y="2715768"/>
            <a:ext cx="1371600" cy="457200"/>
          </a:xfrm>
          <a:prstGeom prst="rect">
            <a:avLst/>
          </a:prstGeom>
          <a:noFill/>
          <a:ln/>
        </p:spPr>
        <p:txBody>
          <a:bodyPr wrap="square" lIns="0" tIns="0" rIns="0" bIns="0" rtlCol="0" anchor="t"/>
          <a:lstStyle/>
          <a:p>
            <a:pPr marL="0" indent="0">
              <a:buNone/>
            </a:pPr>
            <a:r>
              <a:rPr lang="en-US" sz="1100" dirty="0">
                <a:solidFill>
                  <a:schemeClr val="tx2"/>
                </a:solidFill>
              </a:rPr>
              <a:t>Senior engineer, Stuttgart</a:t>
            </a:r>
            <a:endParaRPr lang="en-US" sz="1100" dirty="0"/>
          </a:p>
        </p:txBody>
      </p:sp>
      <p:sp>
        <p:nvSpPr>
          <p:cNvPr id="15" name="Text 12"/>
          <p:cNvSpPr txBox="1"/>
          <p:nvPr/>
        </p:nvSpPr>
        <p:spPr>
          <a:xfrm>
            <a:off x="822960" y="3429000"/>
            <a:ext cx="210312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PAIN</a:t>
            </a:r>
            <a:endParaRPr lang="en-US" sz="1100" dirty="0"/>
          </a:p>
        </p:txBody>
      </p:sp>
      <p:sp>
        <p:nvSpPr>
          <p:cNvPr id="16" name="Text 13"/>
          <p:cNvSpPr txBox="1"/>
          <p:nvPr/>
        </p:nvSpPr>
        <p:spPr>
          <a:xfrm>
            <a:off x="822960" y="3675888"/>
            <a:ext cx="2084832" cy="868680"/>
          </a:xfrm>
          <a:prstGeom prst="rect">
            <a:avLst/>
          </a:prstGeom>
          <a:noFill/>
          <a:ln/>
        </p:spPr>
        <p:txBody>
          <a:bodyPr wrap="square" lIns="0" tIns="0" rIns="0" bIns="0" rtlCol="0" anchor="t"/>
          <a:lstStyle/>
          <a:p>
            <a:pPr marL="0" indent="0">
              <a:buNone/>
            </a:pPr>
            <a:r>
              <a:rPr lang="en-US" sz="1400" dirty="0">
                <a:solidFill>
                  <a:schemeClr val="tx1"/>
                </a:solidFill>
              </a:rPr>
              <a:t>60 job alerts a week, no time to check them</a:t>
            </a:r>
            <a:endParaRPr lang="en-US" sz="1400" dirty="0"/>
          </a:p>
        </p:txBody>
      </p:sp>
      <p:sp>
        <p:nvSpPr>
          <p:cNvPr id="17" name="Text 14"/>
          <p:cNvSpPr txBox="1"/>
          <p:nvPr/>
        </p:nvSpPr>
        <p:spPr>
          <a:xfrm>
            <a:off x="822960" y="4617720"/>
            <a:ext cx="2103120" cy="228600"/>
          </a:xfrm>
          <a:prstGeom prst="rect">
            <a:avLst/>
          </a:prstGeom>
          <a:noFill/>
          <a:ln/>
        </p:spPr>
        <p:txBody>
          <a:bodyPr wrap="square" lIns="0" tIns="0" rIns="0" bIns="0" rtlCol="0" anchor="t"/>
          <a:lstStyle/>
          <a:p>
            <a:pPr marL="0" indent="0">
              <a:buNone/>
            </a:pPr>
            <a:r>
              <a:rPr lang="en-US" sz="1100" b="1" kern="0" spc="200" dirty="0">
                <a:solidFill>
                  <a:srgbClr val="2E8B57"/>
                </a:solidFill>
              </a:rPr>
              <a:t>HOW WE HELP</a:t>
            </a:r>
            <a:endParaRPr lang="en-US" sz="1100" dirty="0"/>
          </a:p>
        </p:txBody>
      </p:sp>
      <p:sp>
        <p:nvSpPr>
          <p:cNvPr id="18" name="Text 15"/>
          <p:cNvSpPr txBox="1"/>
          <p:nvPr/>
        </p:nvSpPr>
        <p:spPr>
          <a:xfrm>
            <a:off x="822960" y="4864608"/>
            <a:ext cx="2084832" cy="914400"/>
          </a:xfrm>
          <a:prstGeom prst="rect">
            <a:avLst/>
          </a:prstGeom>
          <a:noFill/>
          <a:ln/>
        </p:spPr>
        <p:txBody>
          <a:bodyPr wrap="square" lIns="0" tIns="0" rIns="0" bIns="0" rtlCol="0" anchor="t"/>
          <a:lstStyle/>
          <a:p>
            <a:pPr marL="0" indent="0">
              <a:buNone/>
            </a:pPr>
            <a:r>
              <a:rPr lang="en-US" sz="1400" b="1" dirty="0">
                <a:solidFill>
                  <a:schemeClr val="tx1"/>
                </a:solidFill>
              </a:rPr>
              <a:t>One digest; skip a job in seconds on evidence</a:t>
            </a:r>
            <a:endParaRPr lang="en-US" sz="1400" dirty="0"/>
          </a:p>
        </p:txBody>
      </p:sp>
      <p:sp>
        <p:nvSpPr>
          <p:cNvPr id="19" name="persona"/>
          <p:cNvSpPr/>
          <p:nvPr/>
        </p:nvSpPr>
        <p:spPr>
          <a:xfrm>
            <a:off x="3364992" y="2057400"/>
            <a:ext cx="2633472" cy="3977640"/>
          </a:xfrm>
          <a:prstGeom prst="roundRect">
            <a:avLst>
              <a:gd name="adj" fmla="val 4167"/>
            </a:avLst>
          </a:prstGeom>
          <a:solidFill>
            <a:schemeClr val="bg1"/>
          </a:solidFill>
          <a:ln w="12700">
            <a:solidFill>
              <a:schemeClr val="bg1"/>
            </a:solidFill>
            <a:prstDash val="solid"/>
          </a:ln>
        </p:spPr>
        <p:txBody>
          <a:bodyPr/>
          <a:lstStyle/>
          <a:p>
            <a:endParaRPr lang="en-US"/>
          </a:p>
        </p:txBody>
      </p:sp>
      <p:pic>
        <p:nvPicPr>
          <p:cNvPr id="20" name="Image 1" descr="/tmp/claude-0/-home-claude/d1b11841-31a5-5c6c-8b8a-2c68ca1b0a7c/scratchpad/deck/img/lena.jpg"/>
          <p:cNvPicPr>
            <a:picLocks noChangeAspect="1"/>
          </p:cNvPicPr>
          <p:nvPr/>
        </p:nvPicPr>
        <p:blipFill>
          <a:blip r:embed="rId4"/>
          <a:srcRect/>
          <a:stretch/>
        </p:blipFill>
        <p:spPr>
          <a:xfrm>
            <a:off x="3639312" y="2286000"/>
            <a:ext cx="822960" cy="822960"/>
          </a:xfrm>
          <a:prstGeom prst="ellipse">
            <a:avLst/>
          </a:prstGeom>
        </p:spPr>
      </p:pic>
      <p:sp>
        <p:nvSpPr>
          <p:cNvPr id="21" name="Text 17"/>
          <p:cNvSpPr txBox="1"/>
          <p:nvPr/>
        </p:nvSpPr>
        <p:spPr>
          <a:xfrm>
            <a:off x="4599432" y="2331720"/>
            <a:ext cx="1325880" cy="365760"/>
          </a:xfrm>
          <a:prstGeom prst="rect">
            <a:avLst/>
          </a:prstGeom>
          <a:noFill/>
          <a:ln/>
        </p:spPr>
        <p:txBody>
          <a:bodyPr wrap="square" lIns="0" tIns="0" rIns="0" bIns="0" rtlCol="0" anchor="t"/>
          <a:lstStyle/>
          <a:p>
            <a:pPr marL="0" indent="0">
              <a:buNone/>
            </a:pPr>
            <a:r>
              <a:rPr lang="en-US" sz="2000" b="1" dirty="0">
                <a:solidFill>
                  <a:schemeClr val="tx1"/>
                </a:solidFill>
              </a:rPr>
              <a:t>Lena</a:t>
            </a:r>
            <a:endParaRPr lang="en-US" sz="2000" dirty="0"/>
          </a:p>
        </p:txBody>
      </p:sp>
      <p:sp>
        <p:nvSpPr>
          <p:cNvPr id="22" name="Text 18"/>
          <p:cNvSpPr txBox="1"/>
          <p:nvPr/>
        </p:nvSpPr>
        <p:spPr>
          <a:xfrm>
            <a:off x="4599432" y="2715768"/>
            <a:ext cx="1371600" cy="457200"/>
          </a:xfrm>
          <a:prstGeom prst="rect">
            <a:avLst/>
          </a:prstGeom>
          <a:noFill/>
          <a:ln/>
        </p:spPr>
        <p:txBody>
          <a:bodyPr wrap="square" lIns="0" tIns="0" rIns="0" bIns="0" rtlCol="0" anchor="t"/>
          <a:lstStyle/>
          <a:p>
            <a:pPr marL="0" indent="0">
              <a:buNone/>
            </a:pPr>
            <a:r>
              <a:rPr lang="en-US" sz="1100" dirty="0">
                <a:solidFill>
                  <a:schemeClr val="tx2"/>
                </a:solidFill>
              </a:rPr>
              <a:t>Graduate, Leipzig</a:t>
            </a:r>
            <a:endParaRPr lang="en-US" sz="1100" dirty="0"/>
          </a:p>
        </p:txBody>
      </p:sp>
      <p:sp>
        <p:nvSpPr>
          <p:cNvPr id="23" name="Text 19"/>
          <p:cNvSpPr txBox="1"/>
          <p:nvPr/>
        </p:nvSpPr>
        <p:spPr>
          <a:xfrm>
            <a:off x="3639312" y="3429000"/>
            <a:ext cx="210312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PAIN</a:t>
            </a:r>
            <a:endParaRPr lang="en-US" sz="1100" dirty="0"/>
          </a:p>
        </p:txBody>
      </p:sp>
      <p:sp>
        <p:nvSpPr>
          <p:cNvPr id="24" name="Text 20"/>
          <p:cNvSpPr txBox="1"/>
          <p:nvPr/>
        </p:nvSpPr>
        <p:spPr>
          <a:xfrm>
            <a:off x="3639312" y="3675888"/>
            <a:ext cx="2084832" cy="868680"/>
          </a:xfrm>
          <a:prstGeom prst="rect">
            <a:avLst/>
          </a:prstGeom>
          <a:noFill/>
          <a:ln/>
        </p:spPr>
        <p:txBody>
          <a:bodyPr wrap="square" lIns="0" tIns="0" rIns="0" bIns="0" rtlCol="0" anchor="t"/>
          <a:lstStyle/>
          <a:p>
            <a:pPr marL="0" indent="0">
              <a:buNone/>
            </a:pPr>
            <a:r>
              <a:rPr lang="en-US" sz="1400" dirty="0">
                <a:solidFill>
                  <a:schemeClr val="tx1"/>
                </a:solidFill>
              </a:rPr>
              <a:t>40+ applications, 3 interviews; does she qualify?</a:t>
            </a:r>
            <a:endParaRPr lang="en-US" sz="1400" dirty="0"/>
          </a:p>
        </p:txBody>
      </p:sp>
      <p:sp>
        <p:nvSpPr>
          <p:cNvPr id="25" name="Text 21"/>
          <p:cNvSpPr txBox="1"/>
          <p:nvPr/>
        </p:nvSpPr>
        <p:spPr>
          <a:xfrm>
            <a:off x="3639312" y="4617720"/>
            <a:ext cx="2103120" cy="228600"/>
          </a:xfrm>
          <a:prstGeom prst="rect">
            <a:avLst/>
          </a:prstGeom>
          <a:noFill/>
          <a:ln/>
        </p:spPr>
        <p:txBody>
          <a:bodyPr wrap="square" lIns="0" tIns="0" rIns="0" bIns="0" rtlCol="0" anchor="t"/>
          <a:lstStyle/>
          <a:p>
            <a:pPr marL="0" indent="0">
              <a:buNone/>
            </a:pPr>
            <a:r>
              <a:rPr lang="en-US" sz="1100" b="1" kern="0" spc="200" dirty="0">
                <a:solidFill>
                  <a:srgbClr val="2E8B57"/>
                </a:solidFill>
              </a:rPr>
              <a:t>HOW WE HELP</a:t>
            </a:r>
            <a:endParaRPr lang="en-US" sz="1100" dirty="0"/>
          </a:p>
        </p:txBody>
      </p:sp>
      <p:sp>
        <p:nvSpPr>
          <p:cNvPr id="26" name="Text 22"/>
          <p:cNvSpPr txBox="1"/>
          <p:nvPr/>
        </p:nvSpPr>
        <p:spPr>
          <a:xfrm>
            <a:off x="3639312" y="4864608"/>
            <a:ext cx="2084832" cy="914400"/>
          </a:xfrm>
          <a:prstGeom prst="rect">
            <a:avLst/>
          </a:prstGeom>
          <a:noFill/>
          <a:ln/>
        </p:spPr>
        <p:txBody>
          <a:bodyPr wrap="square" lIns="0" tIns="0" rIns="0" bIns="0" rtlCol="0" anchor="t"/>
          <a:lstStyle/>
          <a:p>
            <a:pPr marL="0" indent="0">
              <a:buNone/>
            </a:pPr>
            <a:r>
              <a:rPr lang="en-US" sz="1400" b="1" dirty="0">
                <a:solidFill>
                  <a:schemeClr val="tx1"/>
                </a:solidFill>
              </a:rPr>
              <a:t>Fit score that counts projects and internships</a:t>
            </a:r>
            <a:endParaRPr lang="en-US" sz="1400" dirty="0"/>
          </a:p>
        </p:txBody>
      </p:sp>
      <p:sp>
        <p:nvSpPr>
          <p:cNvPr id="27" name="persona"/>
          <p:cNvSpPr/>
          <p:nvPr/>
        </p:nvSpPr>
        <p:spPr>
          <a:xfrm>
            <a:off x="6181344" y="2057400"/>
            <a:ext cx="2633472" cy="3977640"/>
          </a:xfrm>
          <a:prstGeom prst="roundRect">
            <a:avLst>
              <a:gd name="adj" fmla="val 4167"/>
            </a:avLst>
          </a:prstGeom>
          <a:solidFill>
            <a:schemeClr val="bg1"/>
          </a:solidFill>
          <a:ln w="12700">
            <a:solidFill>
              <a:schemeClr val="bg1"/>
            </a:solidFill>
            <a:prstDash val="solid"/>
          </a:ln>
        </p:spPr>
        <p:txBody>
          <a:bodyPr/>
          <a:lstStyle/>
          <a:p>
            <a:endParaRPr lang="en-US"/>
          </a:p>
        </p:txBody>
      </p:sp>
      <p:pic>
        <p:nvPicPr>
          <p:cNvPr id="28" name="Image 2" descr="/tmp/claude-0/-home-claude/d1b11841-31a5-5c6c-8b8a-2c68ca1b0a7c/scratchpad/deck/img/andrei.jpg"/>
          <p:cNvPicPr>
            <a:picLocks noChangeAspect="1"/>
          </p:cNvPicPr>
          <p:nvPr/>
        </p:nvPicPr>
        <p:blipFill>
          <a:blip r:embed="rId5"/>
          <a:srcRect/>
          <a:stretch/>
        </p:blipFill>
        <p:spPr>
          <a:xfrm>
            <a:off x="6455664" y="2286000"/>
            <a:ext cx="822960" cy="822960"/>
          </a:xfrm>
          <a:prstGeom prst="ellipse">
            <a:avLst/>
          </a:prstGeom>
        </p:spPr>
      </p:pic>
      <p:sp>
        <p:nvSpPr>
          <p:cNvPr id="29" name="Text 24"/>
          <p:cNvSpPr txBox="1"/>
          <p:nvPr/>
        </p:nvSpPr>
        <p:spPr>
          <a:xfrm>
            <a:off x="7415784" y="2331720"/>
            <a:ext cx="1325880" cy="365760"/>
          </a:xfrm>
          <a:prstGeom prst="rect">
            <a:avLst/>
          </a:prstGeom>
          <a:noFill/>
          <a:ln/>
        </p:spPr>
        <p:txBody>
          <a:bodyPr wrap="square" lIns="0" tIns="0" rIns="0" bIns="0" rtlCol="0" anchor="t"/>
          <a:lstStyle/>
          <a:p>
            <a:pPr marL="0" indent="0">
              <a:buNone/>
            </a:pPr>
            <a:r>
              <a:rPr lang="en-US" sz="2000" b="1" dirty="0">
                <a:solidFill>
                  <a:schemeClr val="tx1"/>
                </a:solidFill>
              </a:rPr>
              <a:t>Andrei</a:t>
            </a:r>
            <a:endParaRPr lang="en-US" sz="2000" dirty="0"/>
          </a:p>
        </p:txBody>
      </p:sp>
      <p:sp>
        <p:nvSpPr>
          <p:cNvPr id="30" name="Text 25"/>
          <p:cNvSpPr txBox="1"/>
          <p:nvPr/>
        </p:nvSpPr>
        <p:spPr>
          <a:xfrm>
            <a:off x="7415784" y="2715768"/>
            <a:ext cx="1371600" cy="457200"/>
          </a:xfrm>
          <a:prstGeom prst="rect">
            <a:avLst/>
          </a:prstGeom>
          <a:noFill/>
          <a:ln/>
        </p:spPr>
        <p:txBody>
          <a:bodyPr wrap="square" lIns="0" tIns="0" rIns="0" bIns="0" rtlCol="0" anchor="t"/>
          <a:lstStyle/>
          <a:p>
            <a:pPr marL="0" indent="0">
              <a:buNone/>
            </a:pPr>
            <a:r>
              <a:rPr lang="en-US" sz="1100" dirty="0">
                <a:solidFill>
                  <a:schemeClr val="tx2"/>
                </a:solidFill>
              </a:rPr>
              <a:t>Data engineer, Munich</a:t>
            </a:r>
            <a:endParaRPr lang="en-US" sz="1100" dirty="0"/>
          </a:p>
        </p:txBody>
      </p:sp>
      <p:sp>
        <p:nvSpPr>
          <p:cNvPr id="31" name="Text 26"/>
          <p:cNvSpPr txBox="1"/>
          <p:nvPr/>
        </p:nvSpPr>
        <p:spPr>
          <a:xfrm>
            <a:off x="6455664" y="3429000"/>
            <a:ext cx="210312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PAIN</a:t>
            </a:r>
            <a:endParaRPr lang="en-US" sz="1100" dirty="0"/>
          </a:p>
        </p:txBody>
      </p:sp>
      <p:sp>
        <p:nvSpPr>
          <p:cNvPr id="32" name="Text 27"/>
          <p:cNvSpPr txBox="1"/>
          <p:nvPr/>
        </p:nvSpPr>
        <p:spPr>
          <a:xfrm>
            <a:off x="6455664" y="3675888"/>
            <a:ext cx="2084832" cy="868680"/>
          </a:xfrm>
          <a:prstGeom prst="rect">
            <a:avLst/>
          </a:prstGeom>
          <a:noFill/>
          <a:ln/>
        </p:spPr>
        <p:txBody>
          <a:bodyPr wrap="square" lIns="0" tIns="0" rIns="0" bIns="0" rtlCol="0" anchor="t"/>
          <a:lstStyle/>
          <a:p>
            <a:pPr marL="0" indent="0">
              <a:buNone/>
            </a:pPr>
            <a:r>
              <a:rPr lang="en-US" sz="1400" dirty="0">
                <a:solidFill>
                  <a:schemeClr val="tx1"/>
                </a:solidFill>
              </a:rPr>
              <a:t>Three languages; fake recruiters ask for his ID</a:t>
            </a:r>
            <a:endParaRPr lang="en-US" sz="1400" dirty="0"/>
          </a:p>
        </p:txBody>
      </p:sp>
      <p:sp>
        <p:nvSpPr>
          <p:cNvPr id="33" name="Text 28"/>
          <p:cNvSpPr txBox="1"/>
          <p:nvPr/>
        </p:nvSpPr>
        <p:spPr>
          <a:xfrm>
            <a:off x="6455664" y="4617720"/>
            <a:ext cx="2103120" cy="228600"/>
          </a:xfrm>
          <a:prstGeom prst="rect">
            <a:avLst/>
          </a:prstGeom>
          <a:noFill/>
          <a:ln/>
        </p:spPr>
        <p:txBody>
          <a:bodyPr wrap="square" lIns="0" tIns="0" rIns="0" bIns="0" rtlCol="0" anchor="t"/>
          <a:lstStyle/>
          <a:p>
            <a:pPr marL="0" indent="0">
              <a:buNone/>
            </a:pPr>
            <a:r>
              <a:rPr lang="en-US" sz="1100" b="1" kern="0" spc="200" dirty="0">
                <a:solidFill>
                  <a:srgbClr val="2E8B57"/>
                </a:solidFill>
              </a:rPr>
              <a:t>HOW WE HELP</a:t>
            </a:r>
            <a:endParaRPr lang="en-US" sz="1100" dirty="0"/>
          </a:p>
        </p:txBody>
      </p:sp>
      <p:sp>
        <p:nvSpPr>
          <p:cNvPr id="34" name="Text 29"/>
          <p:cNvSpPr txBox="1"/>
          <p:nvPr/>
        </p:nvSpPr>
        <p:spPr>
          <a:xfrm>
            <a:off x="6455664" y="4864608"/>
            <a:ext cx="2084832" cy="914400"/>
          </a:xfrm>
          <a:prstGeom prst="rect">
            <a:avLst/>
          </a:prstGeom>
          <a:noFill/>
          <a:ln/>
        </p:spPr>
        <p:txBody>
          <a:bodyPr wrap="square" lIns="0" tIns="0" rIns="0" bIns="0" rtlCol="0" anchor="t"/>
          <a:lstStyle/>
          <a:p>
            <a:pPr marL="0" indent="0">
              <a:buNone/>
            </a:pPr>
            <a:r>
              <a:rPr lang="en-US" sz="1400" b="1" dirty="0">
                <a:solidFill>
                  <a:schemeClr val="tx1"/>
                </a:solidFill>
              </a:rPr>
              <a:t>Language level per job; documents in the ad's language</a:t>
            </a:r>
            <a:endParaRPr lang="en-US" sz="1400" dirty="0"/>
          </a:p>
        </p:txBody>
      </p:sp>
      <p:sp>
        <p:nvSpPr>
          <p:cNvPr id="35" name="persona"/>
          <p:cNvSpPr/>
          <p:nvPr/>
        </p:nvSpPr>
        <p:spPr>
          <a:xfrm>
            <a:off x="8997696" y="2057400"/>
            <a:ext cx="2633472" cy="3977640"/>
          </a:xfrm>
          <a:prstGeom prst="roundRect">
            <a:avLst>
              <a:gd name="adj" fmla="val 4167"/>
            </a:avLst>
          </a:prstGeom>
          <a:solidFill>
            <a:schemeClr val="bg1"/>
          </a:solidFill>
          <a:ln w="12700">
            <a:solidFill>
              <a:schemeClr val="bg1"/>
            </a:solidFill>
            <a:prstDash val="solid"/>
          </a:ln>
        </p:spPr>
        <p:txBody>
          <a:bodyPr/>
          <a:lstStyle/>
          <a:p>
            <a:endParaRPr lang="en-US"/>
          </a:p>
        </p:txBody>
      </p:sp>
      <p:pic>
        <p:nvPicPr>
          <p:cNvPr id="36" name="Image 3" descr="/tmp/claude-0/-home-claude/d1b11841-31a5-5c6c-8b8a-2c68ca1b0a7c/scratchpad/deck/img/sofia.jpg"/>
          <p:cNvPicPr>
            <a:picLocks noChangeAspect="1"/>
          </p:cNvPicPr>
          <p:nvPr/>
        </p:nvPicPr>
        <p:blipFill>
          <a:blip r:embed="rId6"/>
          <a:srcRect/>
          <a:stretch/>
        </p:blipFill>
        <p:spPr>
          <a:xfrm>
            <a:off x="9272016" y="2286000"/>
            <a:ext cx="822960" cy="822960"/>
          </a:xfrm>
          <a:prstGeom prst="ellipse">
            <a:avLst/>
          </a:prstGeom>
        </p:spPr>
      </p:pic>
      <p:sp>
        <p:nvSpPr>
          <p:cNvPr id="37" name="Text 31"/>
          <p:cNvSpPr txBox="1"/>
          <p:nvPr/>
        </p:nvSpPr>
        <p:spPr>
          <a:xfrm>
            <a:off x="10232136" y="2331720"/>
            <a:ext cx="1325880" cy="365760"/>
          </a:xfrm>
          <a:prstGeom prst="rect">
            <a:avLst/>
          </a:prstGeom>
          <a:noFill/>
          <a:ln/>
        </p:spPr>
        <p:txBody>
          <a:bodyPr wrap="square" lIns="0" tIns="0" rIns="0" bIns="0" rtlCol="0" anchor="t"/>
          <a:lstStyle/>
          <a:p>
            <a:pPr marL="0" indent="0">
              <a:buNone/>
            </a:pPr>
            <a:r>
              <a:rPr lang="en-US" sz="2000" b="1" dirty="0">
                <a:solidFill>
                  <a:schemeClr val="tx1"/>
                </a:solidFill>
              </a:rPr>
              <a:t>Sofia</a:t>
            </a:r>
            <a:endParaRPr lang="en-US" sz="2000" dirty="0"/>
          </a:p>
        </p:txBody>
      </p:sp>
      <p:sp>
        <p:nvSpPr>
          <p:cNvPr id="38" name="Text 32"/>
          <p:cNvSpPr txBox="1"/>
          <p:nvPr/>
        </p:nvSpPr>
        <p:spPr>
          <a:xfrm>
            <a:off x="10232136" y="2715768"/>
            <a:ext cx="1371600" cy="457200"/>
          </a:xfrm>
          <a:prstGeom prst="rect">
            <a:avLst/>
          </a:prstGeom>
          <a:noFill/>
          <a:ln/>
        </p:spPr>
        <p:txBody>
          <a:bodyPr wrap="square" lIns="0" tIns="0" rIns="0" bIns="0" rtlCol="0" anchor="t"/>
          <a:lstStyle/>
          <a:p>
            <a:pPr marL="0" indent="0">
              <a:buNone/>
            </a:pPr>
            <a:r>
              <a:rPr lang="en-US" sz="1100" dirty="0">
                <a:solidFill>
                  <a:schemeClr val="tx2"/>
                </a:solidFill>
              </a:rPr>
              <a:t>Headhunter · pilot</a:t>
            </a:r>
            <a:endParaRPr lang="en-US" sz="1100" dirty="0"/>
          </a:p>
        </p:txBody>
      </p:sp>
      <p:sp>
        <p:nvSpPr>
          <p:cNvPr id="39" name="Text 33"/>
          <p:cNvSpPr txBox="1"/>
          <p:nvPr/>
        </p:nvSpPr>
        <p:spPr>
          <a:xfrm>
            <a:off x="9272016" y="3429000"/>
            <a:ext cx="210312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PAIN</a:t>
            </a:r>
            <a:endParaRPr lang="en-US" sz="1100" dirty="0"/>
          </a:p>
        </p:txBody>
      </p:sp>
      <p:sp>
        <p:nvSpPr>
          <p:cNvPr id="40" name="Text 34"/>
          <p:cNvSpPr txBox="1"/>
          <p:nvPr/>
        </p:nvSpPr>
        <p:spPr>
          <a:xfrm>
            <a:off x="9272016" y="3675888"/>
            <a:ext cx="2084832" cy="868680"/>
          </a:xfrm>
          <a:prstGeom prst="rect">
            <a:avLst/>
          </a:prstGeom>
          <a:noFill/>
          <a:ln/>
        </p:spPr>
        <p:txBody>
          <a:bodyPr wrap="square" lIns="0" tIns="0" rIns="0" bIns="0" rtlCol="0" anchor="t"/>
          <a:lstStyle/>
          <a:p>
            <a:pPr marL="0" indent="0">
              <a:buNone/>
            </a:pPr>
            <a:r>
              <a:rPr lang="en-US" sz="1400" dirty="0">
                <a:solidFill>
                  <a:schemeClr val="tx1"/>
                </a:solidFill>
              </a:rPr>
              <a:t>Manual CV search, unclear who can start now</a:t>
            </a:r>
            <a:endParaRPr lang="en-US" sz="1400" dirty="0"/>
          </a:p>
        </p:txBody>
      </p:sp>
      <p:sp>
        <p:nvSpPr>
          <p:cNvPr id="41" name="Text 35"/>
          <p:cNvSpPr txBox="1"/>
          <p:nvPr/>
        </p:nvSpPr>
        <p:spPr>
          <a:xfrm>
            <a:off x="9272016" y="4617720"/>
            <a:ext cx="2103120" cy="228600"/>
          </a:xfrm>
          <a:prstGeom prst="rect">
            <a:avLst/>
          </a:prstGeom>
          <a:noFill/>
          <a:ln/>
        </p:spPr>
        <p:txBody>
          <a:bodyPr wrap="square" lIns="0" tIns="0" rIns="0" bIns="0" rtlCol="0" anchor="t"/>
          <a:lstStyle/>
          <a:p>
            <a:pPr marL="0" indent="0">
              <a:buNone/>
            </a:pPr>
            <a:r>
              <a:rPr lang="en-US" sz="1100" b="1" kern="0" spc="200" dirty="0">
                <a:solidFill>
                  <a:srgbClr val="2E8B57"/>
                </a:solidFill>
              </a:rPr>
              <a:t>HOW WE HELP</a:t>
            </a:r>
            <a:endParaRPr lang="en-US" sz="1100" dirty="0"/>
          </a:p>
        </p:txBody>
      </p:sp>
      <p:sp>
        <p:nvSpPr>
          <p:cNvPr id="42" name="Text 36"/>
          <p:cNvSpPr txBox="1"/>
          <p:nvPr/>
        </p:nvSpPr>
        <p:spPr>
          <a:xfrm>
            <a:off x="9272016" y="4864608"/>
            <a:ext cx="2084832" cy="914400"/>
          </a:xfrm>
          <a:prstGeom prst="rect">
            <a:avLst/>
          </a:prstGeom>
          <a:noFill/>
          <a:ln/>
        </p:spPr>
        <p:txBody>
          <a:bodyPr wrap="square" lIns="0" tIns="0" rIns="0" bIns="0" rtlCol="0" anchor="t"/>
          <a:lstStyle/>
          <a:p>
            <a:pPr marL="0" indent="0">
              <a:buNone/>
            </a:pPr>
            <a:r>
              <a:rPr lang="en-US" sz="1400" b="1" dirty="0">
                <a:solidFill>
                  <a:schemeClr val="tx1"/>
                </a:solidFill>
              </a:rPr>
              <a:t>Opted-in candidates with ≥ 90% fit; CV only with consent</a:t>
            </a:r>
            <a:endParaRPr lang="en-US" sz="1400" dirty="0"/>
          </a:p>
        </p:txBody>
      </p:sp>
      <p:sp>
        <p:nvSpPr>
          <p:cNvPr id="43" name="Text 37"/>
          <p:cNvSpPr txBox="1"/>
          <p:nvPr/>
        </p:nvSpPr>
        <p:spPr>
          <a:xfrm>
            <a:off x="548640" y="6126480"/>
            <a:ext cx="10972800" cy="228600"/>
          </a:xfrm>
          <a:prstGeom prst="rect">
            <a:avLst/>
          </a:prstGeom>
          <a:noFill/>
          <a:ln/>
        </p:spPr>
        <p:txBody>
          <a:bodyPr wrap="square" lIns="0" tIns="0" rIns="0" bIns="0" rtlCol="0" anchor="t"/>
          <a:lstStyle/>
          <a:p>
            <a:pPr marL="0" indent="0">
              <a:buNone/>
            </a:pPr>
            <a:r>
              <a:rPr lang="en-US" sz="1100" dirty="0">
                <a:solidFill>
                  <a:schemeClr val="tx2"/>
                </a:solidFill>
              </a:rPr>
              <a:t>Personas are illustrative composites from our ideation workshop; interviews to validate them are planned.</a:t>
            </a:r>
            <a:endParaRPr lang="en-US" sz="1100" dirty="0"/>
          </a:p>
        </p:txBody>
      </p:sp>
      <p:sp>
        <p:nvSpPr>
          <p:cNvPr id="4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03 · PRD OVERVIEW</a:t>
            </a:r>
            <a:endParaRPr lang="en-US" sz="1200" dirty="0"/>
          </a:p>
        </p:txBody>
      </p:sp>
      <p:sp>
        <p:nvSpPr>
          <p:cNvPr id="3" name="Text 1"/>
          <p:cNvSpPr>
            <a:spLocks noGrp="1"/>
          </p:cNvSpPr>
          <p:nvPr>
            <p:ph type="title" idx="103" hasCustomPrompt="1"/>
          </p:nvPr>
        </p:nvSpPr>
        <p:spPr>
          <a:xfrm>
            <a:off x="548640" y="1097280"/>
            <a:ext cx="11064240" cy="731520"/>
          </a:xfrm>
          <a:prstGeom prst="rect">
            <a:avLst/>
          </a:prstGeom>
          <a:noFill/>
          <a:ln/>
        </p:spPr>
        <p:txBody>
          <a:bodyPr wrap="square" lIns="0" tIns="0" rIns="0" bIns="0" rtlCol="0" anchor="t"/>
          <a:lstStyle/>
          <a:p>
            <a:pPr marL="0" indent="0" algn="l">
              <a:buNone/>
            </a:pPr>
            <a:r>
              <a:rPr lang="en-US" sz="3200" b="1" dirty="0">
                <a:solidFill>
                  <a:schemeClr val="tx1"/>
                </a:solidFill>
              </a:rPr>
              <a:t>The PRD defines what we build, for whom, and why</a:t>
            </a:r>
            <a:endParaRPr lang="en-US" sz="3200" dirty="0"/>
          </a:p>
        </p:txBody>
      </p:sp>
      <p:sp>
        <p:nvSpPr>
          <p:cNvPr id="4" name="Text 2"/>
          <p:cNvSpPr txBox="1"/>
          <p:nvPr/>
        </p:nvSpPr>
        <p:spPr>
          <a:xfrm>
            <a:off x="507492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Problem</a:t>
            </a:r>
            <a:endParaRPr lang="en-US" sz="1000" dirty="0"/>
          </a:p>
        </p:txBody>
      </p:sp>
      <p:sp>
        <p:nvSpPr>
          <p:cNvPr id="5" name="Text 3"/>
          <p:cNvSpPr txBox="1"/>
          <p:nvPr/>
        </p:nvSpPr>
        <p:spPr>
          <a:xfrm>
            <a:off x="601675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Users</a:t>
            </a:r>
            <a:endParaRPr lang="en-US" sz="1000" dirty="0"/>
          </a:p>
        </p:txBody>
      </p:sp>
      <p:sp>
        <p:nvSpPr>
          <p:cNvPr id="6" name="Text 4"/>
          <p:cNvSpPr txBox="1"/>
          <p:nvPr/>
        </p:nvSpPr>
        <p:spPr>
          <a:xfrm>
            <a:off x="6958584"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PRD</a:t>
            </a:r>
            <a:endParaRPr lang="en-US" sz="1000" dirty="0"/>
          </a:p>
        </p:txBody>
      </p:sp>
      <p:sp>
        <p:nvSpPr>
          <p:cNvPr id="7" name="Text 5"/>
          <p:cNvSpPr txBox="1"/>
          <p:nvPr/>
        </p:nvSpPr>
        <p:spPr>
          <a:xfrm>
            <a:off x="7900416"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Backlog</a:t>
            </a:r>
            <a:endParaRPr lang="en-US" sz="1000" dirty="0"/>
          </a:p>
        </p:txBody>
      </p:sp>
      <p:sp>
        <p:nvSpPr>
          <p:cNvPr id="8" name="Text 6"/>
          <p:cNvSpPr txBox="1"/>
          <p:nvPr/>
        </p:nvSpPr>
        <p:spPr>
          <a:xfrm>
            <a:off x="8842248"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Figma</a:t>
            </a:r>
            <a:endParaRPr lang="en-US" sz="1000" dirty="0"/>
          </a:p>
        </p:txBody>
      </p:sp>
      <p:sp>
        <p:nvSpPr>
          <p:cNvPr id="9" name="Text 7"/>
          <p:cNvSpPr txBox="1"/>
          <p:nvPr/>
        </p:nvSpPr>
        <p:spPr>
          <a:xfrm>
            <a:off x="978408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Demo</a:t>
            </a:r>
            <a:endParaRPr lang="en-US" sz="1000" dirty="0"/>
          </a:p>
        </p:txBody>
      </p:sp>
      <p:sp>
        <p:nvSpPr>
          <p:cNvPr id="10" name="Text 8"/>
          <p:cNvSpPr txBox="1"/>
          <p:nvPr/>
        </p:nvSpPr>
        <p:spPr>
          <a:xfrm>
            <a:off x="1072591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Integration</a:t>
            </a:r>
            <a:endParaRPr lang="en-US" sz="1000" dirty="0"/>
          </a:p>
        </p:txBody>
      </p:sp>
      <p:sp>
        <p:nvSpPr>
          <p:cNvPr id="11" name="stat"/>
          <p:cNvSpPr/>
          <p:nvPr/>
        </p:nvSpPr>
        <p:spPr>
          <a:xfrm>
            <a:off x="548640" y="2057400"/>
            <a:ext cx="1645920" cy="1188720"/>
          </a:xfrm>
          <a:prstGeom prst="roundRect">
            <a:avLst>
              <a:gd name="adj" fmla="val 9231"/>
            </a:avLst>
          </a:prstGeom>
          <a:solidFill>
            <a:srgbClr val="0F2A4A"/>
          </a:solidFill>
          <a:ln w="12700">
            <a:solidFill>
              <a:srgbClr val="0F2A4A"/>
            </a:solidFill>
            <a:prstDash val="solid"/>
          </a:ln>
        </p:spPr>
        <p:txBody>
          <a:bodyPr/>
          <a:lstStyle/>
          <a:p>
            <a:endParaRPr lang="en-US"/>
          </a:p>
        </p:txBody>
      </p:sp>
      <p:sp>
        <p:nvSpPr>
          <p:cNvPr id="12" name="Text 10"/>
          <p:cNvSpPr txBox="1"/>
          <p:nvPr/>
        </p:nvSpPr>
        <p:spPr>
          <a:xfrm>
            <a:off x="731520" y="2148840"/>
            <a:ext cx="1371600" cy="548640"/>
          </a:xfrm>
          <a:prstGeom prst="rect">
            <a:avLst/>
          </a:prstGeom>
          <a:noFill/>
          <a:ln/>
        </p:spPr>
        <p:txBody>
          <a:bodyPr wrap="square" lIns="0" tIns="0" rIns="0" bIns="0" rtlCol="0" anchor="t"/>
          <a:lstStyle/>
          <a:p>
            <a:pPr marL="0" indent="0">
              <a:buNone/>
            </a:pPr>
            <a:r>
              <a:rPr lang="en-US" sz="3200" b="1" dirty="0">
                <a:solidFill>
                  <a:schemeClr val="bg1"/>
                </a:solidFill>
              </a:rPr>
              <a:t>31</a:t>
            </a:r>
            <a:endParaRPr lang="en-US" sz="3200" dirty="0"/>
          </a:p>
        </p:txBody>
      </p:sp>
      <p:sp>
        <p:nvSpPr>
          <p:cNvPr id="13" name="Text 11"/>
          <p:cNvSpPr txBox="1"/>
          <p:nvPr/>
        </p:nvSpPr>
        <p:spPr>
          <a:xfrm>
            <a:off x="731520" y="2697480"/>
            <a:ext cx="1371600" cy="457200"/>
          </a:xfrm>
          <a:prstGeom prst="rect">
            <a:avLst/>
          </a:prstGeom>
          <a:noFill/>
          <a:ln/>
        </p:spPr>
        <p:txBody>
          <a:bodyPr wrap="square" lIns="0" tIns="0" rIns="0" bIns="0" rtlCol="0" anchor="t"/>
          <a:lstStyle/>
          <a:p>
            <a:pPr marL="0" indent="0">
              <a:buNone/>
            </a:pPr>
            <a:r>
              <a:rPr lang="en-US" sz="1200" dirty="0">
                <a:solidFill>
                  <a:schemeClr val="accent4"/>
                </a:solidFill>
              </a:rPr>
              <a:t>functional requirements</a:t>
            </a:r>
            <a:endParaRPr lang="en-US" sz="1200" dirty="0"/>
          </a:p>
        </p:txBody>
      </p:sp>
      <p:sp>
        <p:nvSpPr>
          <p:cNvPr id="14" name="stat"/>
          <p:cNvSpPr/>
          <p:nvPr/>
        </p:nvSpPr>
        <p:spPr>
          <a:xfrm>
            <a:off x="2331720" y="2057400"/>
            <a:ext cx="1645920" cy="1188720"/>
          </a:xfrm>
          <a:prstGeom prst="roundRect">
            <a:avLst>
              <a:gd name="adj" fmla="val 9231"/>
            </a:avLst>
          </a:prstGeom>
          <a:solidFill>
            <a:schemeClr val="bg1"/>
          </a:solidFill>
          <a:ln w="12700">
            <a:solidFill>
              <a:schemeClr val="bg1"/>
            </a:solidFill>
            <a:prstDash val="solid"/>
          </a:ln>
        </p:spPr>
        <p:txBody>
          <a:bodyPr/>
          <a:lstStyle/>
          <a:p>
            <a:endParaRPr lang="en-US"/>
          </a:p>
        </p:txBody>
      </p:sp>
      <p:sp>
        <p:nvSpPr>
          <p:cNvPr id="15" name="Text 13"/>
          <p:cNvSpPr txBox="1"/>
          <p:nvPr/>
        </p:nvSpPr>
        <p:spPr>
          <a:xfrm>
            <a:off x="2514600" y="2148840"/>
            <a:ext cx="1371600" cy="548640"/>
          </a:xfrm>
          <a:prstGeom prst="rect">
            <a:avLst/>
          </a:prstGeom>
          <a:noFill/>
          <a:ln/>
        </p:spPr>
        <p:txBody>
          <a:bodyPr wrap="square" lIns="0" tIns="0" rIns="0" bIns="0" rtlCol="0" anchor="t"/>
          <a:lstStyle/>
          <a:p>
            <a:pPr marL="0" indent="0">
              <a:buNone/>
            </a:pPr>
            <a:r>
              <a:rPr lang="en-US" sz="3200" b="1" dirty="0">
                <a:solidFill>
                  <a:schemeClr val="tx1"/>
                </a:solidFill>
              </a:rPr>
              <a:t>14</a:t>
            </a:r>
            <a:endParaRPr lang="en-US" sz="3200" dirty="0"/>
          </a:p>
        </p:txBody>
      </p:sp>
      <p:sp>
        <p:nvSpPr>
          <p:cNvPr id="16" name="Text 14"/>
          <p:cNvSpPr txBox="1"/>
          <p:nvPr/>
        </p:nvSpPr>
        <p:spPr>
          <a:xfrm>
            <a:off x="2514600" y="2697480"/>
            <a:ext cx="1371600" cy="457200"/>
          </a:xfrm>
          <a:prstGeom prst="rect">
            <a:avLst/>
          </a:prstGeom>
          <a:noFill/>
          <a:ln/>
        </p:spPr>
        <p:txBody>
          <a:bodyPr wrap="square" lIns="0" tIns="0" rIns="0" bIns="0" rtlCol="0" anchor="t"/>
          <a:lstStyle/>
          <a:p>
            <a:pPr marL="0" indent="0">
              <a:buNone/>
            </a:pPr>
            <a:r>
              <a:rPr lang="en-US" sz="1200" dirty="0">
                <a:solidFill>
                  <a:schemeClr val="tx2"/>
                </a:solidFill>
              </a:rPr>
              <a:t>non-functional</a:t>
            </a:r>
            <a:endParaRPr lang="en-US" sz="1200" dirty="0"/>
          </a:p>
        </p:txBody>
      </p:sp>
      <p:sp>
        <p:nvSpPr>
          <p:cNvPr id="17" name="stat"/>
          <p:cNvSpPr/>
          <p:nvPr/>
        </p:nvSpPr>
        <p:spPr>
          <a:xfrm>
            <a:off x="4114800" y="2057400"/>
            <a:ext cx="1645920" cy="1188720"/>
          </a:xfrm>
          <a:prstGeom prst="roundRect">
            <a:avLst>
              <a:gd name="adj" fmla="val 9231"/>
            </a:avLst>
          </a:prstGeom>
          <a:solidFill>
            <a:schemeClr val="bg1"/>
          </a:solidFill>
          <a:ln w="12700">
            <a:solidFill>
              <a:schemeClr val="bg1"/>
            </a:solidFill>
            <a:prstDash val="solid"/>
          </a:ln>
        </p:spPr>
        <p:txBody>
          <a:bodyPr/>
          <a:lstStyle/>
          <a:p>
            <a:endParaRPr lang="en-US"/>
          </a:p>
        </p:txBody>
      </p:sp>
      <p:sp>
        <p:nvSpPr>
          <p:cNvPr id="18" name="Text 16"/>
          <p:cNvSpPr txBox="1"/>
          <p:nvPr/>
        </p:nvSpPr>
        <p:spPr>
          <a:xfrm>
            <a:off x="4297680" y="2148840"/>
            <a:ext cx="1371600" cy="548640"/>
          </a:xfrm>
          <a:prstGeom prst="rect">
            <a:avLst/>
          </a:prstGeom>
          <a:noFill/>
          <a:ln/>
        </p:spPr>
        <p:txBody>
          <a:bodyPr wrap="square" lIns="0" tIns="0" rIns="0" bIns="0" rtlCol="0" anchor="t"/>
          <a:lstStyle/>
          <a:p>
            <a:pPr marL="0" indent="0">
              <a:buNone/>
            </a:pPr>
            <a:r>
              <a:rPr lang="en-US" sz="3200" b="1" dirty="0">
                <a:solidFill>
                  <a:schemeClr val="tx1"/>
                </a:solidFill>
              </a:rPr>
              <a:t>29</a:t>
            </a:r>
            <a:endParaRPr lang="en-US" sz="3200" dirty="0"/>
          </a:p>
        </p:txBody>
      </p:sp>
      <p:sp>
        <p:nvSpPr>
          <p:cNvPr id="19" name="Text 17"/>
          <p:cNvSpPr txBox="1"/>
          <p:nvPr/>
        </p:nvSpPr>
        <p:spPr>
          <a:xfrm>
            <a:off x="4297680" y="2697480"/>
            <a:ext cx="1371600" cy="457200"/>
          </a:xfrm>
          <a:prstGeom prst="rect">
            <a:avLst/>
          </a:prstGeom>
          <a:noFill/>
          <a:ln/>
        </p:spPr>
        <p:txBody>
          <a:bodyPr wrap="square" lIns="0" tIns="0" rIns="0" bIns="0" rtlCol="0" anchor="t"/>
          <a:lstStyle/>
          <a:p>
            <a:pPr marL="0" indent="0">
              <a:buNone/>
            </a:pPr>
            <a:r>
              <a:rPr lang="en-US" sz="1200" dirty="0">
                <a:solidFill>
                  <a:schemeClr val="tx2"/>
                </a:solidFill>
              </a:rPr>
              <a:t>user stories</a:t>
            </a:r>
            <a:endParaRPr lang="en-US" sz="1200" dirty="0"/>
          </a:p>
        </p:txBody>
      </p:sp>
      <p:sp>
        <p:nvSpPr>
          <p:cNvPr id="20" name="scope"/>
          <p:cNvSpPr/>
          <p:nvPr/>
        </p:nvSpPr>
        <p:spPr>
          <a:xfrm>
            <a:off x="548640" y="3429000"/>
            <a:ext cx="5212080" cy="2606040"/>
          </a:xfrm>
          <a:prstGeom prst="roundRect">
            <a:avLst>
              <a:gd name="adj" fmla="val 4211"/>
            </a:avLst>
          </a:prstGeom>
          <a:solidFill>
            <a:schemeClr val="bg1"/>
          </a:solidFill>
          <a:ln w="12700">
            <a:solidFill>
              <a:schemeClr val="bg1"/>
            </a:solidFill>
            <a:prstDash val="solid"/>
          </a:ln>
        </p:spPr>
        <p:txBody>
          <a:bodyPr/>
          <a:lstStyle/>
          <a:p>
            <a:endParaRPr lang="en-US"/>
          </a:p>
        </p:txBody>
      </p:sp>
      <p:sp>
        <p:nvSpPr>
          <p:cNvPr id="21" name="Text 19"/>
          <p:cNvSpPr txBox="1"/>
          <p:nvPr/>
        </p:nvSpPr>
        <p:spPr>
          <a:xfrm>
            <a:off x="822960" y="3611880"/>
            <a:ext cx="4572000" cy="256032"/>
          </a:xfrm>
          <a:prstGeom prst="rect">
            <a:avLst/>
          </a:prstGeom>
          <a:noFill/>
          <a:ln/>
        </p:spPr>
        <p:txBody>
          <a:bodyPr wrap="square" lIns="0" tIns="0" rIns="0" bIns="0" rtlCol="0" anchor="t"/>
          <a:lstStyle/>
          <a:p>
            <a:pPr marL="0" indent="0">
              <a:buNone/>
            </a:pPr>
            <a:r>
              <a:rPr lang="en-US" sz="1200" b="1" kern="0" spc="200" dirty="0">
                <a:solidFill>
                  <a:srgbClr val="2E8B57"/>
                </a:solidFill>
              </a:rPr>
              <a:t>MVP SCOPE</a:t>
            </a:r>
            <a:endParaRPr lang="en-US" sz="1200" dirty="0"/>
          </a:p>
        </p:txBody>
      </p:sp>
      <p:sp>
        <p:nvSpPr>
          <p:cNvPr id="22" name="Text 20"/>
          <p:cNvSpPr txBox="1"/>
          <p:nvPr/>
        </p:nvSpPr>
        <p:spPr>
          <a:xfrm>
            <a:off x="822960" y="3913632"/>
            <a:ext cx="4754880" cy="13258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Germany, German and English, web and mobile</a:t>
            </a:r>
            <a:endParaRPr lang="en-US" sz="1400" dirty="0"/>
          </a:p>
          <a:p>
            <a:pPr marL="342900" indent="-342900">
              <a:spcAft>
                <a:spcPts val="300"/>
              </a:spcAft>
              <a:buSzPct val="100000"/>
              <a:buChar char="•"/>
            </a:pPr>
            <a:r>
              <a:rPr lang="en-US" sz="1400" dirty="0">
                <a:solidFill>
                  <a:schemeClr val="tx1"/>
                </a:solidFill>
              </a:rPr>
              <a:t>Public job lists of the Bundesagentur für Arbeit</a:t>
            </a:r>
            <a:endParaRPr lang="en-US" sz="1400" dirty="0"/>
          </a:p>
          <a:p>
            <a:pPr marL="342900" indent="-342900">
              <a:spcAft>
                <a:spcPts val="300"/>
              </a:spcAft>
              <a:buSzPct val="100000"/>
              <a:buChar char="•"/>
            </a:pPr>
            <a:r>
              <a:rPr lang="en-US" sz="1400" dirty="0">
                <a:solidFill>
                  <a:schemeClr val="tx1"/>
                </a:solidFill>
              </a:rPr>
              <a:t>Free explained score; 10 credits a day for preparation</a:t>
            </a:r>
            <a:endParaRPr lang="en-US" sz="1400" dirty="0"/>
          </a:p>
          <a:p>
            <a:pPr marL="342900" indent="-342900">
              <a:spcAft>
                <a:spcPts val="300"/>
              </a:spcAft>
              <a:buSzPct val="100000"/>
              <a:buChar char="•"/>
            </a:pPr>
            <a:r>
              <a:rPr lang="en-US" sz="1400" dirty="0">
                <a:solidFill>
                  <a:schemeClr val="tx1"/>
                </a:solidFill>
              </a:rPr>
              <a:t>Invitation-only headhunter pilot</a:t>
            </a:r>
            <a:endParaRPr lang="en-US" sz="1400" dirty="0"/>
          </a:p>
        </p:txBody>
      </p:sp>
      <p:sp>
        <p:nvSpPr>
          <p:cNvPr id="23" name="Text 21"/>
          <p:cNvSpPr txBox="1"/>
          <p:nvPr/>
        </p:nvSpPr>
        <p:spPr>
          <a:xfrm>
            <a:off x="822960" y="5349240"/>
            <a:ext cx="4754880" cy="548640"/>
          </a:xfrm>
          <a:prstGeom prst="rect">
            <a:avLst/>
          </a:prstGeom>
          <a:noFill/>
          <a:ln/>
        </p:spPr>
        <p:txBody>
          <a:bodyPr wrap="square" lIns="0" tIns="0" rIns="0" bIns="0" rtlCol="0" anchor="t"/>
          <a:lstStyle/>
          <a:p>
            <a:pPr marL="0" indent="0">
              <a:buNone/>
            </a:pPr>
            <a:r>
              <a:rPr lang="en-US" sz="1300" b="1" dirty="0">
                <a:solidFill>
                  <a:srgbClr val="B8401F"/>
                </a:solidFill>
              </a:rPr>
              <a:t>Never: </a:t>
            </a:r>
            <a:r>
              <a:rPr lang="en-US" sz="1300" dirty="0">
                <a:solidFill>
                  <a:schemeClr val="tx1"/>
                </a:solidFill>
              </a:rPr>
              <a:t>auto-apply, paid ranking, sharing a CV without consent.</a:t>
            </a:r>
            <a:endParaRPr lang="en-US" sz="1300" dirty="0"/>
          </a:p>
        </p:txBody>
      </p:sp>
      <p:sp>
        <p:nvSpPr>
          <p:cNvPr id="24" name="story"/>
          <p:cNvSpPr/>
          <p:nvPr/>
        </p:nvSpPr>
        <p:spPr>
          <a:xfrm>
            <a:off x="6035040" y="2057400"/>
            <a:ext cx="5605272" cy="1207008"/>
          </a:xfrm>
          <a:prstGeom prst="roundRect">
            <a:avLst>
              <a:gd name="adj" fmla="val 9091"/>
            </a:avLst>
          </a:prstGeom>
          <a:solidFill>
            <a:schemeClr val="bg1"/>
          </a:solidFill>
          <a:ln w="12700">
            <a:solidFill>
              <a:schemeClr val="bg1"/>
            </a:solidFill>
            <a:prstDash val="solid"/>
          </a:ln>
        </p:spPr>
        <p:txBody>
          <a:bodyPr/>
          <a:lstStyle/>
          <a:p>
            <a:endParaRPr lang="en-US"/>
          </a:p>
        </p:txBody>
      </p:sp>
      <p:sp>
        <p:nvSpPr>
          <p:cNvPr id="25" name="Text 23"/>
          <p:cNvSpPr txBox="1"/>
          <p:nvPr/>
        </p:nvSpPr>
        <p:spPr>
          <a:xfrm>
            <a:off x="6309360" y="2194560"/>
            <a:ext cx="182880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US2 · Must</a:t>
            </a:r>
            <a:endParaRPr lang="en-US" sz="1100" dirty="0"/>
          </a:p>
        </p:txBody>
      </p:sp>
      <p:sp>
        <p:nvSpPr>
          <p:cNvPr id="26" name="Text 24"/>
          <p:cNvSpPr txBox="1"/>
          <p:nvPr/>
        </p:nvSpPr>
        <p:spPr>
          <a:xfrm>
            <a:off x="6309360" y="2423160"/>
            <a:ext cx="5120640" cy="320040"/>
          </a:xfrm>
          <a:prstGeom prst="rect">
            <a:avLst/>
          </a:prstGeom>
          <a:noFill/>
          <a:ln/>
        </p:spPr>
        <p:txBody>
          <a:bodyPr wrap="square" lIns="0" tIns="0" rIns="0" bIns="0" rtlCol="0" anchor="t"/>
          <a:lstStyle/>
          <a:p>
            <a:pPr marL="0" indent="0">
              <a:buNone/>
            </a:pPr>
            <a:r>
              <a:rPr lang="en-US" sz="1500" b="1" dirty="0">
                <a:solidFill>
                  <a:schemeClr val="tx1"/>
                </a:solidFill>
              </a:rPr>
              <a:t>See how my score is built and why the job fits</a:t>
            </a:r>
            <a:endParaRPr lang="en-US" sz="1500" dirty="0"/>
          </a:p>
        </p:txBody>
      </p:sp>
      <p:sp>
        <p:nvSpPr>
          <p:cNvPr id="27" name="Text 25"/>
          <p:cNvSpPr txBox="1"/>
          <p:nvPr/>
        </p:nvSpPr>
        <p:spPr>
          <a:xfrm>
            <a:off x="6309360" y="2788920"/>
            <a:ext cx="5120640" cy="411480"/>
          </a:xfrm>
          <a:prstGeom prst="rect">
            <a:avLst/>
          </a:prstGeom>
          <a:noFill/>
          <a:ln/>
        </p:spPr>
        <p:txBody>
          <a:bodyPr wrap="square" lIns="0" tIns="0" rIns="0" bIns="0" rtlCol="0" anchor="t"/>
          <a:lstStyle/>
          <a:p>
            <a:pPr marL="0" indent="0">
              <a:buNone/>
            </a:pPr>
            <a:r>
              <a:rPr lang="en-US" sz="1200" dirty="0">
                <a:solidFill>
                  <a:schemeClr val="tx2"/>
                </a:solidFill>
              </a:rPr>
              <a:t>Each criterion shows weight and contribution; they add up to the score.</a:t>
            </a:r>
            <a:endParaRPr lang="en-US" sz="1200" dirty="0"/>
          </a:p>
        </p:txBody>
      </p:sp>
      <p:sp>
        <p:nvSpPr>
          <p:cNvPr id="28" name="story"/>
          <p:cNvSpPr/>
          <p:nvPr/>
        </p:nvSpPr>
        <p:spPr>
          <a:xfrm>
            <a:off x="6035040" y="3401568"/>
            <a:ext cx="5605272" cy="1207008"/>
          </a:xfrm>
          <a:prstGeom prst="roundRect">
            <a:avLst>
              <a:gd name="adj" fmla="val 9091"/>
            </a:avLst>
          </a:prstGeom>
          <a:solidFill>
            <a:schemeClr val="bg1"/>
          </a:solidFill>
          <a:ln w="12700">
            <a:solidFill>
              <a:schemeClr val="bg1"/>
            </a:solidFill>
            <a:prstDash val="solid"/>
          </a:ln>
        </p:spPr>
        <p:txBody>
          <a:bodyPr/>
          <a:lstStyle/>
          <a:p>
            <a:endParaRPr lang="en-US"/>
          </a:p>
        </p:txBody>
      </p:sp>
      <p:sp>
        <p:nvSpPr>
          <p:cNvPr id="29" name="Text 27"/>
          <p:cNvSpPr txBox="1"/>
          <p:nvPr/>
        </p:nvSpPr>
        <p:spPr>
          <a:xfrm>
            <a:off x="6309360" y="3538728"/>
            <a:ext cx="182880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US3 · Must</a:t>
            </a:r>
            <a:endParaRPr lang="en-US" sz="1100" dirty="0"/>
          </a:p>
        </p:txBody>
      </p:sp>
      <p:sp>
        <p:nvSpPr>
          <p:cNvPr id="30" name="Text 28"/>
          <p:cNvSpPr txBox="1"/>
          <p:nvPr/>
        </p:nvSpPr>
        <p:spPr>
          <a:xfrm>
            <a:off x="6309360" y="3767328"/>
            <a:ext cx="5120640" cy="320040"/>
          </a:xfrm>
          <a:prstGeom prst="rect">
            <a:avLst/>
          </a:prstGeom>
          <a:noFill/>
          <a:ln/>
        </p:spPr>
        <p:txBody>
          <a:bodyPr wrap="square" lIns="0" tIns="0" rIns="0" bIns="0" rtlCol="0" anchor="t"/>
          <a:lstStyle/>
          <a:p>
            <a:pPr marL="0" indent="0">
              <a:buNone/>
            </a:pPr>
            <a:r>
              <a:rPr lang="en-US" sz="1500" b="1" dirty="0">
                <a:solidFill>
                  <a:schemeClr val="tx1"/>
                </a:solidFill>
              </a:rPr>
              <a:t>My score reflects my fit, not missing profile data</a:t>
            </a:r>
            <a:endParaRPr lang="en-US" sz="1500" dirty="0"/>
          </a:p>
        </p:txBody>
      </p:sp>
      <p:sp>
        <p:nvSpPr>
          <p:cNvPr id="31" name="Text 29"/>
          <p:cNvSpPr txBox="1"/>
          <p:nvPr/>
        </p:nvSpPr>
        <p:spPr>
          <a:xfrm>
            <a:off x="6309360" y="4133088"/>
            <a:ext cx="5120640" cy="411480"/>
          </a:xfrm>
          <a:prstGeom prst="rect">
            <a:avLst/>
          </a:prstGeom>
          <a:noFill/>
          <a:ln/>
        </p:spPr>
        <p:txBody>
          <a:bodyPr wrap="square" lIns="0" tIns="0" rIns="0" bIns="0" rtlCol="0" anchor="t"/>
          <a:lstStyle/>
          <a:p>
            <a:pPr marL="0" indent="0">
              <a:buNone/>
            </a:pPr>
            <a:r>
              <a:rPr lang="en-US" sz="1200" dirty="0">
                <a:solidFill>
                  <a:schemeClr val="tx2"/>
                </a:solidFill>
              </a:rPr>
              <a:t>An incomplete profile still gets scores, with a confidence label.</a:t>
            </a:r>
            <a:endParaRPr lang="en-US" sz="1200" dirty="0"/>
          </a:p>
        </p:txBody>
      </p:sp>
      <p:sp>
        <p:nvSpPr>
          <p:cNvPr id="32" name="story"/>
          <p:cNvSpPr/>
          <p:nvPr/>
        </p:nvSpPr>
        <p:spPr>
          <a:xfrm>
            <a:off x="6035040" y="4745736"/>
            <a:ext cx="5605272" cy="1207008"/>
          </a:xfrm>
          <a:prstGeom prst="roundRect">
            <a:avLst>
              <a:gd name="adj" fmla="val 9091"/>
            </a:avLst>
          </a:prstGeom>
          <a:solidFill>
            <a:schemeClr val="bg1"/>
          </a:solidFill>
          <a:ln w="12700">
            <a:solidFill>
              <a:schemeClr val="bg1"/>
            </a:solidFill>
            <a:prstDash val="solid"/>
          </a:ln>
        </p:spPr>
        <p:txBody>
          <a:bodyPr/>
          <a:lstStyle/>
          <a:p>
            <a:endParaRPr lang="en-US"/>
          </a:p>
        </p:txBody>
      </p:sp>
      <p:sp>
        <p:nvSpPr>
          <p:cNvPr id="33" name="Text 31"/>
          <p:cNvSpPr txBox="1"/>
          <p:nvPr/>
        </p:nvSpPr>
        <p:spPr>
          <a:xfrm>
            <a:off x="6309360" y="4882896"/>
            <a:ext cx="182880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US4 · Must</a:t>
            </a:r>
            <a:endParaRPr lang="en-US" sz="1100" dirty="0"/>
          </a:p>
        </p:txBody>
      </p:sp>
      <p:sp>
        <p:nvSpPr>
          <p:cNvPr id="34" name="Text 32"/>
          <p:cNvSpPr txBox="1"/>
          <p:nvPr/>
        </p:nvSpPr>
        <p:spPr>
          <a:xfrm>
            <a:off x="6309360" y="5111496"/>
            <a:ext cx="5120640" cy="320040"/>
          </a:xfrm>
          <a:prstGeom prst="rect">
            <a:avLst/>
          </a:prstGeom>
          <a:noFill/>
          <a:ln/>
        </p:spPr>
        <p:txBody>
          <a:bodyPr wrap="square" lIns="0" tIns="0" rIns="0" bIns="0" rtlCol="0" anchor="t"/>
          <a:lstStyle/>
          <a:p>
            <a:pPr marL="0" indent="0">
              <a:buNone/>
            </a:pPr>
            <a:r>
              <a:rPr lang="en-US" sz="1500" b="1" dirty="0">
                <a:solidFill>
                  <a:schemeClr val="tx1"/>
                </a:solidFill>
              </a:rPr>
              <a:t>Every application saved to my history</a:t>
            </a:r>
            <a:endParaRPr lang="en-US" sz="1500" dirty="0"/>
          </a:p>
        </p:txBody>
      </p:sp>
      <p:sp>
        <p:nvSpPr>
          <p:cNvPr id="35" name="Text 33"/>
          <p:cNvSpPr txBox="1"/>
          <p:nvPr/>
        </p:nvSpPr>
        <p:spPr>
          <a:xfrm>
            <a:off x="6309360" y="5477256"/>
            <a:ext cx="5120640" cy="411480"/>
          </a:xfrm>
          <a:prstGeom prst="rect">
            <a:avLst/>
          </a:prstGeom>
          <a:noFill/>
          <a:ln/>
        </p:spPr>
        <p:txBody>
          <a:bodyPr wrap="square" lIns="0" tIns="0" rIns="0" bIns="0" rtlCol="0" anchor="t"/>
          <a:lstStyle/>
          <a:p>
            <a:pPr marL="0" indent="0">
              <a:buNone/>
            </a:pPr>
            <a:r>
              <a:rPr lang="en-US" sz="1200" dirty="0">
                <a:solidFill>
                  <a:schemeClr val="tx2"/>
                </a:solidFill>
              </a:rPr>
              <a:t>Confirming "Did you apply?" saves date, source, documents and the job ad.</a:t>
            </a:r>
            <a:endParaRPr lang="en-US" sz="1200" dirty="0"/>
          </a:p>
        </p:txBody>
      </p:sp>
      <p:sp>
        <p:nvSpPr>
          <p:cNvPr id="36" name="Text 34"/>
          <p:cNvSpPr txBox="1"/>
          <p:nvPr/>
        </p:nvSpPr>
        <p:spPr>
          <a:xfrm>
            <a:off x="548640" y="6172200"/>
            <a:ext cx="10972800" cy="228600"/>
          </a:xfrm>
          <a:prstGeom prst="rect">
            <a:avLst/>
          </a:prstGeom>
          <a:noFill/>
          <a:ln/>
        </p:spPr>
        <p:txBody>
          <a:bodyPr wrap="square" lIns="0" tIns="0" rIns="0" bIns="0" rtlCol="0" anchor="t"/>
          <a:lstStyle/>
          <a:p>
            <a:pPr marL="0" indent="0">
              <a:buNone/>
            </a:pPr>
            <a:r>
              <a:rPr lang="en-US" sz="1100" u="sng" dirty="0">
                <a:solidFill>
                  <a:schemeClr val="tx2"/>
                </a:solidFill>
                <a:hlinkClick r:id="rId3">
                  <a:extLst>
                    <a:ext uri="{A12FA001-AC4F-418D-AE19-62706E023703}">
                      <ahyp:hlinkClr xmlns:ahyp="http://schemas.microsoft.com/office/drawing/2018/hyperlinkcolor" val="tx"/>
                    </a:ext>
                  </a:extLst>
                </a:hlinkClick>
              </a:rPr>
              <a:t>Open the PRD on Confluence</a:t>
            </a:r>
            <a:r>
              <a:rPr lang="en-US" sz="1100" dirty="0">
                <a:solidFill>
                  <a:schemeClr val="tx2"/>
                </a:solidFill>
              </a:rPr>
              <a:t> · source of truth for every other artefact</a:t>
            </a:r>
            <a:endParaRPr lang="en-US" sz="11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04 · BACKLOG AND SPRINT PLANNING</a:t>
            </a:r>
            <a:endParaRPr lang="en-US" sz="1200" dirty="0"/>
          </a:p>
        </p:txBody>
      </p:sp>
      <p:sp>
        <p:nvSpPr>
          <p:cNvPr id="3" name="Text 1"/>
          <p:cNvSpPr>
            <a:spLocks noGrp="1"/>
          </p:cNvSpPr>
          <p:nvPr>
            <p:ph type="title" idx="103" hasCustomPrompt="1"/>
          </p:nvPr>
        </p:nvSpPr>
        <p:spPr>
          <a:xfrm>
            <a:off x="548640" y="1097280"/>
            <a:ext cx="11064240" cy="731520"/>
          </a:xfrm>
          <a:prstGeom prst="rect">
            <a:avLst/>
          </a:prstGeom>
          <a:noFill/>
          <a:ln/>
        </p:spPr>
        <p:txBody>
          <a:bodyPr wrap="square" lIns="0" tIns="0" rIns="0" bIns="0" rtlCol="0" anchor="t"/>
          <a:lstStyle/>
          <a:p>
            <a:pPr marL="0" indent="0" algn="l">
              <a:buNone/>
            </a:pPr>
            <a:r>
              <a:rPr lang="en-US" sz="3200" b="1" dirty="0">
                <a:solidFill>
                  <a:schemeClr val="tx1"/>
                </a:solidFill>
              </a:rPr>
              <a:t>9 epics, 29 stories, prioritised and planned in Jira</a:t>
            </a:r>
            <a:endParaRPr lang="en-US" sz="3200" dirty="0"/>
          </a:p>
        </p:txBody>
      </p:sp>
      <p:sp>
        <p:nvSpPr>
          <p:cNvPr id="4" name="Text 2"/>
          <p:cNvSpPr txBox="1"/>
          <p:nvPr/>
        </p:nvSpPr>
        <p:spPr>
          <a:xfrm>
            <a:off x="507492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Problem</a:t>
            </a:r>
            <a:endParaRPr lang="en-US" sz="1000" dirty="0"/>
          </a:p>
        </p:txBody>
      </p:sp>
      <p:sp>
        <p:nvSpPr>
          <p:cNvPr id="5" name="Text 3"/>
          <p:cNvSpPr txBox="1"/>
          <p:nvPr/>
        </p:nvSpPr>
        <p:spPr>
          <a:xfrm>
            <a:off x="601675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Users</a:t>
            </a:r>
            <a:endParaRPr lang="en-US" sz="1000" dirty="0"/>
          </a:p>
        </p:txBody>
      </p:sp>
      <p:sp>
        <p:nvSpPr>
          <p:cNvPr id="6" name="Text 4"/>
          <p:cNvSpPr txBox="1"/>
          <p:nvPr/>
        </p:nvSpPr>
        <p:spPr>
          <a:xfrm>
            <a:off x="6958584"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PRD</a:t>
            </a:r>
            <a:endParaRPr lang="en-US" sz="1000" dirty="0"/>
          </a:p>
        </p:txBody>
      </p:sp>
      <p:sp>
        <p:nvSpPr>
          <p:cNvPr id="7" name="Text 5"/>
          <p:cNvSpPr txBox="1"/>
          <p:nvPr/>
        </p:nvSpPr>
        <p:spPr>
          <a:xfrm>
            <a:off x="7900416"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Backlog</a:t>
            </a:r>
            <a:endParaRPr lang="en-US" sz="1000" dirty="0"/>
          </a:p>
        </p:txBody>
      </p:sp>
      <p:sp>
        <p:nvSpPr>
          <p:cNvPr id="8" name="Text 6"/>
          <p:cNvSpPr txBox="1"/>
          <p:nvPr/>
        </p:nvSpPr>
        <p:spPr>
          <a:xfrm>
            <a:off x="8842248"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Figma</a:t>
            </a:r>
            <a:endParaRPr lang="en-US" sz="1000" dirty="0"/>
          </a:p>
        </p:txBody>
      </p:sp>
      <p:sp>
        <p:nvSpPr>
          <p:cNvPr id="9" name="Text 7"/>
          <p:cNvSpPr txBox="1"/>
          <p:nvPr/>
        </p:nvSpPr>
        <p:spPr>
          <a:xfrm>
            <a:off x="978408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Demo</a:t>
            </a:r>
            <a:endParaRPr lang="en-US" sz="1000" dirty="0"/>
          </a:p>
        </p:txBody>
      </p:sp>
      <p:sp>
        <p:nvSpPr>
          <p:cNvPr id="10" name="Text 8"/>
          <p:cNvSpPr txBox="1"/>
          <p:nvPr/>
        </p:nvSpPr>
        <p:spPr>
          <a:xfrm>
            <a:off x="1072591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Integration</a:t>
            </a:r>
            <a:endParaRPr lang="en-US" sz="1000" dirty="0"/>
          </a:p>
        </p:txBody>
      </p:sp>
      <p:sp>
        <p:nvSpPr>
          <p:cNvPr id="11" name="epic"/>
          <p:cNvSpPr/>
          <p:nvPr/>
        </p:nvSpPr>
        <p:spPr>
          <a:xfrm>
            <a:off x="548640"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12" name="Text 10"/>
          <p:cNvSpPr txBox="1"/>
          <p:nvPr/>
        </p:nvSpPr>
        <p:spPr>
          <a:xfrm>
            <a:off x="685800"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5</a:t>
            </a:r>
            <a:endParaRPr lang="en-US" sz="2200" dirty="0"/>
          </a:p>
        </p:txBody>
      </p:sp>
      <p:sp>
        <p:nvSpPr>
          <p:cNvPr id="13" name="Text 11"/>
          <p:cNvSpPr txBox="1"/>
          <p:nvPr/>
        </p:nvSpPr>
        <p:spPr>
          <a:xfrm>
            <a:off x="685800"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Profile</a:t>
            </a:r>
            <a:endParaRPr lang="en-US" sz="1100" dirty="0"/>
          </a:p>
        </p:txBody>
      </p:sp>
      <p:sp>
        <p:nvSpPr>
          <p:cNvPr id="14" name="epic"/>
          <p:cNvSpPr/>
          <p:nvPr/>
        </p:nvSpPr>
        <p:spPr>
          <a:xfrm>
            <a:off x="1787652"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15" name="Text 13"/>
          <p:cNvSpPr txBox="1"/>
          <p:nvPr/>
        </p:nvSpPr>
        <p:spPr>
          <a:xfrm>
            <a:off x="1924812"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3</a:t>
            </a:r>
            <a:endParaRPr lang="en-US" sz="2200" dirty="0"/>
          </a:p>
        </p:txBody>
      </p:sp>
      <p:sp>
        <p:nvSpPr>
          <p:cNvPr id="16" name="Text 14"/>
          <p:cNvSpPr txBox="1"/>
          <p:nvPr/>
        </p:nvSpPr>
        <p:spPr>
          <a:xfrm>
            <a:off x="1924812"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Discovery</a:t>
            </a:r>
            <a:endParaRPr lang="en-US" sz="1100" dirty="0"/>
          </a:p>
        </p:txBody>
      </p:sp>
      <p:sp>
        <p:nvSpPr>
          <p:cNvPr id="17" name="epic"/>
          <p:cNvSpPr/>
          <p:nvPr/>
        </p:nvSpPr>
        <p:spPr>
          <a:xfrm>
            <a:off x="3026664"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18" name="Text 16"/>
          <p:cNvSpPr txBox="1"/>
          <p:nvPr/>
        </p:nvSpPr>
        <p:spPr>
          <a:xfrm>
            <a:off x="3163824"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4</a:t>
            </a:r>
            <a:endParaRPr lang="en-US" sz="2200" dirty="0"/>
          </a:p>
        </p:txBody>
      </p:sp>
      <p:sp>
        <p:nvSpPr>
          <p:cNvPr id="19" name="Text 17"/>
          <p:cNvSpPr txBox="1"/>
          <p:nvPr/>
        </p:nvSpPr>
        <p:spPr>
          <a:xfrm>
            <a:off x="3163824"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Matching</a:t>
            </a:r>
            <a:endParaRPr lang="en-US" sz="1100" dirty="0"/>
          </a:p>
        </p:txBody>
      </p:sp>
      <p:sp>
        <p:nvSpPr>
          <p:cNvPr id="20" name="epic"/>
          <p:cNvSpPr/>
          <p:nvPr/>
        </p:nvSpPr>
        <p:spPr>
          <a:xfrm>
            <a:off x="4265676"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21" name="Text 19"/>
          <p:cNvSpPr txBox="1"/>
          <p:nvPr/>
        </p:nvSpPr>
        <p:spPr>
          <a:xfrm>
            <a:off x="4402836"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3</a:t>
            </a:r>
            <a:endParaRPr lang="en-US" sz="2200" dirty="0"/>
          </a:p>
        </p:txBody>
      </p:sp>
      <p:sp>
        <p:nvSpPr>
          <p:cNvPr id="22" name="Text 20"/>
          <p:cNvSpPr txBox="1"/>
          <p:nvPr/>
        </p:nvSpPr>
        <p:spPr>
          <a:xfrm>
            <a:off x="4402836"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Documents</a:t>
            </a:r>
            <a:endParaRPr lang="en-US" sz="1100" dirty="0"/>
          </a:p>
        </p:txBody>
      </p:sp>
      <p:sp>
        <p:nvSpPr>
          <p:cNvPr id="23" name="epic"/>
          <p:cNvSpPr/>
          <p:nvPr/>
        </p:nvSpPr>
        <p:spPr>
          <a:xfrm>
            <a:off x="5504688"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24" name="Text 22"/>
          <p:cNvSpPr txBox="1"/>
          <p:nvPr/>
        </p:nvSpPr>
        <p:spPr>
          <a:xfrm>
            <a:off x="5641848"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2</a:t>
            </a:r>
            <a:endParaRPr lang="en-US" sz="2200" dirty="0"/>
          </a:p>
        </p:txBody>
      </p:sp>
      <p:sp>
        <p:nvSpPr>
          <p:cNvPr id="25" name="Text 23"/>
          <p:cNvSpPr txBox="1"/>
          <p:nvPr/>
        </p:nvSpPr>
        <p:spPr>
          <a:xfrm>
            <a:off x="5641848"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History</a:t>
            </a:r>
            <a:endParaRPr lang="en-US" sz="1100" dirty="0"/>
          </a:p>
        </p:txBody>
      </p:sp>
      <p:sp>
        <p:nvSpPr>
          <p:cNvPr id="26" name="epic"/>
          <p:cNvSpPr/>
          <p:nvPr/>
        </p:nvSpPr>
        <p:spPr>
          <a:xfrm>
            <a:off x="6743700"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27" name="Text 25"/>
          <p:cNvSpPr txBox="1"/>
          <p:nvPr/>
        </p:nvSpPr>
        <p:spPr>
          <a:xfrm>
            <a:off x="6880860"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3</a:t>
            </a:r>
            <a:endParaRPr lang="en-US" sz="2200" dirty="0"/>
          </a:p>
        </p:txBody>
      </p:sp>
      <p:sp>
        <p:nvSpPr>
          <p:cNvPr id="28" name="Text 26"/>
          <p:cNvSpPr txBox="1"/>
          <p:nvPr/>
        </p:nvSpPr>
        <p:spPr>
          <a:xfrm>
            <a:off x="6880860"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Privacy</a:t>
            </a:r>
            <a:endParaRPr lang="en-US" sz="1100" dirty="0"/>
          </a:p>
        </p:txBody>
      </p:sp>
      <p:sp>
        <p:nvSpPr>
          <p:cNvPr id="29" name="epic"/>
          <p:cNvSpPr/>
          <p:nvPr/>
        </p:nvSpPr>
        <p:spPr>
          <a:xfrm>
            <a:off x="7982712" y="2011680"/>
            <a:ext cx="1143000" cy="868680"/>
          </a:xfrm>
          <a:prstGeom prst="roundRect">
            <a:avLst>
              <a:gd name="adj" fmla="val 12632"/>
            </a:avLst>
          </a:prstGeom>
          <a:solidFill>
            <a:schemeClr val="bg1"/>
          </a:solidFill>
          <a:ln w="12700">
            <a:solidFill>
              <a:schemeClr val="bg1"/>
            </a:solidFill>
            <a:prstDash val="solid"/>
          </a:ln>
        </p:spPr>
        <p:txBody>
          <a:bodyPr/>
          <a:lstStyle/>
          <a:p>
            <a:endParaRPr lang="en-US"/>
          </a:p>
        </p:txBody>
      </p:sp>
      <p:sp>
        <p:nvSpPr>
          <p:cNvPr id="30" name="Text 28"/>
          <p:cNvSpPr txBox="1"/>
          <p:nvPr/>
        </p:nvSpPr>
        <p:spPr>
          <a:xfrm>
            <a:off x="8119872" y="2057400"/>
            <a:ext cx="914400" cy="411480"/>
          </a:xfrm>
          <a:prstGeom prst="rect">
            <a:avLst/>
          </a:prstGeom>
          <a:noFill/>
          <a:ln/>
        </p:spPr>
        <p:txBody>
          <a:bodyPr wrap="square" lIns="0" tIns="0" rIns="0" bIns="0" rtlCol="0" anchor="t"/>
          <a:lstStyle/>
          <a:p>
            <a:pPr marL="0" indent="0">
              <a:buNone/>
            </a:pPr>
            <a:r>
              <a:rPr lang="en-US" sz="2200" b="1" dirty="0">
                <a:solidFill>
                  <a:schemeClr val="accent1"/>
                </a:solidFill>
              </a:rPr>
              <a:t>2</a:t>
            </a:r>
            <a:endParaRPr lang="en-US" sz="2200" dirty="0"/>
          </a:p>
        </p:txBody>
      </p:sp>
      <p:sp>
        <p:nvSpPr>
          <p:cNvPr id="31" name="Text 29"/>
          <p:cNvSpPr txBox="1"/>
          <p:nvPr/>
        </p:nvSpPr>
        <p:spPr>
          <a:xfrm>
            <a:off x="8119872" y="2468880"/>
            <a:ext cx="960120" cy="365760"/>
          </a:xfrm>
          <a:prstGeom prst="rect">
            <a:avLst/>
          </a:prstGeom>
          <a:noFill/>
          <a:ln/>
        </p:spPr>
        <p:txBody>
          <a:bodyPr wrap="square" lIns="0" tIns="0" rIns="0" bIns="0" rtlCol="0" anchor="t"/>
          <a:lstStyle/>
          <a:p>
            <a:pPr marL="0" indent="0">
              <a:buNone/>
            </a:pPr>
            <a:r>
              <a:rPr lang="en-US" sz="1100" b="1" dirty="0">
                <a:solidFill>
                  <a:schemeClr val="tx1"/>
                </a:solidFill>
              </a:rPr>
              <a:t>Career &amp; interview</a:t>
            </a:r>
            <a:endParaRPr lang="en-US" sz="1100" dirty="0"/>
          </a:p>
        </p:txBody>
      </p:sp>
      <p:sp>
        <p:nvSpPr>
          <p:cNvPr id="32" name="epic"/>
          <p:cNvSpPr/>
          <p:nvPr/>
        </p:nvSpPr>
        <p:spPr>
          <a:xfrm>
            <a:off x="9221724" y="2011680"/>
            <a:ext cx="1143000" cy="868680"/>
          </a:xfrm>
          <a:prstGeom prst="roundRect">
            <a:avLst>
              <a:gd name="adj" fmla="val 12632"/>
            </a:avLst>
          </a:prstGeom>
          <a:solidFill>
            <a:srgbClr val="0F2A4A"/>
          </a:solidFill>
          <a:ln w="12700">
            <a:solidFill>
              <a:srgbClr val="0F2A4A"/>
            </a:solidFill>
            <a:prstDash val="solid"/>
          </a:ln>
        </p:spPr>
        <p:txBody>
          <a:bodyPr/>
          <a:lstStyle/>
          <a:p>
            <a:endParaRPr lang="en-US"/>
          </a:p>
        </p:txBody>
      </p:sp>
      <p:sp>
        <p:nvSpPr>
          <p:cNvPr id="33" name="Text 31"/>
          <p:cNvSpPr txBox="1"/>
          <p:nvPr/>
        </p:nvSpPr>
        <p:spPr>
          <a:xfrm>
            <a:off x="9358884" y="2057400"/>
            <a:ext cx="914400" cy="411480"/>
          </a:xfrm>
          <a:prstGeom prst="rect">
            <a:avLst/>
          </a:prstGeom>
          <a:noFill/>
          <a:ln/>
        </p:spPr>
        <p:txBody>
          <a:bodyPr wrap="square" lIns="0" tIns="0" rIns="0" bIns="0" rtlCol="0" anchor="t"/>
          <a:lstStyle/>
          <a:p>
            <a:pPr marL="0" indent="0">
              <a:buNone/>
            </a:pPr>
            <a:r>
              <a:rPr lang="en-US" sz="2200" b="1" dirty="0">
                <a:solidFill>
                  <a:schemeClr val="bg1"/>
                </a:solidFill>
              </a:rPr>
              <a:t>5</a:t>
            </a:r>
            <a:endParaRPr lang="en-US" sz="2200" dirty="0"/>
          </a:p>
        </p:txBody>
      </p:sp>
      <p:sp>
        <p:nvSpPr>
          <p:cNvPr id="34" name="Text 32"/>
          <p:cNvSpPr txBox="1"/>
          <p:nvPr/>
        </p:nvSpPr>
        <p:spPr>
          <a:xfrm>
            <a:off x="9358884" y="2468880"/>
            <a:ext cx="960120" cy="365760"/>
          </a:xfrm>
          <a:prstGeom prst="rect">
            <a:avLst/>
          </a:prstGeom>
          <a:noFill/>
          <a:ln/>
        </p:spPr>
        <p:txBody>
          <a:bodyPr wrap="square" lIns="0" tIns="0" rIns="0" bIns="0" rtlCol="0" anchor="t"/>
          <a:lstStyle/>
          <a:p>
            <a:pPr marL="0" indent="0">
              <a:buNone/>
            </a:pPr>
            <a:r>
              <a:rPr lang="en-US" sz="1100" b="1" dirty="0">
                <a:solidFill>
                  <a:schemeClr val="bg1"/>
                </a:solidFill>
              </a:rPr>
              <a:t>Headhunter</a:t>
            </a:r>
            <a:endParaRPr lang="en-US" sz="1100" dirty="0"/>
          </a:p>
        </p:txBody>
      </p:sp>
      <p:sp>
        <p:nvSpPr>
          <p:cNvPr id="35" name="epic"/>
          <p:cNvSpPr/>
          <p:nvPr/>
        </p:nvSpPr>
        <p:spPr>
          <a:xfrm>
            <a:off x="10460736" y="2011680"/>
            <a:ext cx="1143000" cy="868680"/>
          </a:xfrm>
          <a:prstGeom prst="roundRect">
            <a:avLst>
              <a:gd name="adj" fmla="val 12632"/>
            </a:avLst>
          </a:prstGeom>
          <a:solidFill>
            <a:srgbClr val="0F2A4A"/>
          </a:solidFill>
          <a:ln w="12700">
            <a:solidFill>
              <a:srgbClr val="0F2A4A"/>
            </a:solidFill>
            <a:prstDash val="solid"/>
          </a:ln>
        </p:spPr>
        <p:txBody>
          <a:bodyPr/>
          <a:lstStyle/>
          <a:p>
            <a:endParaRPr lang="en-US"/>
          </a:p>
        </p:txBody>
      </p:sp>
      <p:sp>
        <p:nvSpPr>
          <p:cNvPr id="36" name="Text 34"/>
          <p:cNvSpPr txBox="1"/>
          <p:nvPr/>
        </p:nvSpPr>
        <p:spPr>
          <a:xfrm>
            <a:off x="10597896" y="2057400"/>
            <a:ext cx="914400" cy="411480"/>
          </a:xfrm>
          <a:prstGeom prst="rect">
            <a:avLst/>
          </a:prstGeom>
          <a:noFill/>
          <a:ln/>
        </p:spPr>
        <p:txBody>
          <a:bodyPr wrap="square" lIns="0" tIns="0" rIns="0" bIns="0" rtlCol="0" anchor="t"/>
          <a:lstStyle/>
          <a:p>
            <a:pPr marL="0" indent="0">
              <a:buNone/>
            </a:pPr>
            <a:r>
              <a:rPr lang="en-US" sz="2200" b="1" dirty="0">
                <a:solidFill>
                  <a:schemeClr val="bg1"/>
                </a:solidFill>
              </a:rPr>
              <a:t>2</a:t>
            </a:r>
            <a:endParaRPr lang="en-US" sz="2200" dirty="0"/>
          </a:p>
        </p:txBody>
      </p:sp>
      <p:sp>
        <p:nvSpPr>
          <p:cNvPr id="37" name="Text 35"/>
          <p:cNvSpPr txBox="1"/>
          <p:nvPr/>
        </p:nvSpPr>
        <p:spPr>
          <a:xfrm>
            <a:off x="10597896" y="2468880"/>
            <a:ext cx="960120" cy="365760"/>
          </a:xfrm>
          <a:prstGeom prst="rect">
            <a:avLst/>
          </a:prstGeom>
          <a:noFill/>
          <a:ln/>
        </p:spPr>
        <p:txBody>
          <a:bodyPr wrap="square" lIns="0" tIns="0" rIns="0" bIns="0" rtlCol="0" anchor="t"/>
          <a:lstStyle/>
          <a:p>
            <a:pPr marL="0" indent="0">
              <a:buNone/>
            </a:pPr>
            <a:r>
              <a:rPr lang="en-US" sz="1100" b="1" dirty="0">
                <a:solidFill>
                  <a:schemeClr val="bg1"/>
                </a:solidFill>
              </a:rPr>
              <a:t>Consent</a:t>
            </a:r>
            <a:endParaRPr lang="en-US" sz="1100" dirty="0"/>
          </a:p>
        </p:txBody>
      </p:sp>
      <p:sp>
        <p:nvSpPr>
          <p:cNvPr id="38" name="Text 36"/>
          <p:cNvSpPr txBox="1"/>
          <p:nvPr/>
        </p:nvSpPr>
        <p:spPr>
          <a:xfrm>
            <a:off x="548640" y="3108960"/>
            <a:ext cx="1280160" cy="365760"/>
          </a:xfrm>
          <a:prstGeom prst="rect">
            <a:avLst/>
          </a:prstGeom>
          <a:noFill/>
          <a:ln/>
        </p:spPr>
        <p:txBody>
          <a:bodyPr wrap="square" lIns="0" tIns="0" rIns="0" bIns="0" rtlCol="0" anchor="t"/>
          <a:lstStyle/>
          <a:p>
            <a:pPr marL="0" indent="0">
              <a:buNone/>
            </a:pPr>
            <a:r>
              <a:rPr lang="en-US" sz="1800" b="1" dirty="0">
                <a:solidFill>
                  <a:schemeClr val="accent1"/>
                </a:solidFill>
              </a:rPr>
              <a:t>MoSCoW</a:t>
            </a:r>
            <a:endParaRPr lang="en-US" sz="1800" dirty="0"/>
          </a:p>
        </p:txBody>
      </p:sp>
      <p:sp>
        <p:nvSpPr>
          <p:cNvPr id="39" name="Text 37"/>
          <p:cNvSpPr txBox="1"/>
          <p:nvPr/>
        </p:nvSpPr>
        <p:spPr>
          <a:xfrm>
            <a:off x="1828800" y="3136392"/>
            <a:ext cx="3291840" cy="320040"/>
          </a:xfrm>
          <a:prstGeom prst="rect">
            <a:avLst/>
          </a:prstGeom>
          <a:noFill/>
          <a:ln/>
        </p:spPr>
        <p:txBody>
          <a:bodyPr wrap="square" lIns="0" tIns="0" rIns="0" bIns="0" rtlCol="0" anchor="t"/>
          <a:lstStyle/>
          <a:p>
            <a:pPr marL="0" indent="0">
              <a:buNone/>
            </a:pPr>
            <a:r>
              <a:rPr lang="en-US" sz="1400" b="1" dirty="0">
                <a:solidFill>
                  <a:schemeClr val="tx1"/>
                </a:solidFill>
              </a:rPr>
              <a:t>sets the MVP scope</a:t>
            </a:r>
            <a:endParaRPr lang="en-US" sz="1400" dirty="0"/>
          </a:p>
        </p:txBody>
      </p:sp>
      <p:sp>
        <p:nvSpPr>
          <p:cNvPr id="40" name="Text 38"/>
          <p:cNvSpPr txBox="1"/>
          <p:nvPr/>
        </p:nvSpPr>
        <p:spPr>
          <a:xfrm>
            <a:off x="1828800" y="3474720"/>
            <a:ext cx="3566160" cy="548640"/>
          </a:xfrm>
          <a:prstGeom prst="rect">
            <a:avLst/>
          </a:prstGeom>
          <a:noFill/>
          <a:ln/>
        </p:spPr>
        <p:txBody>
          <a:bodyPr wrap="square" lIns="0" tIns="0" rIns="0" bIns="0" rtlCol="0" anchor="t"/>
          <a:lstStyle/>
          <a:p>
            <a:pPr marL="0" indent="0">
              <a:buNone/>
            </a:pPr>
            <a:r>
              <a:rPr lang="en-US" sz="1200" dirty="0">
                <a:solidFill>
                  <a:schemeClr val="tx2"/>
                </a:solidFill>
              </a:rPr>
              <a:t>A fixed launch date means scope must flex: 13 Must, 6 Should, 2 Could.</a:t>
            </a:r>
            <a:endParaRPr lang="en-US" sz="1200" dirty="0"/>
          </a:p>
        </p:txBody>
      </p:sp>
      <p:sp>
        <p:nvSpPr>
          <p:cNvPr id="41" name="Text 39"/>
          <p:cNvSpPr txBox="1"/>
          <p:nvPr/>
        </p:nvSpPr>
        <p:spPr>
          <a:xfrm>
            <a:off x="548640" y="4096512"/>
            <a:ext cx="1280160" cy="365760"/>
          </a:xfrm>
          <a:prstGeom prst="rect">
            <a:avLst/>
          </a:prstGeom>
          <a:noFill/>
          <a:ln/>
        </p:spPr>
        <p:txBody>
          <a:bodyPr wrap="square" lIns="0" tIns="0" rIns="0" bIns="0" rtlCol="0" anchor="t"/>
          <a:lstStyle/>
          <a:p>
            <a:pPr marL="0" indent="0">
              <a:buNone/>
            </a:pPr>
            <a:r>
              <a:rPr lang="en-US" sz="1800" b="1" dirty="0">
                <a:solidFill>
                  <a:schemeClr val="accent1"/>
                </a:solidFill>
              </a:rPr>
              <a:t>RICE</a:t>
            </a:r>
            <a:endParaRPr lang="en-US" sz="1800" dirty="0"/>
          </a:p>
        </p:txBody>
      </p:sp>
      <p:sp>
        <p:nvSpPr>
          <p:cNvPr id="42" name="Text 40"/>
          <p:cNvSpPr txBox="1"/>
          <p:nvPr/>
        </p:nvSpPr>
        <p:spPr>
          <a:xfrm>
            <a:off x="1828800" y="4123944"/>
            <a:ext cx="3291840" cy="320040"/>
          </a:xfrm>
          <a:prstGeom prst="rect">
            <a:avLst/>
          </a:prstGeom>
          <a:noFill/>
          <a:ln/>
        </p:spPr>
        <p:txBody>
          <a:bodyPr wrap="square" lIns="0" tIns="0" rIns="0" bIns="0" rtlCol="0" anchor="t"/>
          <a:lstStyle/>
          <a:p>
            <a:pPr marL="0" indent="0">
              <a:buNone/>
            </a:pPr>
            <a:r>
              <a:rPr lang="en-US" sz="1400" b="1" dirty="0">
                <a:solidFill>
                  <a:schemeClr val="tx1"/>
                </a:solidFill>
              </a:rPr>
              <a:t>ranks inside the scope</a:t>
            </a:r>
            <a:endParaRPr lang="en-US" sz="1400" dirty="0"/>
          </a:p>
        </p:txBody>
      </p:sp>
      <p:sp>
        <p:nvSpPr>
          <p:cNvPr id="43" name="Text 41"/>
          <p:cNvSpPr txBox="1"/>
          <p:nvPr/>
        </p:nvSpPr>
        <p:spPr>
          <a:xfrm>
            <a:off x="1828800" y="4462272"/>
            <a:ext cx="3566160" cy="548640"/>
          </a:xfrm>
          <a:prstGeom prst="rect">
            <a:avLst/>
          </a:prstGeom>
          <a:noFill/>
          <a:ln/>
        </p:spPr>
        <p:txBody>
          <a:bodyPr wrap="square" lIns="0" tIns="0" rIns="0" bIns="0" rtlCol="0" anchor="t"/>
          <a:lstStyle/>
          <a:p>
            <a:pPr marL="0" indent="0">
              <a:buNone/>
            </a:pPr>
            <a:r>
              <a:rPr lang="en-US" sz="1200" dirty="0">
                <a:solidFill>
                  <a:schemeClr val="tx2"/>
                </a:solidFill>
              </a:rPr>
              <a:t>Value per effort: "matching without a gate" scores highest, so it's built early.</a:t>
            </a:r>
            <a:endParaRPr lang="en-US" sz="1200" dirty="0"/>
          </a:p>
        </p:txBody>
      </p:sp>
      <p:sp>
        <p:nvSpPr>
          <p:cNvPr id="44" name="Text 42"/>
          <p:cNvSpPr txBox="1"/>
          <p:nvPr/>
        </p:nvSpPr>
        <p:spPr>
          <a:xfrm>
            <a:off x="548640" y="5084064"/>
            <a:ext cx="1280160" cy="365760"/>
          </a:xfrm>
          <a:prstGeom prst="rect">
            <a:avLst/>
          </a:prstGeom>
          <a:noFill/>
          <a:ln/>
        </p:spPr>
        <p:txBody>
          <a:bodyPr wrap="square" lIns="0" tIns="0" rIns="0" bIns="0" rtlCol="0" anchor="t"/>
          <a:lstStyle/>
          <a:p>
            <a:pPr marL="0" indent="0">
              <a:buNone/>
            </a:pPr>
            <a:r>
              <a:rPr lang="en-US" sz="1800" b="1" dirty="0">
                <a:solidFill>
                  <a:schemeClr val="accent1"/>
                </a:solidFill>
              </a:rPr>
              <a:t>WSJF</a:t>
            </a:r>
            <a:endParaRPr lang="en-US" sz="1800" dirty="0"/>
          </a:p>
        </p:txBody>
      </p:sp>
      <p:sp>
        <p:nvSpPr>
          <p:cNvPr id="45" name="Text 43"/>
          <p:cNvSpPr txBox="1"/>
          <p:nvPr/>
        </p:nvSpPr>
        <p:spPr>
          <a:xfrm>
            <a:off x="1828800" y="5111496"/>
            <a:ext cx="3291840" cy="320040"/>
          </a:xfrm>
          <a:prstGeom prst="rect">
            <a:avLst/>
          </a:prstGeom>
          <a:noFill/>
          <a:ln/>
        </p:spPr>
        <p:txBody>
          <a:bodyPr wrap="square" lIns="0" tIns="0" rIns="0" bIns="0" rtlCol="0" anchor="t"/>
          <a:lstStyle/>
          <a:p>
            <a:pPr marL="0" indent="0">
              <a:buNone/>
            </a:pPr>
            <a:r>
              <a:rPr lang="en-US" sz="1400" b="1" dirty="0">
                <a:solidFill>
                  <a:schemeClr val="tx1"/>
                </a:solidFill>
              </a:rPr>
              <a:t>orders the pilot</a:t>
            </a:r>
            <a:endParaRPr lang="en-US" sz="1400" dirty="0"/>
          </a:p>
        </p:txBody>
      </p:sp>
      <p:sp>
        <p:nvSpPr>
          <p:cNvPr id="46" name="Text 44"/>
          <p:cNvSpPr txBox="1"/>
          <p:nvPr/>
        </p:nvSpPr>
        <p:spPr>
          <a:xfrm>
            <a:off x="1828800" y="5449824"/>
            <a:ext cx="3566160" cy="548640"/>
          </a:xfrm>
          <a:prstGeom prst="rect">
            <a:avLst/>
          </a:prstGeom>
          <a:noFill/>
          <a:ln/>
        </p:spPr>
        <p:txBody>
          <a:bodyPr wrap="square" lIns="0" tIns="0" rIns="0" bIns="0" rtlCol="0" anchor="t"/>
          <a:lstStyle/>
          <a:p>
            <a:pPr marL="0" indent="0">
              <a:buNone/>
            </a:pPr>
            <a:r>
              <a:rPr lang="en-US" sz="1200" dirty="0">
                <a:solidFill>
                  <a:schemeClr val="tx2"/>
                </a:solidFill>
              </a:rPr>
              <a:t>The 7 headhunter stories depend on each other; consent comes first.</a:t>
            </a:r>
            <a:endParaRPr lang="en-US" sz="1200" dirty="0"/>
          </a:p>
        </p:txBody>
      </p:sp>
      <p:sp>
        <p:nvSpPr>
          <p:cNvPr id="47" name="ac"/>
          <p:cNvSpPr/>
          <p:nvPr/>
        </p:nvSpPr>
        <p:spPr>
          <a:xfrm>
            <a:off x="5760720" y="3108960"/>
            <a:ext cx="5879592" cy="1417320"/>
          </a:xfrm>
          <a:prstGeom prst="roundRect">
            <a:avLst>
              <a:gd name="adj" fmla="val 7742"/>
            </a:avLst>
          </a:prstGeom>
          <a:solidFill>
            <a:schemeClr val="bg1"/>
          </a:solidFill>
          <a:ln w="12700">
            <a:solidFill>
              <a:schemeClr val="bg1"/>
            </a:solidFill>
            <a:prstDash val="solid"/>
          </a:ln>
        </p:spPr>
        <p:txBody>
          <a:bodyPr/>
          <a:lstStyle/>
          <a:p>
            <a:endParaRPr lang="en-US"/>
          </a:p>
        </p:txBody>
      </p:sp>
      <p:sp>
        <p:nvSpPr>
          <p:cNvPr id="48" name="Text 46"/>
          <p:cNvSpPr txBox="1"/>
          <p:nvPr/>
        </p:nvSpPr>
        <p:spPr>
          <a:xfrm>
            <a:off x="6035040" y="3246120"/>
            <a:ext cx="5486400" cy="228600"/>
          </a:xfrm>
          <a:prstGeom prst="rect">
            <a:avLst/>
          </a:prstGeom>
          <a:noFill/>
          <a:ln/>
        </p:spPr>
        <p:txBody>
          <a:bodyPr wrap="square" lIns="0" tIns="0" rIns="0" bIns="0" rtlCol="0" anchor="t"/>
          <a:lstStyle/>
          <a:p>
            <a:pPr marL="0" indent="0">
              <a:buNone/>
            </a:pPr>
            <a:r>
              <a:rPr lang="en-US" sz="1100" b="1" kern="0" spc="100" dirty="0">
                <a:solidFill>
                  <a:schemeClr val="tx2"/>
                </a:solidFill>
              </a:rPr>
              <a:t>ACCEPTANCE CRITERIA · US4 · CPA-26</a:t>
            </a:r>
            <a:endParaRPr lang="en-US" sz="1100" dirty="0"/>
          </a:p>
        </p:txBody>
      </p:sp>
      <p:sp>
        <p:nvSpPr>
          <p:cNvPr id="49" name="Text 47"/>
          <p:cNvSpPr txBox="1"/>
          <p:nvPr/>
        </p:nvSpPr>
        <p:spPr>
          <a:xfrm>
            <a:off x="6035040" y="3520440"/>
            <a:ext cx="5394960" cy="914400"/>
          </a:xfrm>
          <a:prstGeom prst="rect">
            <a:avLst/>
          </a:prstGeom>
          <a:noFill/>
          <a:ln/>
        </p:spPr>
        <p:txBody>
          <a:bodyPr wrap="square" lIns="0" tIns="0" rIns="0" bIns="0" rtlCol="0" anchor="t"/>
          <a:lstStyle/>
          <a:p>
            <a:pPr marL="0" indent="0">
              <a:buNone/>
            </a:pPr>
            <a:r>
              <a:rPr lang="en-US" sz="1400" b="1" dirty="0">
                <a:solidFill>
                  <a:srgbClr val="F2542D"/>
                </a:solidFill>
              </a:rPr>
              <a:t>Given </a:t>
            </a:r>
            <a:r>
              <a:rPr lang="en-US" sz="1400" dirty="0">
                <a:solidFill>
                  <a:schemeClr val="tx1"/>
                </a:solidFill>
              </a:rPr>
              <a:t>I applied on the employer's site, </a:t>
            </a:r>
            <a:r>
              <a:rPr lang="en-US" sz="1400" b="1" dirty="0">
                <a:solidFill>
                  <a:srgbClr val="F2542D"/>
                </a:solidFill>
              </a:rPr>
              <a:t>when </a:t>
            </a:r>
            <a:r>
              <a:rPr lang="en-US" sz="1400" dirty="0">
                <a:solidFill>
                  <a:schemeClr val="tx1"/>
                </a:solidFill>
              </a:rPr>
              <a:t>I confirm "Did you apply?", </a:t>
            </a:r>
            <a:r>
              <a:rPr lang="en-US" sz="1400" b="1" dirty="0">
                <a:solidFill>
                  <a:srgbClr val="F2542D"/>
                </a:solidFill>
              </a:rPr>
              <a:t>then </a:t>
            </a:r>
            <a:r>
              <a:rPr lang="en-US" sz="1400" dirty="0">
                <a:solidFill>
                  <a:schemeClr val="tx1"/>
                </a:solidFill>
              </a:rPr>
              <a:t>an entry with date, source, documents and the saved job ad is created.</a:t>
            </a:r>
            <a:endParaRPr lang="en-US" sz="1400" dirty="0"/>
          </a:p>
        </p:txBody>
      </p:sp>
      <p:sp>
        <p:nvSpPr>
          <p:cNvPr id="50" name="Text 48"/>
          <p:cNvSpPr txBox="1"/>
          <p:nvPr/>
        </p:nvSpPr>
        <p:spPr>
          <a:xfrm>
            <a:off x="5760720" y="4709160"/>
            <a:ext cx="5852160" cy="228600"/>
          </a:xfrm>
          <a:prstGeom prst="rect">
            <a:avLst/>
          </a:prstGeom>
          <a:noFill/>
          <a:ln/>
        </p:spPr>
        <p:txBody>
          <a:bodyPr wrap="square" lIns="0" tIns="0" rIns="0" bIns="0" rtlCol="0" anchor="t"/>
          <a:lstStyle/>
          <a:p>
            <a:pPr marL="0" indent="0">
              <a:buNone/>
            </a:pPr>
            <a:r>
              <a:rPr lang="en-US" sz="1100" b="1" kern="0" spc="100" dirty="0">
                <a:solidFill>
                  <a:schemeClr val="tx2"/>
                </a:solidFill>
              </a:rPr>
              <a:t>SIX BUILD SPRINTS · 11 JAN – 2 APR 2027 · 79 POINTS</a:t>
            </a:r>
            <a:endParaRPr lang="en-US" sz="1100" dirty="0"/>
          </a:p>
        </p:txBody>
      </p:sp>
      <p:sp>
        <p:nvSpPr>
          <p:cNvPr id="51" name="Shape 49"/>
          <p:cNvSpPr/>
          <p:nvPr/>
        </p:nvSpPr>
        <p:spPr>
          <a:xfrm>
            <a:off x="5760720" y="4983480"/>
            <a:ext cx="941832" cy="685800"/>
          </a:xfrm>
          <a:prstGeom prst="rect">
            <a:avLst/>
          </a:prstGeom>
          <a:solidFill>
            <a:srgbClr val="0F2A4A"/>
          </a:solidFill>
          <a:ln w="12700">
            <a:solidFill>
              <a:srgbClr val="FFFFFF"/>
            </a:solidFill>
            <a:prstDash val="solid"/>
          </a:ln>
        </p:spPr>
        <p:txBody>
          <a:bodyPr/>
          <a:lstStyle/>
          <a:p>
            <a:endParaRPr lang="en-US"/>
          </a:p>
        </p:txBody>
      </p:sp>
      <p:sp>
        <p:nvSpPr>
          <p:cNvPr id="52" name="Text 50"/>
          <p:cNvSpPr txBox="1"/>
          <p:nvPr/>
        </p:nvSpPr>
        <p:spPr>
          <a:xfrm>
            <a:off x="5833872" y="5029200"/>
            <a:ext cx="822960" cy="274320"/>
          </a:xfrm>
          <a:prstGeom prst="rect">
            <a:avLst/>
          </a:prstGeom>
          <a:noFill/>
          <a:ln/>
        </p:spPr>
        <p:txBody>
          <a:bodyPr wrap="square" lIns="0" tIns="0" rIns="0" bIns="0" rtlCol="0" anchor="t"/>
          <a:lstStyle/>
          <a:p>
            <a:pPr marL="0" indent="0">
              <a:buNone/>
            </a:pPr>
            <a:r>
              <a:rPr lang="en-US" sz="1200" b="1" dirty="0">
                <a:solidFill>
                  <a:schemeClr val="accent1"/>
                </a:solidFill>
              </a:rPr>
              <a:t>S1</a:t>
            </a:r>
            <a:endParaRPr lang="en-US" sz="1200" dirty="0"/>
          </a:p>
        </p:txBody>
      </p:sp>
      <p:sp>
        <p:nvSpPr>
          <p:cNvPr id="53" name="Text 51"/>
          <p:cNvSpPr txBox="1"/>
          <p:nvPr/>
        </p:nvSpPr>
        <p:spPr>
          <a:xfrm>
            <a:off x="5833872" y="5303520"/>
            <a:ext cx="868680" cy="320040"/>
          </a:xfrm>
          <a:prstGeom prst="rect">
            <a:avLst/>
          </a:prstGeom>
          <a:noFill/>
          <a:ln/>
        </p:spPr>
        <p:txBody>
          <a:bodyPr wrap="square" lIns="0" tIns="0" rIns="0" bIns="0" rtlCol="0" anchor="t"/>
          <a:lstStyle/>
          <a:p>
            <a:pPr marL="0" indent="0">
              <a:buNone/>
            </a:pPr>
            <a:r>
              <a:rPr lang="en-US" sz="1000" b="1" dirty="0">
                <a:solidFill>
                  <a:schemeClr val="bg1"/>
                </a:solidFill>
              </a:rPr>
              <a:t>Profile</a:t>
            </a:r>
            <a:endParaRPr lang="en-US" sz="1000" dirty="0"/>
          </a:p>
        </p:txBody>
      </p:sp>
      <p:sp>
        <p:nvSpPr>
          <p:cNvPr id="54" name="Shape 52"/>
          <p:cNvSpPr/>
          <p:nvPr/>
        </p:nvSpPr>
        <p:spPr>
          <a:xfrm>
            <a:off x="6748272" y="4983480"/>
            <a:ext cx="941832" cy="685800"/>
          </a:xfrm>
          <a:prstGeom prst="rect">
            <a:avLst/>
          </a:prstGeom>
          <a:solidFill>
            <a:srgbClr val="163A63"/>
          </a:solidFill>
          <a:ln w="12700">
            <a:solidFill>
              <a:srgbClr val="FFFFFF"/>
            </a:solidFill>
            <a:prstDash val="solid"/>
          </a:ln>
        </p:spPr>
        <p:txBody>
          <a:bodyPr/>
          <a:lstStyle/>
          <a:p>
            <a:endParaRPr lang="en-US"/>
          </a:p>
        </p:txBody>
      </p:sp>
      <p:sp>
        <p:nvSpPr>
          <p:cNvPr id="55" name="Text 53"/>
          <p:cNvSpPr txBox="1"/>
          <p:nvPr/>
        </p:nvSpPr>
        <p:spPr>
          <a:xfrm>
            <a:off x="6821424" y="5029200"/>
            <a:ext cx="822960" cy="274320"/>
          </a:xfrm>
          <a:prstGeom prst="rect">
            <a:avLst/>
          </a:prstGeom>
          <a:noFill/>
          <a:ln/>
        </p:spPr>
        <p:txBody>
          <a:bodyPr wrap="square" lIns="0" tIns="0" rIns="0" bIns="0" rtlCol="0" anchor="t"/>
          <a:lstStyle/>
          <a:p>
            <a:pPr marL="0" indent="0">
              <a:buNone/>
            </a:pPr>
            <a:r>
              <a:rPr lang="en-US" sz="1200" b="1" dirty="0">
                <a:solidFill>
                  <a:schemeClr val="accent1"/>
                </a:solidFill>
              </a:rPr>
              <a:t>S2</a:t>
            </a:r>
            <a:endParaRPr lang="en-US" sz="1200" dirty="0"/>
          </a:p>
        </p:txBody>
      </p:sp>
      <p:sp>
        <p:nvSpPr>
          <p:cNvPr id="56" name="Text 54"/>
          <p:cNvSpPr txBox="1"/>
          <p:nvPr/>
        </p:nvSpPr>
        <p:spPr>
          <a:xfrm>
            <a:off x="6821424" y="5303520"/>
            <a:ext cx="868680" cy="320040"/>
          </a:xfrm>
          <a:prstGeom prst="rect">
            <a:avLst/>
          </a:prstGeom>
          <a:noFill/>
          <a:ln/>
        </p:spPr>
        <p:txBody>
          <a:bodyPr wrap="square" lIns="0" tIns="0" rIns="0" bIns="0" rtlCol="0" anchor="t"/>
          <a:lstStyle/>
          <a:p>
            <a:pPr marL="0" indent="0">
              <a:buNone/>
            </a:pPr>
            <a:r>
              <a:rPr lang="en-US" sz="1000" b="1" dirty="0">
                <a:solidFill>
                  <a:schemeClr val="bg1"/>
                </a:solidFill>
              </a:rPr>
              <a:t>Discovery</a:t>
            </a:r>
            <a:endParaRPr lang="en-US" sz="1000" dirty="0"/>
          </a:p>
        </p:txBody>
      </p:sp>
      <p:sp>
        <p:nvSpPr>
          <p:cNvPr id="57" name="Shape 55"/>
          <p:cNvSpPr/>
          <p:nvPr/>
        </p:nvSpPr>
        <p:spPr>
          <a:xfrm>
            <a:off x="7735824" y="4983480"/>
            <a:ext cx="941832" cy="685800"/>
          </a:xfrm>
          <a:prstGeom prst="rect">
            <a:avLst/>
          </a:prstGeom>
          <a:solidFill>
            <a:srgbClr val="0F2A4A"/>
          </a:solidFill>
          <a:ln w="12700">
            <a:solidFill>
              <a:srgbClr val="FFFFFF"/>
            </a:solidFill>
            <a:prstDash val="solid"/>
          </a:ln>
        </p:spPr>
        <p:txBody>
          <a:bodyPr/>
          <a:lstStyle/>
          <a:p>
            <a:endParaRPr lang="en-US"/>
          </a:p>
        </p:txBody>
      </p:sp>
      <p:sp>
        <p:nvSpPr>
          <p:cNvPr id="58" name="Text 56"/>
          <p:cNvSpPr txBox="1"/>
          <p:nvPr/>
        </p:nvSpPr>
        <p:spPr>
          <a:xfrm>
            <a:off x="7808976" y="5029200"/>
            <a:ext cx="822960" cy="274320"/>
          </a:xfrm>
          <a:prstGeom prst="rect">
            <a:avLst/>
          </a:prstGeom>
          <a:noFill/>
          <a:ln/>
        </p:spPr>
        <p:txBody>
          <a:bodyPr wrap="square" lIns="0" tIns="0" rIns="0" bIns="0" rtlCol="0" anchor="t"/>
          <a:lstStyle/>
          <a:p>
            <a:pPr marL="0" indent="0">
              <a:buNone/>
            </a:pPr>
            <a:r>
              <a:rPr lang="en-US" sz="1200" b="1" dirty="0">
                <a:solidFill>
                  <a:schemeClr val="accent1"/>
                </a:solidFill>
              </a:rPr>
              <a:t>S3</a:t>
            </a:r>
            <a:endParaRPr lang="en-US" sz="1200" dirty="0"/>
          </a:p>
        </p:txBody>
      </p:sp>
      <p:sp>
        <p:nvSpPr>
          <p:cNvPr id="59" name="Text 57"/>
          <p:cNvSpPr txBox="1"/>
          <p:nvPr/>
        </p:nvSpPr>
        <p:spPr>
          <a:xfrm>
            <a:off x="7808976" y="5303520"/>
            <a:ext cx="868680" cy="320040"/>
          </a:xfrm>
          <a:prstGeom prst="rect">
            <a:avLst/>
          </a:prstGeom>
          <a:noFill/>
          <a:ln/>
        </p:spPr>
        <p:txBody>
          <a:bodyPr wrap="square" lIns="0" tIns="0" rIns="0" bIns="0" rtlCol="0" anchor="t"/>
          <a:lstStyle/>
          <a:p>
            <a:pPr marL="0" indent="0">
              <a:buNone/>
            </a:pPr>
            <a:r>
              <a:rPr lang="en-US" sz="1000" b="1" dirty="0">
                <a:solidFill>
                  <a:schemeClr val="bg1"/>
                </a:solidFill>
              </a:rPr>
              <a:t>Matching</a:t>
            </a:r>
            <a:endParaRPr lang="en-US" sz="1000" dirty="0"/>
          </a:p>
        </p:txBody>
      </p:sp>
      <p:sp>
        <p:nvSpPr>
          <p:cNvPr id="60" name="Shape 58"/>
          <p:cNvSpPr/>
          <p:nvPr/>
        </p:nvSpPr>
        <p:spPr>
          <a:xfrm>
            <a:off x="8723376" y="4983480"/>
            <a:ext cx="941832" cy="685800"/>
          </a:xfrm>
          <a:prstGeom prst="rect">
            <a:avLst/>
          </a:prstGeom>
          <a:solidFill>
            <a:srgbClr val="163A63"/>
          </a:solidFill>
          <a:ln w="12700">
            <a:solidFill>
              <a:srgbClr val="FFFFFF"/>
            </a:solidFill>
            <a:prstDash val="solid"/>
          </a:ln>
        </p:spPr>
        <p:txBody>
          <a:bodyPr/>
          <a:lstStyle/>
          <a:p>
            <a:endParaRPr lang="en-US"/>
          </a:p>
        </p:txBody>
      </p:sp>
      <p:sp>
        <p:nvSpPr>
          <p:cNvPr id="61" name="Text 59"/>
          <p:cNvSpPr txBox="1"/>
          <p:nvPr/>
        </p:nvSpPr>
        <p:spPr>
          <a:xfrm>
            <a:off x="8796528" y="5029200"/>
            <a:ext cx="822960" cy="274320"/>
          </a:xfrm>
          <a:prstGeom prst="rect">
            <a:avLst/>
          </a:prstGeom>
          <a:noFill/>
          <a:ln/>
        </p:spPr>
        <p:txBody>
          <a:bodyPr wrap="square" lIns="0" tIns="0" rIns="0" bIns="0" rtlCol="0" anchor="t"/>
          <a:lstStyle/>
          <a:p>
            <a:pPr marL="0" indent="0">
              <a:buNone/>
            </a:pPr>
            <a:r>
              <a:rPr lang="en-US" sz="1200" b="1" dirty="0">
                <a:solidFill>
                  <a:schemeClr val="accent1"/>
                </a:solidFill>
              </a:rPr>
              <a:t>S4</a:t>
            </a:r>
            <a:endParaRPr lang="en-US" sz="1200" dirty="0"/>
          </a:p>
        </p:txBody>
      </p:sp>
      <p:sp>
        <p:nvSpPr>
          <p:cNvPr id="62" name="Text 60"/>
          <p:cNvSpPr txBox="1"/>
          <p:nvPr/>
        </p:nvSpPr>
        <p:spPr>
          <a:xfrm>
            <a:off x="8796528" y="5303520"/>
            <a:ext cx="868680" cy="320040"/>
          </a:xfrm>
          <a:prstGeom prst="rect">
            <a:avLst/>
          </a:prstGeom>
          <a:noFill/>
          <a:ln/>
        </p:spPr>
        <p:txBody>
          <a:bodyPr wrap="square" lIns="0" tIns="0" rIns="0" bIns="0" rtlCol="0" anchor="t"/>
          <a:lstStyle/>
          <a:p>
            <a:pPr marL="0" indent="0">
              <a:buNone/>
            </a:pPr>
            <a:r>
              <a:rPr lang="en-US" sz="1000" b="1" dirty="0">
                <a:solidFill>
                  <a:schemeClr val="bg1"/>
                </a:solidFill>
              </a:rPr>
              <a:t>Fit &amp; privacy</a:t>
            </a:r>
            <a:endParaRPr lang="en-US" sz="1000" dirty="0"/>
          </a:p>
        </p:txBody>
      </p:sp>
      <p:sp>
        <p:nvSpPr>
          <p:cNvPr id="63" name="Shape 61"/>
          <p:cNvSpPr/>
          <p:nvPr/>
        </p:nvSpPr>
        <p:spPr>
          <a:xfrm>
            <a:off x="9710928" y="4983480"/>
            <a:ext cx="941832" cy="685800"/>
          </a:xfrm>
          <a:prstGeom prst="rect">
            <a:avLst/>
          </a:prstGeom>
          <a:solidFill>
            <a:srgbClr val="0F2A4A"/>
          </a:solidFill>
          <a:ln w="12700">
            <a:solidFill>
              <a:srgbClr val="FFFFFF"/>
            </a:solidFill>
            <a:prstDash val="solid"/>
          </a:ln>
        </p:spPr>
        <p:txBody>
          <a:bodyPr/>
          <a:lstStyle/>
          <a:p>
            <a:endParaRPr lang="en-US"/>
          </a:p>
        </p:txBody>
      </p:sp>
      <p:sp>
        <p:nvSpPr>
          <p:cNvPr id="64" name="Text 62"/>
          <p:cNvSpPr txBox="1"/>
          <p:nvPr/>
        </p:nvSpPr>
        <p:spPr>
          <a:xfrm>
            <a:off x="9784080" y="5029200"/>
            <a:ext cx="822960" cy="274320"/>
          </a:xfrm>
          <a:prstGeom prst="rect">
            <a:avLst/>
          </a:prstGeom>
          <a:noFill/>
          <a:ln/>
        </p:spPr>
        <p:txBody>
          <a:bodyPr wrap="square" lIns="0" tIns="0" rIns="0" bIns="0" rtlCol="0" anchor="t"/>
          <a:lstStyle/>
          <a:p>
            <a:pPr marL="0" indent="0">
              <a:buNone/>
            </a:pPr>
            <a:r>
              <a:rPr lang="en-US" sz="1200" b="1" dirty="0">
                <a:solidFill>
                  <a:schemeClr val="accent1"/>
                </a:solidFill>
              </a:rPr>
              <a:t>S5</a:t>
            </a:r>
            <a:endParaRPr lang="en-US" sz="1200" dirty="0"/>
          </a:p>
        </p:txBody>
      </p:sp>
      <p:sp>
        <p:nvSpPr>
          <p:cNvPr id="65" name="Text 63"/>
          <p:cNvSpPr txBox="1"/>
          <p:nvPr/>
        </p:nvSpPr>
        <p:spPr>
          <a:xfrm>
            <a:off x="9784080" y="5303520"/>
            <a:ext cx="868680" cy="320040"/>
          </a:xfrm>
          <a:prstGeom prst="rect">
            <a:avLst/>
          </a:prstGeom>
          <a:noFill/>
          <a:ln/>
        </p:spPr>
        <p:txBody>
          <a:bodyPr wrap="square" lIns="0" tIns="0" rIns="0" bIns="0" rtlCol="0" anchor="t"/>
          <a:lstStyle/>
          <a:p>
            <a:pPr marL="0" indent="0">
              <a:buNone/>
            </a:pPr>
            <a:r>
              <a:rPr lang="en-US" sz="1000" b="1" dirty="0">
                <a:solidFill>
                  <a:schemeClr val="bg1"/>
                </a:solidFill>
              </a:rPr>
              <a:t>Documents</a:t>
            </a:r>
            <a:endParaRPr lang="en-US" sz="1000" dirty="0"/>
          </a:p>
        </p:txBody>
      </p:sp>
      <p:sp>
        <p:nvSpPr>
          <p:cNvPr id="66" name="Shape 64"/>
          <p:cNvSpPr/>
          <p:nvPr/>
        </p:nvSpPr>
        <p:spPr>
          <a:xfrm>
            <a:off x="10698480" y="4983480"/>
            <a:ext cx="941832" cy="685800"/>
          </a:xfrm>
          <a:prstGeom prst="rect">
            <a:avLst/>
          </a:prstGeom>
          <a:solidFill>
            <a:srgbClr val="163A63"/>
          </a:solidFill>
          <a:ln w="12700">
            <a:solidFill>
              <a:srgbClr val="FFFFFF"/>
            </a:solidFill>
            <a:prstDash val="solid"/>
          </a:ln>
        </p:spPr>
        <p:txBody>
          <a:bodyPr/>
          <a:lstStyle/>
          <a:p>
            <a:endParaRPr lang="en-US"/>
          </a:p>
        </p:txBody>
      </p:sp>
      <p:sp>
        <p:nvSpPr>
          <p:cNvPr id="67" name="Text 65"/>
          <p:cNvSpPr txBox="1"/>
          <p:nvPr/>
        </p:nvSpPr>
        <p:spPr>
          <a:xfrm>
            <a:off x="10771632" y="5029200"/>
            <a:ext cx="822960" cy="274320"/>
          </a:xfrm>
          <a:prstGeom prst="rect">
            <a:avLst/>
          </a:prstGeom>
          <a:noFill/>
          <a:ln/>
        </p:spPr>
        <p:txBody>
          <a:bodyPr wrap="square" lIns="0" tIns="0" rIns="0" bIns="0" rtlCol="0" anchor="t"/>
          <a:lstStyle/>
          <a:p>
            <a:pPr marL="0" indent="0">
              <a:buNone/>
            </a:pPr>
            <a:r>
              <a:rPr lang="en-US" sz="1200" b="1" dirty="0">
                <a:solidFill>
                  <a:schemeClr val="accent1"/>
                </a:solidFill>
              </a:rPr>
              <a:t>S6</a:t>
            </a:r>
            <a:endParaRPr lang="en-US" sz="1200" dirty="0"/>
          </a:p>
        </p:txBody>
      </p:sp>
      <p:sp>
        <p:nvSpPr>
          <p:cNvPr id="68" name="Text 66"/>
          <p:cNvSpPr txBox="1"/>
          <p:nvPr/>
        </p:nvSpPr>
        <p:spPr>
          <a:xfrm>
            <a:off x="10771632" y="5303520"/>
            <a:ext cx="868680" cy="320040"/>
          </a:xfrm>
          <a:prstGeom prst="rect">
            <a:avLst/>
          </a:prstGeom>
          <a:noFill/>
          <a:ln/>
        </p:spPr>
        <p:txBody>
          <a:bodyPr wrap="square" lIns="0" tIns="0" rIns="0" bIns="0" rtlCol="0" anchor="t"/>
          <a:lstStyle/>
          <a:p>
            <a:pPr marL="0" indent="0">
              <a:buNone/>
            </a:pPr>
            <a:r>
              <a:rPr lang="en-US" sz="1000" b="1" dirty="0">
                <a:solidFill>
                  <a:schemeClr val="bg1"/>
                </a:solidFill>
              </a:rPr>
              <a:t>Tracking</a:t>
            </a:r>
            <a:endParaRPr lang="en-US" sz="1000" dirty="0"/>
          </a:p>
        </p:txBody>
      </p:sp>
      <p:sp>
        <p:nvSpPr>
          <p:cNvPr id="69" name="Shape 67"/>
          <p:cNvSpPr/>
          <p:nvPr/>
        </p:nvSpPr>
        <p:spPr>
          <a:xfrm>
            <a:off x="5760720" y="5806440"/>
            <a:ext cx="868680" cy="274320"/>
          </a:xfrm>
          <a:prstGeom prst="roundRect">
            <a:avLst>
              <a:gd name="adj" fmla="val 50000"/>
            </a:avLst>
          </a:prstGeom>
          <a:solidFill>
            <a:srgbClr val="DDF0E4"/>
          </a:solidFill>
          <a:ln w="12700">
            <a:solidFill>
              <a:srgbClr val="DDF0E4"/>
            </a:solidFill>
            <a:prstDash val="solid"/>
          </a:ln>
        </p:spPr>
        <p:txBody>
          <a:bodyPr/>
          <a:lstStyle/>
          <a:p>
            <a:endParaRPr lang="en-US"/>
          </a:p>
        </p:txBody>
      </p:sp>
      <p:sp>
        <p:nvSpPr>
          <p:cNvPr id="70" name="Text 68"/>
          <p:cNvSpPr txBox="1"/>
          <p:nvPr/>
        </p:nvSpPr>
        <p:spPr>
          <a:xfrm>
            <a:off x="5760720" y="5806440"/>
            <a:ext cx="868680" cy="274320"/>
          </a:xfrm>
          <a:prstGeom prst="rect">
            <a:avLst/>
          </a:prstGeom>
          <a:noFill/>
          <a:ln/>
        </p:spPr>
        <p:txBody>
          <a:bodyPr wrap="square" lIns="0" tIns="0" rIns="0" bIns="0" rtlCol="0" anchor="ctr"/>
          <a:lstStyle/>
          <a:p>
            <a:pPr marL="0" indent="0" algn="ctr">
              <a:buNone/>
            </a:pPr>
            <a:r>
              <a:rPr lang="en-US" sz="1000" b="1" dirty="0">
                <a:solidFill>
                  <a:srgbClr val="2E8B57"/>
                </a:solidFill>
              </a:rPr>
              <a:t>DONE</a:t>
            </a:r>
            <a:endParaRPr lang="en-US" sz="1000" dirty="0"/>
          </a:p>
        </p:txBody>
      </p:sp>
      <p:sp>
        <p:nvSpPr>
          <p:cNvPr id="71" name="Text 69"/>
          <p:cNvSpPr txBox="1"/>
          <p:nvPr/>
        </p:nvSpPr>
        <p:spPr>
          <a:xfrm>
            <a:off x="6720840" y="5806440"/>
            <a:ext cx="2286000" cy="274320"/>
          </a:xfrm>
          <a:prstGeom prst="rect">
            <a:avLst/>
          </a:prstGeom>
          <a:noFill/>
          <a:ln/>
        </p:spPr>
        <p:txBody>
          <a:bodyPr wrap="square" lIns="0" tIns="0" rIns="0" bIns="0" rtlCol="0" anchor="ctr"/>
          <a:lstStyle/>
          <a:p>
            <a:pPr marL="0" indent="0">
              <a:buNone/>
            </a:pPr>
            <a:r>
              <a:rPr lang="en-US" sz="1100" dirty="0">
                <a:solidFill>
                  <a:schemeClr val="tx2"/>
                </a:solidFill>
              </a:rPr>
              <a:t>backlog, criteria, sprint plan</a:t>
            </a:r>
            <a:endParaRPr lang="en-US" sz="1100" dirty="0"/>
          </a:p>
        </p:txBody>
      </p:sp>
      <p:sp>
        <p:nvSpPr>
          <p:cNvPr id="72" name="Shape 70"/>
          <p:cNvSpPr/>
          <p:nvPr/>
        </p:nvSpPr>
        <p:spPr>
          <a:xfrm>
            <a:off x="8869680" y="5806440"/>
            <a:ext cx="868680" cy="274320"/>
          </a:xfrm>
          <a:prstGeom prst="roundRect">
            <a:avLst>
              <a:gd name="adj" fmla="val 50000"/>
            </a:avLst>
          </a:prstGeom>
          <a:solidFill>
            <a:srgbClr val="D5DEEA"/>
          </a:solidFill>
          <a:ln w="12700">
            <a:solidFill>
              <a:srgbClr val="D5DEEA"/>
            </a:solidFill>
            <a:prstDash val="solid"/>
          </a:ln>
        </p:spPr>
        <p:txBody>
          <a:bodyPr/>
          <a:lstStyle/>
          <a:p>
            <a:endParaRPr lang="en-US"/>
          </a:p>
        </p:txBody>
      </p:sp>
      <p:sp>
        <p:nvSpPr>
          <p:cNvPr id="73" name="Text 71"/>
          <p:cNvSpPr txBox="1"/>
          <p:nvPr/>
        </p:nvSpPr>
        <p:spPr>
          <a:xfrm>
            <a:off x="8869680" y="5806440"/>
            <a:ext cx="868680" cy="274320"/>
          </a:xfrm>
          <a:prstGeom prst="rect">
            <a:avLst/>
          </a:prstGeom>
          <a:noFill/>
          <a:ln/>
        </p:spPr>
        <p:txBody>
          <a:bodyPr wrap="square" lIns="0" tIns="0" rIns="0" bIns="0" rtlCol="0" anchor="ctr"/>
          <a:lstStyle/>
          <a:p>
            <a:pPr marL="0" indent="0" algn="ctr">
              <a:buNone/>
            </a:pPr>
            <a:r>
              <a:rPr lang="en-US" sz="1000" b="1" dirty="0">
                <a:solidFill>
                  <a:srgbClr val="0F2A4A"/>
                </a:solidFill>
              </a:rPr>
              <a:t>PLANNED</a:t>
            </a:r>
            <a:endParaRPr lang="en-US" sz="1000" dirty="0"/>
          </a:p>
        </p:txBody>
      </p:sp>
      <p:sp>
        <p:nvSpPr>
          <p:cNvPr id="74" name="Text 72"/>
          <p:cNvSpPr txBox="1"/>
          <p:nvPr/>
        </p:nvSpPr>
        <p:spPr>
          <a:xfrm>
            <a:off x="9829800" y="5806440"/>
            <a:ext cx="1828800" cy="274320"/>
          </a:xfrm>
          <a:prstGeom prst="rect">
            <a:avLst/>
          </a:prstGeom>
          <a:noFill/>
          <a:ln/>
        </p:spPr>
        <p:txBody>
          <a:bodyPr wrap="square" lIns="0" tIns="0" rIns="0" bIns="0" rtlCol="0" anchor="ctr"/>
          <a:lstStyle/>
          <a:p>
            <a:pPr marL="0" indent="0">
              <a:buNone/>
            </a:pPr>
            <a:r>
              <a:rPr lang="en-US" sz="1100" dirty="0">
                <a:solidFill>
                  <a:schemeClr val="tx2"/>
                </a:solidFill>
              </a:rPr>
              <a:t>sprint execution</a:t>
            </a:r>
            <a:endParaRPr lang="en-US" sz="1100" dirty="0"/>
          </a:p>
        </p:txBody>
      </p:sp>
      <p:sp>
        <p:nvSpPr>
          <p:cNvPr id="75" name="Text 73"/>
          <p:cNvSpPr txBox="1"/>
          <p:nvPr/>
        </p:nvSpPr>
        <p:spPr>
          <a:xfrm>
            <a:off x="548640" y="6172200"/>
            <a:ext cx="5486400" cy="228600"/>
          </a:xfrm>
          <a:prstGeom prst="rect">
            <a:avLst/>
          </a:prstGeom>
          <a:noFill/>
          <a:ln/>
        </p:spPr>
        <p:txBody>
          <a:bodyPr wrap="square" lIns="0" tIns="0" rIns="0" bIns="0" rtlCol="0" anchor="t"/>
          <a:lstStyle/>
          <a:p>
            <a:pPr marL="0" indent="0">
              <a:buNone/>
            </a:pPr>
            <a:r>
              <a:rPr lang="en-US" sz="1100" u="sng" dirty="0">
                <a:solidFill>
                  <a:schemeClr val="tx2"/>
                </a:solidFill>
                <a:hlinkClick r:id="rId3">
                  <a:extLst>
                    <a:ext uri="{A12FA001-AC4F-418D-AE19-62706E023703}">
                      <ahyp:hlinkClr xmlns:ahyp="http://schemas.microsoft.com/office/drawing/2018/hyperlinkcolor" val="tx"/>
                    </a:ext>
                  </a:extLst>
                </a:hlinkClick>
              </a:rPr>
              <a:t>Open the Jira board</a:t>
            </a:r>
            <a:r>
              <a:rPr lang="en-US" sz="1100" dirty="0">
                <a:solidFill>
                  <a:schemeClr val="tx2"/>
                </a:solidFill>
              </a:rPr>
              <a:t> · numbers = stories per epic; dark = headhunter pilot</a:t>
            </a:r>
            <a:endParaRPr lang="en-US" sz="1100" dirty="0"/>
          </a:p>
        </p:txBody>
      </p:sp>
      <p:sp>
        <p:nvSpPr>
          <p:cNvPr id="7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05 · FIGMA AND USER JOURNEY</a:t>
            </a:r>
            <a:endParaRPr lang="en-US" sz="1200" dirty="0"/>
          </a:p>
        </p:txBody>
      </p:sp>
      <p:sp>
        <p:nvSpPr>
          <p:cNvPr id="3" name="Text 1"/>
          <p:cNvSpPr>
            <a:spLocks noGrp="1"/>
          </p:cNvSpPr>
          <p:nvPr>
            <p:ph type="title" idx="103" hasCustomPrompt="1"/>
          </p:nvPr>
        </p:nvSpPr>
        <p:spPr>
          <a:xfrm>
            <a:off x="548640" y="1097280"/>
            <a:ext cx="11064240" cy="731520"/>
          </a:xfrm>
          <a:prstGeom prst="rect">
            <a:avLst/>
          </a:prstGeom>
          <a:noFill/>
          <a:ln/>
        </p:spPr>
        <p:txBody>
          <a:bodyPr wrap="square" lIns="0" tIns="0" rIns="0" bIns="0" rtlCol="0" anchor="t"/>
          <a:lstStyle/>
          <a:p>
            <a:pPr marL="0" indent="0" algn="l">
              <a:buNone/>
            </a:pPr>
            <a:r>
              <a:rPr lang="en-US" sz="3200" b="1" dirty="0">
                <a:solidFill>
                  <a:schemeClr val="tx1"/>
                </a:solidFill>
              </a:rPr>
              <a:t>Lena's journey, screen by screen in the Figma prototype</a:t>
            </a:r>
            <a:endParaRPr lang="en-US" sz="3200" dirty="0"/>
          </a:p>
        </p:txBody>
      </p:sp>
      <p:sp>
        <p:nvSpPr>
          <p:cNvPr id="4" name="Text 2"/>
          <p:cNvSpPr txBox="1"/>
          <p:nvPr/>
        </p:nvSpPr>
        <p:spPr>
          <a:xfrm>
            <a:off x="507492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Problem</a:t>
            </a:r>
            <a:endParaRPr lang="en-US" sz="1000" dirty="0"/>
          </a:p>
        </p:txBody>
      </p:sp>
      <p:sp>
        <p:nvSpPr>
          <p:cNvPr id="5" name="Text 3"/>
          <p:cNvSpPr txBox="1"/>
          <p:nvPr/>
        </p:nvSpPr>
        <p:spPr>
          <a:xfrm>
            <a:off x="601675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Users</a:t>
            </a:r>
            <a:endParaRPr lang="en-US" sz="1000" dirty="0"/>
          </a:p>
        </p:txBody>
      </p:sp>
      <p:sp>
        <p:nvSpPr>
          <p:cNvPr id="6" name="Text 4"/>
          <p:cNvSpPr txBox="1"/>
          <p:nvPr/>
        </p:nvSpPr>
        <p:spPr>
          <a:xfrm>
            <a:off x="6958584"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PRD</a:t>
            </a:r>
            <a:endParaRPr lang="en-US" sz="1000" dirty="0"/>
          </a:p>
        </p:txBody>
      </p:sp>
      <p:sp>
        <p:nvSpPr>
          <p:cNvPr id="7" name="Text 5"/>
          <p:cNvSpPr txBox="1"/>
          <p:nvPr/>
        </p:nvSpPr>
        <p:spPr>
          <a:xfrm>
            <a:off x="7900416"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Backlog</a:t>
            </a:r>
            <a:endParaRPr lang="en-US" sz="1000" dirty="0"/>
          </a:p>
        </p:txBody>
      </p:sp>
      <p:sp>
        <p:nvSpPr>
          <p:cNvPr id="8" name="Text 6"/>
          <p:cNvSpPr txBox="1"/>
          <p:nvPr/>
        </p:nvSpPr>
        <p:spPr>
          <a:xfrm>
            <a:off x="8842248"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Figma</a:t>
            </a:r>
            <a:endParaRPr lang="en-US" sz="1000" dirty="0"/>
          </a:p>
        </p:txBody>
      </p:sp>
      <p:sp>
        <p:nvSpPr>
          <p:cNvPr id="9" name="Text 7"/>
          <p:cNvSpPr txBox="1"/>
          <p:nvPr/>
        </p:nvSpPr>
        <p:spPr>
          <a:xfrm>
            <a:off x="978408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Demo</a:t>
            </a:r>
            <a:endParaRPr lang="en-US" sz="1000" dirty="0"/>
          </a:p>
        </p:txBody>
      </p:sp>
      <p:sp>
        <p:nvSpPr>
          <p:cNvPr id="10" name="Text 8"/>
          <p:cNvSpPr txBox="1"/>
          <p:nvPr/>
        </p:nvSpPr>
        <p:spPr>
          <a:xfrm>
            <a:off x="1072591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Integration</a:t>
            </a:r>
            <a:endParaRPr lang="en-US" sz="1000" dirty="0"/>
          </a:p>
        </p:txBody>
      </p:sp>
      <p:sp>
        <p:nvSpPr>
          <p:cNvPr id="11" name="Shape 9"/>
          <p:cNvSpPr/>
          <p:nvPr/>
        </p:nvSpPr>
        <p:spPr>
          <a:xfrm>
            <a:off x="548640" y="1965960"/>
            <a:ext cx="1115568" cy="457200"/>
          </a:xfrm>
          <a:prstGeom prst="roundRect">
            <a:avLst>
              <a:gd name="adj" fmla="val 50000"/>
            </a:avLst>
          </a:prstGeom>
          <a:solidFill>
            <a:srgbClr val="0F2A4A"/>
          </a:solidFill>
          <a:ln w="12700">
            <a:solidFill>
              <a:srgbClr val="0F2A4A"/>
            </a:solidFill>
            <a:prstDash val="solid"/>
          </a:ln>
        </p:spPr>
        <p:txBody>
          <a:bodyPr/>
          <a:lstStyle/>
          <a:p>
            <a:endParaRPr lang="en-US"/>
          </a:p>
        </p:txBody>
      </p:sp>
      <p:sp>
        <p:nvSpPr>
          <p:cNvPr id="12" name="Text 10"/>
          <p:cNvSpPr txBox="1"/>
          <p:nvPr/>
        </p:nvSpPr>
        <p:spPr>
          <a:xfrm>
            <a:off x="548640"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Sign in</a:t>
            </a:r>
            <a:endParaRPr lang="en-US" sz="1100" dirty="0"/>
          </a:p>
        </p:txBody>
      </p:sp>
      <p:sp>
        <p:nvSpPr>
          <p:cNvPr id="13" name="Text 11"/>
          <p:cNvSpPr txBox="1"/>
          <p:nvPr/>
        </p:nvSpPr>
        <p:spPr>
          <a:xfrm>
            <a:off x="1664208"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14" name="Shape 12"/>
          <p:cNvSpPr/>
          <p:nvPr/>
        </p:nvSpPr>
        <p:spPr>
          <a:xfrm>
            <a:off x="1787652" y="1965960"/>
            <a:ext cx="1115568" cy="457200"/>
          </a:xfrm>
          <a:prstGeom prst="roundRect">
            <a:avLst>
              <a:gd name="adj" fmla="val 50000"/>
            </a:avLst>
          </a:prstGeom>
          <a:solidFill>
            <a:srgbClr val="0F2A4A"/>
          </a:solidFill>
          <a:ln w="12700">
            <a:solidFill>
              <a:srgbClr val="0F2A4A"/>
            </a:solidFill>
            <a:prstDash val="solid"/>
          </a:ln>
        </p:spPr>
        <p:txBody>
          <a:bodyPr/>
          <a:lstStyle/>
          <a:p>
            <a:endParaRPr lang="en-US"/>
          </a:p>
        </p:txBody>
      </p:sp>
      <p:sp>
        <p:nvSpPr>
          <p:cNvPr id="15" name="Text 13"/>
          <p:cNvSpPr txBox="1"/>
          <p:nvPr/>
        </p:nvSpPr>
        <p:spPr>
          <a:xfrm>
            <a:off x="1787652"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Upload CV</a:t>
            </a:r>
            <a:endParaRPr lang="en-US" sz="1100" dirty="0"/>
          </a:p>
        </p:txBody>
      </p:sp>
      <p:sp>
        <p:nvSpPr>
          <p:cNvPr id="16" name="Text 14"/>
          <p:cNvSpPr txBox="1"/>
          <p:nvPr/>
        </p:nvSpPr>
        <p:spPr>
          <a:xfrm>
            <a:off x="2903220"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17" name="Shape 15"/>
          <p:cNvSpPr/>
          <p:nvPr/>
        </p:nvSpPr>
        <p:spPr>
          <a:xfrm>
            <a:off x="3026664" y="1965960"/>
            <a:ext cx="1115568" cy="457200"/>
          </a:xfrm>
          <a:prstGeom prst="roundRect">
            <a:avLst>
              <a:gd name="adj" fmla="val 50000"/>
            </a:avLst>
          </a:prstGeom>
          <a:solidFill>
            <a:srgbClr val="0F2A4A"/>
          </a:solidFill>
          <a:ln w="12700">
            <a:solidFill>
              <a:srgbClr val="0F2A4A"/>
            </a:solidFill>
            <a:prstDash val="solid"/>
          </a:ln>
        </p:spPr>
        <p:txBody>
          <a:bodyPr/>
          <a:lstStyle/>
          <a:p>
            <a:endParaRPr lang="en-US"/>
          </a:p>
        </p:txBody>
      </p:sp>
      <p:sp>
        <p:nvSpPr>
          <p:cNvPr id="18" name="Text 16"/>
          <p:cNvSpPr txBox="1"/>
          <p:nvPr/>
        </p:nvSpPr>
        <p:spPr>
          <a:xfrm>
            <a:off x="3026664"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Review profile</a:t>
            </a:r>
            <a:endParaRPr lang="en-US" sz="1100" dirty="0"/>
          </a:p>
        </p:txBody>
      </p:sp>
      <p:sp>
        <p:nvSpPr>
          <p:cNvPr id="19" name="Text 17"/>
          <p:cNvSpPr txBox="1"/>
          <p:nvPr/>
        </p:nvSpPr>
        <p:spPr>
          <a:xfrm>
            <a:off x="4142232"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20" name="Shape 18"/>
          <p:cNvSpPr/>
          <p:nvPr/>
        </p:nvSpPr>
        <p:spPr>
          <a:xfrm>
            <a:off x="4265676" y="1965960"/>
            <a:ext cx="1115568" cy="457200"/>
          </a:xfrm>
          <a:prstGeom prst="roundRect">
            <a:avLst>
              <a:gd name="adj" fmla="val 50000"/>
            </a:avLst>
          </a:prstGeom>
          <a:solidFill>
            <a:srgbClr val="0F2A4A"/>
          </a:solidFill>
          <a:ln w="12700">
            <a:solidFill>
              <a:srgbClr val="0F2A4A"/>
            </a:solidFill>
            <a:prstDash val="solid"/>
          </a:ln>
        </p:spPr>
        <p:txBody>
          <a:bodyPr/>
          <a:lstStyle/>
          <a:p>
            <a:endParaRPr lang="en-US"/>
          </a:p>
        </p:txBody>
      </p:sp>
      <p:sp>
        <p:nvSpPr>
          <p:cNvPr id="21" name="Text 19"/>
          <p:cNvSpPr txBox="1"/>
          <p:nvPr/>
        </p:nvSpPr>
        <p:spPr>
          <a:xfrm>
            <a:off x="4265676"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Preferences</a:t>
            </a:r>
            <a:endParaRPr lang="en-US" sz="1100" dirty="0"/>
          </a:p>
        </p:txBody>
      </p:sp>
      <p:sp>
        <p:nvSpPr>
          <p:cNvPr id="22" name="Text 20"/>
          <p:cNvSpPr txBox="1"/>
          <p:nvPr/>
        </p:nvSpPr>
        <p:spPr>
          <a:xfrm>
            <a:off x="5381244"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23" name="Shape 21"/>
          <p:cNvSpPr/>
          <p:nvPr/>
        </p:nvSpPr>
        <p:spPr>
          <a:xfrm>
            <a:off x="5504688" y="1965960"/>
            <a:ext cx="1115568" cy="457200"/>
          </a:xfrm>
          <a:prstGeom prst="roundRect">
            <a:avLst>
              <a:gd name="adj" fmla="val 50000"/>
            </a:avLst>
          </a:prstGeom>
          <a:solidFill>
            <a:srgbClr val="F2542D"/>
          </a:solidFill>
          <a:ln w="12700">
            <a:solidFill>
              <a:srgbClr val="F2542D"/>
            </a:solidFill>
            <a:prstDash val="solid"/>
          </a:ln>
        </p:spPr>
        <p:txBody>
          <a:bodyPr/>
          <a:lstStyle/>
          <a:p>
            <a:endParaRPr lang="en-US"/>
          </a:p>
        </p:txBody>
      </p:sp>
      <p:sp>
        <p:nvSpPr>
          <p:cNvPr id="24" name="Text 22"/>
          <p:cNvSpPr txBox="1"/>
          <p:nvPr/>
        </p:nvSpPr>
        <p:spPr>
          <a:xfrm>
            <a:off x="5504688"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Job list</a:t>
            </a:r>
            <a:endParaRPr lang="en-US" sz="1100" dirty="0"/>
          </a:p>
        </p:txBody>
      </p:sp>
      <p:sp>
        <p:nvSpPr>
          <p:cNvPr id="25" name="Text 23"/>
          <p:cNvSpPr txBox="1"/>
          <p:nvPr/>
        </p:nvSpPr>
        <p:spPr>
          <a:xfrm>
            <a:off x="6620256"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26" name="Shape 24"/>
          <p:cNvSpPr/>
          <p:nvPr/>
        </p:nvSpPr>
        <p:spPr>
          <a:xfrm>
            <a:off x="6743700" y="1965960"/>
            <a:ext cx="1115568" cy="457200"/>
          </a:xfrm>
          <a:prstGeom prst="roundRect">
            <a:avLst>
              <a:gd name="adj" fmla="val 50000"/>
            </a:avLst>
          </a:prstGeom>
          <a:solidFill>
            <a:srgbClr val="F2542D"/>
          </a:solidFill>
          <a:ln w="12700">
            <a:solidFill>
              <a:srgbClr val="F2542D"/>
            </a:solidFill>
            <a:prstDash val="solid"/>
          </a:ln>
        </p:spPr>
        <p:txBody>
          <a:bodyPr/>
          <a:lstStyle/>
          <a:p>
            <a:endParaRPr lang="en-US"/>
          </a:p>
        </p:txBody>
      </p:sp>
      <p:sp>
        <p:nvSpPr>
          <p:cNvPr id="27" name="Text 25"/>
          <p:cNvSpPr txBox="1"/>
          <p:nvPr/>
        </p:nvSpPr>
        <p:spPr>
          <a:xfrm>
            <a:off x="6743700"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Job detail</a:t>
            </a:r>
            <a:endParaRPr lang="en-US" sz="1100" dirty="0"/>
          </a:p>
        </p:txBody>
      </p:sp>
      <p:sp>
        <p:nvSpPr>
          <p:cNvPr id="28" name="Text 26"/>
          <p:cNvSpPr txBox="1"/>
          <p:nvPr/>
        </p:nvSpPr>
        <p:spPr>
          <a:xfrm>
            <a:off x="7859268"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29" name="Shape 27"/>
          <p:cNvSpPr/>
          <p:nvPr/>
        </p:nvSpPr>
        <p:spPr>
          <a:xfrm>
            <a:off x="7982712" y="1965960"/>
            <a:ext cx="1115568" cy="457200"/>
          </a:xfrm>
          <a:prstGeom prst="roundRect">
            <a:avLst>
              <a:gd name="adj" fmla="val 50000"/>
            </a:avLst>
          </a:prstGeom>
          <a:solidFill>
            <a:srgbClr val="F2542D"/>
          </a:solidFill>
          <a:ln w="12700">
            <a:solidFill>
              <a:srgbClr val="F2542D"/>
            </a:solidFill>
            <a:prstDash val="solid"/>
          </a:ln>
        </p:spPr>
        <p:txBody>
          <a:bodyPr/>
          <a:lstStyle/>
          <a:p>
            <a:endParaRPr lang="en-US"/>
          </a:p>
        </p:txBody>
      </p:sp>
      <p:sp>
        <p:nvSpPr>
          <p:cNvPr id="30" name="Text 28"/>
          <p:cNvSpPr txBox="1"/>
          <p:nvPr/>
        </p:nvSpPr>
        <p:spPr>
          <a:xfrm>
            <a:off x="7982712"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Prepare</a:t>
            </a:r>
            <a:endParaRPr lang="en-US" sz="1100" dirty="0"/>
          </a:p>
        </p:txBody>
      </p:sp>
      <p:sp>
        <p:nvSpPr>
          <p:cNvPr id="31" name="Text 29"/>
          <p:cNvSpPr txBox="1"/>
          <p:nvPr/>
        </p:nvSpPr>
        <p:spPr>
          <a:xfrm>
            <a:off x="9098280"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32" name="Shape 30"/>
          <p:cNvSpPr/>
          <p:nvPr/>
        </p:nvSpPr>
        <p:spPr>
          <a:xfrm>
            <a:off x="9221724" y="1965960"/>
            <a:ext cx="1115568" cy="457200"/>
          </a:xfrm>
          <a:prstGeom prst="roundRect">
            <a:avLst>
              <a:gd name="adj" fmla="val 50000"/>
            </a:avLst>
          </a:prstGeom>
          <a:solidFill>
            <a:srgbClr val="0F2A4A"/>
          </a:solidFill>
          <a:ln w="12700">
            <a:solidFill>
              <a:srgbClr val="0F2A4A"/>
            </a:solidFill>
            <a:prstDash val="solid"/>
          </a:ln>
        </p:spPr>
        <p:txBody>
          <a:bodyPr/>
          <a:lstStyle/>
          <a:p>
            <a:endParaRPr lang="en-US"/>
          </a:p>
        </p:txBody>
      </p:sp>
      <p:sp>
        <p:nvSpPr>
          <p:cNvPr id="33" name="Text 31"/>
          <p:cNvSpPr txBox="1"/>
          <p:nvPr/>
        </p:nvSpPr>
        <p:spPr>
          <a:xfrm>
            <a:off x="9221724"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Review CV</a:t>
            </a:r>
            <a:endParaRPr lang="en-US" sz="1100" dirty="0"/>
          </a:p>
        </p:txBody>
      </p:sp>
      <p:sp>
        <p:nvSpPr>
          <p:cNvPr id="34" name="Text 32"/>
          <p:cNvSpPr txBox="1"/>
          <p:nvPr/>
        </p:nvSpPr>
        <p:spPr>
          <a:xfrm>
            <a:off x="10337292" y="1965960"/>
            <a:ext cx="123444" cy="457200"/>
          </a:xfrm>
          <a:prstGeom prst="rect">
            <a:avLst/>
          </a:prstGeom>
          <a:noFill/>
          <a:ln/>
        </p:spPr>
        <p:txBody>
          <a:bodyPr wrap="square" lIns="0" tIns="0" rIns="0" bIns="0" rtlCol="0" anchor="ctr"/>
          <a:lstStyle/>
          <a:p>
            <a:pPr marL="0" indent="0" algn="ctr">
              <a:buNone/>
            </a:pPr>
            <a:r>
              <a:rPr lang="en-US" sz="1600" b="1" dirty="0">
                <a:solidFill>
                  <a:schemeClr val="tx2"/>
                </a:solidFill>
              </a:rPr>
              <a:t>›</a:t>
            </a:r>
            <a:endParaRPr lang="en-US" sz="1600" dirty="0"/>
          </a:p>
        </p:txBody>
      </p:sp>
      <p:sp>
        <p:nvSpPr>
          <p:cNvPr id="35" name="Shape 33"/>
          <p:cNvSpPr/>
          <p:nvPr/>
        </p:nvSpPr>
        <p:spPr>
          <a:xfrm>
            <a:off x="10460736" y="1965960"/>
            <a:ext cx="1115568" cy="457200"/>
          </a:xfrm>
          <a:prstGeom prst="roundRect">
            <a:avLst>
              <a:gd name="adj" fmla="val 50000"/>
            </a:avLst>
          </a:prstGeom>
          <a:solidFill>
            <a:srgbClr val="0F2A4A"/>
          </a:solidFill>
          <a:ln w="12700">
            <a:solidFill>
              <a:srgbClr val="0F2A4A"/>
            </a:solidFill>
            <a:prstDash val="solid"/>
          </a:ln>
        </p:spPr>
        <p:txBody>
          <a:bodyPr/>
          <a:lstStyle/>
          <a:p>
            <a:endParaRPr lang="en-US"/>
          </a:p>
        </p:txBody>
      </p:sp>
      <p:sp>
        <p:nvSpPr>
          <p:cNvPr id="36" name="Text 34"/>
          <p:cNvSpPr txBox="1"/>
          <p:nvPr/>
        </p:nvSpPr>
        <p:spPr>
          <a:xfrm>
            <a:off x="10460736" y="1965960"/>
            <a:ext cx="1115568" cy="457200"/>
          </a:xfrm>
          <a:prstGeom prst="rect">
            <a:avLst/>
          </a:prstGeom>
          <a:noFill/>
          <a:ln/>
        </p:spPr>
        <p:txBody>
          <a:bodyPr wrap="square" lIns="0" tIns="0" rIns="0" bIns="0" rtlCol="0" anchor="ctr"/>
          <a:lstStyle/>
          <a:p>
            <a:pPr marL="0" indent="0" algn="ctr">
              <a:buNone/>
            </a:pPr>
            <a:r>
              <a:rPr lang="en-US" sz="1100" b="1" dirty="0">
                <a:solidFill>
                  <a:schemeClr val="bg1"/>
                </a:solidFill>
              </a:rPr>
              <a:t>Did you apply?</a:t>
            </a:r>
            <a:endParaRPr lang="en-US" sz="1100" dirty="0"/>
          </a:p>
        </p:txBody>
      </p:sp>
      <p:pic>
        <p:nvPicPr>
          <p:cNvPr id="37" name="Image 0" descr="/tmp/claude-0/-home-claude/d1b11841-31a5-5c6c-8b8a-2c68ca1b0a7c/scratchpad/deck/fig/signin.png"/>
          <p:cNvPicPr>
            <a:picLocks noChangeAspect="1"/>
          </p:cNvPicPr>
          <p:nvPr/>
        </p:nvPicPr>
        <p:blipFill>
          <a:blip r:embed="rId3"/>
          <a:srcRect/>
          <a:stretch/>
        </p:blipFill>
        <p:spPr>
          <a:xfrm>
            <a:off x="548640" y="2697480"/>
            <a:ext cx="2633472" cy="1873024"/>
          </a:xfrm>
          <a:prstGeom prst="rect">
            <a:avLst/>
          </a:prstGeom>
        </p:spPr>
      </p:pic>
      <p:sp>
        <p:nvSpPr>
          <p:cNvPr id="38" name="Shape 35"/>
          <p:cNvSpPr/>
          <p:nvPr/>
        </p:nvSpPr>
        <p:spPr>
          <a:xfrm>
            <a:off x="548640" y="2697480"/>
            <a:ext cx="2633472" cy="1873024"/>
          </a:xfrm>
          <a:prstGeom prst="rect">
            <a:avLst/>
          </a:prstGeom>
          <a:ln w="9525">
            <a:solidFill>
              <a:srgbClr val="D5DEEA"/>
            </a:solidFill>
            <a:prstDash val="solid"/>
          </a:ln>
        </p:spPr>
        <p:txBody>
          <a:bodyPr/>
          <a:lstStyle/>
          <a:p>
            <a:endParaRPr lang="en-US"/>
          </a:p>
        </p:txBody>
      </p:sp>
      <p:sp>
        <p:nvSpPr>
          <p:cNvPr id="39" name="Text 36"/>
          <p:cNvSpPr txBox="1"/>
          <p:nvPr/>
        </p:nvSpPr>
        <p:spPr>
          <a:xfrm>
            <a:off x="548640" y="4661944"/>
            <a:ext cx="2633472" cy="502920"/>
          </a:xfrm>
          <a:prstGeom prst="rect">
            <a:avLst/>
          </a:prstGeom>
          <a:noFill/>
          <a:ln/>
        </p:spPr>
        <p:txBody>
          <a:bodyPr wrap="square" lIns="0" tIns="0" rIns="0" bIns="0" rtlCol="0" anchor="t"/>
          <a:lstStyle/>
          <a:p>
            <a:pPr marL="0" indent="0">
              <a:buNone/>
            </a:pPr>
            <a:r>
              <a:rPr lang="en-US" sz="1200" dirty="0">
                <a:solidFill>
                  <a:schemeClr val="tx1"/>
                </a:solidFill>
              </a:rPr>
              <a:t>Sign in: SSO, profile stays in your control</a:t>
            </a:r>
            <a:endParaRPr lang="en-US" sz="1200" dirty="0"/>
          </a:p>
        </p:txBody>
      </p:sp>
      <p:pic>
        <p:nvPicPr>
          <p:cNvPr id="40" name="Image 1" descr="/tmp/claude-0/-home-claude/d1b11841-31a5-5c6c-8b8a-2c68ca1b0a7c/scratchpad/deck/fig/joblist.png"/>
          <p:cNvPicPr>
            <a:picLocks noChangeAspect="1"/>
          </p:cNvPicPr>
          <p:nvPr/>
        </p:nvPicPr>
        <p:blipFill>
          <a:blip r:embed="rId4"/>
          <a:srcRect/>
          <a:stretch/>
        </p:blipFill>
        <p:spPr>
          <a:xfrm>
            <a:off x="3364992" y="2697480"/>
            <a:ext cx="2633472" cy="1873024"/>
          </a:xfrm>
          <a:prstGeom prst="rect">
            <a:avLst/>
          </a:prstGeom>
        </p:spPr>
      </p:pic>
      <p:sp>
        <p:nvSpPr>
          <p:cNvPr id="41" name="Shape 37"/>
          <p:cNvSpPr/>
          <p:nvPr/>
        </p:nvSpPr>
        <p:spPr>
          <a:xfrm>
            <a:off x="3364992" y="2697480"/>
            <a:ext cx="2633472" cy="1873024"/>
          </a:xfrm>
          <a:prstGeom prst="rect">
            <a:avLst/>
          </a:prstGeom>
          <a:ln w="9525">
            <a:solidFill>
              <a:srgbClr val="D5DEEA"/>
            </a:solidFill>
            <a:prstDash val="solid"/>
          </a:ln>
        </p:spPr>
        <p:txBody>
          <a:bodyPr/>
          <a:lstStyle/>
          <a:p>
            <a:endParaRPr lang="en-US"/>
          </a:p>
        </p:txBody>
      </p:sp>
      <p:sp>
        <p:nvSpPr>
          <p:cNvPr id="42" name="Text 38"/>
          <p:cNvSpPr txBox="1"/>
          <p:nvPr/>
        </p:nvSpPr>
        <p:spPr>
          <a:xfrm>
            <a:off x="3364992" y="4661944"/>
            <a:ext cx="2633472" cy="502920"/>
          </a:xfrm>
          <a:prstGeom prst="rect">
            <a:avLst/>
          </a:prstGeom>
          <a:noFill/>
          <a:ln/>
        </p:spPr>
        <p:txBody>
          <a:bodyPr wrap="square" lIns="0" tIns="0" rIns="0" bIns="0" rtlCol="0" anchor="t"/>
          <a:lstStyle/>
          <a:p>
            <a:pPr marL="0" indent="0">
              <a:buNone/>
            </a:pPr>
            <a:r>
              <a:rPr lang="en-US" sz="1200" dirty="0">
                <a:solidFill>
                  <a:schemeClr val="tx1"/>
                </a:solidFill>
              </a:rPr>
              <a:t>Job list: roles at ≥ 90% fit, near misses one click away</a:t>
            </a:r>
            <a:endParaRPr lang="en-US" sz="1200" dirty="0"/>
          </a:p>
        </p:txBody>
      </p:sp>
      <p:pic>
        <p:nvPicPr>
          <p:cNvPr id="43" name="Image 2" descr="/tmp/claude-0/-home-claude/d1b11841-31a5-5c6c-8b8a-2c68ca1b0a7c/scratchpad/deck/fig/detail.png"/>
          <p:cNvPicPr>
            <a:picLocks noChangeAspect="1"/>
          </p:cNvPicPr>
          <p:nvPr/>
        </p:nvPicPr>
        <p:blipFill>
          <a:blip r:embed="rId5"/>
          <a:srcRect/>
          <a:stretch/>
        </p:blipFill>
        <p:spPr>
          <a:xfrm>
            <a:off x="6181344" y="2697480"/>
            <a:ext cx="2633472" cy="1873024"/>
          </a:xfrm>
          <a:prstGeom prst="rect">
            <a:avLst/>
          </a:prstGeom>
        </p:spPr>
      </p:pic>
      <p:sp>
        <p:nvSpPr>
          <p:cNvPr id="44" name="Shape 39"/>
          <p:cNvSpPr/>
          <p:nvPr/>
        </p:nvSpPr>
        <p:spPr>
          <a:xfrm>
            <a:off x="6181344" y="2697480"/>
            <a:ext cx="2633472" cy="1873024"/>
          </a:xfrm>
          <a:prstGeom prst="rect">
            <a:avLst/>
          </a:prstGeom>
          <a:ln w="9525">
            <a:solidFill>
              <a:srgbClr val="D5DEEA"/>
            </a:solidFill>
            <a:prstDash val="solid"/>
          </a:ln>
        </p:spPr>
        <p:txBody>
          <a:bodyPr/>
          <a:lstStyle/>
          <a:p>
            <a:endParaRPr lang="en-US"/>
          </a:p>
        </p:txBody>
      </p:sp>
      <p:sp>
        <p:nvSpPr>
          <p:cNvPr id="45" name="Text 40"/>
          <p:cNvSpPr txBox="1"/>
          <p:nvPr/>
        </p:nvSpPr>
        <p:spPr>
          <a:xfrm>
            <a:off x="6181344" y="4661944"/>
            <a:ext cx="2633472" cy="502920"/>
          </a:xfrm>
          <a:prstGeom prst="rect">
            <a:avLst/>
          </a:prstGeom>
          <a:noFill/>
          <a:ln/>
        </p:spPr>
        <p:txBody>
          <a:bodyPr wrap="square" lIns="0" tIns="0" rIns="0" bIns="0" rtlCol="0" anchor="t"/>
          <a:lstStyle/>
          <a:p>
            <a:pPr marL="0" indent="0">
              <a:buNone/>
            </a:pPr>
            <a:r>
              <a:rPr lang="en-US" sz="1200" dirty="0">
                <a:solidFill>
                  <a:schemeClr val="tx1"/>
                </a:solidFill>
              </a:rPr>
              <a:t>Job detail: fit, why it fits, Prepare · Apply · Save</a:t>
            </a:r>
            <a:endParaRPr lang="en-US" sz="1200" dirty="0"/>
          </a:p>
        </p:txBody>
      </p:sp>
      <p:pic>
        <p:nvPicPr>
          <p:cNvPr id="46" name="Image 3" descr="/tmp/claude-0/-home-claude/d1b11841-31a5-5c6c-8b8a-2c68ca1b0a7c/scratchpad/deck/fig/prepare.png"/>
          <p:cNvPicPr>
            <a:picLocks noChangeAspect="1"/>
          </p:cNvPicPr>
          <p:nvPr/>
        </p:nvPicPr>
        <p:blipFill>
          <a:blip r:embed="rId6"/>
          <a:srcRect/>
          <a:stretch/>
        </p:blipFill>
        <p:spPr>
          <a:xfrm>
            <a:off x="8997696" y="2697480"/>
            <a:ext cx="2633472" cy="1873024"/>
          </a:xfrm>
          <a:prstGeom prst="rect">
            <a:avLst/>
          </a:prstGeom>
        </p:spPr>
      </p:pic>
      <p:sp>
        <p:nvSpPr>
          <p:cNvPr id="47" name="Shape 41"/>
          <p:cNvSpPr/>
          <p:nvPr/>
        </p:nvSpPr>
        <p:spPr>
          <a:xfrm>
            <a:off x="8997696" y="2697480"/>
            <a:ext cx="2633472" cy="1873024"/>
          </a:xfrm>
          <a:prstGeom prst="rect">
            <a:avLst/>
          </a:prstGeom>
          <a:ln w="9525">
            <a:solidFill>
              <a:srgbClr val="D5DEEA"/>
            </a:solidFill>
            <a:prstDash val="solid"/>
          </a:ln>
        </p:spPr>
        <p:txBody>
          <a:bodyPr/>
          <a:lstStyle/>
          <a:p>
            <a:endParaRPr lang="en-US"/>
          </a:p>
        </p:txBody>
      </p:sp>
      <p:sp>
        <p:nvSpPr>
          <p:cNvPr id="48" name="Text 42"/>
          <p:cNvSpPr txBox="1"/>
          <p:nvPr/>
        </p:nvSpPr>
        <p:spPr>
          <a:xfrm>
            <a:off x="8997696" y="4661944"/>
            <a:ext cx="2633472" cy="502920"/>
          </a:xfrm>
          <a:prstGeom prst="rect">
            <a:avLst/>
          </a:prstGeom>
          <a:noFill/>
          <a:ln/>
        </p:spPr>
        <p:txBody>
          <a:bodyPr wrap="square" lIns="0" tIns="0" rIns="0" bIns="0" rtlCol="0" anchor="t"/>
          <a:lstStyle/>
          <a:p>
            <a:pPr marL="0" indent="0">
              <a:buNone/>
            </a:pPr>
            <a:r>
              <a:rPr lang="en-US" sz="1200" dirty="0">
                <a:solidFill>
                  <a:schemeClr val="tx1"/>
                </a:solidFill>
              </a:rPr>
              <a:t>Prepare: evidence, then a strategy you confirm</a:t>
            </a:r>
            <a:endParaRPr lang="en-US" sz="1200" dirty="0"/>
          </a:p>
        </p:txBody>
      </p:sp>
      <p:sp>
        <p:nvSpPr>
          <p:cNvPr id="49" name="figfacts"/>
          <p:cNvSpPr/>
          <p:nvPr/>
        </p:nvSpPr>
        <p:spPr>
          <a:xfrm>
            <a:off x="548640" y="5257800"/>
            <a:ext cx="11091672" cy="731520"/>
          </a:xfrm>
          <a:prstGeom prst="roundRect">
            <a:avLst>
              <a:gd name="adj" fmla="val 15000"/>
            </a:avLst>
          </a:prstGeom>
          <a:solidFill>
            <a:schemeClr val="bg1"/>
          </a:solidFill>
          <a:ln w="12700">
            <a:solidFill>
              <a:schemeClr val="bg1"/>
            </a:solidFill>
            <a:prstDash val="solid"/>
          </a:ln>
        </p:spPr>
        <p:txBody>
          <a:bodyPr/>
          <a:lstStyle/>
          <a:p>
            <a:endParaRPr lang="en-US"/>
          </a:p>
        </p:txBody>
      </p:sp>
      <p:sp>
        <p:nvSpPr>
          <p:cNvPr id="50" name="Text 44"/>
          <p:cNvSpPr txBox="1"/>
          <p:nvPr/>
        </p:nvSpPr>
        <p:spPr>
          <a:xfrm>
            <a:off x="822960" y="5257800"/>
            <a:ext cx="10607040" cy="731520"/>
          </a:xfrm>
          <a:prstGeom prst="rect">
            <a:avLst/>
          </a:prstGeom>
          <a:noFill/>
          <a:ln/>
        </p:spPr>
        <p:txBody>
          <a:bodyPr wrap="square" lIns="0" tIns="0" rIns="0" bIns="0" rtlCol="0" anchor="ctr"/>
          <a:lstStyle/>
          <a:p>
            <a:pPr marL="0" indent="0">
              <a:buNone/>
            </a:pPr>
            <a:r>
              <a:rPr lang="en-US" sz="1500" b="1" dirty="0">
                <a:solidFill>
                  <a:srgbClr val="F2542D"/>
                </a:solidFill>
              </a:rPr>
              <a:t>44 </a:t>
            </a:r>
            <a:r>
              <a:rPr lang="en-US" sz="1500" dirty="0">
                <a:solidFill>
                  <a:schemeClr val="tx1"/>
                </a:solidFill>
              </a:rPr>
              <a:t>primary views   </a:t>
            </a:r>
            <a:r>
              <a:rPr lang="en-US" sz="1500" b="1" dirty="0">
                <a:solidFill>
                  <a:srgbClr val="F2542D"/>
                </a:solidFill>
              </a:rPr>
              <a:t>58 </a:t>
            </a:r>
            <a:r>
              <a:rPr lang="en-US" sz="1500" dirty="0">
                <a:solidFill>
                  <a:schemeClr val="tx1"/>
                </a:solidFill>
              </a:rPr>
              <a:t>loading, empty and error states   </a:t>
            </a:r>
            <a:r>
              <a:rPr lang="en-US" sz="1500" b="1" dirty="0">
                <a:solidFill>
                  <a:srgbClr val="F2542D"/>
                </a:solidFill>
              </a:rPr>
              <a:t>1 </a:t>
            </a:r>
            <a:r>
              <a:rPr lang="en-US" sz="1500" dirty="0">
                <a:solidFill>
                  <a:schemeClr val="tx1"/>
                </a:solidFill>
              </a:rPr>
              <a:t>mobile frame   ·   task flows for every persona</a:t>
            </a:r>
            <a:endParaRPr lang="en-US" sz="1500" dirty="0"/>
          </a:p>
        </p:txBody>
      </p:sp>
      <p:sp>
        <p:nvSpPr>
          <p:cNvPr id="51" name="Text 45"/>
          <p:cNvSpPr txBox="1"/>
          <p:nvPr/>
        </p:nvSpPr>
        <p:spPr>
          <a:xfrm>
            <a:off x="548640" y="6172200"/>
            <a:ext cx="10972800" cy="228600"/>
          </a:xfrm>
          <a:prstGeom prst="rect">
            <a:avLst/>
          </a:prstGeom>
          <a:noFill/>
          <a:ln/>
        </p:spPr>
        <p:txBody>
          <a:bodyPr wrap="square" lIns="0" tIns="0" rIns="0" bIns="0" rtlCol="0" anchor="t"/>
          <a:lstStyle/>
          <a:p>
            <a:pPr marL="0" indent="0">
              <a:buNone/>
            </a:pPr>
            <a:r>
              <a:rPr lang="en-US" sz="1100" u="sng" dirty="0">
                <a:solidFill>
                  <a:schemeClr val="tx2"/>
                </a:solidFill>
                <a:hlinkClick r:id="rId7">
                  <a:extLst>
                    <a:ext uri="{A12FA001-AC4F-418D-AE19-62706E023703}">
                      <ahyp:hlinkClr xmlns:ahyp="http://schemas.microsoft.com/office/drawing/2018/hyperlinkcolor" val="tx"/>
                    </a:ext>
                  </a:extLst>
                </a:hlinkClick>
              </a:rPr>
              <a:t>Open the Figma prototype</a:t>
            </a:r>
            <a:r>
              <a:rPr lang="en-US" sz="1100" dirty="0">
                <a:solidFill>
                  <a:schemeClr val="tx2"/>
                </a:solidFill>
              </a:rPr>
              <a:t> · grayscale wireframes, editable components and Auto Layout</a:t>
            </a:r>
            <a:endParaRPr lang="en-US" sz="1100" dirty="0"/>
          </a:p>
        </p:txBody>
      </p:sp>
      <p:sp>
        <p:nvSpPr>
          <p:cNvPr id="5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06 · LIVE DEMO · FIGMA AND GITHUB</a:t>
            </a:r>
            <a:endParaRPr lang="en-US" sz="1200" dirty="0"/>
          </a:p>
        </p:txBody>
      </p:sp>
      <p:sp>
        <p:nvSpPr>
          <p:cNvPr id="3" name="Text 1"/>
          <p:cNvSpPr>
            <a:spLocks noGrp="1"/>
          </p:cNvSpPr>
          <p:nvPr>
            <p:ph type="title" idx="103" hasCustomPrompt="1"/>
          </p:nvPr>
        </p:nvSpPr>
        <p:spPr>
          <a:xfrm>
            <a:off x="548640" y="1097280"/>
            <a:ext cx="11064240" cy="731520"/>
          </a:xfrm>
          <a:prstGeom prst="rect">
            <a:avLst/>
          </a:prstGeom>
          <a:noFill/>
          <a:ln/>
        </p:spPr>
        <p:txBody>
          <a:bodyPr wrap="square" lIns="0" tIns="0" rIns="0" bIns="0" rtlCol="0" anchor="t"/>
          <a:lstStyle/>
          <a:p>
            <a:pPr marL="0" indent="0" algn="l">
              <a:buNone/>
            </a:pPr>
            <a:r>
              <a:rPr lang="en-US" sz="3200" b="1" dirty="0">
                <a:solidFill>
                  <a:schemeClr val="bg1"/>
                </a:solidFill>
              </a:rPr>
              <a:t>From wireframes to a working, clickable app</a:t>
            </a:r>
            <a:endParaRPr lang="en-US" sz="3200" dirty="0"/>
          </a:p>
        </p:txBody>
      </p:sp>
      <p:sp>
        <p:nvSpPr>
          <p:cNvPr id="4" name="Text 2"/>
          <p:cNvSpPr txBox="1"/>
          <p:nvPr/>
        </p:nvSpPr>
        <p:spPr>
          <a:xfrm>
            <a:off x="5074920"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Problem</a:t>
            </a:r>
            <a:endParaRPr lang="en-US" sz="1000" dirty="0"/>
          </a:p>
        </p:txBody>
      </p:sp>
      <p:sp>
        <p:nvSpPr>
          <p:cNvPr id="5" name="Text 3"/>
          <p:cNvSpPr txBox="1"/>
          <p:nvPr/>
        </p:nvSpPr>
        <p:spPr>
          <a:xfrm>
            <a:off x="6016752"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Users</a:t>
            </a:r>
            <a:endParaRPr lang="en-US" sz="1000" dirty="0"/>
          </a:p>
        </p:txBody>
      </p:sp>
      <p:sp>
        <p:nvSpPr>
          <p:cNvPr id="6" name="Text 4"/>
          <p:cNvSpPr txBox="1"/>
          <p:nvPr/>
        </p:nvSpPr>
        <p:spPr>
          <a:xfrm>
            <a:off x="6958584"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PRD</a:t>
            </a:r>
            <a:endParaRPr lang="en-US" sz="1000" dirty="0"/>
          </a:p>
        </p:txBody>
      </p:sp>
      <p:sp>
        <p:nvSpPr>
          <p:cNvPr id="7" name="Text 5"/>
          <p:cNvSpPr txBox="1"/>
          <p:nvPr/>
        </p:nvSpPr>
        <p:spPr>
          <a:xfrm>
            <a:off x="7900416"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Backlog</a:t>
            </a:r>
            <a:endParaRPr lang="en-US" sz="1000" dirty="0"/>
          </a:p>
        </p:txBody>
      </p:sp>
      <p:sp>
        <p:nvSpPr>
          <p:cNvPr id="8" name="Text 6"/>
          <p:cNvSpPr txBox="1"/>
          <p:nvPr/>
        </p:nvSpPr>
        <p:spPr>
          <a:xfrm>
            <a:off x="8842248"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Figma</a:t>
            </a:r>
            <a:endParaRPr lang="en-US" sz="1000" dirty="0"/>
          </a:p>
        </p:txBody>
      </p:sp>
      <p:sp>
        <p:nvSpPr>
          <p:cNvPr id="9" name="Text 7"/>
          <p:cNvSpPr txBox="1"/>
          <p:nvPr/>
        </p:nvSpPr>
        <p:spPr>
          <a:xfrm>
            <a:off x="9784080"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Demo</a:t>
            </a:r>
            <a:endParaRPr lang="en-US" sz="1000" dirty="0"/>
          </a:p>
        </p:txBody>
      </p:sp>
      <p:sp>
        <p:nvSpPr>
          <p:cNvPr id="10" name="Text 8"/>
          <p:cNvSpPr txBox="1"/>
          <p:nvPr/>
        </p:nvSpPr>
        <p:spPr>
          <a:xfrm>
            <a:off x="10725912" y="310896"/>
            <a:ext cx="896112" cy="256032"/>
          </a:xfrm>
          <a:prstGeom prst="rect">
            <a:avLst/>
          </a:prstGeom>
          <a:noFill/>
          <a:ln/>
        </p:spPr>
        <p:txBody>
          <a:bodyPr wrap="square" lIns="0" tIns="0" rIns="0" bIns="0" rtlCol="0" anchor="ctr"/>
          <a:lstStyle/>
          <a:p>
            <a:pPr marL="0" indent="0" algn="ctr">
              <a:buNone/>
            </a:pPr>
            <a:r>
              <a:rPr lang="en-US" sz="1000" dirty="0">
                <a:solidFill>
                  <a:srgbClr val="D5DEEA"/>
                </a:solidFill>
              </a:rPr>
              <a:t>Integration</a:t>
            </a:r>
            <a:endParaRPr lang="en-US" sz="1000" dirty="0"/>
          </a:p>
        </p:txBody>
      </p:sp>
      <p:pic>
        <p:nvPicPr>
          <p:cNvPr id="11" name="Image 0" descr="/tmp/claude-0/-home-claude/d1b11841-31a5-5c6c-8b8a-2c68ca1b0a7c/scratchpad/deck/shots/jobs.png"/>
          <p:cNvPicPr>
            <a:picLocks noChangeAspect="1"/>
          </p:cNvPicPr>
          <p:nvPr/>
        </p:nvPicPr>
        <p:blipFill>
          <a:blip r:embed="rId3"/>
          <a:srcRect/>
          <a:stretch/>
        </p:blipFill>
        <p:spPr>
          <a:xfrm>
            <a:off x="548640" y="2011680"/>
            <a:ext cx="3566160" cy="2231136"/>
          </a:xfrm>
          <a:prstGeom prst="rect">
            <a:avLst/>
          </a:prstGeom>
        </p:spPr>
      </p:pic>
      <p:sp>
        <p:nvSpPr>
          <p:cNvPr id="12" name="Shape 9"/>
          <p:cNvSpPr/>
          <p:nvPr/>
        </p:nvSpPr>
        <p:spPr>
          <a:xfrm>
            <a:off x="548640" y="2011680"/>
            <a:ext cx="3566160" cy="2231136"/>
          </a:xfrm>
          <a:prstGeom prst="rect">
            <a:avLst/>
          </a:prstGeom>
          <a:ln w="9525">
            <a:solidFill>
              <a:srgbClr val="D5DEEA"/>
            </a:solidFill>
            <a:prstDash val="solid"/>
          </a:ln>
        </p:spPr>
        <p:txBody>
          <a:bodyPr/>
          <a:lstStyle/>
          <a:p>
            <a:endParaRPr lang="en-US"/>
          </a:p>
        </p:txBody>
      </p:sp>
      <p:sp>
        <p:nvSpPr>
          <p:cNvPr id="13" name="Text 10"/>
          <p:cNvSpPr txBox="1"/>
          <p:nvPr/>
        </p:nvSpPr>
        <p:spPr>
          <a:xfrm>
            <a:off x="548640" y="4315968"/>
            <a:ext cx="3566160" cy="274320"/>
          </a:xfrm>
          <a:prstGeom prst="rect">
            <a:avLst/>
          </a:prstGeom>
          <a:noFill/>
          <a:ln/>
        </p:spPr>
        <p:txBody>
          <a:bodyPr wrap="square" lIns="0" tIns="0" rIns="0" bIns="0" rtlCol="0" anchor="t"/>
          <a:lstStyle/>
          <a:p>
            <a:pPr marL="0" indent="0">
              <a:buNone/>
            </a:pPr>
            <a:r>
              <a:rPr lang="en-US" sz="1200" dirty="0">
                <a:solidFill>
                  <a:schemeClr val="accent4"/>
                </a:solidFill>
              </a:rPr>
              <a:t>Job list: 10 jobs, 2 above the 90% minimum</a:t>
            </a:r>
            <a:endParaRPr lang="en-US" sz="1200" dirty="0"/>
          </a:p>
        </p:txBody>
      </p:sp>
      <p:pic>
        <p:nvPicPr>
          <p:cNvPr id="14" name="Image 1" descr="/tmp/claude-0/-home-claude/d1b11841-31a5-5c6c-8b8a-2c68ca1b0a7c/scratchpad/deck/shots/job.png"/>
          <p:cNvPicPr>
            <a:picLocks noChangeAspect="1"/>
          </p:cNvPicPr>
          <p:nvPr/>
        </p:nvPicPr>
        <p:blipFill>
          <a:blip r:embed="rId4"/>
          <a:srcRect/>
          <a:stretch/>
        </p:blipFill>
        <p:spPr>
          <a:xfrm>
            <a:off x="4343400" y="2011680"/>
            <a:ext cx="3566160" cy="2231136"/>
          </a:xfrm>
          <a:prstGeom prst="rect">
            <a:avLst/>
          </a:prstGeom>
        </p:spPr>
      </p:pic>
      <p:sp>
        <p:nvSpPr>
          <p:cNvPr id="15" name="Shape 11"/>
          <p:cNvSpPr/>
          <p:nvPr/>
        </p:nvSpPr>
        <p:spPr>
          <a:xfrm>
            <a:off x="4343400" y="2011680"/>
            <a:ext cx="3566160" cy="2231136"/>
          </a:xfrm>
          <a:prstGeom prst="rect">
            <a:avLst/>
          </a:prstGeom>
          <a:ln w="9525">
            <a:solidFill>
              <a:srgbClr val="D5DEEA"/>
            </a:solidFill>
            <a:prstDash val="solid"/>
          </a:ln>
        </p:spPr>
        <p:txBody>
          <a:bodyPr/>
          <a:lstStyle/>
          <a:p>
            <a:endParaRPr lang="en-US"/>
          </a:p>
        </p:txBody>
      </p:sp>
      <p:sp>
        <p:nvSpPr>
          <p:cNvPr id="16" name="Text 12"/>
          <p:cNvSpPr txBox="1"/>
          <p:nvPr/>
        </p:nvSpPr>
        <p:spPr>
          <a:xfrm>
            <a:off x="4343400" y="4315968"/>
            <a:ext cx="3566160" cy="274320"/>
          </a:xfrm>
          <a:prstGeom prst="rect">
            <a:avLst/>
          </a:prstGeom>
          <a:noFill/>
          <a:ln/>
        </p:spPr>
        <p:txBody>
          <a:bodyPr wrap="square" lIns="0" tIns="0" rIns="0" bIns="0" rtlCol="0" anchor="t"/>
          <a:lstStyle/>
          <a:p>
            <a:pPr marL="0" indent="0">
              <a:buNone/>
            </a:pPr>
            <a:r>
              <a:rPr lang="en-US" sz="1200" dirty="0">
                <a:solidFill>
                  <a:schemeClr val="accent4"/>
                </a:solidFill>
              </a:rPr>
              <a:t>Job focus: fit ring, Prepare (−1), Apply (free)</a:t>
            </a:r>
            <a:endParaRPr lang="en-US" sz="1200" dirty="0"/>
          </a:p>
        </p:txBody>
      </p:sp>
      <p:pic>
        <p:nvPicPr>
          <p:cNvPr id="17" name="Image 2" descr="/tmp/claude-0/-home-claude/d1b11841-31a5-5c6c-8b8a-2c68ca1b0a7c/scratchpad/deck/shots/mobile.png"/>
          <p:cNvPicPr>
            <a:picLocks noChangeAspect="1"/>
          </p:cNvPicPr>
          <p:nvPr/>
        </p:nvPicPr>
        <p:blipFill>
          <a:blip r:embed="rId5"/>
          <a:srcRect/>
          <a:stretch/>
        </p:blipFill>
        <p:spPr>
          <a:xfrm>
            <a:off x="8138160" y="2011680"/>
            <a:ext cx="1161288" cy="2514600"/>
          </a:xfrm>
          <a:prstGeom prst="rect">
            <a:avLst/>
          </a:prstGeom>
        </p:spPr>
      </p:pic>
      <p:sp>
        <p:nvSpPr>
          <p:cNvPr id="18" name="Shape 13"/>
          <p:cNvSpPr/>
          <p:nvPr/>
        </p:nvSpPr>
        <p:spPr>
          <a:xfrm>
            <a:off x="8138160" y="2011680"/>
            <a:ext cx="1161288" cy="2514600"/>
          </a:xfrm>
          <a:prstGeom prst="rect">
            <a:avLst/>
          </a:prstGeom>
          <a:ln w="9525">
            <a:solidFill>
              <a:srgbClr val="D5DEEA"/>
            </a:solidFill>
            <a:prstDash val="solid"/>
          </a:ln>
        </p:spPr>
        <p:txBody>
          <a:bodyPr/>
          <a:lstStyle/>
          <a:p>
            <a:endParaRPr lang="en-US"/>
          </a:p>
        </p:txBody>
      </p:sp>
      <p:sp>
        <p:nvSpPr>
          <p:cNvPr id="19" name="Text 14"/>
          <p:cNvSpPr txBox="1"/>
          <p:nvPr/>
        </p:nvSpPr>
        <p:spPr>
          <a:xfrm>
            <a:off x="8138160" y="4572000"/>
            <a:ext cx="1188720" cy="274320"/>
          </a:xfrm>
          <a:prstGeom prst="rect">
            <a:avLst/>
          </a:prstGeom>
          <a:noFill/>
          <a:ln/>
        </p:spPr>
        <p:txBody>
          <a:bodyPr wrap="square" lIns="0" tIns="0" rIns="0" bIns="0" rtlCol="0" anchor="t"/>
          <a:lstStyle/>
          <a:p>
            <a:pPr marL="0" indent="0">
              <a:buNone/>
            </a:pPr>
            <a:r>
              <a:rPr lang="en-US" sz="1200" dirty="0">
                <a:solidFill>
                  <a:schemeClr val="accent4"/>
                </a:solidFill>
              </a:rPr>
              <a:t>Mobile</a:t>
            </a:r>
            <a:endParaRPr lang="en-US" sz="1200" dirty="0"/>
          </a:p>
        </p:txBody>
      </p:sp>
      <p:pic>
        <p:nvPicPr>
          <p:cNvPr id="20" name="Image 3" descr="/tmp/claude-0/-home-claude/d1b11841-31a5-5c6c-8b8a-2c68ca1b0a7c/scratchpad/deck/fig/github.png"/>
          <p:cNvPicPr>
            <a:picLocks noChangeAspect="1"/>
          </p:cNvPicPr>
          <p:nvPr/>
        </p:nvPicPr>
        <p:blipFill>
          <a:blip r:embed="rId6"/>
          <a:srcRect/>
          <a:stretch/>
        </p:blipFill>
        <p:spPr>
          <a:xfrm>
            <a:off x="9509760" y="2011680"/>
            <a:ext cx="2130552" cy="877824"/>
          </a:xfrm>
          <a:prstGeom prst="rect">
            <a:avLst/>
          </a:prstGeom>
        </p:spPr>
      </p:pic>
      <p:sp>
        <p:nvSpPr>
          <p:cNvPr id="21" name="Shape 15"/>
          <p:cNvSpPr/>
          <p:nvPr/>
        </p:nvSpPr>
        <p:spPr>
          <a:xfrm>
            <a:off x="9509760" y="2011680"/>
            <a:ext cx="2130552" cy="877824"/>
          </a:xfrm>
          <a:prstGeom prst="rect">
            <a:avLst/>
          </a:prstGeom>
          <a:ln w="9525">
            <a:solidFill>
              <a:srgbClr val="D5DEEA"/>
            </a:solidFill>
            <a:prstDash val="solid"/>
          </a:ln>
        </p:spPr>
        <p:txBody>
          <a:bodyPr/>
          <a:lstStyle/>
          <a:p>
            <a:endParaRPr lang="en-US"/>
          </a:p>
        </p:txBody>
      </p:sp>
      <p:sp>
        <p:nvSpPr>
          <p:cNvPr id="22" name="Text 16"/>
          <p:cNvSpPr txBox="1"/>
          <p:nvPr/>
        </p:nvSpPr>
        <p:spPr>
          <a:xfrm>
            <a:off x="9509760" y="2971800"/>
            <a:ext cx="2130552" cy="640080"/>
          </a:xfrm>
          <a:prstGeom prst="rect">
            <a:avLst/>
          </a:prstGeom>
          <a:noFill/>
          <a:ln/>
        </p:spPr>
        <p:txBody>
          <a:bodyPr wrap="square" lIns="0" tIns="0" rIns="0" bIns="0" rtlCol="0" anchor="t"/>
          <a:lstStyle/>
          <a:p>
            <a:pPr marL="0" indent="0">
              <a:buNone/>
            </a:pPr>
            <a:r>
              <a:rPr lang="en-US" sz="1200" dirty="0">
                <a:solidFill>
                  <a:schemeClr val="accent4"/>
                </a:solidFill>
              </a:rPr>
              <a:t>GitHub: public repo, main branch deployed to Vercel</a:t>
            </a:r>
            <a:endParaRPr lang="en-US" sz="1200" dirty="0"/>
          </a:p>
        </p:txBody>
      </p:sp>
      <p:sp>
        <p:nvSpPr>
          <p:cNvPr id="23" name="link-button">
            <a:hlinkClick r:id="rId7" tooltip="Open the live demo  →"/>
          </p:cNvPr>
          <p:cNvSpPr/>
          <p:nvPr/>
        </p:nvSpPr>
        <p:spPr>
          <a:xfrm>
            <a:off x="548640" y="4983480"/>
            <a:ext cx="3840480" cy="685800"/>
          </a:xfrm>
          <a:prstGeom prst="roundRect">
            <a:avLst>
              <a:gd name="adj" fmla="val 50000"/>
            </a:avLst>
          </a:prstGeom>
          <a:solidFill>
            <a:srgbClr val="F2542D"/>
          </a:solidFill>
          <a:ln>
            <a:solidFill>
              <a:srgbClr val="F2542D"/>
            </a:solidFill>
          </a:ln>
        </p:spPr>
        <p:txBody>
          <a:bodyPr wrap="square" lIns="0" tIns="0" rIns="0" bIns="0" rtlCol="0" anchor="ctr"/>
          <a:lstStyle/>
          <a:p>
            <a:pPr marL="0" indent="0" algn="ctr">
              <a:buNone/>
            </a:pPr>
            <a:r>
              <a:rPr lang="en-US" sz="1800" b="1" dirty="0">
                <a:solidFill>
                  <a:srgbClr val="FFFFFF"/>
                </a:solidFill>
              </a:rPr>
              <a:t>Open the live demo  →</a:t>
            </a:r>
            <a:endParaRPr lang="en-US" sz="1800" dirty="0"/>
          </a:p>
        </p:txBody>
      </p:sp>
      <p:sp>
        <p:nvSpPr>
          <p:cNvPr id="24" name="link-button">
            <a:hlinkClick r:id="rId8" tooltip="Figma prototype"/>
          </p:cNvPr>
          <p:cNvSpPr/>
          <p:nvPr/>
        </p:nvSpPr>
        <p:spPr>
          <a:xfrm>
            <a:off x="4572000" y="4983480"/>
            <a:ext cx="2194560" cy="685800"/>
          </a:xfrm>
          <a:prstGeom prst="roundRect">
            <a:avLst>
              <a:gd name="adj" fmla="val 50000"/>
            </a:avLst>
          </a:prstGeom>
          <a:solidFill>
            <a:srgbClr val="FFFFFF"/>
          </a:solidFill>
          <a:ln>
            <a:solidFill>
              <a:srgbClr val="FFFFFF"/>
            </a:solidFill>
          </a:ln>
        </p:spPr>
        <p:txBody>
          <a:bodyPr wrap="square" lIns="0" tIns="0" rIns="0" bIns="0" rtlCol="0" anchor="ctr"/>
          <a:lstStyle/>
          <a:p>
            <a:pPr marL="0" indent="0" algn="ctr">
              <a:buNone/>
            </a:pPr>
            <a:r>
              <a:rPr lang="en-US" sz="1500" b="1" dirty="0">
                <a:solidFill>
                  <a:srgbClr val="0F2A4A"/>
                </a:solidFill>
              </a:rPr>
              <a:t>Figma prototype</a:t>
            </a:r>
            <a:endParaRPr lang="en-US" sz="1500" dirty="0"/>
          </a:p>
        </p:txBody>
      </p:sp>
      <p:sp>
        <p:nvSpPr>
          <p:cNvPr id="25" name="link-button">
            <a:hlinkClick r:id="rId9" tooltip="GitHub repo"/>
          </p:cNvPr>
          <p:cNvSpPr/>
          <p:nvPr/>
        </p:nvSpPr>
        <p:spPr>
          <a:xfrm>
            <a:off x="6949440" y="4983480"/>
            <a:ext cx="2011680" cy="685800"/>
          </a:xfrm>
          <a:prstGeom prst="roundRect">
            <a:avLst>
              <a:gd name="adj" fmla="val 50000"/>
            </a:avLst>
          </a:prstGeom>
          <a:solidFill>
            <a:srgbClr val="FFFFFF"/>
          </a:solidFill>
          <a:ln>
            <a:solidFill>
              <a:srgbClr val="FFFFFF"/>
            </a:solidFill>
          </a:ln>
        </p:spPr>
        <p:txBody>
          <a:bodyPr wrap="square" lIns="0" tIns="0" rIns="0" bIns="0" rtlCol="0" anchor="ctr"/>
          <a:lstStyle/>
          <a:p>
            <a:pPr marL="0" indent="0" algn="ctr">
              <a:buNone/>
            </a:pPr>
            <a:r>
              <a:rPr lang="en-US" sz="1500" b="1" dirty="0">
                <a:solidFill>
                  <a:srgbClr val="0F2A4A"/>
                </a:solidFill>
              </a:rPr>
              <a:t>GitHub repo</a:t>
            </a:r>
            <a:endParaRPr lang="en-US" sz="1500" dirty="0"/>
          </a:p>
        </p:txBody>
      </p:sp>
      <p:sp>
        <p:nvSpPr>
          <p:cNvPr id="26" name="Shape 20"/>
          <p:cNvSpPr/>
          <p:nvPr/>
        </p:nvSpPr>
        <p:spPr>
          <a:xfrm>
            <a:off x="9509760" y="3794760"/>
            <a:ext cx="868680" cy="274320"/>
          </a:xfrm>
          <a:prstGeom prst="roundRect">
            <a:avLst>
              <a:gd name="adj" fmla="val 50000"/>
            </a:avLst>
          </a:prstGeom>
          <a:solidFill>
            <a:srgbClr val="DDF0E4"/>
          </a:solidFill>
          <a:ln w="12700">
            <a:solidFill>
              <a:srgbClr val="DDF0E4"/>
            </a:solidFill>
            <a:prstDash val="solid"/>
          </a:ln>
        </p:spPr>
        <p:txBody>
          <a:bodyPr/>
          <a:lstStyle/>
          <a:p>
            <a:endParaRPr lang="en-US"/>
          </a:p>
        </p:txBody>
      </p:sp>
      <p:sp>
        <p:nvSpPr>
          <p:cNvPr id="27" name="Text 21"/>
          <p:cNvSpPr txBox="1"/>
          <p:nvPr/>
        </p:nvSpPr>
        <p:spPr>
          <a:xfrm>
            <a:off x="9509760" y="3794760"/>
            <a:ext cx="868680" cy="274320"/>
          </a:xfrm>
          <a:prstGeom prst="rect">
            <a:avLst/>
          </a:prstGeom>
          <a:noFill/>
          <a:ln/>
        </p:spPr>
        <p:txBody>
          <a:bodyPr wrap="square" lIns="0" tIns="0" rIns="0" bIns="0" rtlCol="0" anchor="ctr"/>
          <a:lstStyle/>
          <a:p>
            <a:pPr marL="0" indent="0" algn="ctr">
              <a:buNone/>
            </a:pPr>
            <a:r>
              <a:rPr lang="en-US" sz="1000" b="1" dirty="0">
                <a:solidFill>
                  <a:srgbClr val="2E8B57"/>
                </a:solidFill>
              </a:rPr>
              <a:t>DONE</a:t>
            </a:r>
            <a:endParaRPr lang="en-US" sz="1000" dirty="0"/>
          </a:p>
        </p:txBody>
      </p:sp>
      <p:sp>
        <p:nvSpPr>
          <p:cNvPr id="28" name="Text 22"/>
          <p:cNvSpPr txBox="1"/>
          <p:nvPr/>
        </p:nvSpPr>
        <p:spPr>
          <a:xfrm>
            <a:off x="9509760" y="4114800"/>
            <a:ext cx="2130552" cy="457200"/>
          </a:xfrm>
          <a:prstGeom prst="rect">
            <a:avLst/>
          </a:prstGeom>
          <a:noFill/>
          <a:ln/>
        </p:spPr>
        <p:txBody>
          <a:bodyPr wrap="square" lIns="0" tIns="0" rIns="0" bIns="0" rtlCol="0" anchor="t"/>
          <a:lstStyle/>
          <a:p>
            <a:pPr marL="0" indent="0">
              <a:buNone/>
            </a:pPr>
            <a:r>
              <a:rPr lang="en-US" sz="1100" dirty="0">
                <a:solidFill>
                  <a:schemeClr val="bg1"/>
                </a:solidFill>
              </a:rPr>
              <a:t>Next.js app, responsive, deployed</a:t>
            </a:r>
            <a:endParaRPr lang="en-US" sz="1100" dirty="0"/>
          </a:p>
        </p:txBody>
      </p:sp>
      <p:sp>
        <p:nvSpPr>
          <p:cNvPr id="29" name="Shape 23"/>
          <p:cNvSpPr/>
          <p:nvPr/>
        </p:nvSpPr>
        <p:spPr>
          <a:xfrm>
            <a:off x="9509760" y="4663440"/>
            <a:ext cx="868680" cy="274320"/>
          </a:xfrm>
          <a:prstGeom prst="roundRect">
            <a:avLst>
              <a:gd name="adj" fmla="val 50000"/>
            </a:avLst>
          </a:prstGeom>
          <a:solidFill>
            <a:srgbClr val="D5DEEA"/>
          </a:solidFill>
          <a:ln w="12700">
            <a:solidFill>
              <a:srgbClr val="D5DEEA"/>
            </a:solidFill>
            <a:prstDash val="solid"/>
          </a:ln>
        </p:spPr>
        <p:txBody>
          <a:bodyPr/>
          <a:lstStyle/>
          <a:p>
            <a:endParaRPr lang="en-US"/>
          </a:p>
        </p:txBody>
      </p:sp>
      <p:sp>
        <p:nvSpPr>
          <p:cNvPr id="30" name="Text 24"/>
          <p:cNvSpPr txBox="1"/>
          <p:nvPr/>
        </p:nvSpPr>
        <p:spPr>
          <a:xfrm>
            <a:off x="9509760" y="4663440"/>
            <a:ext cx="868680" cy="274320"/>
          </a:xfrm>
          <a:prstGeom prst="rect">
            <a:avLst/>
          </a:prstGeom>
          <a:noFill/>
          <a:ln/>
        </p:spPr>
        <p:txBody>
          <a:bodyPr wrap="square" lIns="0" tIns="0" rIns="0" bIns="0" rtlCol="0" anchor="ctr"/>
          <a:lstStyle/>
          <a:p>
            <a:pPr marL="0" indent="0" algn="ctr">
              <a:buNone/>
            </a:pPr>
            <a:r>
              <a:rPr lang="en-US" sz="1000" b="1" dirty="0">
                <a:solidFill>
                  <a:srgbClr val="0F2A4A"/>
                </a:solidFill>
              </a:rPr>
              <a:t>PLANNED</a:t>
            </a:r>
            <a:endParaRPr lang="en-US" sz="1000" dirty="0"/>
          </a:p>
        </p:txBody>
      </p:sp>
      <p:sp>
        <p:nvSpPr>
          <p:cNvPr id="31" name="Text 25"/>
          <p:cNvSpPr txBox="1"/>
          <p:nvPr/>
        </p:nvSpPr>
        <p:spPr>
          <a:xfrm>
            <a:off x="9509760" y="4983480"/>
            <a:ext cx="2130552" cy="548640"/>
          </a:xfrm>
          <a:prstGeom prst="rect">
            <a:avLst/>
          </a:prstGeom>
          <a:noFill/>
          <a:ln/>
        </p:spPr>
        <p:txBody>
          <a:bodyPr wrap="square" lIns="0" tIns="0" rIns="0" bIns="0" rtlCol="0" anchor="t"/>
          <a:lstStyle/>
          <a:p>
            <a:pPr marL="0" indent="0">
              <a:buNone/>
            </a:pPr>
            <a:r>
              <a:rPr lang="en-US" sz="1100" dirty="0">
                <a:solidFill>
                  <a:schemeClr val="bg1"/>
                </a:solidFill>
              </a:rPr>
              <a:t>Real CV parsing, AI and job data (simulated)</a:t>
            </a:r>
            <a:endParaRPr lang="en-US" sz="1100" dirty="0"/>
          </a:p>
        </p:txBody>
      </p:sp>
      <p:sp>
        <p:nvSpPr>
          <p:cNvPr id="32" name="Text 26"/>
          <p:cNvSpPr txBox="1"/>
          <p:nvPr/>
        </p:nvSpPr>
        <p:spPr>
          <a:xfrm>
            <a:off x="548640" y="5852160"/>
            <a:ext cx="10972800" cy="274320"/>
          </a:xfrm>
          <a:prstGeom prst="rect">
            <a:avLst/>
          </a:prstGeom>
          <a:noFill/>
          <a:ln/>
        </p:spPr>
        <p:txBody>
          <a:bodyPr wrap="square" lIns="0" tIns="0" rIns="0" bIns="0" rtlCol="0" anchor="t"/>
          <a:lstStyle/>
          <a:p>
            <a:pPr marL="0" indent="0">
              <a:buNone/>
            </a:pPr>
            <a:r>
              <a:rPr lang="en-US" sz="1200" dirty="0">
                <a:solidFill>
                  <a:schemeClr val="accent4"/>
                </a:solidFill>
              </a:rPr>
              <a:t>All jobs, scores and documents in the demo are illustrative. No real personal data is stored.</a:t>
            </a:r>
            <a:endParaRPr lang="en-US" sz="12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548640" y="822960"/>
            <a:ext cx="11064240" cy="274320"/>
          </a:xfrm>
          <a:prstGeom prst="rect">
            <a:avLst/>
          </a:prstGeom>
          <a:noFill/>
          <a:ln/>
        </p:spPr>
        <p:txBody>
          <a:bodyPr wrap="square" lIns="0" tIns="0" rIns="0" bIns="0" rtlCol="0"/>
          <a:lstStyle/>
          <a:p>
            <a:pPr marL="0" indent="0">
              <a:buNone/>
            </a:pPr>
            <a:r>
              <a:rPr lang="en-US" sz="1200" b="1" kern="0" spc="200" dirty="0">
                <a:solidFill>
                  <a:schemeClr val="accent1"/>
                </a:solidFill>
              </a:rPr>
              <a:t>07 · INTEGRATION AND CONCLUSION</a:t>
            </a:r>
            <a:endParaRPr lang="en-US" sz="1200" dirty="0"/>
          </a:p>
        </p:txBody>
      </p:sp>
      <p:sp>
        <p:nvSpPr>
          <p:cNvPr id="3" name="Text 1"/>
          <p:cNvSpPr>
            <a:spLocks noGrp="1"/>
          </p:cNvSpPr>
          <p:nvPr>
            <p:ph type="title" idx="103" hasCustomPrompt="1"/>
          </p:nvPr>
        </p:nvSpPr>
        <p:spPr>
          <a:xfrm>
            <a:off x="548640" y="1097280"/>
            <a:ext cx="11064240" cy="731520"/>
          </a:xfrm>
          <a:prstGeom prst="rect">
            <a:avLst/>
          </a:prstGeom>
          <a:noFill/>
          <a:ln/>
        </p:spPr>
        <p:txBody>
          <a:bodyPr wrap="square" lIns="0" tIns="0" rIns="0" bIns="0" rtlCol="0" anchor="t"/>
          <a:lstStyle/>
          <a:p>
            <a:pPr marL="0" indent="0" algn="l">
              <a:buNone/>
            </a:pPr>
            <a:r>
              <a:rPr lang="en-US" sz="3200" b="1" dirty="0">
                <a:solidFill>
                  <a:schemeClr val="tx1"/>
                </a:solidFill>
              </a:rPr>
              <a:t>One connected package, from PRD to prototype</a:t>
            </a:r>
            <a:endParaRPr lang="en-US" sz="3200" dirty="0"/>
          </a:p>
        </p:txBody>
      </p:sp>
      <p:sp>
        <p:nvSpPr>
          <p:cNvPr id="4" name="Text 2"/>
          <p:cNvSpPr txBox="1"/>
          <p:nvPr/>
        </p:nvSpPr>
        <p:spPr>
          <a:xfrm>
            <a:off x="507492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Problem</a:t>
            </a:r>
            <a:endParaRPr lang="en-US" sz="1000" dirty="0"/>
          </a:p>
        </p:txBody>
      </p:sp>
      <p:sp>
        <p:nvSpPr>
          <p:cNvPr id="5" name="Text 3"/>
          <p:cNvSpPr txBox="1"/>
          <p:nvPr/>
        </p:nvSpPr>
        <p:spPr>
          <a:xfrm>
            <a:off x="6016752"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Users</a:t>
            </a:r>
            <a:endParaRPr lang="en-US" sz="1000" dirty="0"/>
          </a:p>
        </p:txBody>
      </p:sp>
      <p:sp>
        <p:nvSpPr>
          <p:cNvPr id="6" name="Text 4"/>
          <p:cNvSpPr txBox="1"/>
          <p:nvPr/>
        </p:nvSpPr>
        <p:spPr>
          <a:xfrm>
            <a:off x="6958584"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PRD</a:t>
            </a:r>
            <a:endParaRPr lang="en-US" sz="1000" dirty="0"/>
          </a:p>
        </p:txBody>
      </p:sp>
      <p:sp>
        <p:nvSpPr>
          <p:cNvPr id="7" name="Text 5"/>
          <p:cNvSpPr txBox="1"/>
          <p:nvPr/>
        </p:nvSpPr>
        <p:spPr>
          <a:xfrm>
            <a:off x="7900416"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Backlog</a:t>
            </a:r>
            <a:endParaRPr lang="en-US" sz="1000" dirty="0"/>
          </a:p>
        </p:txBody>
      </p:sp>
      <p:sp>
        <p:nvSpPr>
          <p:cNvPr id="8" name="Text 6"/>
          <p:cNvSpPr txBox="1"/>
          <p:nvPr/>
        </p:nvSpPr>
        <p:spPr>
          <a:xfrm>
            <a:off x="8842248"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Figma</a:t>
            </a:r>
            <a:endParaRPr lang="en-US" sz="1000" dirty="0"/>
          </a:p>
        </p:txBody>
      </p:sp>
      <p:sp>
        <p:nvSpPr>
          <p:cNvPr id="9" name="Text 7"/>
          <p:cNvSpPr txBox="1"/>
          <p:nvPr/>
        </p:nvSpPr>
        <p:spPr>
          <a:xfrm>
            <a:off x="9784080" y="310896"/>
            <a:ext cx="896112" cy="256032"/>
          </a:xfrm>
          <a:prstGeom prst="rect">
            <a:avLst/>
          </a:prstGeom>
          <a:noFill/>
          <a:ln/>
        </p:spPr>
        <p:txBody>
          <a:bodyPr wrap="square" lIns="0" tIns="0" rIns="0" bIns="0" rtlCol="0" anchor="ctr"/>
          <a:lstStyle/>
          <a:p>
            <a:pPr marL="0" indent="0" algn="ctr">
              <a:buNone/>
            </a:pPr>
            <a:r>
              <a:rPr lang="en-US" sz="1000" dirty="0">
                <a:solidFill>
                  <a:srgbClr val="5B6B80"/>
                </a:solidFill>
              </a:rPr>
              <a:t>Demo</a:t>
            </a:r>
            <a:endParaRPr lang="en-US" sz="1000" dirty="0"/>
          </a:p>
        </p:txBody>
      </p:sp>
      <p:sp>
        <p:nvSpPr>
          <p:cNvPr id="10" name="Text 8"/>
          <p:cNvSpPr txBox="1"/>
          <p:nvPr/>
        </p:nvSpPr>
        <p:spPr>
          <a:xfrm>
            <a:off x="10725912" y="310896"/>
            <a:ext cx="896112" cy="256032"/>
          </a:xfrm>
          <a:prstGeom prst="rect">
            <a:avLst/>
          </a:prstGeom>
          <a:solidFill>
            <a:srgbClr val="F2542D"/>
          </a:solidFill>
          <a:ln/>
        </p:spPr>
        <p:txBody>
          <a:bodyPr wrap="square" lIns="0" tIns="0" rIns="0" bIns="0" rtlCol="0" anchor="ctr"/>
          <a:lstStyle/>
          <a:p>
            <a:pPr marL="0" indent="0" algn="ctr">
              <a:buNone/>
            </a:pPr>
            <a:r>
              <a:rPr lang="en-US" sz="1000" b="1" dirty="0">
                <a:solidFill>
                  <a:srgbClr val="FFFFFF"/>
                </a:solidFill>
              </a:rPr>
              <a:t>Integration</a:t>
            </a:r>
            <a:endParaRPr lang="en-US" sz="1000" dirty="0"/>
          </a:p>
        </p:txBody>
      </p:sp>
      <p:sp>
        <p:nvSpPr>
          <p:cNvPr id="11" name="chain"/>
          <p:cNvSpPr/>
          <p:nvPr/>
        </p:nvSpPr>
        <p:spPr>
          <a:xfrm>
            <a:off x="548640" y="2011680"/>
            <a:ext cx="2514600" cy="1143000"/>
          </a:xfrm>
          <a:prstGeom prst="roundRect">
            <a:avLst>
              <a:gd name="adj" fmla="val 9600"/>
            </a:avLst>
          </a:prstGeom>
          <a:solidFill>
            <a:schemeClr val="bg1"/>
          </a:solidFill>
          <a:ln w="12700">
            <a:solidFill>
              <a:schemeClr val="bg1"/>
            </a:solidFill>
            <a:prstDash val="solid"/>
          </a:ln>
        </p:spPr>
        <p:txBody>
          <a:bodyPr/>
          <a:lstStyle/>
          <a:p>
            <a:endParaRPr lang="en-US"/>
          </a:p>
        </p:txBody>
      </p:sp>
      <p:sp>
        <p:nvSpPr>
          <p:cNvPr id="12" name="Text 10"/>
          <p:cNvSpPr txBox="1"/>
          <p:nvPr/>
        </p:nvSpPr>
        <p:spPr>
          <a:xfrm>
            <a:off x="777240" y="2130552"/>
            <a:ext cx="214884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CONFLUENCE</a:t>
            </a:r>
            <a:endParaRPr lang="en-US" sz="1000" dirty="0"/>
          </a:p>
        </p:txBody>
      </p:sp>
      <p:sp>
        <p:nvSpPr>
          <p:cNvPr id="13" name="Text 11"/>
          <p:cNvSpPr txBox="1"/>
          <p:nvPr/>
        </p:nvSpPr>
        <p:spPr>
          <a:xfrm>
            <a:off x="777240" y="2377440"/>
            <a:ext cx="2148840" cy="365760"/>
          </a:xfrm>
          <a:prstGeom prst="rect">
            <a:avLst/>
          </a:prstGeom>
          <a:noFill/>
          <a:ln/>
        </p:spPr>
        <p:txBody>
          <a:bodyPr wrap="square" lIns="0" tIns="0" rIns="0" bIns="0" rtlCol="0" anchor="t"/>
          <a:lstStyle/>
          <a:p>
            <a:pPr marL="0" indent="0">
              <a:buNone/>
            </a:pPr>
            <a:r>
              <a:rPr lang="en-US" sz="2000" b="1" dirty="0">
                <a:solidFill>
                  <a:schemeClr val="tx1"/>
                </a:solidFill>
              </a:rPr>
              <a:t>PRD</a:t>
            </a:r>
            <a:endParaRPr lang="en-US" sz="2000" dirty="0"/>
          </a:p>
        </p:txBody>
      </p:sp>
      <p:sp>
        <p:nvSpPr>
          <p:cNvPr id="14" name="Text 12"/>
          <p:cNvSpPr txBox="1"/>
          <p:nvPr/>
        </p:nvSpPr>
        <p:spPr>
          <a:xfrm>
            <a:off x="777240" y="2761488"/>
            <a:ext cx="2148840" cy="274320"/>
          </a:xfrm>
          <a:prstGeom prst="rect">
            <a:avLst/>
          </a:prstGeom>
          <a:noFill/>
          <a:ln/>
        </p:spPr>
        <p:txBody>
          <a:bodyPr wrap="square" lIns="0" tIns="0" rIns="0" bIns="0" rtlCol="0" anchor="t"/>
          <a:lstStyle/>
          <a:p>
            <a:pPr marL="0" indent="0">
              <a:buNone/>
            </a:pPr>
            <a:r>
              <a:rPr lang="en-US" sz="1200" dirty="0">
                <a:solidFill>
                  <a:schemeClr val="tx2"/>
                </a:solidFill>
              </a:rPr>
              <a:t>what and why</a:t>
            </a:r>
            <a:endParaRPr lang="en-US" sz="1200" dirty="0"/>
          </a:p>
        </p:txBody>
      </p:sp>
      <p:sp>
        <p:nvSpPr>
          <p:cNvPr id="15" name="Shape 13"/>
          <p:cNvSpPr/>
          <p:nvPr/>
        </p:nvSpPr>
        <p:spPr>
          <a:xfrm>
            <a:off x="3108960" y="2578608"/>
            <a:ext cx="274320" cy="0"/>
          </a:xfrm>
          <a:prstGeom prst="line">
            <a:avLst/>
          </a:prstGeom>
          <a:noFill/>
          <a:ln w="31750">
            <a:solidFill>
              <a:srgbClr val="F2542D"/>
            </a:solidFill>
            <a:prstDash val="solid"/>
            <a:tailEnd type="triangle"/>
          </a:ln>
        </p:spPr>
        <p:txBody>
          <a:bodyPr/>
          <a:lstStyle/>
          <a:p>
            <a:endParaRPr lang="en-US"/>
          </a:p>
        </p:txBody>
      </p:sp>
      <p:sp>
        <p:nvSpPr>
          <p:cNvPr id="16" name="chain"/>
          <p:cNvSpPr/>
          <p:nvPr/>
        </p:nvSpPr>
        <p:spPr>
          <a:xfrm>
            <a:off x="3429000" y="2011680"/>
            <a:ext cx="2514600" cy="1143000"/>
          </a:xfrm>
          <a:prstGeom prst="roundRect">
            <a:avLst>
              <a:gd name="adj" fmla="val 9600"/>
            </a:avLst>
          </a:prstGeom>
          <a:solidFill>
            <a:schemeClr val="bg1"/>
          </a:solidFill>
          <a:ln w="12700">
            <a:solidFill>
              <a:schemeClr val="bg1"/>
            </a:solidFill>
            <a:prstDash val="solid"/>
          </a:ln>
        </p:spPr>
        <p:txBody>
          <a:bodyPr/>
          <a:lstStyle/>
          <a:p>
            <a:endParaRPr lang="en-US"/>
          </a:p>
        </p:txBody>
      </p:sp>
      <p:sp>
        <p:nvSpPr>
          <p:cNvPr id="17" name="Text 15"/>
          <p:cNvSpPr txBox="1"/>
          <p:nvPr/>
        </p:nvSpPr>
        <p:spPr>
          <a:xfrm>
            <a:off x="3657600" y="2130552"/>
            <a:ext cx="214884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JIRA</a:t>
            </a:r>
            <a:endParaRPr lang="en-US" sz="1000" dirty="0"/>
          </a:p>
        </p:txBody>
      </p:sp>
      <p:sp>
        <p:nvSpPr>
          <p:cNvPr id="18" name="Text 16"/>
          <p:cNvSpPr txBox="1"/>
          <p:nvPr/>
        </p:nvSpPr>
        <p:spPr>
          <a:xfrm>
            <a:off x="3657600" y="2377440"/>
            <a:ext cx="2148840" cy="365760"/>
          </a:xfrm>
          <a:prstGeom prst="rect">
            <a:avLst/>
          </a:prstGeom>
          <a:noFill/>
          <a:ln/>
        </p:spPr>
        <p:txBody>
          <a:bodyPr wrap="square" lIns="0" tIns="0" rIns="0" bIns="0" rtlCol="0" anchor="t"/>
          <a:lstStyle/>
          <a:p>
            <a:pPr marL="0" indent="0">
              <a:buNone/>
            </a:pPr>
            <a:r>
              <a:rPr lang="en-US" sz="2000" b="1" dirty="0">
                <a:solidFill>
                  <a:schemeClr val="tx1"/>
                </a:solidFill>
              </a:rPr>
              <a:t>Backlog</a:t>
            </a:r>
            <a:endParaRPr lang="en-US" sz="2000" dirty="0"/>
          </a:p>
        </p:txBody>
      </p:sp>
      <p:sp>
        <p:nvSpPr>
          <p:cNvPr id="19" name="Text 17"/>
          <p:cNvSpPr txBox="1"/>
          <p:nvPr/>
        </p:nvSpPr>
        <p:spPr>
          <a:xfrm>
            <a:off x="3657600" y="2761488"/>
            <a:ext cx="2148840" cy="274320"/>
          </a:xfrm>
          <a:prstGeom prst="rect">
            <a:avLst/>
          </a:prstGeom>
          <a:noFill/>
          <a:ln/>
        </p:spPr>
        <p:txBody>
          <a:bodyPr wrap="square" lIns="0" tIns="0" rIns="0" bIns="0" rtlCol="0" anchor="t"/>
          <a:lstStyle/>
          <a:p>
            <a:pPr marL="0" indent="0">
              <a:buNone/>
            </a:pPr>
            <a:r>
              <a:rPr lang="en-US" sz="1200" dirty="0">
                <a:solidFill>
                  <a:schemeClr val="tx2"/>
                </a:solidFill>
              </a:rPr>
              <a:t>who builds what, when</a:t>
            </a:r>
            <a:endParaRPr lang="en-US" sz="1200" dirty="0"/>
          </a:p>
        </p:txBody>
      </p:sp>
      <p:sp>
        <p:nvSpPr>
          <p:cNvPr id="20" name="Shape 18"/>
          <p:cNvSpPr/>
          <p:nvPr/>
        </p:nvSpPr>
        <p:spPr>
          <a:xfrm>
            <a:off x="5989320" y="2578608"/>
            <a:ext cx="274320" cy="0"/>
          </a:xfrm>
          <a:prstGeom prst="line">
            <a:avLst/>
          </a:prstGeom>
          <a:noFill/>
          <a:ln w="31750">
            <a:solidFill>
              <a:srgbClr val="F2542D"/>
            </a:solidFill>
            <a:prstDash val="solid"/>
            <a:tailEnd type="triangle"/>
          </a:ln>
        </p:spPr>
        <p:txBody>
          <a:bodyPr/>
          <a:lstStyle/>
          <a:p>
            <a:endParaRPr lang="en-US"/>
          </a:p>
        </p:txBody>
      </p:sp>
      <p:sp>
        <p:nvSpPr>
          <p:cNvPr id="21" name="chain"/>
          <p:cNvSpPr/>
          <p:nvPr/>
        </p:nvSpPr>
        <p:spPr>
          <a:xfrm>
            <a:off x="6309360" y="2011680"/>
            <a:ext cx="2514600" cy="1143000"/>
          </a:xfrm>
          <a:prstGeom prst="roundRect">
            <a:avLst>
              <a:gd name="adj" fmla="val 9600"/>
            </a:avLst>
          </a:prstGeom>
          <a:solidFill>
            <a:schemeClr val="bg1"/>
          </a:solidFill>
          <a:ln w="12700">
            <a:solidFill>
              <a:schemeClr val="bg1"/>
            </a:solidFill>
            <a:prstDash val="solid"/>
          </a:ln>
        </p:spPr>
        <p:txBody>
          <a:bodyPr/>
          <a:lstStyle/>
          <a:p>
            <a:endParaRPr lang="en-US"/>
          </a:p>
        </p:txBody>
      </p:sp>
      <p:sp>
        <p:nvSpPr>
          <p:cNvPr id="22" name="Text 20"/>
          <p:cNvSpPr txBox="1"/>
          <p:nvPr/>
        </p:nvSpPr>
        <p:spPr>
          <a:xfrm>
            <a:off x="6537960" y="2130552"/>
            <a:ext cx="214884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FIGMA</a:t>
            </a:r>
            <a:endParaRPr lang="en-US" sz="1000" dirty="0"/>
          </a:p>
        </p:txBody>
      </p:sp>
      <p:sp>
        <p:nvSpPr>
          <p:cNvPr id="23" name="Text 21"/>
          <p:cNvSpPr txBox="1"/>
          <p:nvPr/>
        </p:nvSpPr>
        <p:spPr>
          <a:xfrm>
            <a:off x="6537960" y="2377440"/>
            <a:ext cx="2148840" cy="365760"/>
          </a:xfrm>
          <a:prstGeom prst="rect">
            <a:avLst/>
          </a:prstGeom>
          <a:noFill/>
          <a:ln/>
        </p:spPr>
        <p:txBody>
          <a:bodyPr wrap="square" lIns="0" tIns="0" rIns="0" bIns="0" rtlCol="0" anchor="t"/>
          <a:lstStyle/>
          <a:p>
            <a:pPr marL="0" indent="0">
              <a:buNone/>
            </a:pPr>
            <a:r>
              <a:rPr lang="en-US" sz="2000" b="1" dirty="0">
                <a:solidFill>
                  <a:schemeClr val="tx1"/>
                </a:solidFill>
              </a:rPr>
              <a:t>Wireframes</a:t>
            </a:r>
            <a:endParaRPr lang="en-US" sz="2000" dirty="0"/>
          </a:p>
        </p:txBody>
      </p:sp>
      <p:sp>
        <p:nvSpPr>
          <p:cNvPr id="24" name="Text 22"/>
          <p:cNvSpPr txBox="1"/>
          <p:nvPr/>
        </p:nvSpPr>
        <p:spPr>
          <a:xfrm>
            <a:off x="6537960" y="2761488"/>
            <a:ext cx="2148840" cy="274320"/>
          </a:xfrm>
          <a:prstGeom prst="rect">
            <a:avLst/>
          </a:prstGeom>
          <a:noFill/>
          <a:ln/>
        </p:spPr>
        <p:txBody>
          <a:bodyPr wrap="square" lIns="0" tIns="0" rIns="0" bIns="0" rtlCol="0" anchor="t"/>
          <a:lstStyle/>
          <a:p>
            <a:pPr marL="0" indent="0">
              <a:buNone/>
            </a:pPr>
            <a:r>
              <a:rPr lang="en-US" sz="1200" dirty="0">
                <a:solidFill>
                  <a:schemeClr val="tx2"/>
                </a:solidFill>
              </a:rPr>
              <a:t>how it looks and flows</a:t>
            </a:r>
            <a:endParaRPr lang="en-US" sz="1200" dirty="0"/>
          </a:p>
        </p:txBody>
      </p:sp>
      <p:sp>
        <p:nvSpPr>
          <p:cNvPr id="25" name="Shape 23"/>
          <p:cNvSpPr/>
          <p:nvPr/>
        </p:nvSpPr>
        <p:spPr>
          <a:xfrm>
            <a:off x="8869680" y="2578608"/>
            <a:ext cx="274320" cy="0"/>
          </a:xfrm>
          <a:prstGeom prst="line">
            <a:avLst/>
          </a:prstGeom>
          <a:noFill/>
          <a:ln w="31750">
            <a:solidFill>
              <a:srgbClr val="F2542D"/>
            </a:solidFill>
            <a:prstDash val="solid"/>
            <a:tailEnd type="triangle"/>
          </a:ln>
        </p:spPr>
        <p:txBody>
          <a:bodyPr/>
          <a:lstStyle/>
          <a:p>
            <a:endParaRPr lang="en-US"/>
          </a:p>
        </p:txBody>
      </p:sp>
      <p:sp>
        <p:nvSpPr>
          <p:cNvPr id="26" name="chain"/>
          <p:cNvSpPr/>
          <p:nvPr/>
        </p:nvSpPr>
        <p:spPr>
          <a:xfrm>
            <a:off x="9189720" y="2011680"/>
            <a:ext cx="2514600" cy="1143000"/>
          </a:xfrm>
          <a:prstGeom prst="roundRect">
            <a:avLst>
              <a:gd name="adj" fmla="val 9600"/>
            </a:avLst>
          </a:prstGeom>
          <a:solidFill>
            <a:srgbClr val="0F2A4A"/>
          </a:solidFill>
          <a:ln w="12700">
            <a:solidFill>
              <a:srgbClr val="0F2A4A"/>
            </a:solidFill>
            <a:prstDash val="solid"/>
          </a:ln>
        </p:spPr>
        <p:txBody>
          <a:bodyPr/>
          <a:lstStyle/>
          <a:p>
            <a:endParaRPr lang="en-US"/>
          </a:p>
        </p:txBody>
      </p:sp>
      <p:sp>
        <p:nvSpPr>
          <p:cNvPr id="27" name="Text 25"/>
          <p:cNvSpPr txBox="1"/>
          <p:nvPr/>
        </p:nvSpPr>
        <p:spPr>
          <a:xfrm>
            <a:off x="9418320" y="2130552"/>
            <a:ext cx="214884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NEXT.JS · GITHUB</a:t>
            </a:r>
            <a:endParaRPr lang="en-US" sz="1000" dirty="0"/>
          </a:p>
        </p:txBody>
      </p:sp>
      <p:sp>
        <p:nvSpPr>
          <p:cNvPr id="28" name="Text 26"/>
          <p:cNvSpPr txBox="1"/>
          <p:nvPr/>
        </p:nvSpPr>
        <p:spPr>
          <a:xfrm>
            <a:off x="9418320" y="2377440"/>
            <a:ext cx="2148840" cy="365760"/>
          </a:xfrm>
          <a:prstGeom prst="rect">
            <a:avLst/>
          </a:prstGeom>
          <a:noFill/>
          <a:ln/>
        </p:spPr>
        <p:txBody>
          <a:bodyPr wrap="square" lIns="0" tIns="0" rIns="0" bIns="0" rtlCol="0" anchor="t"/>
          <a:lstStyle/>
          <a:p>
            <a:pPr marL="0" indent="0">
              <a:buNone/>
            </a:pPr>
            <a:r>
              <a:rPr lang="en-US" sz="2000" b="1" dirty="0">
                <a:solidFill>
                  <a:schemeClr val="bg1"/>
                </a:solidFill>
              </a:rPr>
              <a:t>Prototype</a:t>
            </a:r>
            <a:endParaRPr lang="en-US" sz="2000" dirty="0"/>
          </a:p>
        </p:txBody>
      </p:sp>
      <p:sp>
        <p:nvSpPr>
          <p:cNvPr id="29" name="Text 27"/>
          <p:cNvSpPr txBox="1"/>
          <p:nvPr/>
        </p:nvSpPr>
        <p:spPr>
          <a:xfrm>
            <a:off x="9418320" y="2761488"/>
            <a:ext cx="2148840" cy="274320"/>
          </a:xfrm>
          <a:prstGeom prst="rect">
            <a:avLst/>
          </a:prstGeom>
          <a:noFill/>
          <a:ln/>
        </p:spPr>
        <p:txBody>
          <a:bodyPr wrap="square" lIns="0" tIns="0" rIns="0" bIns="0" rtlCol="0" anchor="t"/>
          <a:lstStyle/>
          <a:p>
            <a:pPr marL="0" indent="0">
              <a:buNone/>
            </a:pPr>
            <a:r>
              <a:rPr lang="en-US" sz="1200" dirty="0">
                <a:solidFill>
                  <a:schemeClr val="accent4"/>
                </a:solidFill>
              </a:rPr>
              <a:t>how it works</a:t>
            </a:r>
            <a:endParaRPr lang="en-US" sz="1200" dirty="0"/>
          </a:p>
        </p:txBody>
      </p:sp>
      <p:sp>
        <p:nvSpPr>
          <p:cNvPr id="30" name="Text 28"/>
          <p:cNvSpPr txBox="1"/>
          <p:nvPr/>
        </p:nvSpPr>
        <p:spPr>
          <a:xfrm>
            <a:off x="548640" y="3291840"/>
            <a:ext cx="11064240" cy="274320"/>
          </a:xfrm>
          <a:prstGeom prst="rect">
            <a:avLst/>
          </a:prstGeom>
          <a:noFill/>
          <a:ln/>
        </p:spPr>
        <p:txBody>
          <a:bodyPr wrap="square" lIns="0" tIns="0" rIns="0" bIns="0" rtlCol="0" anchor="t"/>
          <a:lstStyle/>
          <a:p>
            <a:pPr marL="0" indent="0">
              <a:buNone/>
            </a:pPr>
            <a:r>
              <a:rPr lang="en-US" sz="1300" dirty="0">
                <a:solidFill>
                  <a:schemeClr val="tx2"/>
                </a:solidFill>
              </a:rPr>
              <a:t>Example: unclear fit (P3) → FR18, FR19 → US3 in Sprint 4 → job list and score screens → /jobs in the demo</a:t>
            </a:r>
            <a:endParaRPr lang="en-US" sz="1300" dirty="0"/>
          </a:p>
        </p:txBody>
      </p:sp>
      <p:sp>
        <p:nvSpPr>
          <p:cNvPr id="31" name="concl"/>
          <p:cNvSpPr/>
          <p:nvPr/>
        </p:nvSpPr>
        <p:spPr>
          <a:xfrm>
            <a:off x="548640" y="3749040"/>
            <a:ext cx="3593592" cy="2286000"/>
          </a:xfrm>
          <a:prstGeom prst="roundRect">
            <a:avLst>
              <a:gd name="adj" fmla="val 4800"/>
            </a:avLst>
          </a:prstGeom>
          <a:solidFill>
            <a:schemeClr val="bg1"/>
          </a:solidFill>
          <a:ln w="12700">
            <a:solidFill>
              <a:schemeClr val="bg1"/>
            </a:solidFill>
            <a:prstDash val="solid"/>
          </a:ln>
        </p:spPr>
        <p:txBody>
          <a:bodyPr/>
          <a:lstStyle/>
          <a:p>
            <a:endParaRPr lang="en-US"/>
          </a:p>
        </p:txBody>
      </p:sp>
      <p:sp>
        <p:nvSpPr>
          <p:cNvPr id="32" name="Text 30"/>
          <p:cNvSpPr txBox="1"/>
          <p:nvPr/>
        </p:nvSpPr>
        <p:spPr>
          <a:xfrm>
            <a:off x="822960" y="3886200"/>
            <a:ext cx="3044952" cy="365760"/>
          </a:xfrm>
          <a:prstGeom prst="rect">
            <a:avLst/>
          </a:prstGeom>
          <a:noFill/>
          <a:ln/>
        </p:spPr>
        <p:txBody>
          <a:bodyPr wrap="square" lIns="0" tIns="0" rIns="0" bIns="0" rtlCol="0" anchor="t"/>
          <a:lstStyle/>
          <a:p>
            <a:pPr marL="0" indent="0">
              <a:buNone/>
            </a:pPr>
            <a:r>
              <a:rPr lang="en-US" sz="1800" b="1" dirty="0">
                <a:solidFill>
                  <a:schemeClr val="tx1"/>
                </a:solidFill>
              </a:rPr>
              <a:t>Key decisions</a:t>
            </a:r>
            <a:endParaRPr lang="en-US" sz="1800" dirty="0"/>
          </a:p>
        </p:txBody>
      </p:sp>
      <p:sp>
        <p:nvSpPr>
          <p:cNvPr id="33" name="Text 31"/>
          <p:cNvSpPr txBox="1"/>
          <p:nvPr/>
        </p:nvSpPr>
        <p:spPr>
          <a:xfrm>
            <a:off x="822960" y="4343400"/>
            <a:ext cx="313639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completeness gate: everyone gets scores</a:t>
            </a:r>
            <a:endParaRPr lang="en-US" sz="1400" dirty="0"/>
          </a:p>
          <a:p>
            <a:pPr marL="342900" indent="-342900">
              <a:spcAft>
                <a:spcPts val="600"/>
              </a:spcAft>
              <a:buSzPct val="100000"/>
              <a:buChar char="•"/>
            </a:pPr>
            <a:r>
              <a:rPr lang="en-US" sz="1400" dirty="0">
                <a:solidFill>
                  <a:schemeClr val="tx1"/>
                </a:solidFill>
              </a:rPr>
              <a:t>Public job lists only, no scraping</a:t>
            </a:r>
            <a:endParaRPr lang="en-US" sz="1400" dirty="0"/>
          </a:p>
          <a:p>
            <a:pPr marL="342900" indent="-342900">
              <a:spcAft>
                <a:spcPts val="600"/>
              </a:spcAft>
              <a:buSzPct val="100000"/>
              <a:buChar char="•"/>
            </a:pPr>
            <a:r>
              <a:rPr lang="en-US" sz="1400" dirty="0">
                <a:solidFill>
                  <a:schemeClr val="tx1"/>
                </a:solidFill>
              </a:rPr>
              <a:t>Free matching; credits pay for preparation</a:t>
            </a:r>
            <a:endParaRPr lang="en-US" sz="1400" dirty="0"/>
          </a:p>
        </p:txBody>
      </p:sp>
      <p:sp>
        <p:nvSpPr>
          <p:cNvPr id="34" name="concl"/>
          <p:cNvSpPr/>
          <p:nvPr/>
        </p:nvSpPr>
        <p:spPr>
          <a:xfrm>
            <a:off x="4297680" y="3749040"/>
            <a:ext cx="3593592" cy="2286000"/>
          </a:xfrm>
          <a:prstGeom prst="roundRect">
            <a:avLst>
              <a:gd name="adj" fmla="val 4800"/>
            </a:avLst>
          </a:prstGeom>
          <a:solidFill>
            <a:schemeClr val="bg1"/>
          </a:solidFill>
          <a:ln w="12700">
            <a:solidFill>
              <a:schemeClr val="bg1"/>
            </a:solidFill>
            <a:prstDash val="solid"/>
          </a:ln>
        </p:spPr>
        <p:txBody>
          <a:bodyPr/>
          <a:lstStyle/>
          <a:p>
            <a:endParaRPr lang="en-US"/>
          </a:p>
        </p:txBody>
      </p:sp>
      <p:sp>
        <p:nvSpPr>
          <p:cNvPr id="35" name="Text 33"/>
          <p:cNvSpPr txBox="1"/>
          <p:nvPr/>
        </p:nvSpPr>
        <p:spPr>
          <a:xfrm>
            <a:off x="4572000" y="3886200"/>
            <a:ext cx="3044952" cy="365760"/>
          </a:xfrm>
          <a:prstGeom prst="rect">
            <a:avLst/>
          </a:prstGeom>
          <a:noFill/>
          <a:ln/>
        </p:spPr>
        <p:txBody>
          <a:bodyPr wrap="square" lIns="0" tIns="0" rIns="0" bIns="0" rtlCol="0" anchor="t"/>
          <a:lstStyle/>
          <a:p>
            <a:pPr marL="0" indent="0">
              <a:buNone/>
            </a:pPr>
            <a:r>
              <a:rPr lang="en-US" sz="1800" b="1" dirty="0">
                <a:solidFill>
                  <a:schemeClr val="tx1"/>
                </a:solidFill>
              </a:rPr>
              <a:t>Lessons learned</a:t>
            </a:r>
            <a:endParaRPr lang="en-US" sz="1800" dirty="0"/>
          </a:p>
        </p:txBody>
      </p:sp>
      <p:sp>
        <p:nvSpPr>
          <p:cNvPr id="36" name="Text 34"/>
          <p:cNvSpPr txBox="1"/>
          <p:nvPr/>
        </p:nvSpPr>
        <p:spPr>
          <a:xfrm>
            <a:off x="4572000" y="4343400"/>
            <a:ext cx="313639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source of truth: change the PRD first</a:t>
            </a:r>
            <a:endParaRPr lang="en-US" sz="1400" dirty="0"/>
          </a:p>
          <a:p>
            <a:pPr marL="342900" indent="-342900">
              <a:spcAft>
                <a:spcPts val="600"/>
              </a:spcAft>
              <a:buSzPct val="100000"/>
              <a:buChar char="•"/>
            </a:pPr>
            <a:r>
              <a:rPr lang="en-US" sz="1400" dirty="0">
                <a:solidFill>
                  <a:schemeClr val="tx1"/>
                </a:solidFill>
              </a:rPr>
              <a:t>A decision ripples through every artefact</a:t>
            </a:r>
            <a:endParaRPr lang="en-US" sz="1400" dirty="0"/>
          </a:p>
          <a:p>
            <a:pPr marL="342900" indent="-342900">
              <a:spcAft>
                <a:spcPts val="600"/>
              </a:spcAft>
              <a:buSzPct val="100000"/>
              <a:buChar char="•"/>
            </a:pPr>
            <a:r>
              <a:rPr lang="en-US" sz="1400" dirty="0">
                <a:solidFill>
                  <a:schemeClr val="tx1"/>
                </a:solidFill>
              </a:rPr>
              <a:t>AI drafts fast; we verify every claim</a:t>
            </a:r>
            <a:endParaRPr lang="en-US" sz="1400" dirty="0"/>
          </a:p>
        </p:txBody>
      </p:sp>
      <p:sp>
        <p:nvSpPr>
          <p:cNvPr id="37" name="concl"/>
          <p:cNvSpPr/>
          <p:nvPr/>
        </p:nvSpPr>
        <p:spPr>
          <a:xfrm>
            <a:off x="8046720" y="3749040"/>
            <a:ext cx="3593592" cy="2286000"/>
          </a:xfrm>
          <a:prstGeom prst="roundRect">
            <a:avLst>
              <a:gd name="adj" fmla="val 4800"/>
            </a:avLst>
          </a:prstGeom>
          <a:solidFill>
            <a:srgbClr val="F2542D"/>
          </a:solidFill>
          <a:ln w="12700">
            <a:solidFill>
              <a:srgbClr val="F2542D"/>
            </a:solidFill>
            <a:prstDash val="solid"/>
          </a:ln>
        </p:spPr>
        <p:txBody>
          <a:bodyPr/>
          <a:lstStyle/>
          <a:p>
            <a:endParaRPr lang="en-US"/>
          </a:p>
        </p:txBody>
      </p:sp>
      <p:sp>
        <p:nvSpPr>
          <p:cNvPr id="38" name="Text 36"/>
          <p:cNvSpPr txBox="1"/>
          <p:nvPr/>
        </p:nvSpPr>
        <p:spPr>
          <a:xfrm>
            <a:off x="8321040" y="3886200"/>
            <a:ext cx="3044952" cy="365760"/>
          </a:xfrm>
          <a:prstGeom prst="rect">
            <a:avLst/>
          </a:prstGeom>
          <a:noFill/>
          <a:ln/>
        </p:spPr>
        <p:txBody>
          <a:bodyPr wrap="square" lIns="0" tIns="0" rIns="0" bIns="0" rtlCol="0" anchor="t"/>
          <a:lstStyle/>
          <a:p>
            <a:pPr marL="0" indent="0">
              <a:buNone/>
            </a:pPr>
            <a:r>
              <a:rPr lang="en-US" sz="1800" b="1" dirty="0">
                <a:solidFill>
                  <a:schemeClr val="bg1"/>
                </a:solidFill>
              </a:rPr>
              <a:t>Next steps</a:t>
            </a:r>
            <a:endParaRPr lang="en-US" sz="1800" dirty="0"/>
          </a:p>
        </p:txBody>
      </p:sp>
      <p:sp>
        <p:nvSpPr>
          <p:cNvPr id="39" name="Text 37"/>
          <p:cNvSpPr txBox="1"/>
          <p:nvPr/>
        </p:nvSpPr>
        <p:spPr>
          <a:xfrm>
            <a:off x="8321040" y="4343400"/>
            <a:ext cx="313639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15 user and 5 headhunter interviews</a:t>
            </a:r>
            <a:endParaRPr lang="en-US" sz="1400" dirty="0"/>
          </a:p>
          <a:p>
            <a:pPr marL="342900" indent="-342900">
              <a:spcAft>
                <a:spcPts val="600"/>
              </a:spcAft>
              <a:buSzPct val="100000"/>
              <a:buChar char="•"/>
            </a:pPr>
            <a:r>
              <a:rPr lang="en-US" sz="1400" dirty="0">
                <a:solidFill>
                  <a:schemeClr val="bg1"/>
                </a:solidFill>
              </a:rPr>
              <a:t>Test the score on 100 expert-labelled pairs</a:t>
            </a:r>
            <a:endParaRPr lang="en-US" sz="1400" dirty="0"/>
          </a:p>
          <a:p>
            <a:pPr marL="342900" indent="-342900">
              <a:spcAft>
                <a:spcPts val="600"/>
              </a:spcAft>
              <a:buSzPct val="100000"/>
              <a:buChar char="•"/>
            </a:pPr>
            <a:r>
              <a:rPr lang="en-US" sz="1400" dirty="0">
                <a:solidFill>
                  <a:schemeClr val="bg1"/>
                </a:solidFill>
              </a:rPr>
              <a:t>Engineering and legal review, then build</a:t>
            </a:r>
            <a:endParaRPr lang="en-US" sz="1400" dirty="0"/>
          </a:p>
        </p:txBody>
      </p:sp>
      <p:sp>
        <p:nvSpPr>
          <p:cNvPr id="40" name="Text 38"/>
          <p:cNvSpPr txBox="1"/>
          <p:nvPr/>
        </p:nvSpPr>
        <p:spPr>
          <a:xfrm>
            <a:off x="548640" y="6144768"/>
            <a:ext cx="10972800" cy="274320"/>
          </a:xfrm>
          <a:prstGeom prst="rect">
            <a:avLst/>
          </a:prstGeom>
          <a:noFill/>
          <a:ln/>
        </p:spPr>
        <p:txBody>
          <a:bodyPr wrap="square" lIns="0" tIns="0" rIns="0" bIns="0" rtlCol="0" anchor="t"/>
          <a:lstStyle/>
          <a:p>
            <a:pPr marL="0" indent="0">
              <a:buNone/>
            </a:pPr>
            <a:r>
              <a:rPr lang="en-US" sz="1300" b="1" dirty="0">
                <a:solidFill>
                  <a:schemeClr val="tx1"/>
                </a:solidFill>
              </a:rPr>
              <a:t>A clear route from discovery to application. Thank you.</a:t>
            </a:r>
            <a:endParaRPr lang="en-US" sz="1300" dirty="0"/>
          </a:p>
        </p:txBody>
      </p:sp>
      <p:sp>
        <p:nvSpPr>
          <p:cNvPr id="4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CareerPilot">
  <a:themeElements>
    <a:clrScheme name="CareerPilot">
      <a:dk1>
        <a:srgbClr val="0F2A4A"/>
      </a:dk1>
      <a:lt1>
        <a:srgbClr val="FFFFFF"/>
      </a:lt1>
      <a:dk2>
        <a:srgbClr val="5B6B80"/>
      </a:dk2>
      <a:lt2>
        <a:srgbClr val="E8EEF6"/>
      </a:lt2>
      <a:accent1>
        <a:srgbClr val="F2542D"/>
      </a:accent1>
      <a:accent2>
        <a:srgbClr val="1E4A7A"/>
      </a:accent2>
      <a:accent3>
        <a:srgbClr val="2E8B57"/>
      </a:accent3>
      <a:accent4>
        <a:srgbClr val="D5DEEA"/>
      </a:accent4>
      <a:accent5>
        <a:srgbClr val="FDE3DB"/>
      </a:accent5>
      <a:accent6>
        <a:srgbClr val="163A63"/>
      </a:accent6>
      <a:hlink>
        <a:srgbClr val="1E4A7A"/>
      </a:hlink>
      <a:folHlink>
        <a:srgbClr val="5B6B80"/>
      </a:folHlink>
    </a:clrScheme>
    <a:fontScheme name="Career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2041</Words>
  <Application>Microsoft Office PowerPoint</Application>
  <PresentationFormat>Widescreen</PresentationFormat>
  <Paragraphs>250</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CareerPilot</vt:lpstr>
      <vt:lpstr>PowerPoint Presentation</vt:lpstr>
      <vt:lpstr>Four people, one question: is this job a fit?</vt:lpstr>
      <vt:lpstr>The PRD defines what we build, for whom, and why</vt:lpstr>
      <vt:lpstr>9 epics, 29 stories, prioritised and planned in Jira</vt:lpstr>
      <vt:lpstr>Lena's journey, screen by screen in the Figma prototype</vt:lpstr>
      <vt:lpstr>From wireframes to a working, clickable app</vt:lpstr>
      <vt:lpstr>One connected package, from PRD to prototype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CareerPilot – Final Presentation</dc:title>
  <dc:subject>PptxGenJS Presentation</dc:subject>
  <dc:creator>Dan Glogoveanu</dc:creator>
  <cp:lastModifiedBy>Dan Glogoveanu</cp:lastModifiedBy>
  <cp:revision>2</cp:revision>
  <dcterms:created xsi:type="dcterms:W3CDTF">2026-10-08T14:44:41Z</dcterms:created>
  <dcterms:modified xsi:type="dcterms:W3CDTF">2026-10-08T14:46:57Z</dcterms:modified>
</cp:coreProperties>
</file>