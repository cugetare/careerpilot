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JetBrains Mono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SFBs38XHXluovTp0BchpQGZn1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5AD317-4925-4BC8-8E0B-B8CEDDE1BA60}">
  <a:tblStyle styleId="{355AD317-4925-4BC8-8E0B-B8CEDDE1B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Lena isn't alone. Markus: 60 alerts a week, no time for 59. Andrei: three languages, needs the real language requirement, has met fake recruiters. Sofia, a verified headhunter, wants available candidates who really fit her client's job, without trawling CV databases.</a:t>
            </a: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E8EEF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8" descr="/tmp/claude-0/-home-claude/d1b11841-31a5-5c6c-8b8a-2c68ca1b0a7c/scratchpad/deck/img/logo-navy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8640" y="292608"/>
            <a:ext cx="1353312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CareerPilot · Germany MVP · public launch 14 June 2027 (planned) · demo with illustrative data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 spc="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200" b="1" spc="200">
                <a:solidFill>
                  <a:schemeClr val="accent1"/>
                </a:solidFill>
              </a:rPr>
              <a:t>WHO WE BUILD FOR</a:t>
            </a:r>
            <a:endParaRPr sz="1200"/>
          </a:p>
        </p:txBody>
      </p:sp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900">
                <a:latin typeface="Inter"/>
                <a:ea typeface="Inter"/>
                <a:cs typeface="Inter"/>
                <a:sym typeface="Inter"/>
              </a:rPr>
              <a:t>Four personas, one foundation.</a:t>
            </a:r>
            <a:endParaRPr sz="3200"/>
          </a:p>
        </p:txBody>
      </p:sp>
      <p:sp>
        <p:nvSpPr>
          <p:cNvPr id="86" name="Google Shape;86;p3"/>
          <p:cNvSpPr/>
          <p:nvPr/>
        </p:nvSpPr>
        <p:spPr>
          <a:xfrm>
            <a:off x="548640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" descr="/tmp/claude-0/-home-claude/d1b11841-31a5-5c6c-8b8a-2c68ca1b0a7c/scratchpad/deck/img/markus.jpg"/>
          <p:cNvPicPr preferRelativeResize="0"/>
          <p:nvPr/>
        </p:nvPicPr>
        <p:blipFill rotWithShape="1">
          <a:blip r:embed="rId3">
            <a:alphaModFix/>
          </a:blip>
          <a:srcRect l="6283" t="2693" r="43974" b="49645"/>
          <a:stretch/>
        </p:blipFill>
        <p:spPr>
          <a:xfrm>
            <a:off x="1057215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3377185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/tmp/claude-0/-home-claude/d1b11841-31a5-5c6c-8b8a-2c68ca1b0a7c/scratchpad/deck/img/len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2788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6181344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3" descr="/tmp/claude-0/-home-claude/d1b11841-31a5-5c6c-8b8a-2c68ca1b0a7c/scratchpad/deck/img/andrei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966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6409944" y="4149125"/>
            <a:ext cx="21762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1" i="0" u="none" strike="noStrike" cap="none" spc="1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CANDIDATE · EXPAT</a:t>
            </a: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367830" y="4375379"/>
            <a:ext cx="21762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</a:rPr>
              <a:t>Andrei</a:t>
            </a:r>
            <a:endParaRPr sz="2200" b="1" dirty="0">
              <a:solidFill>
                <a:srgbClr val="0F2A4A"/>
              </a:solidFill>
              <a:latin typeface="Inter"/>
              <a:ea typeface="Inter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997696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/tmp/claude-0/-home-claude/d1b11841-31a5-5c6c-8b8a-2c68ca1b0a7c/scratchpad/deck/img/sofia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4432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9226296" y="4149125"/>
            <a:ext cx="21762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</a:pPr>
            <a:r>
              <a:rPr lang="en-US" sz="1000" b="1" i="0" u="none" strike="noStrike" cap="none" spc="1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HEADHUNTER · PILOT</a:t>
            </a: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9226296" y="4375379"/>
            <a:ext cx="21762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</a:rPr>
              <a:t>Sofia</a:t>
            </a:r>
            <a:endParaRPr sz="2200" b="1" dirty="0">
              <a:solidFill>
                <a:srgbClr val="0F2A4A"/>
              </a:solidFill>
              <a:latin typeface="Inter"/>
              <a:ea typeface="Inter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48640" y="612648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Personas are illustrative composites, still to be validated in 15 candidate and 5 headhunter interviews.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sldNum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35125" y="4149125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 · SENIOR</a:t>
            </a:r>
            <a:endParaRPr sz="13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735125" y="4305529"/>
            <a:ext cx="226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Markus</a:t>
            </a:r>
            <a:endParaRPr sz="900" dirty="0"/>
          </a:p>
        </p:txBody>
      </p:sp>
      <p:sp>
        <p:nvSpPr>
          <p:cNvPr id="106" name="Google Shape;106;p3"/>
          <p:cNvSpPr txBox="1"/>
          <p:nvPr/>
        </p:nvSpPr>
        <p:spPr>
          <a:xfrm>
            <a:off x="735125" y="4710207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Selective senior engineer</a:t>
            </a:r>
            <a:endParaRPr sz="900"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735125" y="5246781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Few worthwhile roles per month</a:t>
            </a:r>
            <a:endParaRPr sz="900" dirty="0">
              <a:solidFill>
                <a:srgbClr val="0F2A4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Needs reasons, not noise</a:t>
            </a:r>
          </a:p>
        </p:txBody>
      </p:sp>
      <p:sp>
        <p:nvSpPr>
          <p:cNvPr id="108" name="Google Shape;108;p3"/>
          <p:cNvSpPr txBox="1"/>
          <p:nvPr/>
        </p:nvSpPr>
        <p:spPr>
          <a:xfrm>
            <a:off x="735125" y="5702300"/>
            <a:ext cx="2260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09" name="Google Shape;109;p3"/>
          <p:cNvSpPr txBox="1"/>
          <p:nvPr/>
        </p:nvSpPr>
        <p:spPr>
          <a:xfrm>
            <a:off x="3572538" y="4149125"/>
            <a:ext cx="22605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 · GRADUATE</a:t>
            </a:r>
            <a:endParaRPr sz="1200" dirty="0"/>
          </a:p>
        </p:txBody>
      </p:sp>
      <p:sp>
        <p:nvSpPr>
          <p:cNvPr id="111" name="Google Shape;111;p3"/>
          <p:cNvSpPr txBox="1"/>
          <p:nvPr/>
        </p:nvSpPr>
        <p:spPr>
          <a:xfrm>
            <a:off x="3572538" y="470629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Recent graduate</a:t>
            </a:r>
            <a:endParaRPr sz="900" dirty="0"/>
          </a:p>
        </p:txBody>
      </p:sp>
      <p:sp>
        <p:nvSpPr>
          <p:cNvPr id="112" name="Google Shape;112;p3"/>
          <p:cNvSpPr txBox="1"/>
          <p:nvPr/>
        </p:nvSpPr>
        <p:spPr>
          <a:xfrm>
            <a:off x="3572538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Strong transferable skills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Needs explained fit &amp; gaps</a:t>
            </a:r>
            <a:endParaRPr lang="en-US" sz="900" dirty="0"/>
          </a:p>
        </p:txBody>
      </p:sp>
      <p:sp>
        <p:nvSpPr>
          <p:cNvPr id="3" name="Google Shape;176;h3c811332169675b0_3_32">
            <a:extLst>
              <a:ext uri="{FF2B5EF4-FFF2-40B4-BE49-F238E27FC236}">
                <a16:creationId xmlns:a16="http://schemas.microsoft.com/office/drawing/2014/main" id="{E46BFE6C-CD45-76F3-FBDA-2BD398FDABCC}"/>
              </a:ext>
            </a:extLst>
          </p:cNvPr>
          <p:cNvSpPr txBox="1"/>
          <p:nvPr/>
        </p:nvSpPr>
        <p:spPr>
          <a:xfrm>
            <a:off x="6367830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DE/EN CV &amp; cover letter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Controls who sees what</a:t>
            </a:r>
            <a:endParaRPr lang="en-US" sz="900" dirty="0"/>
          </a:p>
        </p:txBody>
      </p:sp>
      <p:sp>
        <p:nvSpPr>
          <p:cNvPr id="7" name="Google Shape;175;h3c811332169675b0_3_32">
            <a:extLst>
              <a:ext uri="{FF2B5EF4-FFF2-40B4-BE49-F238E27FC236}">
                <a16:creationId xmlns:a16="http://schemas.microsoft.com/office/drawing/2014/main" id="{073E1763-9DCA-8BB2-A919-B9790110485B}"/>
              </a:ext>
            </a:extLst>
          </p:cNvPr>
          <p:cNvSpPr txBox="1"/>
          <p:nvPr/>
        </p:nvSpPr>
        <p:spPr>
          <a:xfrm>
            <a:off x="6367830" y="471414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Multilingual expat</a:t>
            </a:r>
            <a:endParaRPr sz="900" dirty="0"/>
          </a:p>
        </p:txBody>
      </p:sp>
      <p:sp>
        <p:nvSpPr>
          <p:cNvPr id="9" name="Google Shape;180;h3c811332169675b0_3_32">
            <a:extLst>
              <a:ext uri="{FF2B5EF4-FFF2-40B4-BE49-F238E27FC236}">
                <a16:creationId xmlns:a16="http://schemas.microsoft.com/office/drawing/2014/main" id="{3C837B3D-C3F4-74A4-886A-657A1BEBFBAD}"/>
              </a:ext>
            </a:extLst>
          </p:cNvPr>
          <p:cNvSpPr txBox="1"/>
          <p:nvPr/>
        </p:nvSpPr>
        <p:spPr>
          <a:xfrm>
            <a:off x="9226296" y="470629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Verified headhunter</a:t>
            </a:r>
            <a:endParaRPr sz="900" dirty="0"/>
          </a:p>
        </p:txBody>
      </p:sp>
      <p:sp>
        <p:nvSpPr>
          <p:cNvPr id="11" name="Google Shape;181;h3c811332169675b0_3_32">
            <a:extLst>
              <a:ext uri="{FF2B5EF4-FFF2-40B4-BE49-F238E27FC236}">
                <a16:creationId xmlns:a16="http://schemas.microsoft.com/office/drawing/2014/main" id="{76C4DC21-CE2F-92F1-88CD-88ECEFA43E68}"/>
              </a:ext>
            </a:extLst>
          </p:cNvPr>
          <p:cNvSpPr txBox="1"/>
          <p:nvPr/>
        </p:nvSpPr>
        <p:spPr>
          <a:xfrm>
            <a:off x="9226296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Wants high-fit, available now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Invitation-only, </a:t>
            </a:r>
            <a:r>
              <a:rPr lang="en-US" sz="900" dirty="0" err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authorised</a:t>
            </a: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 JD</a:t>
            </a:r>
            <a:endParaRPr lang="en-US" sz="900" dirty="0"/>
          </a:p>
        </p:txBody>
      </p:sp>
      <p:sp>
        <p:nvSpPr>
          <p:cNvPr id="15" name="Google Shape;105;p3">
            <a:extLst>
              <a:ext uri="{FF2B5EF4-FFF2-40B4-BE49-F238E27FC236}">
                <a16:creationId xmlns:a16="http://schemas.microsoft.com/office/drawing/2014/main" id="{B55F4E9A-8190-D361-B6BF-8125966842C9}"/>
              </a:ext>
            </a:extLst>
          </p:cNvPr>
          <p:cNvSpPr txBox="1"/>
          <p:nvPr/>
        </p:nvSpPr>
        <p:spPr>
          <a:xfrm>
            <a:off x="3563671" y="4299179"/>
            <a:ext cx="22605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Lena</a:t>
            </a:r>
            <a:endParaRPr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Pilot">
  <a:themeElements>
    <a:clrScheme name="CareerPilot">
      <a:dk1>
        <a:srgbClr val="0F2A4A"/>
      </a:dk1>
      <a:lt1>
        <a:srgbClr val="FFFFFF"/>
      </a:lt1>
      <a:dk2>
        <a:srgbClr val="5B6B80"/>
      </a:dk2>
      <a:lt2>
        <a:srgbClr val="E8EEF6"/>
      </a:lt2>
      <a:accent1>
        <a:srgbClr val="F2542D"/>
      </a:accent1>
      <a:accent2>
        <a:srgbClr val="1E4A7A"/>
      </a:accent2>
      <a:accent3>
        <a:srgbClr val="2E8B57"/>
      </a:accent3>
      <a:accent4>
        <a:srgbClr val="D5DEEA"/>
      </a:accent4>
      <a:accent5>
        <a:srgbClr val="FDE3DB"/>
      </a:accent5>
      <a:accent6>
        <a:srgbClr val="163A63"/>
      </a:accent6>
      <a:hlink>
        <a:srgbClr val="1E4A7A"/>
      </a:hlink>
      <a:folHlink>
        <a:srgbClr val="5B6B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reerPilot">
  <a:themeElements>
    <a:clrScheme name="CareerPilot">
      <a:dk1>
        <a:srgbClr val="0F2A4A"/>
      </a:dk1>
      <a:lt1>
        <a:srgbClr val="FFFFFF"/>
      </a:lt1>
      <a:dk2>
        <a:srgbClr val="5B6B80"/>
      </a:dk2>
      <a:lt2>
        <a:srgbClr val="E8EEF6"/>
      </a:lt2>
      <a:accent1>
        <a:srgbClr val="F2542D"/>
      </a:accent1>
      <a:accent2>
        <a:srgbClr val="1E4A7A"/>
      </a:accent2>
      <a:accent3>
        <a:srgbClr val="2E8B57"/>
      </a:accent3>
      <a:accent4>
        <a:srgbClr val="D5DEEA"/>
      </a:accent4>
      <a:accent5>
        <a:srgbClr val="FDE3DB"/>
      </a:accent5>
      <a:accent6>
        <a:srgbClr val="163A63"/>
      </a:accent6>
      <a:hlink>
        <a:srgbClr val="1E4A7A"/>
      </a:hlink>
      <a:folHlink>
        <a:srgbClr val="5B6B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JetBrains Mono</vt:lpstr>
      <vt:lpstr>CareerPilot</vt:lpstr>
      <vt:lpstr>Four personas, one foundation.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 Glogoveanu</dc:creator>
  <cp:lastModifiedBy>Dan Glogoveanu</cp:lastModifiedBy>
  <cp:revision>1</cp:revision>
  <dcterms:created xsi:type="dcterms:W3CDTF">2026-10-08T11:18:39Z</dcterms:created>
  <dcterms:modified xsi:type="dcterms:W3CDTF">2026-10-09T09:36:14Z</dcterms:modified>
</cp:coreProperties>
</file>