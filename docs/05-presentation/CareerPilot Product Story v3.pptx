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cf3179e-efb2-a8fe-2cd4-e17a0a5689d7}">
          <p14:sldIdLst>
            <p14:sldId id="256"/>
            <p14:sldId id="257"/>
            <p14:sldId id="258"/>
            <p14:sldId id="259"/>
            <p14:sldId id="260"/>
          </p14:sldIdLst>
        </p14:section>
        <p14:section name="PRD" id="{ab4a57ce-c385-0a20-f20d-892a43501362}">
          <p14:sldIdLst>
            <p14:sldId id="261"/>
            <p14:sldId id="262"/>
            <p14:sldId id="263"/>
          </p14:sldIdLst>
        </p14:section>
        <p14:section name="Backlog" id="{3cb8c97c-7901-d520-8ea3-e83b4e585173}">
          <p14:sldIdLst>
            <p14:sldId id="264"/>
            <p14:sldId id="265"/>
          </p14:sldIdLst>
        </p14:section>
        <p14:section name="Wireframes" id="{cd2a9c19-3798-e564-6d24-032f6ffc8d99}">
          <p14:sldIdLst>
            <p14:sldId id="266"/>
          </p14:sldIdLst>
        </p14:section>
        <p14:section name="Integration" id="{3a5bc8c5-d8de-c9f0-e9e4-87b84335b6ea}">
          <p14:sldIdLst>
            <p14:sldId id="267"/>
            <p14:sldId id="268"/>
          </p14:sldIdLst>
        </p14:section>
        <p14:section name="Demo" id="{253c2ef4-e5d7-faac-c155-010d2989d0eb}">
          <p14:sldIdLst>
            <p14:sldId id="269"/>
          </p14:sldIdLst>
        </p14:section>
        <p14:section name="Close" id="{5b791de6-cba4-6954-b81a-359e8d6f8a0c}">
          <p14:sldIdLst>
            <p14:sldId id="270"/>
            <p14:sldId id="271"/>
          </p14:sldIdLst>
        </p14:section>
        <p14:section name="Appendix" id="{2fa49753-d02b-7a41-54c3-c3d008c1e286}">
          <p14:sldIdLst>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CareerPilot tells job seekers whether they fit a job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CareerPilot, logo A: the reticle wordmark. The orange dot is your target role and the credit icon. Navy, mist and one orange accent; Inter. The brand promises calm and neutral: nothing is sponsored.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Lena. 24, master's in Leipzig, 40+ applications, 3 interviews. Five boards every morning, same question each time: do I actually qualify? Boards rank by who paid, CV tools tell her which keywords to copy. She applies blindly or talks herself out of jobs, and loses track of where she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Lena isn't alone. Markus: 60 alerts a week, no time for 59. Andrei: three languages, needs the real language requirement, has met fake recruiters. Sofia, a verified headhunter, wants available candidates who really fit her client's job, without trawling CV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Jobscan compares wording, so you score higher by copying keywords. Teal similar, plus a tracker. Huntr tracks, doesn't advise. JobCopilot applies for you: volume, not choice. Job boards rank what is paid for. None separates a real fit gap from missing data. That's our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PRD on Confluence is our foundation and source of truth: problem, solution, target users, 31 functional and 14 non-functional requirements, 29 user stories with acceptance criteria, prioritised with MoSCoW and RICE, plus WSJF for the pilot. Two child pages explain the score and profile completeness; chapter 12 covers what a real pilot needs legally.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stories carry the product. US2: Markus sees how the score is built, and nothing is sponsored. US3: Lena's score reflects fit, not missing data. US4: every application lands in one history with the job description. Each story links to its requirements and its Jira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a weighted sum of six criteria: skills 35, experience 25, role 15, education 10, languages 10, location 5. The points add up to the score. An unmet must-have caps the score just below your minimum fit, but the job stays visible. Completeness never hides scores; it sets confidence. Not a hiring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backlog in Jira mirrors the PRD: 9 epics, 29 stories. MoSCoW sets the scope, RICE ranks inside it, WSJF orders the 7 pilot stories. Every story has a persona, its FR references and Given/When/Then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build sprints in Jira, 11 January to 2 April 2027, 79 points, about 13 per sprint for 2 engineers and an ML engineer. Each sprint has a goal. Before them we validate and design; after them we harden, try the Should stories, run the beta in May and launch on 14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wireframe plan on Confluence specified seven screens; Figma turned them into a clickable flow, reusing community components for the SSO card and the wireframes kit, plus one mobile frame of the job focus. Every frame names the stories it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three components fit together. Every problem from ideation becomes a requirement in the PRD, a story in a Jira sprint, a frame in Figma and a route in the demo. Four threads as examples. When a decision changes, the PRD changes first and the rest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decisions and their costs: no completeness gate, public job lists only, free matching with paid preparation, interview prep after applying, a gated headhunter pilot, and Germany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in the narrative doc: 9 steps, about 2 minutes. Say once that all data is illustrative. If short on time, skip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learned, what we'd do differently, and what comes next. Close on the tagline: does the job fit you? Here's why.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deliverables are linked here and open to view: PRD and score model on Confluence, backlog on Jira, wireframe plan, Figma prototype, and the code and demo on GitHub and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Investor-funded MVP, free within 10 credits a day. Matching, why it fits, how it is calculated and applying on the employer site are always free. Credits pay for the tools that make an application stronger: Prepare (fit analysis and strategy), CV, cover letter and interview prep, one each, so fully preparing one application is 4 credits. After launch: top up a prepaid wallet from €10, 10 credits for 99 cents, never expire. Cost target under 1 cent per fully prepared application. Later employers pay for ads and talent search. Credits never buy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Invitation-only pilot. Verified headhunters submit an authorised job description and get an explained shortlist of opted-in candidates with at least 90% fit and confirmed availability. No CV until the candidate approves that recruiter and that job. Empty result is allowed; we never lower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until November: 15 interviews, scoring prototype. Design until January with legal review. Build January to April, alpha 2 April. Closed beta in May with about 500 users. Public launch 14 June 2027, fixed by investors. Cut scope, never the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 all: applications in the 90%-plus band should reach interviews at least twice as often as those below 70%. Then trust, week-4 retention, and cost under one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8EEF6"/>
        </a:solidFill>
      </p:bgPr>
    </p:bg>
    <p:spTree>
      <p:nvGrpSpPr>
        <p:cNvPr id="1" name=""/>
        <p:cNvGrpSpPr/>
        <p:nvPr/>
      </p:nvGrpSpPr>
      <p:grpSpPr>
        <a:xfrm>
          <a:off x="0" y="0"/>
          <a:ext cx="0" cy="0"/>
          <a:chOff x="0" y="0"/>
          <a:chExt cx="0" cy="0"/>
        </a:xfrm>
      </p:grpSpPr>
      <p:pic>
        <p:nvPicPr>
          <p:cNvPr id="2" name="Image 0" descr="/tmp/claude-0/-home-claude/d1b11841-31a5-5c6c-8b8a-2c68ca1b0a7c/scratchpad/deck/img/logo-navy.png">    </p:cNvPr>
          <p:cNvPicPr>
            <a:picLocks noChangeAspect="1"/>
          </p:cNvPicPr>
          <p:nvPr/>
        </p:nvPicPr>
        <p:blipFill>
          <a:blip r:embed="rId1"/>
          <a:stretch>
            <a:fillRect/>
          </a:stretch>
        </p:blipFill>
        <p:spPr>
          <a:xfrm>
            <a:off x="548640" y="292608"/>
            <a:ext cx="1353312" cy="274320"/>
          </a:xfrm>
          <a:prstGeom prst="rect">
            <a:avLst/>
          </a:prstGeom>
        </p:spPr>
      </p:pic>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tx2"/>
                </a:solidFill>
              </a:rPr>
              <a:t>CareerPilot · Germany MVP · public launch 14 June 2027 (planned) · demo with illustrative data</a:t>
            </a:r>
            <a:endParaRPr lang="en-US" sz="1000" dirty="0"/>
          </a:p>
        </p:txBody>
      </p:sp>
      <p:sp>
        <p:nvSpPr>
          <p:cNvPr id="4" name="Text 1"/>
          <p:cNvSpPr/>
          <p:nvPr>
            <p:ph idx="102" type="body" hasCustomPrompt="1"/>
          </p:nvPr>
        </p:nvSpPr>
        <p:spPr>
          <a:xfrm>
            <a:off x="548640" y="822960"/>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109728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4A"/>
        </a:solidFill>
      </p:bgPr>
    </p:bg>
    <p:spTree>
      <p:nvGrpSpPr>
        <p:cNvPr id="1" name=""/>
        <p:cNvGrpSpPr/>
        <p:nvPr/>
      </p:nvGrpSpPr>
      <p:grpSpPr>
        <a:xfrm>
          <a:off x="0" y="0"/>
          <a:ext cx="0" cy="0"/>
          <a:chOff x="0" y="0"/>
          <a:chExt cx="0" cy="0"/>
        </a:xfrm>
      </p:grpSpPr>
      <p:pic>
        <p:nvPicPr>
          <p:cNvPr id="2" name="Image 0" descr="/tmp/claude-0/-home-claude/d1b11841-31a5-5c6c-8b8a-2c68ca1b0a7c/scratchpad/deck/img/logo-white.png">    </p:cNvPr>
          <p:cNvPicPr>
            <a:picLocks noChangeAspect="1"/>
          </p:cNvPicPr>
          <p:nvPr/>
        </p:nvPicPr>
        <p:blipFill>
          <a:blip r:embed="rId1"/>
          <a:stretch>
            <a:fillRect/>
          </a:stretch>
        </p:blipFill>
        <p:spPr>
          <a:xfrm>
            <a:off x="548640" y="292608"/>
            <a:ext cx="1353312" cy="274320"/>
          </a:xfrm>
          <a:prstGeom prst="rect">
            <a:avLst/>
          </a:prstGeom>
        </p:spPr>
      </p:pic>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accent4"/>
                </a:solidFill>
              </a:rPr>
              <a:t>CareerPilot · Germany MVP · public launch 14 June 2027 (planned) · demo with illustrative data</a:t>
            </a:r>
            <a:endParaRPr lang="en-US" sz="1000" dirty="0"/>
          </a:p>
        </p:txBody>
      </p:sp>
      <p:sp>
        <p:nvSpPr>
          <p:cNvPr id="4" name="Text 1"/>
          <p:cNvSpPr/>
          <p:nvPr>
            <p:ph idx="102" type="body" hasCustomPrompt="1"/>
          </p:nvPr>
        </p:nvSpPr>
        <p:spPr>
          <a:xfrm>
            <a:off x="548640" y="822960"/>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109728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F2A4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logoveanu.atlassian.net/wiki/spaces/PRD/pages/4292609"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logoveanu.atlassian.net/jira/software/projects/CPA/boards/39" TargetMode="Externa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6" Type="http://schemas.openxmlformats.org/officeDocument/2006/relationships/hyperlink" Target="https://www.figma.com/design/4SXo5dQmlYyQCiOW4ZJwCt/CareerPilot-test"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logoveanu.atlassian.net/wiki/spaces/PRD/pages/4292609" TargetMode="External"/><Relationship Id="rId2" Type="http://schemas.openxmlformats.org/officeDocument/2006/relationships/hyperlink" Target="https://glogoveanu.atlassian.net/wiki/spaces/PRD/pages/7700482" TargetMode="External"/><Relationship Id="rId3" Type="http://schemas.openxmlformats.org/officeDocument/2006/relationships/hyperlink" Target="https://glogoveanu.atlassian.net/jira/software/projects/CPA/boards/39" TargetMode="External"/><Relationship Id="rId4" Type="http://schemas.openxmlformats.org/officeDocument/2006/relationships/hyperlink" Target="https://glogoveanu.atlassian.net/wiki/spaces/PRD/pages/5177354" TargetMode="External"/><Relationship Id="rId5" Type="http://schemas.openxmlformats.org/officeDocument/2006/relationships/hyperlink" Target="https://www.figma.com/design/4SXo5dQmlYyQCiOW4ZJwCt/CareerPilot-test" TargetMode="External"/><Relationship Id="rId6" Type="http://schemas.openxmlformats.org/officeDocument/2006/relationships/hyperlink" Target="https://github.com/cugetare/CareerPilot" TargetMode="External"/><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d1b11841-31a5-5c6c-8b8a-2c68ca1b0a7c/scratchpad/deck/img/logo-white.png">    </p:cNvPr>
          <p:cNvPicPr>
            <a:picLocks noChangeAspect="1"/>
          </p:cNvPicPr>
          <p:nvPr/>
        </p:nvPicPr>
        <p:blipFill>
          <a:blip r:embed="rId1"/>
          <a:stretch>
            <a:fillRect/>
          </a:stretch>
        </p:blipFill>
        <p:spPr>
          <a:xfrm>
            <a:off x="731520" y="1417320"/>
            <a:ext cx="5669280" cy="1143000"/>
          </a:xfrm>
          <a:prstGeom prst="rect">
            <a:avLst/>
          </a:prstGeom>
        </p:spPr>
      </p:pic>
      <p:sp>
        <p:nvSpPr>
          <p:cNvPr id="3" name="Text 0"/>
          <p:cNvSpPr txBox="1"/>
          <p:nvPr/>
        </p:nvSpPr>
        <p:spPr>
          <a:xfrm>
            <a:off x="731520" y="2880360"/>
            <a:ext cx="6949440" cy="548640"/>
          </a:xfrm>
          <a:prstGeom prst="rect">
            <a:avLst/>
          </a:prstGeom>
          <a:noFill/>
          <a:ln/>
        </p:spPr>
        <p:txBody>
          <a:bodyPr wrap="square" lIns="0" tIns="0" rIns="0" bIns="0" rtlCol="0" anchor="t"/>
          <a:lstStyle/>
          <a:p>
            <a:pPr indent="0" marL="0">
              <a:buNone/>
            </a:pPr>
            <a:r>
              <a:rPr lang="en-US" sz="2800" b="1" dirty="0">
                <a:solidFill>
                  <a:schemeClr val="bg1"/>
                </a:solidFill>
              </a:rPr>
              <a:t>Does the job fit you? Here's why.</a:t>
            </a:r>
            <a:endParaRPr lang="en-US" sz="2800" dirty="0"/>
          </a:p>
        </p:txBody>
      </p:sp>
      <p:sp>
        <p:nvSpPr>
          <p:cNvPr id="4" name="Text 1"/>
          <p:cNvSpPr txBox="1"/>
          <p:nvPr/>
        </p:nvSpPr>
        <p:spPr>
          <a:xfrm>
            <a:off x="731520" y="3520440"/>
            <a:ext cx="6400800" cy="731520"/>
          </a:xfrm>
          <a:prstGeom prst="rect">
            <a:avLst/>
          </a:prstGeom>
          <a:noFill/>
          <a:ln/>
        </p:spPr>
        <p:txBody>
          <a:bodyPr wrap="square" lIns="0" tIns="0" rIns="0" bIns="0" rtlCol="0" anchor="t"/>
          <a:lstStyle/>
          <a:p>
            <a:pPr indent="0" marL="0">
              <a:buNone/>
            </a:pPr>
            <a:r>
              <a:rPr lang="en-US" sz="1600" dirty="0">
                <a:solidFill>
                  <a:schemeClr val="accent4"/>
                </a:solidFill>
              </a:rPr>
              <a:t>A job search copilot that explains your fit, drafts documents you approve and tracks every application.</a:t>
            </a:r>
            <a:endParaRPr lang="en-US" sz="1600" dirty="0"/>
          </a:p>
        </p:txBody>
      </p:sp>
      <p:sp>
        <p:nvSpPr>
          <p:cNvPr id="5" name="Text 2"/>
          <p:cNvSpPr txBox="1"/>
          <p:nvPr/>
        </p:nvSpPr>
        <p:spPr>
          <a:xfrm>
            <a:off x="7315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MARKET</a:t>
            </a:r>
            <a:endParaRPr lang="en-US" sz="1000" dirty="0"/>
          </a:p>
        </p:txBody>
      </p:sp>
      <p:sp>
        <p:nvSpPr>
          <p:cNvPr id="6" name="Text 3"/>
          <p:cNvSpPr txBox="1"/>
          <p:nvPr/>
        </p:nvSpPr>
        <p:spPr>
          <a:xfrm>
            <a:off x="7315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Germany · DE / EN</a:t>
            </a:r>
            <a:endParaRPr lang="en-US" sz="1400" dirty="0"/>
          </a:p>
        </p:txBody>
      </p:sp>
      <p:sp>
        <p:nvSpPr>
          <p:cNvPr id="7" name="Text 4"/>
          <p:cNvSpPr txBox="1"/>
          <p:nvPr/>
        </p:nvSpPr>
        <p:spPr>
          <a:xfrm>
            <a:off x="32461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LAUNCH (PLANNED)</a:t>
            </a:r>
            <a:endParaRPr lang="en-US" sz="1000" dirty="0"/>
          </a:p>
        </p:txBody>
      </p:sp>
      <p:sp>
        <p:nvSpPr>
          <p:cNvPr id="8" name="Text 5"/>
          <p:cNvSpPr txBox="1"/>
          <p:nvPr/>
        </p:nvSpPr>
        <p:spPr>
          <a:xfrm>
            <a:off x="32461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14 June 2027</a:t>
            </a:r>
            <a:endParaRPr lang="en-US" sz="1400" dirty="0"/>
          </a:p>
        </p:txBody>
      </p:sp>
      <p:sp>
        <p:nvSpPr>
          <p:cNvPr id="9" name="Text 6"/>
          <p:cNvSpPr txBox="1"/>
          <p:nvPr/>
        </p:nvSpPr>
        <p:spPr>
          <a:xfrm>
            <a:off x="57607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MVP</a:t>
            </a:r>
            <a:endParaRPr lang="en-US" sz="1000" dirty="0"/>
          </a:p>
        </p:txBody>
      </p:sp>
      <p:sp>
        <p:nvSpPr>
          <p:cNvPr id="10" name="Text 7"/>
          <p:cNvSpPr txBox="1"/>
          <p:nvPr/>
        </p:nvSpPr>
        <p:spPr>
          <a:xfrm>
            <a:off x="57607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Candidate app + headhunter pilot</a:t>
            </a:r>
            <a:endParaRPr lang="en-US" sz="1400" dirty="0"/>
          </a:p>
        </p:txBody>
      </p:sp>
      <p:pic>
        <p:nvPicPr>
          <p:cNvPr id="11" name="Image 1" descr="/tmp/claude-0/-home-claude/d1b11841-31a5-5c6c-8b8a-2c68ca1b0a7c/scratchpad/deck/img/reticle-light.png">    </p:cNvPr>
          <p:cNvPicPr>
            <a:picLocks noChangeAspect="1"/>
          </p:cNvPicPr>
          <p:nvPr/>
        </p:nvPicPr>
        <p:blipFill>
          <a:blip r:embed="rId2"/>
          <a:stretch>
            <a:fillRect/>
          </a:stretch>
        </p:blipFill>
        <p:spPr>
          <a:xfrm>
            <a:off x="8138160" y="1417320"/>
            <a:ext cx="3291840" cy="3291840"/>
          </a:xfrm>
          <a:prstGeom prst="rect">
            <a:avLst/>
          </a:prstGeom>
        </p:spPr>
      </p:pic>
      <p:sp>
        <p:nvSpPr>
          <p:cNvPr id="12" name="Text 8"/>
          <p:cNvSpPr txBox="1"/>
          <p:nvPr/>
        </p:nvSpPr>
        <p:spPr>
          <a:xfrm>
            <a:off x="731520" y="6263640"/>
            <a:ext cx="8229600" cy="274320"/>
          </a:xfrm>
          <a:prstGeom prst="rect">
            <a:avLst/>
          </a:prstGeom>
          <a:noFill/>
          <a:ln/>
        </p:spPr>
        <p:txBody>
          <a:bodyPr wrap="square" lIns="0" tIns="0" rIns="0" bIns="0" rtlCol="0" anchor="t"/>
          <a:lstStyle/>
          <a:p>
            <a:pPr indent="0" marL="0">
              <a:buNone/>
            </a:pPr>
            <a:r>
              <a:rPr lang="en-US" sz="1000" dirty="0">
                <a:solidFill>
                  <a:schemeClr val="accent4"/>
                </a:solidFill>
              </a:rPr>
              <a:t>Ironhack AI Product Management · Mini Project 1 · demo with illustrative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01 · INTRODUCTION · BRAND</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One mark, one promise: hit your target role</a:t>
            </a:r>
            <a:endParaRPr lang="en-US" sz="3200" dirty="0"/>
          </a:p>
        </p:txBody>
      </p:sp>
      <p:sp>
        <p:nvSpPr>
          <p:cNvPr id="4" name="Text 2"/>
          <p:cNvSpPr txBox="1"/>
          <p:nvPr/>
        </p:nvSpPr>
        <p:spPr>
          <a:xfrm>
            <a:off x="5577840"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logo"/>
          <p:cNvSpPr/>
          <p:nvPr/>
        </p:nvSpPr>
        <p:spPr>
          <a:xfrm>
            <a:off x="548640" y="2057400"/>
            <a:ext cx="5852160" cy="3977640"/>
          </a:xfrm>
          <a:prstGeom prst="roundRect">
            <a:avLst>
              <a:gd name="adj" fmla="val 2759"/>
            </a:avLst>
          </a:prstGeom>
          <a:solidFill>
            <a:schemeClr val="bg1"/>
          </a:solidFill>
          <a:ln w="12700">
            <a:solidFill>
              <a:schemeClr val="bg1"/>
            </a:solidFill>
            <a:prstDash val="solid"/>
          </a:ln>
        </p:spPr>
      </p:sp>
      <p:pic>
        <p:nvPicPr>
          <p:cNvPr id="12" name="Image 0" descr="/tmp/claude-0/-home-claude/d1b11841-31a5-5c6c-8b8a-2c68ca1b0a7c/scratchpad/deck/img/logo-navy.png">    </p:cNvPr>
          <p:cNvPicPr>
            <a:picLocks noChangeAspect="1"/>
          </p:cNvPicPr>
          <p:nvPr/>
        </p:nvPicPr>
        <p:blipFill>
          <a:blip r:embed="rId1"/>
          <a:stretch>
            <a:fillRect/>
          </a:stretch>
        </p:blipFill>
        <p:spPr>
          <a:xfrm>
            <a:off x="914400" y="2514600"/>
            <a:ext cx="5120640" cy="1033272"/>
          </a:xfrm>
          <a:prstGeom prst="rect">
            <a:avLst/>
          </a:prstGeom>
        </p:spPr>
      </p:pic>
      <p:pic>
        <p:nvPicPr>
          <p:cNvPr id="13" name="Image 1" descr="/tmp/claude-0/-home-claude/d1b11841-31a5-5c6c-8b8a-2c68ca1b0a7c/scratchpad/deck/img/reticle.png">    </p:cNvPr>
          <p:cNvPicPr>
            <a:picLocks noChangeAspect="1"/>
          </p:cNvPicPr>
          <p:nvPr/>
        </p:nvPicPr>
        <p:blipFill>
          <a:blip r:embed="rId2"/>
          <a:stretch>
            <a:fillRect/>
          </a:stretch>
        </p:blipFill>
        <p:spPr>
          <a:xfrm>
            <a:off x="914400" y="3977640"/>
            <a:ext cx="914400" cy="914400"/>
          </a:xfrm>
          <a:prstGeom prst="rect">
            <a:avLst/>
          </a:prstGeom>
        </p:spPr>
      </p:pic>
      <p:sp>
        <p:nvSpPr>
          <p:cNvPr id="14" name="Text 10"/>
          <p:cNvSpPr txBox="1"/>
          <p:nvPr/>
        </p:nvSpPr>
        <p:spPr>
          <a:xfrm>
            <a:off x="2057400" y="3977640"/>
            <a:ext cx="4114800" cy="320040"/>
          </a:xfrm>
          <a:prstGeom prst="rect">
            <a:avLst/>
          </a:prstGeom>
          <a:noFill/>
          <a:ln/>
        </p:spPr>
        <p:txBody>
          <a:bodyPr wrap="square" lIns="0" tIns="0" rIns="0" bIns="0" rtlCol="0" anchor="t"/>
          <a:lstStyle/>
          <a:p>
            <a:pPr indent="0" marL="0">
              <a:buNone/>
            </a:pPr>
            <a:r>
              <a:rPr lang="en-US" sz="1600" b="1" dirty="0">
                <a:solidFill>
                  <a:schemeClr val="tx1"/>
                </a:solidFill>
              </a:rPr>
              <a:t>Logo A, the reticle wordmark</a:t>
            </a:r>
            <a:endParaRPr lang="en-US" sz="1600" dirty="0"/>
          </a:p>
        </p:txBody>
      </p:sp>
      <p:sp>
        <p:nvSpPr>
          <p:cNvPr id="15" name="Text 11"/>
          <p:cNvSpPr txBox="1"/>
          <p:nvPr/>
        </p:nvSpPr>
        <p:spPr>
          <a:xfrm>
            <a:off x="2057400" y="4315968"/>
            <a:ext cx="4114800" cy="822960"/>
          </a:xfrm>
          <a:prstGeom prst="rect">
            <a:avLst/>
          </a:prstGeom>
          <a:noFill/>
          <a:ln/>
        </p:spPr>
        <p:txBody>
          <a:bodyPr wrap="square" lIns="0" tIns="0" rIns="0" bIns="0" rtlCol="0" anchor="t"/>
          <a:lstStyle/>
          <a:p>
            <a:pPr indent="0" marL="0">
              <a:buNone/>
            </a:pPr>
            <a:r>
              <a:rPr lang="en-US" sz="1300" dirty="0">
                <a:solidFill>
                  <a:schemeClr val="tx2"/>
                </a:solidFill>
              </a:rPr>
              <a:t>The "o" in Pilot is a target. The orange dot is your target role, and it doubles as the credit icon in the app.</a:t>
            </a:r>
            <a:endParaRPr lang="en-US" sz="1300" dirty="0"/>
          </a:p>
        </p:txBody>
      </p:sp>
      <p:sp>
        <p:nvSpPr>
          <p:cNvPr id="16" name="Text 12"/>
          <p:cNvSpPr txBox="1"/>
          <p:nvPr/>
        </p:nvSpPr>
        <p:spPr>
          <a:xfrm>
            <a:off x="914400" y="5577840"/>
            <a:ext cx="5212080" cy="274320"/>
          </a:xfrm>
          <a:prstGeom prst="rect">
            <a:avLst/>
          </a:prstGeom>
          <a:noFill/>
          <a:ln/>
        </p:spPr>
        <p:txBody>
          <a:bodyPr wrap="square" lIns="0" tIns="0" rIns="0" bIns="0" rtlCol="0" anchor="t"/>
          <a:lstStyle/>
          <a:p>
            <a:pPr indent="0" marL="0">
              <a:buNone/>
            </a:pPr>
            <a:r>
              <a:rPr lang="en-US" sz="1100" dirty="0">
                <a:solidFill>
                  <a:schemeClr val="tx2"/>
                </a:solidFill>
              </a:rPr>
              <a:t>Chosen from three directions; research on Confluence.</a:t>
            </a:r>
            <a:endParaRPr lang="en-US" sz="1100" dirty="0"/>
          </a:p>
        </p:txBody>
      </p:sp>
      <p:sp>
        <p:nvSpPr>
          <p:cNvPr id="17" name="swatch"/>
          <p:cNvSpPr/>
          <p:nvPr/>
        </p:nvSpPr>
        <p:spPr>
          <a:xfrm>
            <a:off x="6766560" y="2057400"/>
            <a:ext cx="2286000" cy="960120"/>
          </a:xfrm>
          <a:prstGeom prst="roundRect">
            <a:avLst>
              <a:gd name="adj" fmla="val 11429"/>
            </a:avLst>
          </a:prstGeom>
          <a:solidFill>
            <a:srgbClr val="0F2A4A"/>
          </a:solidFill>
          <a:ln w="12700">
            <a:solidFill>
              <a:srgbClr val="0F2A4A"/>
            </a:solidFill>
            <a:prstDash val="solid"/>
          </a:ln>
        </p:spPr>
      </p:sp>
      <p:sp>
        <p:nvSpPr>
          <p:cNvPr id="18" name="Text 14"/>
          <p:cNvSpPr txBox="1"/>
          <p:nvPr/>
        </p:nvSpPr>
        <p:spPr>
          <a:xfrm>
            <a:off x="6949440" y="2194560"/>
            <a:ext cx="1920240" cy="320040"/>
          </a:xfrm>
          <a:prstGeom prst="rect">
            <a:avLst/>
          </a:prstGeom>
          <a:noFill/>
          <a:ln/>
        </p:spPr>
        <p:txBody>
          <a:bodyPr wrap="square" lIns="0" tIns="0" rIns="0" bIns="0" rtlCol="0" anchor="t"/>
          <a:lstStyle/>
          <a:p>
            <a:pPr indent="0" marL="0">
              <a:buNone/>
            </a:pPr>
            <a:r>
              <a:rPr lang="en-US" sz="1500" b="1" dirty="0">
                <a:solidFill>
                  <a:srgbClr val="FFFFFF"/>
                </a:solidFill>
              </a:rPr>
              <a:t>Navy</a:t>
            </a:r>
            <a:endParaRPr lang="en-US" sz="1500" dirty="0"/>
          </a:p>
        </p:txBody>
      </p:sp>
      <p:sp>
        <p:nvSpPr>
          <p:cNvPr id="19" name="Text 15"/>
          <p:cNvSpPr txBox="1"/>
          <p:nvPr/>
        </p:nvSpPr>
        <p:spPr>
          <a:xfrm>
            <a:off x="6949440" y="2560320"/>
            <a:ext cx="2011680" cy="365760"/>
          </a:xfrm>
          <a:prstGeom prst="rect">
            <a:avLst/>
          </a:prstGeom>
          <a:noFill/>
          <a:ln/>
        </p:spPr>
        <p:txBody>
          <a:bodyPr wrap="square" lIns="0" tIns="0" rIns="0" bIns="0" rtlCol="0" anchor="t"/>
          <a:lstStyle/>
          <a:p>
            <a:pPr indent="0" marL="0">
              <a:buNone/>
            </a:pPr>
            <a:r>
              <a:rPr lang="en-US" sz="1100" dirty="0">
                <a:solidFill>
                  <a:srgbClr val="FFFFFF"/>
                </a:solidFill>
              </a:rPr>
              <a:t>#0F2A4A · Primary · 60%</a:t>
            </a:r>
            <a:endParaRPr lang="en-US" sz="1100" dirty="0"/>
          </a:p>
        </p:txBody>
      </p:sp>
      <p:sp>
        <p:nvSpPr>
          <p:cNvPr id="20" name="swatch"/>
          <p:cNvSpPr/>
          <p:nvPr/>
        </p:nvSpPr>
        <p:spPr>
          <a:xfrm>
            <a:off x="9235440" y="2057400"/>
            <a:ext cx="2286000" cy="960120"/>
          </a:xfrm>
          <a:prstGeom prst="roundRect">
            <a:avLst>
              <a:gd name="adj" fmla="val 11429"/>
            </a:avLst>
          </a:prstGeom>
          <a:solidFill>
            <a:srgbClr val="E8EEF6"/>
          </a:solidFill>
          <a:ln w="12700">
            <a:solidFill>
              <a:srgbClr val="D5DEEA"/>
            </a:solidFill>
            <a:prstDash val="solid"/>
          </a:ln>
        </p:spPr>
      </p:sp>
      <p:sp>
        <p:nvSpPr>
          <p:cNvPr id="21" name="Text 17"/>
          <p:cNvSpPr txBox="1"/>
          <p:nvPr/>
        </p:nvSpPr>
        <p:spPr>
          <a:xfrm>
            <a:off x="9418320" y="2194560"/>
            <a:ext cx="1920240" cy="320040"/>
          </a:xfrm>
          <a:prstGeom prst="rect">
            <a:avLst/>
          </a:prstGeom>
          <a:noFill/>
          <a:ln/>
        </p:spPr>
        <p:txBody>
          <a:bodyPr wrap="square" lIns="0" tIns="0" rIns="0" bIns="0" rtlCol="0" anchor="t"/>
          <a:lstStyle/>
          <a:p>
            <a:pPr indent="0" marL="0">
              <a:buNone/>
            </a:pPr>
            <a:r>
              <a:rPr lang="en-US" sz="1500" b="1" dirty="0">
                <a:solidFill>
                  <a:srgbClr val="0F2A4A"/>
                </a:solidFill>
              </a:rPr>
              <a:t>Mist</a:t>
            </a:r>
            <a:endParaRPr lang="en-US" sz="1500" dirty="0"/>
          </a:p>
        </p:txBody>
      </p:sp>
      <p:sp>
        <p:nvSpPr>
          <p:cNvPr id="22" name="Text 18"/>
          <p:cNvSpPr txBox="1"/>
          <p:nvPr/>
        </p:nvSpPr>
        <p:spPr>
          <a:xfrm>
            <a:off x="9418320" y="2560320"/>
            <a:ext cx="2011680" cy="365760"/>
          </a:xfrm>
          <a:prstGeom prst="rect">
            <a:avLst/>
          </a:prstGeom>
          <a:noFill/>
          <a:ln/>
        </p:spPr>
        <p:txBody>
          <a:bodyPr wrap="square" lIns="0" tIns="0" rIns="0" bIns="0" rtlCol="0" anchor="t"/>
          <a:lstStyle/>
          <a:p>
            <a:pPr indent="0" marL="0">
              <a:buNone/>
            </a:pPr>
            <a:r>
              <a:rPr lang="en-US" sz="1100" dirty="0">
                <a:solidFill>
                  <a:srgbClr val="0F2A4A"/>
                </a:solidFill>
              </a:rPr>
              <a:t>#E8EEF6 · Secondary · 30%</a:t>
            </a:r>
            <a:endParaRPr lang="en-US" sz="1100" dirty="0"/>
          </a:p>
        </p:txBody>
      </p:sp>
      <p:sp>
        <p:nvSpPr>
          <p:cNvPr id="23" name="swatch"/>
          <p:cNvSpPr/>
          <p:nvPr/>
        </p:nvSpPr>
        <p:spPr>
          <a:xfrm>
            <a:off x="6766560" y="3200400"/>
            <a:ext cx="2286000" cy="960120"/>
          </a:xfrm>
          <a:prstGeom prst="roundRect">
            <a:avLst>
              <a:gd name="adj" fmla="val 11429"/>
            </a:avLst>
          </a:prstGeom>
          <a:solidFill>
            <a:srgbClr val="F2542D"/>
          </a:solidFill>
          <a:ln w="12700">
            <a:solidFill>
              <a:srgbClr val="F2542D"/>
            </a:solidFill>
            <a:prstDash val="solid"/>
          </a:ln>
        </p:spPr>
      </p:sp>
      <p:sp>
        <p:nvSpPr>
          <p:cNvPr id="24" name="Text 20"/>
          <p:cNvSpPr txBox="1"/>
          <p:nvPr/>
        </p:nvSpPr>
        <p:spPr>
          <a:xfrm>
            <a:off x="6949440" y="3337560"/>
            <a:ext cx="1920240" cy="320040"/>
          </a:xfrm>
          <a:prstGeom prst="rect">
            <a:avLst/>
          </a:prstGeom>
          <a:noFill/>
          <a:ln/>
        </p:spPr>
        <p:txBody>
          <a:bodyPr wrap="square" lIns="0" tIns="0" rIns="0" bIns="0" rtlCol="0" anchor="t"/>
          <a:lstStyle/>
          <a:p>
            <a:pPr indent="0" marL="0">
              <a:buNone/>
            </a:pPr>
            <a:r>
              <a:rPr lang="en-US" sz="1500" b="1" dirty="0">
                <a:solidFill>
                  <a:srgbClr val="FFFFFF"/>
                </a:solidFill>
              </a:rPr>
              <a:t>Flare</a:t>
            </a:r>
            <a:endParaRPr lang="en-US" sz="1500" dirty="0"/>
          </a:p>
        </p:txBody>
      </p:sp>
      <p:sp>
        <p:nvSpPr>
          <p:cNvPr id="25" name="Text 21"/>
          <p:cNvSpPr txBox="1"/>
          <p:nvPr/>
        </p:nvSpPr>
        <p:spPr>
          <a:xfrm>
            <a:off x="6949440" y="3703320"/>
            <a:ext cx="2011680" cy="365760"/>
          </a:xfrm>
          <a:prstGeom prst="rect">
            <a:avLst/>
          </a:prstGeom>
          <a:noFill/>
          <a:ln/>
        </p:spPr>
        <p:txBody>
          <a:bodyPr wrap="square" lIns="0" tIns="0" rIns="0" bIns="0" rtlCol="0" anchor="t"/>
          <a:lstStyle/>
          <a:p>
            <a:pPr indent="0" marL="0">
              <a:buNone/>
            </a:pPr>
            <a:r>
              <a:rPr lang="en-US" sz="1100" dirty="0">
                <a:solidFill>
                  <a:srgbClr val="FFFFFF"/>
                </a:solidFill>
              </a:rPr>
              <a:t>#F2542D · Accent · 10%, graphics only</a:t>
            </a:r>
            <a:endParaRPr lang="en-US" sz="1100" dirty="0"/>
          </a:p>
        </p:txBody>
      </p:sp>
      <p:sp>
        <p:nvSpPr>
          <p:cNvPr id="26" name="swatch"/>
          <p:cNvSpPr/>
          <p:nvPr/>
        </p:nvSpPr>
        <p:spPr>
          <a:xfrm>
            <a:off x="9235440" y="3200400"/>
            <a:ext cx="2286000" cy="960120"/>
          </a:xfrm>
          <a:prstGeom prst="roundRect">
            <a:avLst>
              <a:gd name="adj" fmla="val 11429"/>
            </a:avLst>
          </a:prstGeom>
          <a:solidFill>
            <a:srgbClr val="5B6B80"/>
          </a:solidFill>
          <a:ln w="12700">
            <a:solidFill>
              <a:srgbClr val="5B6B80"/>
            </a:solidFill>
            <a:prstDash val="solid"/>
          </a:ln>
        </p:spPr>
      </p:sp>
      <p:sp>
        <p:nvSpPr>
          <p:cNvPr id="27" name="Text 23"/>
          <p:cNvSpPr txBox="1"/>
          <p:nvPr/>
        </p:nvSpPr>
        <p:spPr>
          <a:xfrm>
            <a:off x="9418320" y="3337560"/>
            <a:ext cx="1920240" cy="320040"/>
          </a:xfrm>
          <a:prstGeom prst="rect">
            <a:avLst/>
          </a:prstGeom>
          <a:noFill/>
          <a:ln/>
        </p:spPr>
        <p:txBody>
          <a:bodyPr wrap="square" lIns="0" tIns="0" rIns="0" bIns="0" rtlCol="0" anchor="t"/>
          <a:lstStyle/>
          <a:p>
            <a:pPr indent="0" marL="0">
              <a:buNone/>
            </a:pPr>
            <a:r>
              <a:rPr lang="en-US" sz="1500" b="1" dirty="0">
                <a:solidFill>
                  <a:srgbClr val="FFFFFF"/>
                </a:solidFill>
              </a:rPr>
              <a:t>Muted</a:t>
            </a:r>
            <a:endParaRPr lang="en-US" sz="1500" dirty="0"/>
          </a:p>
        </p:txBody>
      </p:sp>
      <p:sp>
        <p:nvSpPr>
          <p:cNvPr id="28" name="Text 24"/>
          <p:cNvSpPr txBox="1"/>
          <p:nvPr/>
        </p:nvSpPr>
        <p:spPr>
          <a:xfrm>
            <a:off x="9418320" y="3703320"/>
            <a:ext cx="2011680" cy="365760"/>
          </a:xfrm>
          <a:prstGeom prst="rect">
            <a:avLst/>
          </a:prstGeom>
          <a:noFill/>
          <a:ln/>
        </p:spPr>
        <p:txBody>
          <a:bodyPr wrap="square" lIns="0" tIns="0" rIns="0" bIns="0" rtlCol="0" anchor="t"/>
          <a:lstStyle/>
          <a:p>
            <a:pPr indent="0" marL="0">
              <a:buNone/>
            </a:pPr>
            <a:r>
              <a:rPr lang="en-US" sz="1100" dirty="0">
                <a:solidFill>
                  <a:srgbClr val="FFFFFF"/>
                </a:solidFill>
              </a:rPr>
              <a:t>#5B6B80 · Text and lines</a:t>
            </a:r>
            <a:endParaRPr lang="en-US" sz="1100" dirty="0"/>
          </a:p>
        </p:txBody>
      </p:sp>
      <p:sp>
        <p:nvSpPr>
          <p:cNvPr id="29" name="Text 25"/>
          <p:cNvSpPr txBox="1"/>
          <p:nvPr/>
        </p:nvSpPr>
        <p:spPr>
          <a:xfrm>
            <a:off x="6766560" y="4434840"/>
            <a:ext cx="4846320" cy="320040"/>
          </a:xfrm>
          <a:prstGeom prst="rect">
            <a:avLst/>
          </a:prstGeom>
          <a:noFill/>
          <a:ln/>
        </p:spPr>
        <p:txBody>
          <a:bodyPr wrap="square" lIns="0" tIns="0" rIns="0" bIns="0" rtlCol="0" anchor="t"/>
          <a:lstStyle/>
          <a:p>
            <a:pPr indent="0" marL="0">
              <a:buNone/>
            </a:pPr>
            <a:r>
              <a:rPr lang="en-US" sz="1600" b="1" dirty="0">
                <a:solidFill>
                  <a:schemeClr val="tx1"/>
                </a:solidFill>
              </a:rPr>
              <a:t>Inter, ExtraBold for the wordmark</a:t>
            </a:r>
            <a:endParaRPr lang="en-US" sz="1600" dirty="0"/>
          </a:p>
        </p:txBody>
      </p:sp>
      <p:sp>
        <p:nvSpPr>
          <p:cNvPr id="30" name="Text 26"/>
          <p:cNvSpPr txBox="1"/>
          <p:nvPr/>
        </p:nvSpPr>
        <p:spPr>
          <a:xfrm>
            <a:off x="6766560" y="4800600"/>
            <a:ext cx="4846320" cy="822960"/>
          </a:xfrm>
          <a:prstGeom prst="rect">
            <a:avLst/>
          </a:prstGeom>
          <a:noFill/>
          <a:ln/>
        </p:spPr>
        <p:txBody>
          <a:bodyPr wrap="square" lIns="0" tIns="0" rIns="0" bIns="0" rtlCol="0" anchor="t"/>
          <a:lstStyle/>
          <a:p>
            <a:pPr indent="0" marL="0">
              <a:buNone/>
            </a:pPr>
            <a:r>
              <a:rPr lang="en-US" sz="1300" dirty="0">
                <a:solidFill>
                  <a:schemeClr val="tx2"/>
                </a:solidFill>
              </a:rPr>
              <a:t>Calm, honest, neutral: one accent, no sponsored badges, every paid action shows its cost before the click.</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01 · INTRODUCTION · THE PROBLEM</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Lena applies a lot and still can't tell where she fits</a:t>
            </a:r>
            <a:endParaRPr lang="en-US" sz="3200" dirty="0"/>
          </a:p>
        </p:txBody>
      </p:sp>
      <p:sp>
        <p:nvSpPr>
          <p:cNvPr id="4" name="Text 2"/>
          <p:cNvSpPr txBox="1"/>
          <p:nvPr/>
        </p:nvSpPr>
        <p:spPr>
          <a:xfrm>
            <a:off x="5577840"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stat"/>
          <p:cNvSpPr/>
          <p:nvPr/>
        </p:nvSpPr>
        <p:spPr>
          <a:xfrm>
            <a:off x="548640" y="2148840"/>
            <a:ext cx="3931920" cy="1143000"/>
          </a:xfrm>
          <a:prstGeom prst="roundRect">
            <a:avLst>
              <a:gd name="adj" fmla="val 9600"/>
            </a:avLst>
          </a:prstGeom>
          <a:solidFill>
            <a:schemeClr val="bg1"/>
          </a:solidFill>
          <a:ln w="12700">
            <a:solidFill>
              <a:schemeClr val="bg1"/>
            </a:solidFill>
            <a:prstDash val="solid"/>
          </a:ln>
        </p:spPr>
      </p:sp>
      <p:sp>
        <p:nvSpPr>
          <p:cNvPr id="12" name="Text 10"/>
          <p:cNvSpPr txBox="1"/>
          <p:nvPr/>
        </p:nvSpPr>
        <p:spPr>
          <a:xfrm>
            <a:off x="822960" y="2240280"/>
            <a:ext cx="1554480" cy="960120"/>
          </a:xfrm>
          <a:prstGeom prst="rect">
            <a:avLst/>
          </a:prstGeom>
          <a:noFill/>
          <a:ln/>
        </p:spPr>
        <p:txBody>
          <a:bodyPr wrap="square" lIns="0" tIns="0" rIns="0" bIns="0" rtlCol="0" anchor="ctr"/>
          <a:lstStyle/>
          <a:p>
            <a:pPr indent="0" marL="0">
              <a:buNone/>
            </a:pPr>
            <a:r>
              <a:rPr lang="en-US" sz="4400" b="1" dirty="0">
                <a:solidFill>
                  <a:schemeClr val="tx1"/>
                </a:solidFill>
              </a:rPr>
              <a:t>40+</a:t>
            </a:r>
            <a:endParaRPr lang="en-US" sz="4400" dirty="0"/>
          </a:p>
        </p:txBody>
      </p:sp>
      <p:sp>
        <p:nvSpPr>
          <p:cNvPr id="13" name="Text 11"/>
          <p:cNvSpPr txBox="1"/>
          <p:nvPr/>
        </p:nvSpPr>
        <p:spPr>
          <a:xfrm>
            <a:off x="2377440" y="2240280"/>
            <a:ext cx="1920240" cy="960120"/>
          </a:xfrm>
          <a:prstGeom prst="rect">
            <a:avLst/>
          </a:prstGeom>
          <a:noFill/>
          <a:ln/>
        </p:spPr>
        <p:txBody>
          <a:bodyPr wrap="square" lIns="0" tIns="0" rIns="0" bIns="0" rtlCol="0" anchor="ctr"/>
          <a:lstStyle/>
          <a:p>
            <a:pPr indent="0" marL="0">
              <a:buNone/>
            </a:pPr>
            <a:r>
              <a:rPr lang="en-US" sz="1500" dirty="0">
                <a:solidFill>
                  <a:schemeClr val="tx2"/>
                </a:solidFill>
              </a:rPr>
              <a:t>applications sent</a:t>
            </a:r>
            <a:endParaRPr lang="en-US" sz="1500" dirty="0"/>
          </a:p>
        </p:txBody>
      </p:sp>
      <p:sp>
        <p:nvSpPr>
          <p:cNvPr id="14" name="stat"/>
          <p:cNvSpPr/>
          <p:nvPr/>
        </p:nvSpPr>
        <p:spPr>
          <a:xfrm>
            <a:off x="548640" y="3474720"/>
            <a:ext cx="3931920" cy="1143000"/>
          </a:xfrm>
          <a:prstGeom prst="roundRect">
            <a:avLst>
              <a:gd name="adj" fmla="val 9600"/>
            </a:avLst>
          </a:prstGeom>
          <a:solidFill>
            <a:schemeClr val="bg1"/>
          </a:solidFill>
          <a:ln w="12700">
            <a:solidFill>
              <a:schemeClr val="bg1"/>
            </a:solidFill>
            <a:prstDash val="solid"/>
          </a:ln>
        </p:spPr>
      </p:sp>
      <p:sp>
        <p:nvSpPr>
          <p:cNvPr id="15" name="Text 13"/>
          <p:cNvSpPr txBox="1"/>
          <p:nvPr/>
        </p:nvSpPr>
        <p:spPr>
          <a:xfrm>
            <a:off x="822960" y="3566160"/>
            <a:ext cx="1554480" cy="960120"/>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16" name="Text 14"/>
          <p:cNvSpPr txBox="1"/>
          <p:nvPr/>
        </p:nvSpPr>
        <p:spPr>
          <a:xfrm>
            <a:off x="2377440" y="3566160"/>
            <a:ext cx="1920240" cy="960120"/>
          </a:xfrm>
          <a:prstGeom prst="rect">
            <a:avLst/>
          </a:prstGeom>
          <a:noFill/>
          <a:ln/>
        </p:spPr>
        <p:txBody>
          <a:bodyPr wrap="square" lIns="0" tIns="0" rIns="0" bIns="0" rtlCol="0" anchor="ctr"/>
          <a:lstStyle/>
          <a:p>
            <a:pPr indent="0" marL="0">
              <a:buNone/>
            </a:pPr>
            <a:r>
              <a:rPr lang="en-US" sz="1500" dirty="0">
                <a:solidFill>
                  <a:schemeClr val="tx2"/>
                </a:solidFill>
              </a:rPr>
              <a:t>interviews</a:t>
            </a:r>
            <a:endParaRPr lang="en-US" sz="1500" dirty="0"/>
          </a:p>
        </p:txBody>
      </p:sp>
      <p:sp>
        <p:nvSpPr>
          <p:cNvPr id="17" name="stat"/>
          <p:cNvSpPr/>
          <p:nvPr/>
        </p:nvSpPr>
        <p:spPr>
          <a:xfrm>
            <a:off x="548640" y="4800600"/>
            <a:ext cx="3931920" cy="1143000"/>
          </a:xfrm>
          <a:prstGeom prst="roundRect">
            <a:avLst>
              <a:gd name="adj" fmla="val 9600"/>
            </a:avLst>
          </a:prstGeom>
          <a:solidFill>
            <a:schemeClr val="bg1"/>
          </a:solidFill>
          <a:ln w="12700">
            <a:solidFill>
              <a:schemeClr val="bg1"/>
            </a:solidFill>
            <a:prstDash val="solid"/>
          </a:ln>
        </p:spPr>
      </p:sp>
      <p:sp>
        <p:nvSpPr>
          <p:cNvPr id="18" name="Text 16"/>
          <p:cNvSpPr txBox="1"/>
          <p:nvPr/>
        </p:nvSpPr>
        <p:spPr>
          <a:xfrm>
            <a:off x="822960" y="4892040"/>
            <a:ext cx="1554480" cy="960120"/>
          </a:xfrm>
          <a:prstGeom prst="rect">
            <a:avLst/>
          </a:prstGeom>
          <a:noFill/>
          <a:ln/>
        </p:spPr>
        <p:txBody>
          <a:bodyPr wrap="square" lIns="0" tIns="0" rIns="0" bIns="0" rtlCol="0" anchor="ctr"/>
          <a:lstStyle/>
          <a:p>
            <a:pPr indent="0" marL="0">
              <a:buNone/>
            </a:pPr>
            <a:r>
              <a:rPr lang="en-US" sz="4400" b="1" dirty="0">
                <a:solidFill>
                  <a:schemeClr val="tx1"/>
                </a:solidFill>
              </a:rPr>
              <a:t>5</a:t>
            </a:r>
            <a:endParaRPr lang="en-US" sz="4400" dirty="0"/>
          </a:p>
        </p:txBody>
      </p:sp>
      <p:sp>
        <p:nvSpPr>
          <p:cNvPr id="19" name="Text 17"/>
          <p:cNvSpPr txBox="1"/>
          <p:nvPr/>
        </p:nvSpPr>
        <p:spPr>
          <a:xfrm>
            <a:off x="2377440" y="4892040"/>
            <a:ext cx="1920240" cy="960120"/>
          </a:xfrm>
          <a:prstGeom prst="rect">
            <a:avLst/>
          </a:prstGeom>
          <a:noFill/>
          <a:ln/>
        </p:spPr>
        <p:txBody>
          <a:bodyPr wrap="square" lIns="0" tIns="0" rIns="0" bIns="0" rtlCol="0" anchor="ctr"/>
          <a:lstStyle/>
          <a:p>
            <a:pPr indent="0" marL="0">
              <a:buNone/>
            </a:pPr>
            <a:r>
              <a:rPr lang="en-US" sz="1500" dirty="0">
                <a:solidFill>
                  <a:schemeClr val="tx2"/>
                </a:solidFill>
              </a:rPr>
              <a:t>job boards checked every morning</a:t>
            </a:r>
            <a:endParaRPr lang="en-US" sz="1500" dirty="0"/>
          </a:p>
        </p:txBody>
      </p:sp>
      <p:sp>
        <p:nvSpPr>
          <p:cNvPr id="20" name="pain"/>
          <p:cNvSpPr/>
          <p:nvPr/>
        </p:nvSpPr>
        <p:spPr>
          <a:xfrm>
            <a:off x="4846320" y="2148840"/>
            <a:ext cx="3246120" cy="1645920"/>
          </a:xfrm>
          <a:prstGeom prst="roundRect">
            <a:avLst>
              <a:gd name="adj" fmla="val 6667"/>
            </a:avLst>
          </a:prstGeom>
          <a:solidFill>
            <a:schemeClr val="bg1"/>
          </a:solidFill>
          <a:ln w="12700">
            <a:solidFill>
              <a:schemeClr val="bg1"/>
            </a:solidFill>
            <a:prstDash val="solid"/>
          </a:ln>
        </p:spPr>
      </p:sp>
      <p:sp>
        <p:nvSpPr>
          <p:cNvPr id="21" name="Text 19"/>
          <p:cNvSpPr txBox="1"/>
          <p:nvPr/>
        </p:nvSpPr>
        <p:spPr>
          <a:xfrm>
            <a:off x="5120640" y="2377440"/>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01</a:t>
            </a:r>
            <a:endParaRPr lang="en-US" sz="1200" dirty="0"/>
          </a:p>
        </p:txBody>
      </p:sp>
      <p:sp>
        <p:nvSpPr>
          <p:cNvPr id="22" name="Text 20"/>
          <p:cNvSpPr txBox="1"/>
          <p:nvPr/>
        </p:nvSpPr>
        <p:spPr>
          <a:xfrm>
            <a:off x="5120640" y="2651760"/>
            <a:ext cx="2743200" cy="365760"/>
          </a:xfrm>
          <a:prstGeom prst="rect">
            <a:avLst/>
          </a:prstGeom>
          <a:noFill/>
          <a:ln/>
        </p:spPr>
        <p:txBody>
          <a:bodyPr wrap="square" lIns="0" tIns="0" rIns="0" bIns="0" rtlCol="0" anchor="t"/>
          <a:lstStyle/>
          <a:p>
            <a:pPr indent="0" marL="0">
              <a:buNone/>
            </a:pPr>
            <a:r>
              <a:rPr lang="en-US" sz="1800" b="1" dirty="0">
                <a:solidFill>
                  <a:schemeClr val="tx1"/>
                </a:solidFill>
              </a:rPr>
              <a:t>Noisy vacancies</a:t>
            </a:r>
            <a:endParaRPr lang="en-US" sz="1800" dirty="0"/>
          </a:p>
        </p:txBody>
      </p:sp>
      <p:sp>
        <p:nvSpPr>
          <p:cNvPr id="23" name="Text 21"/>
          <p:cNvSpPr txBox="1"/>
          <p:nvPr/>
        </p:nvSpPr>
        <p:spPr>
          <a:xfrm>
            <a:off x="5120640" y="3035808"/>
            <a:ext cx="2743200" cy="640080"/>
          </a:xfrm>
          <a:prstGeom prst="rect">
            <a:avLst/>
          </a:prstGeom>
          <a:noFill/>
          <a:ln/>
        </p:spPr>
        <p:txBody>
          <a:bodyPr wrap="square" lIns="0" tIns="0" rIns="0" bIns="0" rtlCol="0" anchor="t"/>
          <a:lstStyle/>
          <a:p>
            <a:pPr indent="0" marL="0">
              <a:buNone/>
            </a:pPr>
            <a:r>
              <a:rPr lang="en-US" sz="1400" dirty="0">
                <a:solidFill>
                  <a:schemeClr val="tx2"/>
                </a:solidFill>
              </a:rPr>
              <a:t>The same searches on several boards, ads that all sound alike.</a:t>
            </a:r>
            <a:endParaRPr lang="en-US" sz="1400" dirty="0"/>
          </a:p>
        </p:txBody>
      </p:sp>
      <p:sp>
        <p:nvSpPr>
          <p:cNvPr id="24" name="pain"/>
          <p:cNvSpPr/>
          <p:nvPr/>
        </p:nvSpPr>
        <p:spPr>
          <a:xfrm>
            <a:off x="8275320" y="2148840"/>
            <a:ext cx="3246120" cy="1645920"/>
          </a:xfrm>
          <a:prstGeom prst="roundRect">
            <a:avLst>
              <a:gd name="adj" fmla="val 6667"/>
            </a:avLst>
          </a:prstGeom>
          <a:solidFill>
            <a:srgbClr val="0F2A4A"/>
          </a:solidFill>
          <a:ln w="12700">
            <a:solidFill>
              <a:srgbClr val="0F2A4A"/>
            </a:solidFill>
            <a:prstDash val="solid"/>
          </a:ln>
        </p:spPr>
      </p:sp>
      <p:sp>
        <p:nvSpPr>
          <p:cNvPr id="25" name="Text 23"/>
          <p:cNvSpPr txBox="1"/>
          <p:nvPr/>
        </p:nvSpPr>
        <p:spPr>
          <a:xfrm>
            <a:off x="8549640" y="2377440"/>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02</a:t>
            </a:r>
            <a:endParaRPr lang="en-US" sz="1200" dirty="0"/>
          </a:p>
        </p:txBody>
      </p:sp>
      <p:sp>
        <p:nvSpPr>
          <p:cNvPr id="26" name="Text 24"/>
          <p:cNvSpPr txBox="1"/>
          <p:nvPr/>
        </p:nvSpPr>
        <p:spPr>
          <a:xfrm>
            <a:off x="8549640" y="2651760"/>
            <a:ext cx="2743200" cy="365760"/>
          </a:xfrm>
          <a:prstGeom prst="rect">
            <a:avLst/>
          </a:prstGeom>
          <a:noFill/>
          <a:ln/>
        </p:spPr>
        <p:txBody>
          <a:bodyPr wrap="square" lIns="0" tIns="0" rIns="0" bIns="0" rtlCol="0" anchor="t"/>
          <a:lstStyle/>
          <a:p>
            <a:pPr indent="0" marL="0">
              <a:buNone/>
            </a:pPr>
            <a:r>
              <a:rPr lang="en-US" sz="1800" b="1" dirty="0">
                <a:solidFill>
                  <a:schemeClr val="bg1"/>
                </a:solidFill>
              </a:rPr>
              <a:t>Unclear fit</a:t>
            </a:r>
            <a:endParaRPr lang="en-US" sz="1800" dirty="0"/>
          </a:p>
        </p:txBody>
      </p:sp>
      <p:sp>
        <p:nvSpPr>
          <p:cNvPr id="27" name="Text 25"/>
          <p:cNvSpPr txBox="1"/>
          <p:nvPr/>
        </p:nvSpPr>
        <p:spPr>
          <a:xfrm>
            <a:off x="8549640" y="3035808"/>
            <a:ext cx="2743200" cy="640080"/>
          </a:xfrm>
          <a:prstGeom prst="rect">
            <a:avLst/>
          </a:prstGeom>
          <a:noFill/>
          <a:ln/>
        </p:spPr>
        <p:txBody>
          <a:bodyPr wrap="square" lIns="0" tIns="0" rIns="0" bIns="0" rtlCol="0" anchor="t"/>
          <a:lstStyle/>
          <a:p>
            <a:pPr indent="0" marL="0">
              <a:buNone/>
            </a:pPr>
            <a:r>
              <a:rPr lang="en-US" sz="1400" dirty="0">
                <a:solidFill>
                  <a:schemeClr val="accent4"/>
                </a:solidFill>
              </a:rPr>
              <a:t>No answer to "do I qualify?", so she applies blindly or not at all.</a:t>
            </a:r>
            <a:endParaRPr lang="en-US" sz="1400" dirty="0"/>
          </a:p>
        </p:txBody>
      </p:sp>
      <p:sp>
        <p:nvSpPr>
          <p:cNvPr id="28" name="pain"/>
          <p:cNvSpPr/>
          <p:nvPr/>
        </p:nvSpPr>
        <p:spPr>
          <a:xfrm>
            <a:off x="4846320" y="3977640"/>
            <a:ext cx="3246120" cy="1645920"/>
          </a:xfrm>
          <a:prstGeom prst="roundRect">
            <a:avLst>
              <a:gd name="adj" fmla="val 6667"/>
            </a:avLst>
          </a:prstGeom>
          <a:solidFill>
            <a:schemeClr val="bg1"/>
          </a:solidFill>
          <a:ln w="12700">
            <a:solidFill>
              <a:schemeClr val="bg1"/>
            </a:solidFill>
            <a:prstDash val="solid"/>
          </a:ln>
        </p:spPr>
      </p:sp>
      <p:sp>
        <p:nvSpPr>
          <p:cNvPr id="29" name="Text 27"/>
          <p:cNvSpPr txBox="1"/>
          <p:nvPr/>
        </p:nvSpPr>
        <p:spPr>
          <a:xfrm>
            <a:off x="5120640" y="4206240"/>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03</a:t>
            </a:r>
            <a:endParaRPr lang="en-US" sz="1200" dirty="0"/>
          </a:p>
        </p:txBody>
      </p:sp>
      <p:sp>
        <p:nvSpPr>
          <p:cNvPr id="30" name="Text 28"/>
          <p:cNvSpPr txBox="1"/>
          <p:nvPr/>
        </p:nvSpPr>
        <p:spPr>
          <a:xfrm>
            <a:off x="5120640" y="4480560"/>
            <a:ext cx="2743200" cy="365760"/>
          </a:xfrm>
          <a:prstGeom prst="rect">
            <a:avLst/>
          </a:prstGeom>
          <a:noFill/>
          <a:ln/>
        </p:spPr>
        <p:txBody>
          <a:bodyPr wrap="square" lIns="0" tIns="0" rIns="0" bIns="0" rtlCol="0" anchor="t"/>
          <a:lstStyle/>
          <a:p>
            <a:pPr indent="0" marL="0">
              <a:buNone/>
            </a:pPr>
            <a:r>
              <a:rPr lang="en-US" sz="1800" b="1" dirty="0">
                <a:solidFill>
                  <a:schemeClr val="tx1"/>
                </a:solidFill>
              </a:rPr>
              <a:t>Rewriting every time</a:t>
            </a:r>
            <a:endParaRPr lang="en-US" sz="1800" dirty="0"/>
          </a:p>
        </p:txBody>
      </p:sp>
      <p:sp>
        <p:nvSpPr>
          <p:cNvPr id="31" name="Text 29"/>
          <p:cNvSpPr txBox="1"/>
          <p:nvPr/>
        </p:nvSpPr>
        <p:spPr>
          <a:xfrm>
            <a:off x="5120640" y="4864608"/>
            <a:ext cx="2743200" cy="640080"/>
          </a:xfrm>
          <a:prstGeom prst="rect">
            <a:avLst/>
          </a:prstGeom>
          <a:noFill/>
          <a:ln/>
        </p:spPr>
        <p:txBody>
          <a:bodyPr wrap="square" lIns="0" tIns="0" rIns="0" bIns="0" rtlCol="0" anchor="t"/>
          <a:lstStyle/>
          <a:p>
            <a:pPr indent="0" marL="0">
              <a:buNone/>
            </a:pPr>
            <a:r>
              <a:rPr lang="en-US" sz="1400" dirty="0">
                <a:solidFill>
                  <a:schemeClr val="tx2"/>
                </a:solidFill>
              </a:rPr>
              <a:t>A new CV and cover letter for each ad, by hand.</a:t>
            </a:r>
            <a:endParaRPr lang="en-US" sz="1400" dirty="0"/>
          </a:p>
        </p:txBody>
      </p:sp>
      <p:sp>
        <p:nvSpPr>
          <p:cNvPr id="32" name="pain"/>
          <p:cNvSpPr/>
          <p:nvPr/>
        </p:nvSpPr>
        <p:spPr>
          <a:xfrm>
            <a:off x="8275320" y="3977640"/>
            <a:ext cx="3246120" cy="1645920"/>
          </a:xfrm>
          <a:prstGeom prst="roundRect">
            <a:avLst>
              <a:gd name="adj" fmla="val 6667"/>
            </a:avLst>
          </a:prstGeom>
          <a:solidFill>
            <a:schemeClr val="bg1"/>
          </a:solidFill>
          <a:ln w="12700">
            <a:solidFill>
              <a:schemeClr val="bg1"/>
            </a:solidFill>
            <a:prstDash val="solid"/>
          </a:ln>
        </p:spPr>
      </p:sp>
      <p:sp>
        <p:nvSpPr>
          <p:cNvPr id="33" name="Text 31"/>
          <p:cNvSpPr txBox="1"/>
          <p:nvPr/>
        </p:nvSpPr>
        <p:spPr>
          <a:xfrm>
            <a:off x="8549640" y="4206240"/>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04</a:t>
            </a:r>
            <a:endParaRPr lang="en-US" sz="1200" dirty="0"/>
          </a:p>
        </p:txBody>
      </p:sp>
      <p:sp>
        <p:nvSpPr>
          <p:cNvPr id="34" name="Text 32"/>
          <p:cNvSpPr txBox="1"/>
          <p:nvPr/>
        </p:nvSpPr>
        <p:spPr>
          <a:xfrm>
            <a:off x="8549640" y="4480560"/>
            <a:ext cx="2743200" cy="365760"/>
          </a:xfrm>
          <a:prstGeom prst="rect">
            <a:avLst/>
          </a:prstGeom>
          <a:noFill/>
          <a:ln/>
        </p:spPr>
        <p:txBody>
          <a:bodyPr wrap="square" lIns="0" tIns="0" rIns="0" bIns="0" rtlCol="0" anchor="t"/>
          <a:lstStyle/>
          <a:p>
            <a:pPr indent="0" marL="0">
              <a:buNone/>
            </a:pPr>
            <a:r>
              <a:rPr lang="en-US" sz="1800" b="1" dirty="0">
                <a:solidFill>
                  <a:schemeClr val="tx1"/>
                </a:solidFill>
              </a:rPr>
              <a:t>Losing track</a:t>
            </a:r>
            <a:endParaRPr lang="en-US" sz="1800" dirty="0"/>
          </a:p>
        </p:txBody>
      </p:sp>
      <p:sp>
        <p:nvSpPr>
          <p:cNvPr id="35" name="Text 33"/>
          <p:cNvSpPr txBox="1"/>
          <p:nvPr/>
        </p:nvSpPr>
        <p:spPr>
          <a:xfrm>
            <a:off x="8549640" y="4864608"/>
            <a:ext cx="2743200" cy="640080"/>
          </a:xfrm>
          <a:prstGeom prst="rect">
            <a:avLst/>
          </a:prstGeom>
          <a:noFill/>
          <a:ln/>
        </p:spPr>
        <p:txBody>
          <a:bodyPr wrap="square" lIns="0" tIns="0" rIns="0" bIns="0" rtlCol="0" anchor="t"/>
          <a:lstStyle/>
          <a:p>
            <a:pPr indent="0" marL="0">
              <a:buNone/>
            </a:pPr>
            <a:r>
              <a:rPr lang="en-US" sz="1400" dirty="0">
                <a:solidFill>
                  <a:schemeClr val="tx2"/>
                </a:solidFill>
              </a:rPr>
              <a:t>Which job, which CV, which date: nothing in one place.</a:t>
            </a:r>
            <a:endParaRPr lang="en-US" sz="1400" dirty="0"/>
          </a:p>
        </p:txBody>
      </p:sp>
      <p:sp>
        <p:nvSpPr>
          <p:cNvPr id="36" name="Text 34"/>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000" dirty="0">
                <a:solidFill>
                  <a:schemeClr val="tx2"/>
                </a:solidFill>
              </a:rPr>
              <a:t>Persona figures are illustrative composites from ideation, not measured data.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01 · INTRODUCTION · PERSONAS</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Four people, one question: is this a fit?</a:t>
            </a:r>
            <a:endParaRPr lang="en-US" sz="3200" dirty="0"/>
          </a:p>
        </p:txBody>
      </p:sp>
      <p:sp>
        <p:nvSpPr>
          <p:cNvPr id="4" name="Text 2"/>
          <p:cNvSpPr txBox="1"/>
          <p:nvPr/>
        </p:nvSpPr>
        <p:spPr>
          <a:xfrm>
            <a:off x="5577840"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persona"/>
          <p:cNvSpPr/>
          <p:nvPr/>
        </p:nvSpPr>
        <p:spPr>
          <a:xfrm>
            <a:off x="548640" y="2103120"/>
            <a:ext cx="2633472" cy="3931920"/>
          </a:xfrm>
          <a:prstGeom prst="roundRect">
            <a:avLst>
              <a:gd name="adj" fmla="val 4167"/>
            </a:avLst>
          </a:prstGeom>
          <a:solidFill>
            <a:schemeClr val="bg1"/>
          </a:solidFill>
          <a:ln w="12700">
            <a:solidFill>
              <a:schemeClr val="bg1"/>
            </a:solidFill>
            <a:prstDash val="solid"/>
          </a:ln>
        </p:spPr>
      </p:sp>
      <p:pic>
        <p:nvPicPr>
          <p:cNvPr id="12" name="Image 0" descr="/tmp/claude-0/-home-claude/d1b11841-31a5-5c6c-8b8a-2c68ca1b0a7c/scratchpad/deck/img/markus.jpg">    </p:cNvPr>
          <p:cNvPicPr>
            <a:picLocks noChangeAspect="1"/>
          </p:cNvPicPr>
          <p:nvPr/>
        </p:nvPicPr>
        <p:blipFill>
          <a:blip r:embed="rId1"/>
          <a:srcRect l="0" r="0" t="0" b="0"/>
          <a:stretch/>
        </p:blipFill>
        <p:spPr>
          <a:xfrm>
            <a:off x="777240" y="2331720"/>
            <a:ext cx="868680" cy="868680"/>
          </a:xfrm>
          <a:prstGeom prst="ellipse">
            <a:avLst/>
          </a:prstGeom>
        </p:spPr>
      </p:pic>
      <p:sp>
        <p:nvSpPr>
          <p:cNvPr id="13" name="Text 10"/>
          <p:cNvSpPr txBox="1"/>
          <p:nvPr/>
        </p:nvSpPr>
        <p:spPr>
          <a:xfrm>
            <a:off x="777240" y="3383280"/>
            <a:ext cx="2176272" cy="228600"/>
          </a:xfrm>
          <a:prstGeom prst="rect">
            <a:avLst/>
          </a:prstGeom>
          <a:noFill/>
          <a:ln/>
        </p:spPr>
        <p:txBody>
          <a:bodyPr wrap="square" lIns="0" tIns="0" rIns="0" bIns="0" rtlCol="0" anchor="t"/>
          <a:lstStyle/>
          <a:p>
            <a:pPr indent="0" marL="0">
              <a:buNone/>
            </a:pPr>
            <a:r>
              <a:rPr lang="en-US" sz="1000" b="1" spc="100" kern="0" dirty="0">
                <a:solidFill>
                  <a:schemeClr val="tx2"/>
                </a:solidFill>
              </a:rPr>
              <a:t>CANDIDATE · SENIOR</a:t>
            </a:r>
            <a:endParaRPr lang="en-US" sz="1000" dirty="0"/>
          </a:p>
        </p:txBody>
      </p:sp>
      <p:sp>
        <p:nvSpPr>
          <p:cNvPr id="14" name="Text 11"/>
          <p:cNvSpPr txBox="1"/>
          <p:nvPr/>
        </p:nvSpPr>
        <p:spPr>
          <a:xfrm>
            <a:off x="777240" y="3657600"/>
            <a:ext cx="2176272" cy="411480"/>
          </a:xfrm>
          <a:prstGeom prst="rect">
            <a:avLst/>
          </a:prstGeom>
          <a:noFill/>
          <a:ln/>
        </p:spPr>
        <p:txBody>
          <a:bodyPr wrap="square" lIns="0" tIns="0" rIns="0" bIns="0" rtlCol="0" anchor="t"/>
          <a:lstStyle/>
          <a:p>
            <a:pPr indent="0" marL="0">
              <a:buNone/>
            </a:pPr>
            <a:r>
              <a:rPr lang="en-US" sz="2200" b="1" dirty="0">
                <a:solidFill>
                  <a:schemeClr val="tx1"/>
                </a:solidFill>
              </a:rPr>
              <a:t>Markus</a:t>
            </a:r>
            <a:endParaRPr lang="en-US" sz="2200" dirty="0"/>
          </a:p>
        </p:txBody>
      </p:sp>
      <p:sp>
        <p:nvSpPr>
          <p:cNvPr id="15" name="Text 12"/>
          <p:cNvSpPr txBox="1"/>
          <p:nvPr/>
        </p:nvSpPr>
        <p:spPr>
          <a:xfrm>
            <a:off x="777240" y="4114800"/>
            <a:ext cx="2176272" cy="822960"/>
          </a:xfrm>
          <a:prstGeom prst="rect">
            <a:avLst/>
          </a:prstGeom>
          <a:noFill/>
          <a:ln/>
        </p:spPr>
        <p:txBody>
          <a:bodyPr wrap="square" lIns="0" tIns="0" rIns="0" bIns="0" rtlCol="0" anchor="t"/>
          <a:lstStyle/>
          <a:p>
            <a:pPr indent="0" marL="0">
              <a:buNone/>
            </a:pPr>
            <a:r>
              <a:rPr lang="en-US" sz="1300" dirty="0">
                <a:solidFill>
                  <a:schemeClr val="tx2"/>
                </a:solidFill>
              </a:rPr>
              <a:t>Senior systems engineer, Stuttgart, 18 years in automotive</a:t>
            </a:r>
            <a:endParaRPr lang="en-US" sz="1300" dirty="0"/>
          </a:p>
        </p:txBody>
      </p:sp>
      <p:sp>
        <p:nvSpPr>
          <p:cNvPr id="16" name="Text 13"/>
          <p:cNvSpPr txBox="1"/>
          <p:nvPr/>
        </p:nvSpPr>
        <p:spPr>
          <a:xfrm>
            <a:off x="777240" y="4983480"/>
            <a:ext cx="2176272" cy="914400"/>
          </a:xfrm>
          <a:prstGeom prst="rect">
            <a:avLst/>
          </a:prstGeom>
          <a:noFill/>
          <a:ln/>
        </p:spPr>
        <p:txBody>
          <a:bodyPr wrap="square" lIns="0" tIns="0" rIns="0" bIns="0" rtlCol="0" anchor="t"/>
          <a:lstStyle/>
          <a:p>
            <a:pPr indent="0" marL="0">
              <a:buNone/>
            </a:pPr>
            <a:r>
              <a:rPr lang="en-US" sz="1400" b="1" dirty="0">
                <a:solidFill>
                  <a:schemeClr val="tx1"/>
                </a:solidFill>
              </a:rPr>
              <a:t>About 60 alerts a week; wants only roles worth his time</a:t>
            </a:r>
            <a:endParaRPr lang="en-US" sz="1400" dirty="0"/>
          </a:p>
        </p:txBody>
      </p:sp>
      <p:sp>
        <p:nvSpPr>
          <p:cNvPr id="17" name="persona"/>
          <p:cNvSpPr/>
          <p:nvPr/>
        </p:nvSpPr>
        <p:spPr>
          <a:xfrm>
            <a:off x="3364992" y="2103120"/>
            <a:ext cx="2633472" cy="3931920"/>
          </a:xfrm>
          <a:prstGeom prst="roundRect">
            <a:avLst>
              <a:gd name="adj" fmla="val 4167"/>
            </a:avLst>
          </a:prstGeom>
          <a:solidFill>
            <a:schemeClr val="bg1"/>
          </a:solidFill>
          <a:ln w="12700">
            <a:solidFill>
              <a:schemeClr val="bg1"/>
            </a:solidFill>
            <a:prstDash val="solid"/>
          </a:ln>
        </p:spPr>
      </p:sp>
      <p:pic>
        <p:nvPicPr>
          <p:cNvPr id="18" name="Image 1" descr="/tmp/claude-0/-home-claude/d1b11841-31a5-5c6c-8b8a-2c68ca1b0a7c/scratchpad/deck/img/lena.jpg">    </p:cNvPr>
          <p:cNvPicPr>
            <a:picLocks noChangeAspect="1"/>
          </p:cNvPicPr>
          <p:nvPr/>
        </p:nvPicPr>
        <p:blipFill>
          <a:blip r:embed="rId2"/>
          <a:srcRect l="0" r="0" t="0" b="0"/>
          <a:stretch/>
        </p:blipFill>
        <p:spPr>
          <a:xfrm>
            <a:off x="3593592" y="2331720"/>
            <a:ext cx="868680" cy="868680"/>
          </a:xfrm>
          <a:prstGeom prst="ellipse">
            <a:avLst/>
          </a:prstGeom>
        </p:spPr>
      </p:pic>
      <p:sp>
        <p:nvSpPr>
          <p:cNvPr id="19" name="Text 15"/>
          <p:cNvSpPr txBox="1"/>
          <p:nvPr/>
        </p:nvSpPr>
        <p:spPr>
          <a:xfrm>
            <a:off x="3593592" y="3383280"/>
            <a:ext cx="2176272" cy="228600"/>
          </a:xfrm>
          <a:prstGeom prst="rect">
            <a:avLst/>
          </a:prstGeom>
          <a:noFill/>
          <a:ln/>
        </p:spPr>
        <p:txBody>
          <a:bodyPr wrap="square" lIns="0" tIns="0" rIns="0" bIns="0" rtlCol="0" anchor="t"/>
          <a:lstStyle/>
          <a:p>
            <a:pPr indent="0" marL="0">
              <a:buNone/>
            </a:pPr>
            <a:r>
              <a:rPr lang="en-US" sz="1000" b="1" spc="100" kern="0" dirty="0">
                <a:solidFill>
                  <a:schemeClr val="tx2"/>
                </a:solidFill>
              </a:rPr>
              <a:t>CANDIDATE · GRADUATE</a:t>
            </a:r>
            <a:endParaRPr lang="en-US" sz="1000" dirty="0"/>
          </a:p>
        </p:txBody>
      </p:sp>
      <p:sp>
        <p:nvSpPr>
          <p:cNvPr id="20" name="Text 16"/>
          <p:cNvSpPr txBox="1"/>
          <p:nvPr/>
        </p:nvSpPr>
        <p:spPr>
          <a:xfrm>
            <a:off x="3593592" y="3657600"/>
            <a:ext cx="2176272" cy="411480"/>
          </a:xfrm>
          <a:prstGeom prst="rect">
            <a:avLst/>
          </a:prstGeom>
          <a:noFill/>
          <a:ln/>
        </p:spPr>
        <p:txBody>
          <a:bodyPr wrap="square" lIns="0" tIns="0" rIns="0" bIns="0" rtlCol="0" anchor="t"/>
          <a:lstStyle/>
          <a:p>
            <a:pPr indent="0" marL="0">
              <a:buNone/>
            </a:pPr>
            <a:r>
              <a:rPr lang="en-US" sz="2200" b="1" dirty="0">
                <a:solidFill>
                  <a:schemeClr val="tx1"/>
                </a:solidFill>
              </a:rPr>
              <a:t>Lena</a:t>
            </a:r>
            <a:endParaRPr lang="en-US" sz="2200" dirty="0"/>
          </a:p>
        </p:txBody>
      </p:sp>
      <p:sp>
        <p:nvSpPr>
          <p:cNvPr id="21" name="Text 17"/>
          <p:cNvSpPr txBox="1"/>
          <p:nvPr/>
        </p:nvSpPr>
        <p:spPr>
          <a:xfrm>
            <a:off x="3593592" y="4114800"/>
            <a:ext cx="2176272" cy="822960"/>
          </a:xfrm>
          <a:prstGeom prst="rect">
            <a:avLst/>
          </a:prstGeom>
          <a:noFill/>
          <a:ln/>
        </p:spPr>
        <p:txBody>
          <a:bodyPr wrap="square" lIns="0" tIns="0" rIns="0" bIns="0" rtlCol="0" anchor="t"/>
          <a:lstStyle/>
          <a:p>
            <a:pPr indent="0" marL="0">
              <a:buNone/>
            </a:pPr>
            <a:r>
              <a:rPr lang="en-US" sz="1300" dirty="0">
                <a:solidFill>
                  <a:schemeClr val="tx2"/>
                </a:solidFill>
              </a:rPr>
              <a:t>M.Sc. Business Informatics, Leipzig, 2 internships</a:t>
            </a:r>
            <a:endParaRPr lang="en-US" sz="1300" dirty="0"/>
          </a:p>
        </p:txBody>
      </p:sp>
      <p:sp>
        <p:nvSpPr>
          <p:cNvPr id="22" name="Text 18"/>
          <p:cNvSpPr txBox="1"/>
          <p:nvPr/>
        </p:nvSpPr>
        <p:spPr>
          <a:xfrm>
            <a:off x="3593592" y="4983480"/>
            <a:ext cx="2176272" cy="914400"/>
          </a:xfrm>
          <a:prstGeom prst="rect">
            <a:avLst/>
          </a:prstGeom>
          <a:noFill/>
          <a:ln/>
        </p:spPr>
        <p:txBody>
          <a:bodyPr wrap="square" lIns="0" tIns="0" rIns="0" bIns="0" rtlCol="0" anchor="t"/>
          <a:lstStyle/>
          <a:p>
            <a:pPr indent="0" marL="0">
              <a:buNone/>
            </a:pPr>
            <a:r>
              <a:rPr lang="en-US" sz="1400" b="1" dirty="0">
                <a:solidFill>
                  <a:schemeClr val="tx1"/>
                </a:solidFill>
              </a:rPr>
              <a:t>Needs to know which roles she qualifies for, and why</a:t>
            </a:r>
            <a:endParaRPr lang="en-US" sz="1400" dirty="0"/>
          </a:p>
        </p:txBody>
      </p:sp>
      <p:sp>
        <p:nvSpPr>
          <p:cNvPr id="23" name="persona"/>
          <p:cNvSpPr/>
          <p:nvPr/>
        </p:nvSpPr>
        <p:spPr>
          <a:xfrm>
            <a:off x="6181344" y="2103120"/>
            <a:ext cx="2633472" cy="3931920"/>
          </a:xfrm>
          <a:prstGeom prst="roundRect">
            <a:avLst>
              <a:gd name="adj" fmla="val 4167"/>
            </a:avLst>
          </a:prstGeom>
          <a:solidFill>
            <a:schemeClr val="bg1"/>
          </a:solidFill>
          <a:ln w="12700">
            <a:solidFill>
              <a:schemeClr val="bg1"/>
            </a:solidFill>
            <a:prstDash val="solid"/>
          </a:ln>
        </p:spPr>
      </p:sp>
      <p:pic>
        <p:nvPicPr>
          <p:cNvPr id="24" name="Image 2" descr="/tmp/claude-0/-home-claude/d1b11841-31a5-5c6c-8b8a-2c68ca1b0a7c/scratchpad/deck/img/andrei.jpg">    </p:cNvPr>
          <p:cNvPicPr>
            <a:picLocks noChangeAspect="1"/>
          </p:cNvPicPr>
          <p:nvPr/>
        </p:nvPicPr>
        <p:blipFill>
          <a:blip r:embed="rId3"/>
          <a:srcRect l="0" r="0" t="0" b="0"/>
          <a:stretch/>
        </p:blipFill>
        <p:spPr>
          <a:xfrm>
            <a:off x="6409944" y="2331720"/>
            <a:ext cx="868680" cy="868680"/>
          </a:xfrm>
          <a:prstGeom prst="ellipse">
            <a:avLst/>
          </a:prstGeom>
        </p:spPr>
      </p:pic>
      <p:sp>
        <p:nvSpPr>
          <p:cNvPr id="25" name="Text 20"/>
          <p:cNvSpPr txBox="1"/>
          <p:nvPr/>
        </p:nvSpPr>
        <p:spPr>
          <a:xfrm>
            <a:off x="6409944" y="3383280"/>
            <a:ext cx="2176272" cy="228600"/>
          </a:xfrm>
          <a:prstGeom prst="rect">
            <a:avLst/>
          </a:prstGeom>
          <a:noFill/>
          <a:ln/>
        </p:spPr>
        <p:txBody>
          <a:bodyPr wrap="square" lIns="0" tIns="0" rIns="0" bIns="0" rtlCol="0" anchor="t"/>
          <a:lstStyle/>
          <a:p>
            <a:pPr indent="0" marL="0">
              <a:buNone/>
            </a:pPr>
            <a:r>
              <a:rPr lang="en-US" sz="1000" b="1" spc="100" kern="0" dirty="0">
                <a:solidFill>
                  <a:schemeClr val="tx2"/>
                </a:solidFill>
              </a:rPr>
              <a:t>CANDIDATE · EXPAT</a:t>
            </a:r>
            <a:endParaRPr lang="en-US" sz="1000" dirty="0"/>
          </a:p>
        </p:txBody>
      </p:sp>
      <p:sp>
        <p:nvSpPr>
          <p:cNvPr id="26" name="Text 21"/>
          <p:cNvSpPr txBox="1"/>
          <p:nvPr/>
        </p:nvSpPr>
        <p:spPr>
          <a:xfrm>
            <a:off x="6409944" y="3657600"/>
            <a:ext cx="2176272" cy="411480"/>
          </a:xfrm>
          <a:prstGeom prst="rect">
            <a:avLst/>
          </a:prstGeom>
          <a:noFill/>
          <a:ln/>
        </p:spPr>
        <p:txBody>
          <a:bodyPr wrap="square" lIns="0" tIns="0" rIns="0" bIns="0" rtlCol="0" anchor="t"/>
          <a:lstStyle/>
          <a:p>
            <a:pPr indent="0" marL="0">
              <a:buNone/>
            </a:pPr>
            <a:r>
              <a:rPr lang="en-US" sz="2200" b="1" dirty="0">
                <a:solidFill>
                  <a:schemeClr val="tx1"/>
                </a:solidFill>
              </a:rPr>
              <a:t>Andrei</a:t>
            </a:r>
            <a:endParaRPr lang="en-US" sz="2200" dirty="0"/>
          </a:p>
        </p:txBody>
      </p:sp>
      <p:sp>
        <p:nvSpPr>
          <p:cNvPr id="27" name="Text 22"/>
          <p:cNvSpPr txBox="1"/>
          <p:nvPr/>
        </p:nvSpPr>
        <p:spPr>
          <a:xfrm>
            <a:off x="6409944" y="4114800"/>
            <a:ext cx="2176272" cy="822960"/>
          </a:xfrm>
          <a:prstGeom prst="rect">
            <a:avLst/>
          </a:prstGeom>
          <a:noFill/>
          <a:ln/>
        </p:spPr>
        <p:txBody>
          <a:bodyPr wrap="square" lIns="0" tIns="0" rIns="0" bIns="0" rtlCol="0" anchor="t"/>
          <a:lstStyle/>
          <a:p>
            <a:pPr indent="0" marL="0">
              <a:buNone/>
            </a:pPr>
            <a:r>
              <a:rPr lang="en-US" sz="1300" dirty="0">
                <a:solidFill>
                  <a:schemeClr val="tx2"/>
                </a:solidFill>
              </a:rPr>
              <a:t>Data engineer, Munich, works in RO / EN / DE</a:t>
            </a:r>
            <a:endParaRPr lang="en-US" sz="1300" dirty="0"/>
          </a:p>
        </p:txBody>
      </p:sp>
      <p:sp>
        <p:nvSpPr>
          <p:cNvPr id="28" name="Text 23"/>
          <p:cNvSpPr txBox="1"/>
          <p:nvPr/>
        </p:nvSpPr>
        <p:spPr>
          <a:xfrm>
            <a:off x="6409944" y="4983480"/>
            <a:ext cx="2176272" cy="914400"/>
          </a:xfrm>
          <a:prstGeom prst="rect">
            <a:avLst/>
          </a:prstGeom>
          <a:noFill/>
          <a:ln/>
        </p:spPr>
        <p:txBody>
          <a:bodyPr wrap="square" lIns="0" tIns="0" rIns="0" bIns="0" rtlCol="0" anchor="t"/>
          <a:lstStyle/>
          <a:p>
            <a:pPr indent="0" marL="0">
              <a:buNone/>
            </a:pPr>
            <a:r>
              <a:rPr lang="en-US" sz="1400" b="1" dirty="0">
                <a:solidFill>
                  <a:schemeClr val="tx1"/>
                </a:solidFill>
              </a:rPr>
              <a:t>Needs the required language level and real employers only</a:t>
            </a:r>
            <a:endParaRPr lang="en-US" sz="1400" dirty="0"/>
          </a:p>
        </p:txBody>
      </p:sp>
      <p:sp>
        <p:nvSpPr>
          <p:cNvPr id="29" name="persona"/>
          <p:cNvSpPr/>
          <p:nvPr/>
        </p:nvSpPr>
        <p:spPr>
          <a:xfrm>
            <a:off x="8997696" y="2103120"/>
            <a:ext cx="2633472" cy="3931920"/>
          </a:xfrm>
          <a:prstGeom prst="roundRect">
            <a:avLst>
              <a:gd name="adj" fmla="val 4167"/>
            </a:avLst>
          </a:prstGeom>
          <a:solidFill>
            <a:schemeClr val="bg1"/>
          </a:solidFill>
          <a:ln w="12700">
            <a:solidFill>
              <a:schemeClr val="bg1"/>
            </a:solidFill>
            <a:prstDash val="solid"/>
          </a:ln>
        </p:spPr>
      </p:sp>
      <p:pic>
        <p:nvPicPr>
          <p:cNvPr id="30" name="Image 3" descr="/tmp/claude-0/-home-claude/d1b11841-31a5-5c6c-8b8a-2c68ca1b0a7c/scratchpad/deck/img/sofia.jpg">    </p:cNvPr>
          <p:cNvPicPr>
            <a:picLocks noChangeAspect="1"/>
          </p:cNvPicPr>
          <p:nvPr/>
        </p:nvPicPr>
        <p:blipFill>
          <a:blip r:embed="rId4"/>
          <a:srcRect l="0" r="0" t="0" b="0"/>
          <a:stretch/>
        </p:blipFill>
        <p:spPr>
          <a:xfrm>
            <a:off x="9226296" y="2331720"/>
            <a:ext cx="868680" cy="868680"/>
          </a:xfrm>
          <a:prstGeom prst="ellipse">
            <a:avLst/>
          </a:prstGeom>
        </p:spPr>
      </p:pic>
      <p:sp>
        <p:nvSpPr>
          <p:cNvPr id="31" name="Text 25"/>
          <p:cNvSpPr txBox="1"/>
          <p:nvPr/>
        </p:nvSpPr>
        <p:spPr>
          <a:xfrm>
            <a:off x="9226296" y="3383280"/>
            <a:ext cx="2176272"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HEADHUNTER · PILOT</a:t>
            </a:r>
            <a:endParaRPr lang="en-US" sz="1000" dirty="0"/>
          </a:p>
        </p:txBody>
      </p:sp>
      <p:sp>
        <p:nvSpPr>
          <p:cNvPr id="32" name="Text 26"/>
          <p:cNvSpPr txBox="1"/>
          <p:nvPr/>
        </p:nvSpPr>
        <p:spPr>
          <a:xfrm>
            <a:off x="9226296" y="3657600"/>
            <a:ext cx="2176272" cy="411480"/>
          </a:xfrm>
          <a:prstGeom prst="rect">
            <a:avLst/>
          </a:prstGeom>
          <a:noFill/>
          <a:ln/>
        </p:spPr>
        <p:txBody>
          <a:bodyPr wrap="square" lIns="0" tIns="0" rIns="0" bIns="0" rtlCol="0" anchor="t"/>
          <a:lstStyle/>
          <a:p>
            <a:pPr indent="0" marL="0">
              <a:buNone/>
            </a:pPr>
            <a:r>
              <a:rPr lang="en-US" sz="2200" b="1" dirty="0">
                <a:solidFill>
                  <a:schemeClr val="tx1"/>
                </a:solidFill>
              </a:rPr>
              <a:t>Sofia</a:t>
            </a:r>
            <a:endParaRPr lang="en-US" sz="2200" dirty="0"/>
          </a:p>
        </p:txBody>
      </p:sp>
      <p:sp>
        <p:nvSpPr>
          <p:cNvPr id="33" name="Text 27"/>
          <p:cNvSpPr txBox="1"/>
          <p:nvPr/>
        </p:nvSpPr>
        <p:spPr>
          <a:xfrm>
            <a:off x="9226296" y="4114800"/>
            <a:ext cx="2176272" cy="822960"/>
          </a:xfrm>
          <a:prstGeom prst="rect">
            <a:avLst/>
          </a:prstGeom>
          <a:noFill/>
          <a:ln/>
        </p:spPr>
        <p:txBody>
          <a:bodyPr wrap="square" lIns="0" tIns="0" rIns="0" bIns="0" rtlCol="0" anchor="t"/>
          <a:lstStyle/>
          <a:p>
            <a:pPr indent="0" marL="0">
              <a:buNone/>
            </a:pPr>
            <a:r>
              <a:rPr lang="en-US" sz="1300" dirty="0">
                <a:solidFill>
                  <a:schemeClr val="tx2"/>
                </a:solidFill>
              </a:rPr>
              <a:t>Verified recruiter hiring in Germany</a:t>
            </a:r>
            <a:endParaRPr lang="en-US" sz="1300" dirty="0"/>
          </a:p>
        </p:txBody>
      </p:sp>
      <p:sp>
        <p:nvSpPr>
          <p:cNvPr id="34" name="Text 28"/>
          <p:cNvSpPr txBox="1"/>
          <p:nvPr/>
        </p:nvSpPr>
        <p:spPr>
          <a:xfrm>
            <a:off x="9226296" y="4983480"/>
            <a:ext cx="2176272" cy="914400"/>
          </a:xfrm>
          <a:prstGeom prst="rect">
            <a:avLst/>
          </a:prstGeom>
          <a:noFill/>
          <a:ln/>
        </p:spPr>
        <p:txBody>
          <a:bodyPr wrap="square" lIns="0" tIns="0" rIns="0" bIns="0" rtlCol="0" anchor="t"/>
          <a:lstStyle/>
          <a:p>
            <a:pPr indent="0" marL="0">
              <a:buNone/>
            </a:pPr>
            <a:r>
              <a:rPr lang="en-US" sz="1400" b="1" dirty="0">
                <a:solidFill>
                  <a:schemeClr val="tx1"/>
                </a:solidFill>
              </a:rPr>
              <a:t>Wants available candidates with ≥ 90% fit, without CV databases</a:t>
            </a:r>
            <a:endParaRPr lang="en-US" sz="1400" dirty="0"/>
          </a:p>
        </p:txBody>
      </p:sp>
      <p:sp>
        <p:nvSpPr>
          <p:cNvPr id="35" name="Text 29"/>
          <p:cNvSpPr txBox="1"/>
          <p:nvPr/>
        </p:nvSpPr>
        <p:spPr>
          <a:xfrm>
            <a:off x="548640" y="6126480"/>
            <a:ext cx="10058400" cy="228600"/>
          </a:xfrm>
          <a:prstGeom prst="rect">
            <a:avLst/>
          </a:prstGeom>
          <a:noFill/>
          <a:ln/>
        </p:spPr>
        <p:txBody>
          <a:bodyPr wrap="square" lIns="0" tIns="0" rIns="0" bIns="0" rtlCol="0" anchor="t"/>
          <a:lstStyle/>
          <a:p>
            <a:pPr indent="0" marL="0">
              <a:buNone/>
            </a:pPr>
            <a:r>
              <a:rPr lang="en-US" sz="1000" dirty="0">
                <a:solidFill>
                  <a:schemeClr val="tx2"/>
                </a:solidFill>
              </a:rPr>
              <a:t>Personas are illustrative composites, still to be validated in 15 candidate and 5 headhunter interviews.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01 · INTRODUCTION · COMPETITION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Today's tools optimise wording or volume, not fit</a:t>
            </a:r>
            <a:endParaRPr lang="en-US" sz="3200" dirty="0"/>
          </a:p>
        </p:txBody>
      </p:sp>
      <p:sp>
        <p:nvSpPr>
          <p:cNvPr id="4" name="Text 2"/>
          <p:cNvSpPr txBox="1"/>
          <p:nvPr/>
        </p:nvSpPr>
        <p:spPr>
          <a:xfrm>
            <a:off x="5577840"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map"/>
          <p:cNvSpPr/>
          <p:nvPr/>
        </p:nvSpPr>
        <p:spPr>
          <a:xfrm>
            <a:off x="548640" y="2057400"/>
            <a:ext cx="6035040" cy="3977640"/>
          </a:xfrm>
          <a:prstGeom prst="roundRect">
            <a:avLst>
              <a:gd name="adj" fmla="val 2759"/>
            </a:avLst>
          </a:prstGeom>
          <a:solidFill>
            <a:schemeClr val="bg1"/>
          </a:solidFill>
          <a:ln w="12700">
            <a:solidFill>
              <a:schemeClr val="bg1"/>
            </a:solidFill>
            <a:prstDash val="solid"/>
          </a:ln>
        </p:spPr>
      </p:sp>
      <p:sp>
        <p:nvSpPr>
          <p:cNvPr id="12" name="Shape 10"/>
          <p:cNvSpPr/>
          <p:nvPr/>
        </p:nvSpPr>
        <p:spPr>
          <a:xfrm>
            <a:off x="1051560" y="3931920"/>
            <a:ext cx="5257800" cy="0"/>
          </a:xfrm>
          <a:prstGeom prst="line">
            <a:avLst/>
          </a:prstGeom>
          <a:noFill/>
          <a:ln w="15875">
            <a:solidFill>
              <a:srgbClr val="D5DEEA"/>
            </a:solidFill>
            <a:prstDash val="solid"/>
          </a:ln>
        </p:spPr>
      </p:sp>
      <p:sp>
        <p:nvSpPr>
          <p:cNvPr id="13" name="Shape 11"/>
          <p:cNvSpPr/>
          <p:nvPr/>
        </p:nvSpPr>
        <p:spPr>
          <a:xfrm>
            <a:off x="3680460" y="2377440"/>
            <a:ext cx="0" cy="3108960"/>
          </a:xfrm>
          <a:prstGeom prst="line">
            <a:avLst/>
          </a:prstGeom>
          <a:noFill/>
          <a:ln w="15875">
            <a:solidFill>
              <a:srgbClr val="D5DEEA"/>
            </a:solidFill>
            <a:prstDash val="solid"/>
          </a:ln>
        </p:spPr>
      </p:sp>
      <p:sp>
        <p:nvSpPr>
          <p:cNvPr id="14" name="Text 12"/>
          <p:cNvSpPr txBox="1"/>
          <p:nvPr/>
        </p:nvSpPr>
        <p:spPr>
          <a:xfrm>
            <a:off x="1051560" y="3986784"/>
            <a:ext cx="2011680" cy="228600"/>
          </a:xfrm>
          <a:prstGeom prst="rect">
            <a:avLst/>
          </a:prstGeom>
          <a:noFill/>
          <a:ln/>
        </p:spPr>
        <p:txBody>
          <a:bodyPr wrap="square" lIns="0" tIns="0" rIns="0" bIns="0" rtlCol="0" anchor="t"/>
          <a:lstStyle/>
          <a:p>
            <a:pPr indent="0" marL="0">
              <a:buNone/>
            </a:pPr>
            <a:r>
              <a:rPr lang="en-US" sz="1100" dirty="0">
                <a:solidFill>
                  <a:schemeClr val="tx2"/>
                </a:solidFill>
              </a:rPr>
              <a:t>← Keyword wording</a:t>
            </a:r>
            <a:endParaRPr lang="en-US" sz="1100" dirty="0"/>
          </a:p>
        </p:txBody>
      </p:sp>
      <p:sp>
        <p:nvSpPr>
          <p:cNvPr id="15" name="Text 13"/>
          <p:cNvSpPr txBox="1"/>
          <p:nvPr/>
        </p:nvSpPr>
        <p:spPr>
          <a:xfrm>
            <a:off x="4297680" y="3986784"/>
            <a:ext cx="2011680" cy="228600"/>
          </a:xfrm>
          <a:prstGeom prst="rect">
            <a:avLst/>
          </a:prstGeom>
          <a:noFill/>
          <a:ln/>
        </p:spPr>
        <p:txBody>
          <a:bodyPr wrap="square" lIns="0" tIns="0" rIns="0" bIns="0" rtlCol="0" anchor="t"/>
          <a:lstStyle/>
          <a:p>
            <a:pPr algn="r" indent="0" marL="0">
              <a:buNone/>
            </a:pPr>
            <a:r>
              <a:rPr lang="en-US" sz="1100" dirty="0">
                <a:solidFill>
                  <a:schemeClr val="tx2"/>
                </a:solidFill>
              </a:rPr>
              <a:t>Explained fit →</a:t>
            </a:r>
            <a:endParaRPr lang="en-US" sz="1100" dirty="0"/>
          </a:p>
        </p:txBody>
      </p:sp>
      <p:sp>
        <p:nvSpPr>
          <p:cNvPr id="16" name="Text 14"/>
          <p:cNvSpPr txBox="1"/>
          <p:nvPr/>
        </p:nvSpPr>
        <p:spPr>
          <a:xfrm>
            <a:off x="3771900" y="2359152"/>
            <a:ext cx="2011680" cy="228600"/>
          </a:xfrm>
          <a:prstGeom prst="rect">
            <a:avLst/>
          </a:prstGeom>
          <a:noFill/>
          <a:ln/>
        </p:spPr>
        <p:txBody>
          <a:bodyPr wrap="square" lIns="0" tIns="0" rIns="0" bIns="0" rtlCol="0" anchor="t"/>
          <a:lstStyle/>
          <a:p>
            <a:pPr indent="0" marL="0">
              <a:buNone/>
            </a:pPr>
            <a:r>
              <a:rPr lang="en-US" sz="1100" dirty="0">
                <a:solidFill>
                  <a:schemeClr val="tx2"/>
                </a:solidFill>
              </a:rPr>
              <a:t>↑ Focused decisions</a:t>
            </a:r>
            <a:endParaRPr lang="en-US" sz="1100" dirty="0"/>
          </a:p>
        </p:txBody>
      </p:sp>
      <p:sp>
        <p:nvSpPr>
          <p:cNvPr id="17" name="Text 15"/>
          <p:cNvSpPr txBox="1"/>
          <p:nvPr/>
        </p:nvSpPr>
        <p:spPr>
          <a:xfrm>
            <a:off x="3771900" y="5257800"/>
            <a:ext cx="2011680" cy="228600"/>
          </a:xfrm>
          <a:prstGeom prst="rect">
            <a:avLst/>
          </a:prstGeom>
          <a:noFill/>
          <a:ln/>
        </p:spPr>
        <p:txBody>
          <a:bodyPr wrap="square" lIns="0" tIns="0" rIns="0" bIns="0" rtlCol="0" anchor="t"/>
          <a:lstStyle/>
          <a:p>
            <a:pPr indent="0" marL="0">
              <a:buNone/>
            </a:pPr>
            <a:r>
              <a:rPr lang="en-US" sz="1100" dirty="0">
                <a:solidFill>
                  <a:schemeClr val="tx2"/>
                </a:solidFill>
              </a:rPr>
              <a:t>↓ More applications</a:t>
            </a:r>
            <a:endParaRPr lang="en-US" sz="1100" dirty="0"/>
          </a:p>
        </p:txBody>
      </p:sp>
      <p:sp>
        <p:nvSpPr>
          <p:cNvPr id="18" name="Shape 16"/>
          <p:cNvSpPr/>
          <p:nvPr/>
        </p:nvSpPr>
        <p:spPr>
          <a:xfrm>
            <a:off x="1915668" y="3538728"/>
            <a:ext cx="164592" cy="164592"/>
          </a:xfrm>
          <a:prstGeom prst="ellipse">
            <a:avLst/>
          </a:prstGeom>
          <a:solidFill>
            <a:srgbClr val="5B6B80"/>
          </a:solidFill>
          <a:ln w="12700">
            <a:solidFill>
              <a:srgbClr val="5B6B80"/>
            </a:solidFill>
            <a:prstDash val="solid"/>
          </a:ln>
        </p:spPr>
      </p:sp>
      <p:sp>
        <p:nvSpPr>
          <p:cNvPr id="19" name="Text 17"/>
          <p:cNvSpPr txBox="1"/>
          <p:nvPr/>
        </p:nvSpPr>
        <p:spPr>
          <a:xfrm>
            <a:off x="2135124" y="3493008"/>
            <a:ext cx="1463040" cy="256032"/>
          </a:xfrm>
          <a:prstGeom prst="rect">
            <a:avLst/>
          </a:prstGeom>
          <a:noFill/>
          <a:ln/>
        </p:spPr>
        <p:txBody>
          <a:bodyPr wrap="square" lIns="0" tIns="0" rIns="0" bIns="0" rtlCol="0" anchor="ctr"/>
          <a:lstStyle/>
          <a:p>
            <a:pPr indent="0" marL="0">
              <a:buNone/>
            </a:pPr>
            <a:r>
              <a:rPr lang="en-US" sz="1200" b="1" dirty="0">
                <a:solidFill>
                  <a:schemeClr val="tx1"/>
                </a:solidFill>
              </a:rPr>
              <a:t>Jobscan</a:t>
            </a:r>
            <a:endParaRPr lang="en-US" sz="1200" dirty="0"/>
          </a:p>
        </p:txBody>
      </p:sp>
      <p:sp>
        <p:nvSpPr>
          <p:cNvPr id="20" name="Shape 18"/>
          <p:cNvSpPr/>
          <p:nvPr/>
        </p:nvSpPr>
        <p:spPr>
          <a:xfrm>
            <a:off x="2546604" y="4284878"/>
            <a:ext cx="164592" cy="164592"/>
          </a:xfrm>
          <a:prstGeom prst="ellipse">
            <a:avLst/>
          </a:prstGeom>
          <a:solidFill>
            <a:srgbClr val="5B6B80"/>
          </a:solidFill>
          <a:ln w="12700">
            <a:solidFill>
              <a:srgbClr val="5B6B80"/>
            </a:solidFill>
            <a:prstDash val="solid"/>
          </a:ln>
        </p:spPr>
      </p:sp>
      <p:sp>
        <p:nvSpPr>
          <p:cNvPr id="21" name="Text 19"/>
          <p:cNvSpPr txBox="1"/>
          <p:nvPr/>
        </p:nvSpPr>
        <p:spPr>
          <a:xfrm>
            <a:off x="2766060" y="4239158"/>
            <a:ext cx="1463040" cy="256032"/>
          </a:xfrm>
          <a:prstGeom prst="rect">
            <a:avLst/>
          </a:prstGeom>
          <a:noFill/>
          <a:ln/>
        </p:spPr>
        <p:txBody>
          <a:bodyPr wrap="square" lIns="0" tIns="0" rIns="0" bIns="0" rtlCol="0" anchor="ctr"/>
          <a:lstStyle/>
          <a:p>
            <a:pPr indent="0" marL="0">
              <a:buNone/>
            </a:pPr>
            <a:r>
              <a:rPr lang="en-US" sz="1200" b="1" dirty="0">
                <a:solidFill>
                  <a:schemeClr val="tx1"/>
                </a:solidFill>
              </a:rPr>
              <a:t>Teal</a:t>
            </a:r>
            <a:endParaRPr lang="en-US" sz="1200" dirty="0"/>
          </a:p>
        </p:txBody>
      </p:sp>
      <p:sp>
        <p:nvSpPr>
          <p:cNvPr id="22" name="Shape 20"/>
          <p:cNvSpPr/>
          <p:nvPr/>
        </p:nvSpPr>
        <p:spPr>
          <a:xfrm>
            <a:off x="2231136" y="4657954"/>
            <a:ext cx="164592" cy="164592"/>
          </a:xfrm>
          <a:prstGeom prst="ellipse">
            <a:avLst/>
          </a:prstGeom>
          <a:solidFill>
            <a:srgbClr val="5B6B80"/>
          </a:solidFill>
          <a:ln w="12700">
            <a:solidFill>
              <a:srgbClr val="5B6B80"/>
            </a:solidFill>
            <a:prstDash val="solid"/>
          </a:ln>
        </p:spPr>
      </p:sp>
      <p:sp>
        <p:nvSpPr>
          <p:cNvPr id="23" name="Text 21"/>
          <p:cNvSpPr txBox="1"/>
          <p:nvPr/>
        </p:nvSpPr>
        <p:spPr>
          <a:xfrm>
            <a:off x="2450592" y="4612234"/>
            <a:ext cx="1463040" cy="256032"/>
          </a:xfrm>
          <a:prstGeom prst="rect">
            <a:avLst/>
          </a:prstGeom>
          <a:noFill/>
          <a:ln/>
        </p:spPr>
        <p:txBody>
          <a:bodyPr wrap="square" lIns="0" tIns="0" rIns="0" bIns="0" rtlCol="0" anchor="ctr"/>
          <a:lstStyle/>
          <a:p>
            <a:pPr indent="0" marL="0">
              <a:buNone/>
            </a:pPr>
            <a:r>
              <a:rPr lang="en-US" sz="1200" b="1" dirty="0">
                <a:solidFill>
                  <a:schemeClr val="tx1"/>
                </a:solidFill>
              </a:rPr>
              <a:t>Huntr</a:t>
            </a:r>
            <a:endParaRPr lang="en-US" sz="1200" dirty="0"/>
          </a:p>
        </p:txBody>
      </p:sp>
      <p:sp>
        <p:nvSpPr>
          <p:cNvPr id="24" name="Shape 22"/>
          <p:cNvSpPr/>
          <p:nvPr/>
        </p:nvSpPr>
        <p:spPr>
          <a:xfrm>
            <a:off x="1495044" y="5093208"/>
            <a:ext cx="164592" cy="164592"/>
          </a:xfrm>
          <a:prstGeom prst="ellipse">
            <a:avLst/>
          </a:prstGeom>
          <a:solidFill>
            <a:srgbClr val="5B6B80"/>
          </a:solidFill>
          <a:ln w="12700">
            <a:solidFill>
              <a:srgbClr val="5B6B80"/>
            </a:solidFill>
            <a:prstDash val="solid"/>
          </a:ln>
        </p:spPr>
      </p:sp>
      <p:sp>
        <p:nvSpPr>
          <p:cNvPr id="25" name="Text 23"/>
          <p:cNvSpPr txBox="1"/>
          <p:nvPr/>
        </p:nvSpPr>
        <p:spPr>
          <a:xfrm>
            <a:off x="1714500" y="5047488"/>
            <a:ext cx="1463040" cy="256032"/>
          </a:xfrm>
          <a:prstGeom prst="rect">
            <a:avLst/>
          </a:prstGeom>
          <a:noFill/>
          <a:ln/>
        </p:spPr>
        <p:txBody>
          <a:bodyPr wrap="square" lIns="0" tIns="0" rIns="0" bIns="0" rtlCol="0" anchor="ctr"/>
          <a:lstStyle/>
          <a:p>
            <a:pPr indent="0" marL="0">
              <a:buNone/>
            </a:pPr>
            <a:r>
              <a:rPr lang="en-US" sz="1200" b="1" dirty="0">
                <a:solidFill>
                  <a:schemeClr val="tx1"/>
                </a:solidFill>
              </a:rPr>
              <a:t>JobCopilot</a:t>
            </a:r>
            <a:endParaRPr lang="en-US" sz="1200" dirty="0"/>
          </a:p>
        </p:txBody>
      </p:sp>
      <p:sp>
        <p:nvSpPr>
          <p:cNvPr id="26" name="Shape 24"/>
          <p:cNvSpPr/>
          <p:nvPr/>
        </p:nvSpPr>
        <p:spPr>
          <a:xfrm>
            <a:off x="3177540" y="4782312"/>
            <a:ext cx="164592" cy="164592"/>
          </a:xfrm>
          <a:prstGeom prst="ellipse">
            <a:avLst/>
          </a:prstGeom>
          <a:solidFill>
            <a:srgbClr val="5B6B80"/>
          </a:solidFill>
          <a:ln w="12700">
            <a:solidFill>
              <a:srgbClr val="5B6B80"/>
            </a:solidFill>
            <a:prstDash val="solid"/>
          </a:ln>
        </p:spPr>
      </p:sp>
      <p:sp>
        <p:nvSpPr>
          <p:cNvPr id="27" name="Text 25"/>
          <p:cNvSpPr txBox="1"/>
          <p:nvPr/>
        </p:nvSpPr>
        <p:spPr>
          <a:xfrm>
            <a:off x="3396996" y="4736592"/>
            <a:ext cx="1463040" cy="256032"/>
          </a:xfrm>
          <a:prstGeom prst="rect">
            <a:avLst/>
          </a:prstGeom>
          <a:noFill/>
          <a:ln/>
        </p:spPr>
        <p:txBody>
          <a:bodyPr wrap="square" lIns="0" tIns="0" rIns="0" bIns="0" rtlCol="0" anchor="ctr"/>
          <a:lstStyle/>
          <a:p>
            <a:pPr indent="0" marL="0">
              <a:buNone/>
            </a:pPr>
            <a:r>
              <a:rPr lang="en-US" sz="1200" b="1" dirty="0">
                <a:solidFill>
                  <a:schemeClr val="tx1"/>
                </a:solidFill>
              </a:rPr>
              <a:t>Job boards</a:t>
            </a:r>
            <a:endParaRPr lang="en-US" sz="1200" dirty="0"/>
          </a:p>
        </p:txBody>
      </p:sp>
      <p:pic>
        <p:nvPicPr>
          <p:cNvPr id="28" name="Image 0" descr="/tmp/claude-0/-home-claude/d1b11841-31a5-5c6c-8b8a-2c68ca1b0a7c/scratchpad/deck/img/reticle.png">    </p:cNvPr>
          <p:cNvPicPr>
            <a:picLocks noChangeAspect="1"/>
          </p:cNvPicPr>
          <p:nvPr/>
        </p:nvPicPr>
        <p:blipFill>
          <a:blip r:embed="rId1"/>
          <a:stretch>
            <a:fillRect/>
          </a:stretch>
        </p:blipFill>
        <p:spPr>
          <a:xfrm>
            <a:off x="5070348" y="2644445"/>
            <a:ext cx="585216" cy="585216"/>
          </a:xfrm>
          <a:prstGeom prst="rect">
            <a:avLst/>
          </a:prstGeom>
        </p:spPr>
      </p:pic>
      <p:sp>
        <p:nvSpPr>
          <p:cNvPr id="29" name="Text 26"/>
          <p:cNvSpPr txBox="1"/>
          <p:nvPr/>
        </p:nvSpPr>
        <p:spPr>
          <a:xfrm>
            <a:off x="3625596" y="3284525"/>
            <a:ext cx="2103120" cy="274320"/>
          </a:xfrm>
          <a:prstGeom prst="rect">
            <a:avLst/>
          </a:prstGeom>
          <a:noFill/>
          <a:ln/>
        </p:spPr>
        <p:txBody>
          <a:bodyPr wrap="square" lIns="0" tIns="0" rIns="0" bIns="0" rtlCol="0" anchor="t"/>
          <a:lstStyle/>
          <a:p>
            <a:pPr algn="r" indent="0" marL="0">
              <a:buNone/>
            </a:pPr>
            <a:r>
              <a:rPr lang="en-US" sz="1400" b="1" dirty="0">
                <a:solidFill>
                  <a:schemeClr val="accent1"/>
                </a:solidFill>
              </a:rPr>
              <a:t>CareerPilot</a:t>
            </a:r>
            <a:endParaRPr lang="en-US" sz="1400" dirty="0"/>
          </a:p>
        </p:txBody>
      </p:sp>
      <p:sp>
        <p:nvSpPr>
          <p:cNvPr id="30" name="Text 27"/>
          <p:cNvSpPr txBox="1"/>
          <p:nvPr/>
        </p:nvSpPr>
        <p:spPr>
          <a:xfrm>
            <a:off x="6949440" y="2057400"/>
            <a:ext cx="4663440" cy="292608"/>
          </a:xfrm>
          <a:prstGeom prst="rect">
            <a:avLst/>
          </a:prstGeom>
          <a:noFill/>
          <a:ln/>
        </p:spPr>
        <p:txBody>
          <a:bodyPr wrap="square" lIns="0" tIns="0" rIns="0" bIns="0" rtlCol="0" anchor="t"/>
          <a:lstStyle/>
          <a:p>
            <a:pPr indent="0" marL="0">
              <a:buNone/>
            </a:pPr>
            <a:r>
              <a:rPr lang="en-US" sz="1600" b="1" dirty="0">
                <a:solidFill>
                  <a:schemeClr val="tx1"/>
                </a:solidFill>
              </a:rPr>
              <a:t>Keyword scores reward copying the ad</a:t>
            </a:r>
            <a:endParaRPr lang="en-US" sz="1600" dirty="0"/>
          </a:p>
        </p:txBody>
      </p:sp>
      <p:sp>
        <p:nvSpPr>
          <p:cNvPr id="31" name="Text 28"/>
          <p:cNvSpPr txBox="1"/>
          <p:nvPr/>
        </p:nvSpPr>
        <p:spPr>
          <a:xfrm>
            <a:off x="6949440" y="2368296"/>
            <a:ext cx="4663440" cy="457200"/>
          </a:xfrm>
          <a:prstGeom prst="rect">
            <a:avLst/>
          </a:prstGeom>
          <a:noFill/>
          <a:ln/>
        </p:spPr>
        <p:txBody>
          <a:bodyPr wrap="square" lIns="0" tIns="0" rIns="0" bIns="0" rtlCol="0" anchor="t"/>
          <a:lstStyle/>
          <a:p>
            <a:pPr indent="0" marL="0">
              <a:buNone/>
            </a:pPr>
            <a:r>
              <a:rPr lang="en-US" sz="1300" dirty="0">
                <a:solidFill>
                  <a:schemeClr val="tx2"/>
                </a:solidFill>
              </a:rPr>
              <a:t>Jobscan and Teal compare your CV's words with the ad's.</a:t>
            </a:r>
            <a:endParaRPr lang="en-US" sz="1300" dirty="0"/>
          </a:p>
        </p:txBody>
      </p:sp>
      <p:sp>
        <p:nvSpPr>
          <p:cNvPr id="32" name="Text 29"/>
          <p:cNvSpPr txBox="1"/>
          <p:nvPr/>
        </p:nvSpPr>
        <p:spPr>
          <a:xfrm>
            <a:off x="6949440" y="2898648"/>
            <a:ext cx="4663440" cy="292608"/>
          </a:xfrm>
          <a:prstGeom prst="rect">
            <a:avLst/>
          </a:prstGeom>
          <a:noFill/>
          <a:ln/>
        </p:spPr>
        <p:txBody>
          <a:bodyPr wrap="square" lIns="0" tIns="0" rIns="0" bIns="0" rtlCol="0" anchor="t"/>
          <a:lstStyle/>
          <a:p>
            <a:pPr indent="0" marL="0">
              <a:buNone/>
            </a:pPr>
            <a:r>
              <a:rPr lang="en-US" sz="1600" b="1" dirty="0">
                <a:solidFill>
                  <a:schemeClr val="tx1"/>
                </a:solidFill>
              </a:rPr>
              <a:t>Auto-apply trades quality for volume</a:t>
            </a:r>
            <a:endParaRPr lang="en-US" sz="1600" dirty="0"/>
          </a:p>
        </p:txBody>
      </p:sp>
      <p:sp>
        <p:nvSpPr>
          <p:cNvPr id="33" name="Text 30"/>
          <p:cNvSpPr txBox="1"/>
          <p:nvPr/>
        </p:nvSpPr>
        <p:spPr>
          <a:xfrm>
            <a:off x="6949440" y="3209544"/>
            <a:ext cx="4663440" cy="457200"/>
          </a:xfrm>
          <a:prstGeom prst="rect">
            <a:avLst/>
          </a:prstGeom>
          <a:noFill/>
          <a:ln/>
        </p:spPr>
        <p:txBody>
          <a:bodyPr wrap="square" lIns="0" tIns="0" rIns="0" bIns="0" rtlCol="0" anchor="t"/>
          <a:lstStyle/>
          <a:p>
            <a:pPr indent="0" marL="0">
              <a:buNone/>
            </a:pPr>
            <a:r>
              <a:rPr lang="en-US" sz="1300" dirty="0">
                <a:solidFill>
                  <a:schemeClr val="tx2"/>
                </a:solidFill>
              </a:rPr>
              <a:t>JobCopilot applies for you; you don't choose each job.</a:t>
            </a:r>
            <a:endParaRPr lang="en-US" sz="1300" dirty="0"/>
          </a:p>
        </p:txBody>
      </p:sp>
      <p:sp>
        <p:nvSpPr>
          <p:cNvPr id="34" name="Text 31"/>
          <p:cNvSpPr txBox="1"/>
          <p:nvPr/>
        </p:nvSpPr>
        <p:spPr>
          <a:xfrm>
            <a:off x="6949440" y="3739896"/>
            <a:ext cx="4663440" cy="292608"/>
          </a:xfrm>
          <a:prstGeom prst="rect">
            <a:avLst/>
          </a:prstGeom>
          <a:noFill/>
          <a:ln/>
        </p:spPr>
        <p:txBody>
          <a:bodyPr wrap="square" lIns="0" tIns="0" rIns="0" bIns="0" rtlCol="0" anchor="t"/>
          <a:lstStyle/>
          <a:p>
            <a:pPr indent="0" marL="0">
              <a:buNone/>
            </a:pPr>
            <a:r>
              <a:rPr lang="en-US" sz="1600" b="1" dirty="0">
                <a:solidFill>
                  <a:schemeClr val="tx1"/>
                </a:solidFill>
              </a:rPr>
              <a:t>Trackers record, they don't advise</a:t>
            </a:r>
            <a:endParaRPr lang="en-US" sz="1600" dirty="0"/>
          </a:p>
        </p:txBody>
      </p:sp>
      <p:sp>
        <p:nvSpPr>
          <p:cNvPr id="35" name="Text 32"/>
          <p:cNvSpPr txBox="1"/>
          <p:nvPr/>
        </p:nvSpPr>
        <p:spPr>
          <a:xfrm>
            <a:off x="6949440" y="4050792"/>
            <a:ext cx="4663440" cy="457200"/>
          </a:xfrm>
          <a:prstGeom prst="rect">
            <a:avLst/>
          </a:prstGeom>
          <a:noFill/>
          <a:ln/>
        </p:spPr>
        <p:txBody>
          <a:bodyPr wrap="square" lIns="0" tIns="0" rIns="0" bIns="0" rtlCol="0" anchor="t"/>
          <a:lstStyle/>
          <a:p>
            <a:pPr indent="0" marL="0">
              <a:buNone/>
            </a:pPr>
            <a:r>
              <a:rPr lang="en-US" sz="1300" dirty="0">
                <a:solidFill>
                  <a:schemeClr val="tx2"/>
                </a:solidFill>
              </a:rPr>
              <a:t>Huntr organises applications but doesn't say where you fit.</a:t>
            </a:r>
            <a:endParaRPr lang="en-US" sz="1300" dirty="0"/>
          </a:p>
        </p:txBody>
      </p:sp>
      <p:sp>
        <p:nvSpPr>
          <p:cNvPr id="36" name="Text 33"/>
          <p:cNvSpPr txBox="1"/>
          <p:nvPr/>
        </p:nvSpPr>
        <p:spPr>
          <a:xfrm>
            <a:off x="6949440" y="4581144"/>
            <a:ext cx="4663440" cy="292608"/>
          </a:xfrm>
          <a:prstGeom prst="rect">
            <a:avLst/>
          </a:prstGeom>
          <a:noFill/>
          <a:ln/>
        </p:spPr>
        <p:txBody>
          <a:bodyPr wrap="square" lIns="0" tIns="0" rIns="0" bIns="0" rtlCol="0" anchor="t"/>
          <a:lstStyle/>
          <a:p>
            <a:pPr indent="0" marL="0">
              <a:buNone/>
            </a:pPr>
            <a:r>
              <a:rPr lang="en-US" sz="1600" b="1" dirty="0">
                <a:solidFill>
                  <a:schemeClr val="tx1"/>
                </a:solidFill>
              </a:rPr>
              <a:t>Boards rank what is paid for</a:t>
            </a:r>
            <a:endParaRPr lang="en-US" sz="1600" dirty="0"/>
          </a:p>
        </p:txBody>
      </p:sp>
      <p:sp>
        <p:nvSpPr>
          <p:cNvPr id="37" name="Text 34"/>
          <p:cNvSpPr txBox="1"/>
          <p:nvPr/>
        </p:nvSpPr>
        <p:spPr>
          <a:xfrm>
            <a:off x="6949440" y="4892040"/>
            <a:ext cx="4663440" cy="457200"/>
          </a:xfrm>
          <a:prstGeom prst="rect">
            <a:avLst/>
          </a:prstGeom>
          <a:noFill/>
          <a:ln/>
        </p:spPr>
        <p:txBody>
          <a:bodyPr wrap="square" lIns="0" tIns="0" rIns="0" bIns="0" rtlCol="0" anchor="t"/>
          <a:lstStyle/>
          <a:p>
            <a:pPr indent="0" marL="0">
              <a:buNone/>
            </a:pPr>
            <a:r>
              <a:rPr lang="en-US" sz="1300" dirty="0">
                <a:solidFill>
                  <a:schemeClr val="tx2"/>
                </a:solidFill>
              </a:rPr>
              <a:t>Sponsored ads and premium tiers shape what you see first.</a:t>
            </a:r>
            <a:endParaRPr lang="en-US" sz="1300" dirty="0"/>
          </a:p>
        </p:txBody>
      </p:sp>
      <p:sp>
        <p:nvSpPr>
          <p:cNvPr id="38" name="gap"/>
          <p:cNvSpPr/>
          <p:nvPr/>
        </p:nvSpPr>
        <p:spPr>
          <a:xfrm>
            <a:off x="6949440" y="5440680"/>
            <a:ext cx="4690872" cy="594360"/>
          </a:xfrm>
          <a:prstGeom prst="roundRect">
            <a:avLst>
              <a:gd name="adj" fmla="val 18462"/>
            </a:avLst>
          </a:prstGeom>
          <a:solidFill>
            <a:srgbClr val="0F2A4A"/>
          </a:solidFill>
          <a:ln w="12700">
            <a:solidFill>
              <a:srgbClr val="0F2A4A"/>
            </a:solidFill>
            <a:prstDash val="solid"/>
          </a:ln>
        </p:spPr>
      </p:sp>
      <p:sp>
        <p:nvSpPr>
          <p:cNvPr id="39" name="Text 36"/>
          <p:cNvSpPr txBox="1"/>
          <p:nvPr/>
        </p:nvSpPr>
        <p:spPr>
          <a:xfrm>
            <a:off x="7132320" y="5440680"/>
            <a:ext cx="4389120" cy="594360"/>
          </a:xfrm>
          <a:prstGeom prst="rect">
            <a:avLst/>
          </a:prstGeom>
          <a:noFill/>
          <a:ln/>
        </p:spPr>
        <p:txBody>
          <a:bodyPr wrap="square" lIns="0" tIns="0" rIns="0" bIns="0" rtlCol="0" anchor="ctr"/>
          <a:lstStyle/>
          <a:p>
            <a:pPr indent="0" marL="0">
              <a:buNone/>
            </a:pPr>
            <a:r>
              <a:rPr lang="en-US" sz="1300" b="1" dirty="0">
                <a:solidFill>
                  <a:schemeClr val="bg1"/>
                </a:solidFill>
              </a:rPr>
              <a:t>Nobody tells you whether a low score means "you don't fit" or "we lack data".</a:t>
            </a:r>
            <a:endParaRPr lang="en-US" sz="1300" dirty="0"/>
          </a:p>
        </p:txBody>
      </p:sp>
      <p:sp>
        <p:nvSpPr>
          <p:cNvPr id="40" name="Text 37"/>
          <p:cNvSpPr txBox="1"/>
          <p:nvPr/>
        </p:nvSpPr>
        <p:spPr>
          <a:xfrm>
            <a:off x="548640" y="6108192"/>
            <a:ext cx="7315200" cy="228600"/>
          </a:xfrm>
          <a:prstGeom prst="rect">
            <a:avLst/>
          </a:prstGeom>
          <a:noFill/>
          <a:ln/>
        </p:spPr>
        <p:txBody>
          <a:bodyPr wrap="square" lIns="0" tIns="0" rIns="0" bIns="0" rtlCol="0" anchor="t"/>
          <a:lstStyle/>
          <a:p>
            <a:pPr indent="0" marL="0">
              <a:buNone/>
            </a:pPr>
            <a:r>
              <a:rPr lang="en-US" sz="1000" dirty="0">
                <a:solidFill>
                  <a:schemeClr val="tx2"/>
                </a:solidFill>
              </a:rPr>
              <a:t>Map positions are our assessment. Prices and details: appendix.</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02 · PRD · THE FOUNDATION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The PRD defines what we build and why</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psu"/>
          <p:cNvSpPr/>
          <p:nvPr/>
        </p:nvSpPr>
        <p:spPr>
          <a:xfrm>
            <a:off x="548640" y="2057400"/>
            <a:ext cx="6309360" cy="3977640"/>
          </a:xfrm>
          <a:prstGeom prst="roundRect">
            <a:avLst>
              <a:gd name="adj" fmla="val 2759"/>
            </a:avLst>
          </a:prstGeom>
          <a:solidFill>
            <a:schemeClr val="bg1"/>
          </a:solidFill>
          <a:ln w="12700">
            <a:solidFill>
              <a:schemeClr val="bg1"/>
            </a:solidFill>
            <a:prstDash val="solid"/>
          </a:ln>
        </p:spPr>
      </p:sp>
      <p:sp>
        <p:nvSpPr>
          <p:cNvPr id="12" name="Text 10"/>
          <p:cNvSpPr txBox="1"/>
          <p:nvPr/>
        </p:nvSpPr>
        <p:spPr>
          <a:xfrm>
            <a:off x="822960" y="2286000"/>
            <a:ext cx="57607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PROBLEM</a:t>
            </a:r>
            <a:endParaRPr lang="en-US" sz="1100" dirty="0"/>
          </a:p>
        </p:txBody>
      </p:sp>
      <p:sp>
        <p:nvSpPr>
          <p:cNvPr id="13" name="Text 11"/>
          <p:cNvSpPr txBox="1"/>
          <p:nvPr/>
        </p:nvSpPr>
        <p:spPr>
          <a:xfrm>
            <a:off x="822960" y="2560320"/>
            <a:ext cx="5760720" cy="868680"/>
          </a:xfrm>
          <a:prstGeom prst="rect">
            <a:avLst/>
          </a:prstGeom>
          <a:noFill/>
          <a:ln/>
        </p:spPr>
        <p:txBody>
          <a:bodyPr wrap="square" lIns="0" tIns="0" rIns="0" bIns="0" rtlCol="0" anchor="t"/>
          <a:lstStyle/>
          <a:p>
            <a:pPr indent="0" marL="0">
              <a:buNone/>
            </a:pPr>
            <a:r>
              <a:rPr lang="en-US" sz="1400" dirty="0">
                <a:solidFill>
                  <a:schemeClr val="tx1"/>
                </a:solidFill>
              </a:rPr>
              <a:t>Job seekers can't tell whether they fit a job. Searches are fragmented, rankings are paid for, and no tool explains a score (P1–P7).</a:t>
            </a:r>
            <a:endParaRPr lang="en-US" sz="1400" dirty="0"/>
          </a:p>
        </p:txBody>
      </p:sp>
      <p:sp>
        <p:nvSpPr>
          <p:cNvPr id="14" name="Text 12"/>
          <p:cNvSpPr txBox="1"/>
          <p:nvPr/>
        </p:nvSpPr>
        <p:spPr>
          <a:xfrm>
            <a:off x="822960" y="3520440"/>
            <a:ext cx="57607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SOLUTION</a:t>
            </a:r>
            <a:endParaRPr lang="en-US" sz="1100" dirty="0"/>
          </a:p>
        </p:txBody>
      </p:sp>
      <p:sp>
        <p:nvSpPr>
          <p:cNvPr id="15" name="Text 13"/>
          <p:cNvSpPr txBox="1"/>
          <p:nvPr/>
        </p:nvSpPr>
        <p:spPr>
          <a:xfrm>
            <a:off x="822960" y="3794760"/>
            <a:ext cx="5760720" cy="868680"/>
          </a:xfrm>
          <a:prstGeom prst="rect">
            <a:avLst/>
          </a:prstGeom>
          <a:noFill/>
          <a:ln/>
        </p:spPr>
        <p:txBody>
          <a:bodyPr wrap="square" lIns="0" tIns="0" rIns="0" bIns="0" rtlCol="0" anchor="t"/>
          <a:lstStyle/>
          <a:p>
            <a:pPr indent="0" marL="0">
              <a:buNone/>
            </a:pPr>
            <a:r>
              <a:rPr lang="en-US" sz="1400" dirty="0">
                <a:solidFill>
                  <a:schemeClr val="tx1"/>
                </a:solidFill>
              </a:rPr>
              <a:t>One digest from public job lists, a free explained match score, preparation tools paid with credits, documents the user approves, one application history.</a:t>
            </a:r>
            <a:endParaRPr lang="en-US" sz="1400" dirty="0"/>
          </a:p>
        </p:txBody>
      </p:sp>
      <p:sp>
        <p:nvSpPr>
          <p:cNvPr id="16" name="Text 14"/>
          <p:cNvSpPr txBox="1"/>
          <p:nvPr/>
        </p:nvSpPr>
        <p:spPr>
          <a:xfrm>
            <a:off x="822960" y="4754880"/>
            <a:ext cx="57607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TARGET USERS</a:t>
            </a:r>
            <a:endParaRPr lang="en-US" sz="1100" dirty="0"/>
          </a:p>
        </p:txBody>
      </p:sp>
      <p:sp>
        <p:nvSpPr>
          <p:cNvPr id="17" name="Text 15"/>
          <p:cNvSpPr txBox="1"/>
          <p:nvPr/>
        </p:nvSpPr>
        <p:spPr>
          <a:xfrm>
            <a:off x="822960" y="5029200"/>
            <a:ext cx="5760720" cy="868680"/>
          </a:xfrm>
          <a:prstGeom prst="rect">
            <a:avLst/>
          </a:prstGeom>
          <a:noFill/>
          <a:ln/>
        </p:spPr>
        <p:txBody>
          <a:bodyPr wrap="square" lIns="0" tIns="0" rIns="0" bIns="0" rtlCol="0" anchor="t"/>
          <a:lstStyle/>
          <a:p>
            <a:pPr indent="0" marL="0">
              <a:buNone/>
            </a:pPr>
            <a:r>
              <a:rPr lang="en-US" sz="1400" dirty="0">
                <a:solidFill>
                  <a:schemeClr val="tx1"/>
                </a:solidFill>
              </a:rPr>
              <a:t>Job seekers in Germany (Markus, Lena, Andrei) and, in an invitation-only pilot, verified headhunters (Sofia).</a:t>
            </a:r>
            <a:endParaRPr lang="en-US" sz="1400" dirty="0"/>
          </a:p>
        </p:txBody>
      </p:sp>
      <p:sp>
        <p:nvSpPr>
          <p:cNvPr id="18" name="stat"/>
          <p:cNvSpPr/>
          <p:nvPr/>
        </p:nvSpPr>
        <p:spPr>
          <a:xfrm>
            <a:off x="7178040" y="2057400"/>
            <a:ext cx="2130552" cy="1188720"/>
          </a:xfrm>
          <a:prstGeom prst="roundRect">
            <a:avLst>
              <a:gd name="adj" fmla="val 9231"/>
            </a:avLst>
          </a:prstGeom>
          <a:solidFill>
            <a:srgbClr val="0F2A4A"/>
          </a:solidFill>
          <a:ln w="12700">
            <a:solidFill>
              <a:srgbClr val="0F2A4A"/>
            </a:solidFill>
            <a:prstDash val="solid"/>
          </a:ln>
        </p:spPr>
      </p:sp>
      <p:sp>
        <p:nvSpPr>
          <p:cNvPr id="19" name="Text 17"/>
          <p:cNvSpPr txBox="1"/>
          <p:nvPr/>
        </p:nvSpPr>
        <p:spPr>
          <a:xfrm>
            <a:off x="7360920" y="2167128"/>
            <a:ext cx="1737360" cy="548640"/>
          </a:xfrm>
          <a:prstGeom prst="rect">
            <a:avLst/>
          </a:prstGeom>
          <a:noFill/>
          <a:ln/>
        </p:spPr>
        <p:txBody>
          <a:bodyPr wrap="square" lIns="0" tIns="0" rIns="0" bIns="0" rtlCol="0" anchor="t"/>
          <a:lstStyle/>
          <a:p>
            <a:pPr indent="0" marL="0">
              <a:buNone/>
            </a:pPr>
            <a:r>
              <a:rPr lang="en-US" sz="3000" b="1" dirty="0">
                <a:solidFill>
                  <a:schemeClr val="bg1"/>
                </a:solidFill>
              </a:rPr>
              <a:t>12</a:t>
            </a:r>
            <a:endParaRPr lang="en-US" sz="3000" dirty="0"/>
          </a:p>
        </p:txBody>
      </p:sp>
      <p:sp>
        <p:nvSpPr>
          <p:cNvPr id="20" name="Text 18"/>
          <p:cNvSpPr txBox="1"/>
          <p:nvPr/>
        </p:nvSpPr>
        <p:spPr>
          <a:xfrm>
            <a:off x="7360920" y="2715768"/>
            <a:ext cx="1828800" cy="457200"/>
          </a:xfrm>
          <a:prstGeom prst="rect">
            <a:avLst/>
          </a:prstGeom>
          <a:noFill/>
          <a:ln/>
        </p:spPr>
        <p:txBody>
          <a:bodyPr wrap="square" lIns="0" tIns="0" rIns="0" bIns="0" rtlCol="0" anchor="t"/>
          <a:lstStyle/>
          <a:p>
            <a:pPr indent="0" marL="0">
              <a:buNone/>
            </a:pPr>
            <a:r>
              <a:rPr lang="en-US" sz="1200" dirty="0">
                <a:solidFill>
                  <a:schemeClr val="accent4"/>
                </a:solidFill>
              </a:rPr>
              <a:t>chapters, from problem to legal</a:t>
            </a:r>
            <a:endParaRPr lang="en-US" sz="1200" dirty="0"/>
          </a:p>
        </p:txBody>
      </p:sp>
      <p:sp>
        <p:nvSpPr>
          <p:cNvPr id="21" name="stat"/>
          <p:cNvSpPr/>
          <p:nvPr/>
        </p:nvSpPr>
        <p:spPr>
          <a:xfrm>
            <a:off x="9445752" y="2057400"/>
            <a:ext cx="2130552" cy="1188720"/>
          </a:xfrm>
          <a:prstGeom prst="roundRect">
            <a:avLst>
              <a:gd name="adj" fmla="val 9231"/>
            </a:avLst>
          </a:prstGeom>
          <a:solidFill>
            <a:schemeClr val="bg1"/>
          </a:solidFill>
          <a:ln w="12700">
            <a:solidFill>
              <a:schemeClr val="bg1"/>
            </a:solidFill>
            <a:prstDash val="solid"/>
          </a:ln>
        </p:spPr>
      </p:sp>
      <p:sp>
        <p:nvSpPr>
          <p:cNvPr id="22" name="Text 20"/>
          <p:cNvSpPr txBox="1"/>
          <p:nvPr/>
        </p:nvSpPr>
        <p:spPr>
          <a:xfrm>
            <a:off x="9628632" y="2167128"/>
            <a:ext cx="1737360" cy="548640"/>
          </a:xfrm>
          <a:prstGeom prst="rect">
            <a:avLst/>
          </a:prstGeom>
          <a:noFill/>
          <a:ln/>
        </p:spPr>
        <p:txBody>
          <a:bodyPr wrap="square" lIns="0" tIns="0" rIns="0" bIns="0" rtlCol="0" anchor="t"/>
          <a:lstStyle/>
          <a:p>
            <a:pPr indent="0" marL="0">
              <a:buNone/>
            </a:pPr>
            <a:r>
              <a:rPr lang="en-US" sz="3000" b="1" dirty="0">
                <a:solidFill>
                  <a:schemeClr val="tx1"/>
                </a:solidFill>
              </a:rPr>
              <a:t>31</a:t>
            </a:r>
            <a:endParaRPr lang="en-US" sz="3000" dirty="0"/>
          </a:p>
        </p:txBody>
      </p:sp>
      <p:sp>
        <p:nvSpPr>
          <p:cNvPr id="23" name="Text 21"/>
          <p:cNvSpPr txBox="1"/>
          <p:nvPr/>
        </p:nvSpPr>
        <p:spPr>
          <a:xfrm>
            <a:off x="9628632" y="2715768"/>
            <a:ext cx="1828800" cy="457200"/>
          </a:xfrm>
          <a:prstGeom prst="rect">
            <a:avLst/>
          </a:prstGeom>
          <a:noFill/>
          <a:ln/>
        </p:spPr>
        <p:txBody>
          <a:bodyPr wrap="square" lIns="0" tIns="0" rIns="0" bIns="0" rtlCol="0" anchor="t"/>
          <a:lstStyle/>
          <a:p>
            <a:pPr indent="0" marL="0">
              <a:buNone/>
            </a:pPr>
            <a:r>
              <a:rPr lang="en-US" sz="1200" dirty="0">
                <a:solidFill>
                  <a:schemeClr val="tx2"/>
                </a:solidFill>
              </a:rPr>
              <a:t>functional requirements</a:t>
            </a:r>
            <a:endParaRPr lang="en-US" sz="1200" dirty="0"/>
          </a:p>
        </p:txBody>
      </p:sp>
      <p:sp>
        <p:nvSpPr>
          <p:cNvPr id="24" name="stat"/>
          <p:cNvSpPr/>
          <p:nvPr/>
        </p:nvSpPr>
        <p:spPr>
          <a:xfrm>
            <a:off x="7178040" y="3383280"/>
            <a:ext cx="2130552" cy="1188720"/>
          </a:xfrm>
          <a:prstGeom prst="roundRect">
            <a:avLst>
              <a:gd name="adj" fmla="val 9231"/>
            </a:avLst>
          </a:prstGeom>
          <a:solidFill>
            <a:schemeClr val="bg1"/>
          </a:solidFill>
          <a:ln w="12700">
            <a:solidFill>
              <a:schemeClr val="bg1"/>
            </a:solidFill>
            <a:prstDash val="solid"/>
          </a:ln>
        </p:spPr>
      </p:sp>
      <p:sp>
        <p:nvSpPr>
          <p:cNvPr id="25" name="Text 23"/>
          <p:cNvSpPr txBox="1"/>
          <p:nvPr/>
        </p:nvSpPr>
        <p:spPr>
          <a:xfrm>
            <a:off x="7360920" y="3493008"/>
            <a:ext cx="1737360" cy="548640"/>
          </a:xfrm>
          <a:prstGeom prst="rect">
            <a:avLst/>
          </a:prstGeom>
          <a:noFill/>
          <a:ln/>
        </p:spPr>
        <p:txBody>
          <a:bodyPr wrap="square" lIns="0" tIns="0" rIns="0" bIns="0" rtlCol="0" anchor="t"/>
          <a:lstStyle/>
          <a:p>
            <a:pPr indent="0" marL="0">
              <a:buNone/>
            </a:pPr>
            <a:r>
              <a:rPr lang="en-US" sz="3000" b="1" dirty="0">
                <a:solidFill>
                  <a:schemeClr val="tx1"/>
                </a:solidFill>
              </a:rPr>
              <a:t>14</a:t>
            </a:r>
            <a:endParaRPr lang="en-US" sz="3000" dirty="0"/>
          </a:p>
        </p:txBody>
      </p:sp>
      <p:sp>
        <p:nvSpPr>
          <p:cNvPr id="26" name="Text 24"/>
          <p:cNvSpPr txBox="1"/>
          <p:nvPr/>
        </p:nvSpPr>
        <p:spPr>
          <a:xfrm>
            <a:off x="7360920" y="4041648"/>
            <a:ext cx="1828800" cy="457200"/>
          </a:xfrm>
          <a:prstGeom prst="rect">
            <a:avLst/>
          </a:prstGeom>
          <a:noFill/>
          <a:ln/>
        </p:spPr>
        <p:txBody>
          <a:bodyPr wrap="square" lIns="0" tIns="0" rIns="0" bIns="0" rtlCol="0" anchor="t"/>
          <a:lstStyle/>
          <a:p>
            <a:pPr indent="0" marL="0">
              <a:buNone/>
            </a:pPr>
            <a:r>
              <a:rPr lang="en-US" sz="1200" dirty="0">
                <a:solidFill>
                  <a:schemeClr val="tx2"/>
                </a:solidFill>
              </a:rPr>
              <a:t>non-functional requirements</a:t>
            </a:r>
            <a:endParaRPr lang="en-US" sz="1200" dirty="0"/>
          </a:p>
        </p:txBody>
      </p:sp>
      <p:sp>
        <p:nvSpPr>
          <p:cNvPr id="27" name="stat"/>
          <p:cNvSpPr/>
          <p:nvPr/>
        </p:nvSpPr>
        <p:spPr>
          <a:xfrm>
            <a:off x="9445752" y="3383280"/>
            <a:ext cx="2130552" cy="1188720"/>
          </a:xfrm>
          <a:prstGeom prst="roundRect">
            <a:avLst>
              <a:gd name="adj" fmla="val 9231"/>
            </a:avLst>
          </a:prstGeom>
          <a:solidFill>
            <a:schemeClr val="bg1"/>
          </a:solidFill>
          <a:ln w="12700">
            <a:solidFill>
              <a:schemeClr val="bg1"/>
            </a:solidFill>
            <a:prstDash val="solid"/>
          </a:ln>
        </p:spPr>
      </p:sp>
      <p:sp>
        <p:nvSpPr>
          <p:cNvPr id="28" name="Text 26"/>
          <p:cNvSpPr txBox="1"/>
          <p:nvPr/>
        </p:nvSpPr>
        <p:spPr>
          <a:xfrm>
            <a:off x="9628632" y="3493008"/>
            <a:ext cx="1737360" cy="548640"/>
          </a:xfrm>
          <a:prstGeom prst="rect">
            <a:avLst/>
          </a:prstGeom>
          <a:noFill/>
          <a:ln/>
        </p:spPr>
        <p:txBody>
          <a:bodyPr wrap="square" lIns="0" tIns="0" rIns="0" bIns="0" rtlCol="0" anchor="t"/>
          <a:lstStyle/>
          <a:p>
            <a:pPr indent="0" marL="0">
              <a:buNone/>
            </a:pPr>
            <a:r>
              <a:rPr lang="en-US" sz="3000" b="1" dirty="0">
                <a:solidFill>
                  <a:schemeClr val="tx1"/>
                </a:solidFill>
              </a:rPr>
              <a:t>29</a:t>
            </a:r>
            <a:endParaRPr lang="en-US" sz="3000" dirty="0"/>
          </a:p>
        </p:txBody>
      </p:sp>
      <p:sp>
        <p:nvSpPr>
          <p:cNvPr id="29" name="Text 27"/>
          <p:cNvSpPr txBox="1"/>
          <p:nvPr/>
        </p:nvSpPr>
        <p:spPr>
          <a:xfrm>
            <a:off x="9628632" y="4041648"/>
            <a:ext cx="1828800" cy="457200"/>
          </a:xfrm>
          <a:prstGeom prst="rect">
            <a:avLst/>
          </a:prstGeom>
          <a:noFill/>
          <a:ln/>
        </p:spPr>
        <p:txBody>
          <a:bodyPr wrap="square" lIns="0" tIns="0" rIns="0" bIns="0" rtlCol="0" anchor="t"/>
          <a:lstStyle/>
          <a:p>
            <a:pPr indent="0" marL="0">
              <a:buNone/>
            </a:pPr>
            <a:r>
              <a:rPr lang="en-US" sz="1200" dirty="0">
                <a:solidFill>
                  <a:schemeClr val="tx2"/>
                </a:solidFill>
              </a:rPr>
              <a:t>user stories with criteria</a:t>
            </a:r>
            <a:endParaRPr lang="en-US" sz="1200" dirty="0"/>
          </a:p>
        </p:txBody>
      </p:sp>
      <p:sp>
        <p:nvSpPr>
          <p:cNvPr id="30" name="stat"/>
          <p:cNvSpPr/>
          <p:nvPr/>
        </p:nvSpPr>
        <p:spPr>
          <a:xfrm>
            <a:off x="7178040" y="4709160"/>
            <a:ext cx="2130552" cy="1188720"/>
          </a:xfrm>
          <a:prstGeom prst="roundRect">
            <a:avLst>
              <a:gd name="adj" fmla="val 9231"/>
            </a:avLst>
          </a:prstGeom>
          <a:solidFill>
            <a:schemeClr val="bg1"/>
          </a:solidFill>
          <a:ln w="12700">
            <a:solidFill>
              <a:schemeClr val="bg1"/>
            </a:solidFill>
            <a:prstDash val="solid"/>
          </a:ln>
        </p:spPr>
      </p:sp>
      <p:sp>
        <p:nvSpPr>
          <p:cNvPr id="31" name="Text 29"/>
          <p:cNvSpPr txBox="1"/>
          <p:nvPr/>
        </p:nvSpPr>
        <p:spPr>
          <a:xfrm>
            <a:off x="7360920" y="4818888"/>
            <a:ext cx="1737360" cy="548640"/>
          </a:xfrm>
          <a:prstGeom prst="rect">
            <a:avLst/>
          </a:prstGeom>
          <a:noFill/>
          <a:ln/>
        </p:spPr>
        <p:txBody>
          <a:bodyPr wrap="square" lIns="0" tIns="0" rIns="0" bIns="0" rtlCol="0" anchor="t"/>
          <a:lstStyle/>
          <a:p>
            <a:pPr indent="0" marL="0">
              <a:buNone/>
            </a:pPr>
            <a:r>
              <a:rPr lang="en-US" sz="3000" b="1" dirty="0">
                <a:solidFill>
                  <a:schemeClr val="tx1"/>
                </a:solidFill>
              </a:rPr>
              <a:t>3</a:t>
            </a:r>
            <a:endParaRPr lang="en-US" sz="3000" dirty="0"/>
          </a:p>
        </p:txBody>
      </p:sp>
      <p:sp>
        <p:nvSpPr>
          <p:cNvPr id="32" name="Text 30"/>
          <p:cNvSpPr txBox="1"/>
          <p:nvPr/>
        </p:nvSpPr>
        <p:spPr>
          <a:xfrm>
            <a:off x="7360920" y="5367528"/>
            <a:ext cx="1828800" cy="457200"/>
          </a:xfrm>
          <a:prstGeom prst="rect">
            <a:avLst/>
          </a:prstGeom>
          <a:noFill/>
          <a:ln/>
        </p:spPr>
        <p:txBody>
          <a:bodyPr wrap="square" lIns="0" tIns="0" rIns="0" bIns="0" rtlCol="0" anchor="t"/>
          <a:lstStyle/>
          <a:p>
            <a:pPr indent="0" marL="0">
              <a:buNone/>
            </a:pPr>
            <a:r>
              <a:rPr lang="en-US" sz="1200" dirty="0">
                <a:solidFill>
                  <a:schemeClr val="tx2"/>
                </a:solidFill>
              </a:rPr>
              <a:t>methods: MoSCoW, RICE, WSJF</a:t>
            </a:r>
            <a:endParaRPr lang="en-US" sz="1200" dirty="0"/>
          </a:p>
        </p:txBody>
      </p:sp>
      <p:sp>
        <p:nvSpPr>
          <p:cNvPr id="33" name="stat"/>
          <p:cNvSpPr/>
          <p:nvPr/>
        </p:nvSpPr>
        <p:spPr>
          <a:xfrm>
            <a:off x="9445752" y="4709160"/>
            <a:ext cx="2130552" cy="1188720"/>
          </a:xfrm>
          <a:prstGeom prst="roundRect">
            <a:avLst>
              <a:gd name="adj" fmla="val 9231"/>
            </a:avLst>
          </a:prstGeom>
          <a:solidFill>
            <a:schemeClr val="bg1"/>
          </a:solidFill>
          <a:ln w="12700">
            <a:solidFill>
              <a:schemeClr val="bg1"/>
            </a:solidFill>
            <a:prstDash val="solid"/>
          </a:ln>
        </p:spPr>
      </p:sp>
      <p:sp>
        <p:nvSpPr>
          <p:cNvPr id="34" name="Text 32"/>
          <p:cNvSpPr txBox="1"/>
          <p:nvPr/>
        </p:nvSpPr>
        <p:spPr>
          <a:xfrm>
            <a:off x="9628632" y="4818888"/>
            <a:ext cx="1737360" cy="548640"/>
          </a:xfrm>
          <a:prstGeom prst="rect">
            <a:avLst/>
          </a:prstGeom>
          <a:noFill/>
          <a:ln/>
        </p:spPr>
        <p:txBody>
          <a:bodyPr wrap="square" lIns="0" tIns="0" rIns="0" bIns="0" rtlCol="0" anchor="t"/>
          <a:lstStyle/>
          <a:p>
            <a:pPr indent="0" marL="0">
              <a:buNone/>
            </a:pPr>
            <a:r>
              <a:rPr lang="en-US" sz="3000" b="1" dirty="0">
                <a:solidFill>
                  <a:schemeClr val="tx1"/>
                </a:solidFill>
              </a:rPr>
              <a:t>2</a:t>
            </a:r>
            <a:endParaRPr lang="en-US" sz="3000" dirty="0"/>
          </a:p>
        </p:txBody>
      </p:sp>
      <p:sp>
        <p:nvSpPr>
          <p:cNvPr id="35" name="Text 33"/>
          <p:cNvSpPr txBox="1"/>
          <p:nvPr/>
        </p:nvSpPr>
        <p:spPr>
          <a:xfrm>
            <a:off x="9628632" y="5367528"/>
            <a:ext cx="1828800" cy="457200"/>
          </a:xfrm>
          <a:prstGeom prst="rect">
            <a:avLst/>
          </a:prstGeom>
          <a:noFill/>
          <a:ln/>
        </p:spPr>
        <p:txBody>
          <a:bodyPr wrap="square" lIns="0" tIns="0" rIns="0" bIns="0" rtlCol="0" anchor="t"/>
          <a:lstStyle/>
          <a:p>
            <a:pPr indent="0" marL="0">
              <a:buNone/>
            </a:pPr>
            <a:r>
              <a:rPr lang="en-US" sz="1200" dirty="0">
                <a:solidFill>
                  <a:schemeClr val="tx2"/>
                </a:solidFill>
              </a:rPr>
              <a:t>child pages: score, completeness</a:t>
            </a:r>
            <a:endParaRPr lang="en-US" sz="1200" dirty="0"/>
          </a:p>
        </p:txBody>
      </p:sp>
      <p:sp>
        <p:nvSpPr>
          <p:cNvPr id="36" name="Text 34"/>
          <p:cNvSpPr txBox="1"/>
          <p:nvPr/>
        </p:nvSpPr>
        <p:spPr>
          <a:xfrm>
            <a:off x="548640" y="6126480"/>
            <a:ext cx="10058400" cy="228600"/>
          </a:xfrm>
          <a:prstGeom prst="rect">
            <a:avLst/>
          </a:prstGeom>
          <a:noFill/>
          <a:ln/>
        </p:spPr>
        <p:txBody>
          <a:bodyPr wrap="square" lIns="0" tIns="0" rIns="0" bIns="0" rtlCol="0" anchor="t"/>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Confluence · CareerPilot – MVP PRD · source of truth for every other artefact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02 · PRD · KEY USER STORIES</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Three stories carry the core of the product</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story"/>
          <p:cNvSpPr/>
          <p:nvPr/>
        </p:nvSpPr>
        <p:spPr>
          <a:xfrm>
            <a:off x="548640" y="2057400"/>
            <a:ext cx="3593592" cy="3977640"/>
          </a:xfrm>
          <a:prstGeom prst="roundRect">
            <a:avLst>
              <a:gd name="adj" fmla="val 3053"/>
            </a:avLst>
          </a:prstGeom>
          <a:solidFill>
            <a:schemeClr val="bg1"/>
          </a:solidFill>
          <a:ln w="12700">
            <a:solidFill>
              <a:schemeClr val="bg1"/>
            </a:solidFill>
            <a:prstDash val="solid"/>
          </a:ln>
        </p:spPr>
      </p:sp>
      <p:sp>
        <p:nvSpPr>
          <p:cNvPr id="12" name="Text 10"/>
          <p:cNvSpPr txBox="1"/>
          <p:nvPr/>
        </p:nvSpPr>
        <p:spPr>
          <a:xfrm>
            <a:off x="822960" y="2240280"/>
            <a:ext cx="3044952"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US2 · MARKUS · MUST</a:t>
            </a:r>
            <a:endParaRPr lang="en-US" sz="1000" dirty="0"/>
          </a:p>
        </p:txBody>
      </p:sp>
      <p:sp>
        <p:nvSpPr>
          <p:cNvPr id="13" name="Text 11"/>
          <p:cNvSpPr txBox="1"/>
          <p:nvPr/>
        </p:nvSpPr>
        <p:spPr>
          <a:xfrm>
            <a:off x="822960" y="2514600"/>
            <a:ext cx="3044952" cy="365760"/>
          </a:xfrm>
          <a:prstGeom prst="rect">
            <a:avLst/>
          </a:prstGeom>
          <a:noFill/>
          <a:ln/>
        </p:spPr>
        <p:txBody>
          <a:bodyPr wrap="square" lIns="0" tIns="0" rIns="0" bIns="0" rtlCol="0" anchor="t"/>
          <a:lstStyle/>
          <a:p>
            <a:pPr indent="0" marL="0">
              <a:buNone/>
            </a:pPr>
            <a:r>
              <a:rPr lang="en-US" sz="1800" b="1" dirty="0">
                <a:solidFill>
                  <a:schemeClr val="tx1"/>
                </a:solidFill>
              </a:rPr>
              <a:t>How my score is built</a:t>
            </a:r>
            <a:endParaRPr lang="en-US" sz="1800" dirty="0"/>
          </a:p>
        </p:txBody>
      </p:sp>
      <p:sp>
        <p:nvSpPr>
          <p:cNvPr id="14" name="Text 12"/>
          <p:cNvSpPr txBox="1"/>
          <p:nvPr/>
        </p:nvSpPr>
        <p:spPr>
          <a:xfrm>
            <a:off x="822960" y="2971800"/>
            <a:ext cx="3044952" cy="1143000"/>
          </a:xfrm>
          <a:prstGeom prst="rect">
            <a:avLst/>
          </a:prstGeom>
          <a:noFill/>
          <a:ln/>
        </p:spPr>
        <p:txBody>
          <a:bodyPr wrap="square" lIns="0" tIns="0" rIns="0" bIns="0" rtlCol="0" anchor="t"/>
          <a:lstStyle/>
          <a:p>
            <a:pPr indent="0" marL="0">
              <a:buNone/>
            </a:pPr>
            <a:r>
              <a:rPr lang="en-US" sz="1300" i="1" dirty="0">
                <a:solidFill>
                  <a:schemeClr val="tx2"/>
                </a:solidFill>
              </a:rPr>
              <a:t>As a selective job seeker, I want to see how my match score is calculated and why the job fits, so that I can reject or pursue a role in seconds.</a:t>
            </a:r>
            <a:endParaRPr lang="en-US" sz="1300" dirty="0"/>
          </a:p>
        </p:txBody>
      </p:sp>
      <p:sp>
        <p:nvSpPr>
          <p:cNvPr id="15" name="Text 13"/>
          <p:cNvSpPr txBox="1"/>
          <p:nvPr/>
        </p:nvSpPr>
        <p:spPr>
          <a:xfrm>
            <a:off x="822960" y="4206240"/>
            <a:ext cx="3044952" cy="228600"/>
          </a:xfrm>
          <a:prstGeom prst="rect">
            <a:avLst/>
          </a:prstGeom>
          <a:noFill/>
          <a:ln/>
        </p:spPr>
        <p:txBody>
          <a:bodyPr wrap="square" lIns="0" tIns="0" rIns="0" bIns="0" rtlCol="0" anchor="t"/>
          <a:lstStyle/>
          <a:p>
            <a:pPr indent="0" marL="0">
              <a:buNone/>
            </a:pPr>
            <a:r>
              <a:rPr lang="en-US" sz="1000" b="1" spc="100" kern="0" dirty="0">
                <a:solidFill>
                  <a:schemeClr val="tx2"/>
                </a:solidFill>
              </a:rPr>
              <a:t>ACCEPTANCE</a:t>
            </a:r>
            <a:endParaRPr lang="en-US" sz="1000" dirty="0"/>
          </a:p>
        </p:txBody>
      </p:sp>
      <p:sp>
        <p:nvSpPr>
          <p:cNvPr id="16" name="Text 14"/>
          <p:cNvSpPr txBox="1"/>
          <p:nvPr/>
        </p:nvSpPr>
        <p:spPr>
          <a:xfrm>
            <a:off x="822960" y="4462272"/>
            <a:ext cx="3044952" cy="1005840"/>
          </a:xfrm>
          <a:prstGeom prst="rect">
            <a:avLst/>
          </a:prstGeom>
          <a:noFill/>
          <a:ln/>
        </p:spPr>
        <p:txBody>
          <a:bodyPr wrap="square" lIns="0" tIns="0" rIns="0" bIns="0" rtlCol="0" anchor="t"/>
          <a:lstStyle/>
          <a:p>
            <a:pPr indent="0" marL="0">
              <a:buNone/>
            </a:pPr>
            <a:r>
              <a:rPr lang="en-US" sz="1300" dirty="0">
                <a:solidFill>
                  <a:schemeClr val="tx1"/>
                </a:solidFill>
              </a:rPr>
              <a:t>Each criterion shows its weight and contribution, and they add up to the score. No sponsored label, no paid boost.</a:t>
            </a:r>
            <a:endParaRPr lang="en-US" sz="1300" dirty="0"/>
          </a:p>
        </p:txBody>
      </p:sp>
      <p:sp>
        <p:nvSpPr>
          <p:cNvPr id="17" name="Shape 15"/>
          <p:cNvSpPr/>
          <p:nvPr/>
        </p:nvSpPr>
        <p:spPr>
          <a:xfrm>
            <a:off x="822960" y="5577840"/>
            <a:ext cx="3044952" cy="274320"/>
          </a:xfrm>
          <a:prstGeom prst="roundRect">
            <a:avLst>
              <a:gd name="adj" fmla="val 50000"/>
            </a:avLst>
          </a:prstGeom>
          <a:solidFill>
            <a:srgbClr val="E8EEF6"/>
          </a:solidFill>
          <a:ln w="12700">
            <a:solidFill>
              <a:srgbClr val="E8EEF6"/>
            </a:solidFill>
            <a:prstDash val="solid"/>
          </a:ln>
        </p:spPr>
      </p:sp>
      <p:sp>
        <p:nvSpPr>
          <p:cNvPr id="18" name="Text 16"/>
          <p:cNvSpPr txBox="1"/>
          <p:nvPr/>
        </p:nvSpPr>
        <p:spPr>
          <a:xfrm>
            <a:off x="822960" y="5577840"/>
            <a:ext cx="3044952" cy="274320"/>
          </a:xfrm>
          <a:prstGeom prst="rect">
            <a:avLst/>
          </a:prstGeom>
          <a:noFill/>
          <a:ln/>
        </p:spPr>
        <p:txBody>
          <a:bodyPr wrap="square" lIns="0" tIns="0" rIns="0" bIns="0" rtlCol="0" anchor="ctr"/>
          <a:lstStyle/>
          <a:p>
            <a:pPr algn="ctr" indent="0" marL="0">
              <a:buNone/>
            </a:pPr>
            <a:r>
              <a:rPr lang="en-US" sz="1000" b="1" dirty="0">
                <a:solidFill>
                  <a:srgbClr val="0F2A4A"/>
                </a:solidFill>
              </a:rPr>
              <a:t>FR7 · FR19 · FR23 · CPA-24</a:t>
            </a:r>
            <a:endParaRPr lang="en-US" sz="1000" dirty="0"/>
          </a:p>
        </p:txBody>
      </p:sp>
      <p:sp>
        <p:nvSpPr>
          <p:cNvPr id="19" name="story"/>
          <p:cNvSpPr/>
          <p:nvPr/>
        </p:nvSpPr>
        <p:spPr>
          <a:xfrm>
            <a:off x="4297680" y="2057400"/>
            <a:ext cx="3593592" cy="3977640"/>
          </a:xfrm>
          <a:prstGeom prst="roundRect">
            <a:avLst>
              <a:gd name="adj" fmla="val 3053"/>
            </a:avLst>
          </a:prstGeom>
          <a:solidFill>
            <a:schemeClr val="bg1"/>
          </a:solidFill>
          <a:ln w="12700">
            <a:solidFill>
              <a:schemeClr val="bg1"/>
            </a:solidFill>
            <a:prstDash val="solid"/>
          </a:ln>
        </p:spPr>
      </p:sp>
      <p:sp>
        <p:nvSpPr>
          <p:cNvPr id="20" name="Text 18"/>
          <p:cNvSpPr txBox="1"/>
          <p:nvPr/>
        </p:nvSpPr>
        <p:spPr>
          <a:xfrm>
            <a:off x="4572000" y="2240280"/>
            <a:ext cx="3044952"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US3 · LENA · MUST</a:t>
            </a:r>
            <a:endParaRPr lang="en-US" sz="1000" dirty="0"/>
          </a:p>
        </p:txBody>
      </p:sp>
      <p:sp>
        <p:nvSpPr>
          <p:cNvPr id="21" name="Text 19"/>
          <p:cNvSpPr txBox="1"/>
          <p:nvPr/>
        </p:nvSpPr>
        <p:spPr>
          <a:xfrm>
            <a:off x="4572000" y="2514600"/>
            <a:ext cx="3044952" cy="365760"/>
          </a:xfrm>
          <a:prstGeom prst="rect">
            <a:avLst/>
          </a:prstGeom>
          <a:noFill/>
          <a:ln/>
        </p:spPr>
        <p:txBody>
          <a:bodyPr wrap="square" lIns="0" tIns="0" rIns="0" bIns="0" rtlCol="0" anchor="t"/>
          <a:lstStyle/>
          <a:p>
            <a:pPr indent="0" marL="0">
              <a:buNone/>
            </a:pPr>
            <a:r>
              <a:rPr lang="en-US" sz="1800" b="1" dirty="0">
                <a:solidFill>
                  <a:schemeClr val="tx1"/>
                </a:solidFill>
              </a:rPr>
              <a:t>A score that reflects fit</a:t>
            </a:r>
            <a:endParaRPr lang="en-US" sz="1800" dirty="0"/>
          </a:p>
        </p:txBody>
      </p:sp>
      <p:sp>
        <p:nvSpPr>
          <p:cNvPr id="22" name="Text 20"/>
          <p:cNvSpPr txBox="1"/>
          <p:nvPr/>
        </p:nvSpPr>
        <p:spPr>
          <a:xfrm>
            <a:off x="4572000" y="2971800"/>
            <a:ext cx="3044952" cy="1143000"/>
          </a:xfrm>
          <a:prstGeom prst="rect">
            <a:avLst/>
          </a:prstGeom>
          <a:noFill/>
          <a:ln/>
        </p:spPr>
        <p:txBody>
          <a:bodyPr wrap="square" lIns="0" tIns="0" rIns="0" bIns="0" rtlCol="0" anchor="t"/>
          <a:lstStyle/>
          <a:p>
            <a:pPr indent="0" marL="0">
              <a:buNone/>
            </a:pPr>
            <a:r>
              <a:rPr lang="en-US" sz="1300" i="1" dirty="0">
                <a:solidFill>
                  <a:schemeClr val="tx2"/>
                </a:solidFill>
              </a:rPr>
              <a:t>As a recent graduate, I want my score to reflect my fit, not my missing profile data, so that I know which roles I really qualify for.</a:t>
            </a:r>
            <a:endParaRPr lang="en-US" sz="1300" dirty="0"/>
          </a:p>
        </p:txBody>
      </p:sp>
      <p:sp>
        <p:nvSpPr>
          <p:cNvPr id="23" name="Text 21"/>
          <p:cNvSpPr txBox="1"/>
          <p:nvPr/>
        </p:nvSpPr>
        <p:spPr>
          <a:xfrm>
            <a:off x="4572000" y="4206240"/>
            <a:ext cx="3044952" cy="228600"/>
          </a:xfrm>
          <a:prstGeom prst="rect">
            <a:avLst/>
          </a:prstGeom>
          <a:noFill/>
          <a:ln/>
        </p:spPr>
        <p:txBody>
          <a:bodyPr wrap="square" lIns="0" tIns="0" rIns="0" bIns="0" rtlCol="0" anchor="t"/>
          <a:lstStyle/>
          <a:p>
            <a:pPr indent="0" marL="0">
              <a:buNone/>
            </a:pPr>
            <a:r>
              <a:rPr lang="en-US" sz="1000" b="1" spc="100" kern="0" dirty="0">
                <a:solidFill>
                  <a:schemeClr val="tx2"/>
                </a:solidFill>
              </a:rPr>
              <a:t>ACCEPTANCE</a:t>
            </a:r>
            <a:endParaRPr lang="en-US" sz="1000" dirty="0"/>
          </a:p>
        </p:txBody>
      </p:sp>
      <p:sp>
        <p:nvSpPr>
          <p:cNvPr id="24" name="Text 22"/>
          <p:cNvSpPr txBox="1"/>
          <p:nvPr/>
        </p:nvSpPr>
        <p:spPr>
          <a:xfrm>
            <a:off x="4572000" y="4462272"/>
            <a:ext cx="3044952" cy="1005840"/>
          </a:xfrm>
          <a:prstGeom prst="rect">
            <a:avLst/>
          </a:prstGeom>
          <a:noFill/>
          <a:ln/>
        </p:spPr>
        <p:txBody>
          <a:bodyPr wrap="square" lIns="0" tIns="0" rIns="0" bIns="0" rtlCol="0" anchor="t"/>
          <a:lstStyle/>
          <a:p>
            <a:pPr indent="0" marL="0">
              <a:buNone/>
            </a:pPr>
            <a:r>
              <a:rPr lang="en-US" sz="1300" dirty="0">
                <a:solidFill>
                  <a:schemeClr val="tx1"/>
                </a:solidFill>
              </a:rPr>
              <a:t>An incomplete profile still gets scores with a confidence label. A score under 70% names its cause: fit gap or missing data.</a:t>
            </a:r>
            <a:endParaRPr lang="en-US" sz="1300" dirty="0"/>
          </a:p>
        </p:txBody>
      </p:sp>
      <p:sp>
        <p:nvSpPr>
          <p:cNvPr id="25" name="Shape 23"/>
          <p:cNvSpPr/>
          <p:nvPr/>
        </p:nvSpPr>
        <p:spPr>
          <a:xfrm>
            <a:off x="4572000" y="5577840"/>
            <a:ext cx="3044952" cy="274320"/>
          </a:xfrm>
          <a:prstGeom prst="roundRect">
            <a:avLst>
              <a:gd name="adj" fmla="val 50000"/>
            </a:avLst>
          </a:prstGeom>
          <a:solidFill>
            <a:srgbClr val="E8EEF6"/>
          </a:solidFill>
          <a:ln w="12700">
            <a:solidFill>
              <a:srgbClr val="E8EEF6"/>
            </a:solidFill>
            <a:prstDash val="solid"/>
          </a:ln>
        </p:spPr>
      </p:sp>
      <p:sp>
        <p:nvSpPr>
          <p:cNvPr id="26" name="Text 24"/>
          <p:cNvSpPr txBox="1"/>
          <p:nvPr/>
        </p:nvSpPr>
        <p:spPr>
          <a:xfrm>
            <a:off x="4572000" y="5577840"/>
            <a:ext cx="3044952" cy="274320"/>
          </a:xfrm>
          <a:prstGeom prst="rect">
            <a:avLst/>
          </a:prstGeom>
          <a:noFill/>
          <a:ln/>
        </p:spPr>
        <p:txBody>
          <a:bodyPr wrap="square" lIns="0" tIns="0" rIns="0" bIns="0" rtlCol="0" anchor="ctr"/>
          <a:lstStyle/>
          <a:p>
            <a:pPr algn="ctr" indent="0" marL="0">
              <a:buNone/>
            </a:pPr>
            <a:r>
              <a:rPr lang="en-US" sz="1000" b="1" dirty="0">
                <a:solidFill>
                  <a:srgbClr val="0F2A4A"/>
                </a:solidFill>
              </a:rPr>
              <a:t>FR7 · FR18 · FR19 · CPA-25</a:t>
            </a:r>
            <a:endParaRPr lang="en-US" sz="1000" dirty="0"/>
          </a:p>
        </p:txBody>
      </p:sp>
      <p:sp>
        <p:nvSpPr>
          <p:cNvPr id="27" name="story"/>
          <p:cNvSpPr/>
          <p:nvPr/>
        </p:nvSpPr>
        <p:spPr>
          <a:xfrm>
            <a:off x="8046720" y="2057400"/>
            <a:ext cx="3593592" cy="3977640"/>
          </a:xfrm>
          <a:prstGeom prst="roundRect">
            <a:avLst>
              <a:gd name="adj" fmla="val 3053"/>
            </a:avLst>
          </a:prstGeom>
          <a:solidFill>
            <a:schemeClr val="bg1"/>
          </a:solidFill>
          <a:ln w="12700">
            <a:solidFill>
              <a:schemeClr val="bg1"/>
            </a:solidFill>
            <a:prstDash val="solid"/>
          </a:ln>
        </p:spPr>
      </p:sp>
      <p:sp>
        <p:nvSpPr>
          <p:cNvPr id="28" name="Text 26"/>
          <p:cNvSpPr txBox="1"/>
          <p:nvPr/>
        </p:nvSpPr>
        <p:spPr>
          <a:xfrm>
            <a:off x="8321040" y="2240280"/>
            <a:ext cx="3044952"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US4 · LENA · MUST</a:t>
            </a:r>
            <a:endParaRPr lang="en-US" sz="1000" dirty="0"/>
          </a:p>
        </p:txBody>
      </p:sp>
      <p:sp>
        <p:nvSpPr>
          <p:cNvPr id="29" name="Text 27"/>
          <p:cNvSpPr txBox="1"/>
          <p:nvPr/>
        </p:nvSpPr>
        <p:spPr>
          <a:xfrm>
            <a:off x="8321040" y="2514600"/>
            <a:ext cx="3044952" cy="365760"/>
          </a:xfrm>
          <a:prstGeom prst="rect">
            <a:avLst/>
          </a:prstGeom>
          <a:noFill/>
          <a:ln/>
        </p:spPr>
        <p:txBody>
          <a:bodyPr wrap="square" lIns="0" tIns="0" rIns="0" bIns="0" rtlCol="0" anchor="t"/>
          <a:lstStyle/>
          <a:p>
            <a:pPr indent="0" marL="0">
              <a:buNone/>
            </a:pPr>
            <a:r>
              <a:rPr lang="en-US" sz="1800" b="1" dirty="0">
                <a:solidFill>
                  <a:schemeClr val="tx1"/>
                </a:solidFill>
              </a:rPr>
              <a:t>One application history</a:t>
            </a:r>
            <a:endParaRPr lang="en-US" sz="1800" dirty="0"/>
          </a:p>
        </p:txBody>
      </p:sp>
      <p:sp>
        <p:nvSpPr>
          <p:cNvPr id="30" name="Text 28"/>
          <p:cNvSpPr txBox="1"/>
          <p:nvPr/>
        </p:nvSpPr>
        <p:spPr>
          <a:xfrm>
            <a:off x="8321040" y="2971800"/>
            <a:ext cx="3044952" cy="1143000"/>
          </a:xfrm>
          <a:prstGeom prst="rect">
            <a:avLst/>
          </a:prstGeom>
          <a:noFill/>
          <a:ln/>
        </p:spPr>
        <p:txBody>
          <a:bodyPr wrap="square" lIns="0" tIns="0" rIns="0" bIns="0" rtlCol="0" anchor="t"/>
          <a:lstStyle/>
          <a:p>
            <a:pPr indent="0" marL="0">
              <a:buNone/>
            </a:pPr>
            <a:r>
              <a:rPr lang="en-US" sz="1300" i="1" dirty="0">
                <a:solidFill>
                  <a:schemeClr val="tx2"/>
                </a:solidFill>
              </a:rPr>
              <a:t>As an active applicant, I want every application logged with date, source, documents and the job description, so that I never apply twice.</a:t>
            </a:r>
            <a:endParaRPr lang="en-US" sz="1300" dirty="0"/>
          </a:p>
        </p:txBody>
      </p:sp>
      <p:sp>
        <p:nvSpPr>
          <p:cNvPr id="31" name="Text 29"/>
          <p:cNvSpPr txBox="1"/>
          <p:nvPr/>
        </p:nvSpPr>
        <p:spPr>
          <a:xfrm>
            <a:off x="8321040" y="4206240"/>
            <a:ext cx="3044952" cy="228600"/>
          </a:xfrm>
          <a:prstGeom prst="rect">
            <a:avLst/>
          </a:prstGeom>
          <a:noFill/>
          <a:ln/>
        </p:spPr>
        <p:txBody>
          <a:bodyPr wrap="square" lIns="0" tIns="0" rIns="0" bIns="0" rtlCol="0" anchor="t"/>
          <a:lstStyle/>
          <a:p>
            <a:pPr indent="0" marL="0">
              <a:buNone/>
            </a:pPr>
            <a:r>
              <a:rPr lang="en-US" sz="1000" b="1" spc="100" kern="0" dirty="0">
                <a:solidFill>
                  <a:schemeClr val="tx2"/>
                </a:solidFill>
              </a:rPr>
              <a:t>ACCEPTANCE</a:t>
            </a:r>
            <a:endParaRPr lang="en-US" sz="1000" dirty="0"/>
          </a:p>
        </p:txBody>
      </p:sp>
      <p:sp>
        <p:nvSpPr>
          <p:cNvPr id="32" name="Text 30"/>
          <p:cNvSpPr txBox="1"/>
          <p:nvPr/>
        </p:nvSpPr>
        <p:spPr>
          <a:xfrm>
            <a:off x="8321040" y="4462272"/>
            <a:ext cx="3044952" cy="1005840"/>
          </a:xfrm>
          <a:prstGeom prst="rect">
            <a:avLst/>
          </a:prstGeom>
          <a:noFill/>
          <a:ln/>
        </p:spPr>
        <p:txBody>
          <a:bodyPr wrap="square" lIns="0" tIns="0" rIns="0" bIns="0" rtlCol="0" anchor="t"/>
          <a:lstStyle/>
          <a:p>
            <a:pPr indent="0" marL="0">
              <a:buNone/>
            </a:pPr>
            <a:r>
              <a:rPr lang="en-US" sz="1300" dirty="0">
                <a:solidFill>
                  <a:schemeClr val="tx1"/>
                </a:solidFill>
              </a:rPr>
              <a:t>Confirming "Did you apply?" creates the entry with the saved job description. Reopening an applied job shows a warning.</a:t>
            </a:r>
            <a:endParaRPr lang="en-US" sz="1300" dirty="0"/>
          </a:p>
        </p:txBody>
      </p:sp>
      <p:sp>
        <p:nvSpPr>
          <p:cNvPr id="33" name="Shape 31"/>
          <p:cNvSpPr/>
          <p:nvPr/>
        </p:nvSpPr>
        <p:spPr>
          <a:xfrm>
            <a:off x="8321040" y="5577840"/>
            <a:ext cx="3044952" cy="274320"/>
          </a:xfrm>
          <a:prstGeom prst="roundRect">
            <a:avLst>
              <a:gd name="adj" fmla="val 50000"/>
            </a:avLst>
          </a:prstGeom>
          <a:solidFill>
            <a:srgbClr val="E8EEF6"/>
          </a:solidFill>
          <a:ln w="12700">
            <a:solidFill>
              <a:srgbClr val="E8EEF6"/>
            </a:solidFill>
            <a:prstDash val="solid"/>
          </a:ln>
        </p:spPr>
      </p:sp>
      <p:sp>
        <p:nvSpPr>
          <p:cNvPr id="34" name="Text 32"/>
          <p:cNvSpPr txBox="1"/>
          <p:nvPr/>
        </p:nvSpPr>
        <p:spPr>
          <a:xfrm>
            <a:off x="8321040" y="5577840"/>
            <a:ext cx="3044952" cy="274320"/>
          </a:xfrm>
          <a:prstGeom prst="rect">
            <a:avLst/>
          </a:prstGeom>
          <a:noFill/>
          <a:ln/>
        </p:spPr>
        <p:txBody>
          <a:bodyPr wrap="square" lIns="0" tIns="0" rIns="0" bIns="0" rtlCol="0" anchor="ctr"/>
          <a:lstStyle/>
          <a:p>
            <a:pPr algn="ctr" indent="0" marL="0">
              <a:buNone/>
            </a:pPr>
            <a:r>
              <a:rPr lang="en-US" sz="1000" b="1" dirty="0">
                <a:solidFill>
                  <a:srgbClr val="0F2A4A"/>
                </a:solidFill>
              </a:rPr>
              <a:t>FR11 · CPA-26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02 · PRD · KEY DECISION: THE MATCH SCORE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Every point of the score has a reason you can see</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scorecard"/>
          <p:cNvSpPr/>
          <p:nvPr/>
        </p:nvSpPr>
        <p:spPr>
          <a:xfrm>
            <a:off x="548640" y="2057400"/>
            <a:ext cx="5669280" cy="4023360"/>
          </a:xfrm>
          <a:prstGeom prst="roundRect">
            <a:avLst>
              <a:gd name="adj" fmla="val 2727"/>
            </a:avLst>
          </a:prstGeom>
          <a:solidFill>
            <a:schemeClr val="bg1"/>
          </a:solidFill>
          <a:ln w="12700">
            <a:solidFill>
              <a:schemeClr val="bg1"/>
            </a:solidFill>
            <a:prstDash val="solid"/>
          </a:ln>
        </p:spPr>
      </p:sp>
      <p:sp>
        <p:nvSpPr>
          <p:cNvPr id="12" name="fit-track"/>
          <p:cNvSpPr/>
          <p:nvPr/>
        </p:nvSpPr>
        <p:spPr>
          <a:xfrm>
            <a:off x="868680" y="2286000"/>
            <a:ext cx="1143000" cy="1143000"/>
          </a:xfrm>
          <a:prstGeom prst="blockArc">
            <a:avLst>
              <a:gd name="adj1" fmla="val 0"/>
              <a:gd name="adj2" fmla="val 21594000"/>
              <a:gd name="adj3" fmla="val 10000"/>
            </a:avLst>
          </a:prstGeom>
          <a:solidFill>
            <a:srgbClr val="E8EEF6"/>
          </a:solidFill>
          <a:ln w="12700">
            <a:solidFill>
              <a:srgbClr val="E8EEF6"/>
            </a:solidFill>
            <a:prstDash val="solid"/>
          </a:ln>
        </p:spPr>
      </p:sp>
      <p:sp>
        <p:nvSpPr>
          <p:cNvPr id="13" name="fit-arc"/>
          <p:cNvSpPr/>
          <p:nvPr/>
        </p:nvSpPr>
        <p:spPr>
          <a:xfrm>
            <a:off x="868680" y="2286000"/>
            <a:ext cx="1143000" cy="1143000"/>
          </a:xfrm>
          <a:prstGeom prst="blockArc">
            <a:avLst>
              <a:gd name="adj1" fmla="val 16200000"/>
              <a:gd name="adj2" fmla="val 14472000"/>
              <a:gd name="adj3" fmla="val 10000"/>
            </a:avLst>
          </a:prstGeom>
          <a:solidFill>
            <a:srgbClr val="0F2A4A"/>
          </a:solidFill>
          <a:ln w="12700">
            <a:solidFill>
              <a:srgbClr val="0F2A4A"/>
            </a:solidFill>
            <a:prstDash val="solid"/>
          </a:ln>
        </p:spPr>
      </p:sp>
      <p:sp>
        <p:nvSpPr>
          <p:cNvPr id="14" name="Text 12"/>
          <p:cNvSpPr txBox="1"/>
          <p:nvPr/>
        </p:nvSpPr>
        <p:spPr>
          <a:xfrm>
            <a:off x="868680" y="2286000"/>
            <a:ext cx="1143000" cy="1143000"/>
          </a:xfrm>
          <a:prstGeom prst="rect">
            <a:avLst/>
          </a:prstGeom>
          <a:noFill/>
          <a:ln/>
        </p:spPr>
        <p:txBody>
          <a:bodyPr wrap="square" lIns="0" tIns="0" rIns="0" bIns="0" rtlCol="0" anchor="ctr"/>
          <a:lstStyle/>
          <a:p>
            <a:pPr algn="ctr" indent="0" marL="0">
              <a:buNone/>
            </a:pPr>
            <a:r>
              <a:rPr lang="en-US" sz="2400" b="1" dirty="0">
                <a:solidFill>
                  <a:schemeClr val="tx1"/>
                </a:solidFill>
              </a:rPr>
              <a:t>92</a:t>
            </a:r>
            <a:pPr algn="ctr" indent="0" marL="0">
              <a:buNone/>
            </a:pPr>
            <a:r>
              <a:rPr lang="en-US" sz="1300" b="1" dirty="0">
                <a:solidFill>
                  <a:schemeClr val="tx1"/>
                </a:solidFill>
              </a:rPr>
              <a:t>%</a:t>
            </a:r>
            <a:endParaRPr lang="en-US" sz="1400" dirty="0"/>
          </a:p>
        </p:txBody>
      </p:sp>
      <p:sp>
        <p:nvSpPr>
          <p:cNvPr id="15" name="Text 13"/>
          <p:cNvSpPr txBox="1"/>
          <p:nvPr/>
        </p:nvSpPr>
        <p:spPr>
          <a:xfrm>
            <a:off x="2240280" y="2377440"/>
            <a:ext cx="3840480" cy="320040"/>
          </a:xfrm>
          <a:prstGeom prst="rect">
            <a:avLst/>
          </a:prstGeom>
          <a:noFill/>
          <a:ln/>
        </p:spPr>
        <p:txBody>
          <a:bodyPr wrap="square" lIns="0" tIns="0" rIns="0" bIns="0" rtlCol="0" anchor="t"/>
          <a:lstStyle/>
          <a:p>
            <a:pPr indent="0" marL="0">
              <a:buNone/>
            </a:pPr>
            <a:r>
              <a:rPr lang="en-US" sz="1700" b="1" dirty="0">
                <a:solidFill>
                  <a:schemeClr val="tx1"/>
                </a:solidFill>
              </a:rPr>
              <a:t>CV–job fit</a:t>
            </a:r>
            <a:endParaRPr lang="en-US" sz="1700" dirty="0"/>
          </a:p>
        </p:txBody>
      </p:sp>
      <p:sp>
        <p:nvSpPr>
          <p:cNvPr id="16" name="Shape 14"/>
          <p:cNvSpPr/>
          <p:nvPr/>
        </p:nvSpPr>
        <p:spPr>
          <a:xfrm>
            <a:off x="2240280" y="2743200"/>
            <a:ext cx="1508760" cy="310896"/>
          </a:xfrm>
          <a:prstGeom prst="roundRect">
            <a:avLst>
              <a:gd name="adj" fmla="val 50000"/>
            </a:avLst>
          </a:prstGeom>
          <a:solidFill>
            <a:srgbClr val="DDF0E4"/>
          </a:solidFill>
          <a:ln w="12700">
            <a:solidFill>
              <a:srgbClr val="DDF0E4"/>
            </a:solidFill>
            <a:prstDash val="solid"/>
          </a:ln>
        </p:spPr>
      </p:sp>
      <p:sp>
        <p:nvSpPr>
          <p:cNvPr id="17" name="Text 15"/>
          <p:cNvSpPr txBox="1"/>
          <p:nvPr/>
        </p:nvSpPr>
        <p:spPr>
          <a:xfrm>
            <a:off x="2240280" y="2743200"/>
            <a:ext cx="1508760" cy="310896"/>
          </a:xfrm>
          <a:prstGeom prst="rect">
            <a:avLst/>
          </a:prstGeom>
          <a:noFill/>
          <a:ln/>
        </p:spPr>
        <p:txBody>
          <a:bodyPr wrap="square" lIns="0" tIns="0" rIns="0" bIns="0" rtlCol="0" anchor="ctr"/>
          <a:lstStyle/>
          <a:p>
            <a:pPr algn="ctr" indent="0" marL="0">
              <a:buNone/>
            </a:pPr>
            <a:r>
              <a:rPr lang="en-US" sz="1200" dirty="0">
                <a:solidFill>
                  <a:srgbClr val="2E8B57"/>
                </a:solidFill>
              </a:rPr>
              <a:t>High confidence</a:t>
            </a:r>
            <a:endParaRPr lang="en-US" sz="1200" dirty="0"/>
          </a:p>
        </p:txBody>
      </p:sp>
      <p:sp>
        <p:nvSpPr>
          <p:cNvPr id="18" name="Text 16"/>
          <p:cNvSpPr txBox="1"/>
          <p:nvPr/>
        </p:nvSpPr>
        <p:spPr>
          <a:xfrm>
            <a:off x="2240280" y="3154680"/>
            <a:ext cx="3840480" cy="457200"/>
          </a:xfrm>
          <a:prstGeom prst="rect">
            <a:avLst/>
          </a:prstGeom>
          <a:noFill/>
          <a:ln/>
        </p:spPr>
        <p:txBody>
          <a:bodyPr wrap="square" lIns="0" tIns="0" rIns="0" bIns="0" rtlCol="0" anchor="t"/>
          <a:lstStyle/>
          <a:p>
            <a:pPr indent="0" marL="0">
              <a:buNone/>
            </a:pPr>
            <a:r>
              <a:rPr lang="en-US" sz="1100" dirty="0">
                <a:solidFill>
                  <a:schemeClr val="tx2"/>
                </a:solidFill>
              </a:rPr>
              <a:t>Data analyst · Example Systems. Illustrative score, not a hiring probability. </a:t>
            </a:r>
            <a:pPr indent="0" marL="0">
              <a:buNone/>
            </a:pPr>
            <a:r>
              <a:rPr lang="en-US" sz="1100" b="1" u="sng" dirty="0">
                <a:solidFill>
                  <a:schemeClr val="tx2"/>
                </a:solidFill>
              </a:rPr>
              <a:t>How it's calculated</a:t>
            </a:r>
            <a:endParaRPr lang="en-US" sz="1100" dirty="0"/>
          </a:p>
        </p:txBody>
      </p:sp>
      <p:sp>
        <p:nvSpPr>
          <p:cNvPr id="19" name="Text 17"/>
          <p:cNvSpPr txBox="1"/>
          <p:nvPr/>
        </p:nvSpPr>
        <p:spPr>
          <a:xfrm>
            <a:off x="868680" y="3675888"/>
            <a:ext cx="1828800" cy="274320"/>
          </a:xfrm>
          <a:prstGeom prst="rect">
            <a:avLst/>
          </a:prstGeom>
          <a:noFill/>
          <a:ln/>
        </p:spPr>
        <p:txBody>
          <a:bodyPr wrap="square" lIns="0" tIns="0" rIns="0" bIns="0" rtlCol="0" anchor="ctr"/>
          <a:lstStyle/>
          <a:p>
            <a:pPr indent="0" marL="0">
              <a:buNone/>
            </a:pPr>
            <a:r>
              <a:rPr lang="en-US" sz="1200" dirty="0">
                <a:solidFill>
                  <a:schemeClr val="tx1"/>
                </a:solidFill>
              </a:rPr>
              <a:t>Required skills</a:t>
            </a:r>
            <a:endParaRPr lang="en-US" sz="1200" dirty="0"/>
          </a:p>
        </p:txBody>
      </p:sp>
      <p:sp>
        <p:nvSpPr>
          <p:cNvPr id="20" name="Text 18"/>
          <p:cNvSpPr txBox="1"/>
          <p:nvPr/>
        </p:nvSpPr>
        <p:spPr>
          <a:xfrm>
            <a:off x="2697480" y="3675888"/>
            <a:ext cx="457200" cy="274320"/>
          </a:xfrm>
          <a:prstGeom prst="rect">
            <a:avLst/>
          </a:prstGeom>
          <a:noFill/>
          <a:ln/>
        </p:spPr>
        <p:txBody>
          <a:bodyPr wrap="square" lIns="0" tIns="0" rIns="0" bIns="0" rtlCol="0" anchor="ctr"/>
          <a:lstStyle/>
          <a:p>
            <a:pPr indent="0" marL="0">
              <a:buNone/>
            </a:pPr>
            <a:r>
              <a:rPr lang="en-US" sz="1200" dirty="0">
                <a:solidFill>
                  <a:schemeClr val="tx2"/>
                </a:solidFill>
              </a:rPr>
              <a:t>35%</a:t>
            </a:r>
            <a:endParaRPr lang="en-US" sz="1200" dirty="0"/>
          </a:p>
        </p:txBody>
      </p:sp>
      <p:sp>
        <p:nvSpPr>
          <p:cNvPr id="21" name="Shape 19"/>
          <p:cNvSpPr/>
          <p:nvPr/>
        </p:nvSpPr>
        <p:spPr>
          <a:xfrm>
            <a:off x="3200400" y="3758184"/>
            <a:ext cx="2194560" cy="118872"/>
          </a:xfrm>
          <a:prstGeom prst="rect">
            <a:avLst/>
          </a:prstGeom>
          <a:solidFill>
            <a:srgbClr val="E8EEF6"/>
          </a:solidFill>
          <a:ln w="12700">
            <a:solidFill>
              <a:srgbClr val="E8EEF6"/>
            </a:solidFill>
            <a:prstDash val="solid"/>
          </a:ln>
        </p:spPr>
      </p:sp>
      <p:sp>
        <p:nvSpPr>
          <p:cNvPr id="22" name="Shape 20"/>
          <p:cNvSpPr/>
          <p:nvPr/>
        </p:nvSpPr>
        <p:spPr>
          <a:xfrm>
            <a:off x="3200400" y="3758184"/>
            <a:ext cx="2094237" cy="118872"/>
          </a:xfrm>
          <a:prstGeom prst="rect">
            <a:avLst/>
          </a:prstGeom>
          <a:solidFill>
            <a:srgbClr val="0F2A4A"/>
          </a:solidFill>
          <a:ln w="12700">
            <a:solidFill>
              <a:srgbClr val="0F2A4A"/>
            </a:solidFill>
            <a:prstDash val="solid"/>
          </a:ln>
        </p:spPr>
      </p:sp>
      <p:sp>
        <p:nvSpPr>
          <p:cNvPr id="23" name="Text 21"/>
          <p:cNvSpPr txBox="1"/>
          <p:nvPr/>
        </p:nvSpPr>
        <p:spPr>
          <a:xfrm>
            <a:off x="5440680" y="3675888"/>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33.4</a:t>
            </a:r>
            <a:endParaRPr lang="en-US" sz="1200" dirty="0"/>
          </a:p>
        </p:txBody>
      </p:sp>
      <p:sp>
        <p:nvSpPr>
          <p:cNvPr id="24" name="Text 22"/>
          <p:cNvSpPr txBox="1"/>
          <p:nvPr/>
        </p:nvSpPr>
        <p:spPr>
          <a:xfrm>
            <a:off x="868680" y="4005072"/>
            <a:ext cx="1828800" cy="274320"/>
          </a:xfrm>
          <a:prstGeom prst="rect">
            <a:avLst/>
          </a:prstGeom>
          <a:noFill/>
          <a:ln/>
        </p:spPr>
        <p:txBody>
          <a:bodyPr wrap="square" lIns="0" tIns="0" rIns="0" bIns="0" rtlCol="0" anchor="ctr"/>
          <a:lstStyle/>
          <a:p>
            <a:pPr indent="0" marL="0">
              <a:buNone/>
            </a:pPr>
            <a:r>
              <a:rPr lang="en-US" sz="1200" dirty="0">
                <a:solidFill>
                  <a:schemeClr val="tx1"/>
                </a:solidFill>
              </a:rPr>
              <a:t>Relevant experience</a:t>
            </a:r>
            <a:endParaRPr lang="en-US" sz="1200" dirty="0"/>
          </a:p>
        </p:txBody>
      </p:sp>
      <p:sp>
        <p:nvSpPr>
          <p:cNvPr id="25" name="Text 23"/>
          <p:cNvSpPr txBox="1"/>
          <p:nvPr/>
        </p:nvSpPr>
        <p:spPr>
          <a:xfrm>
            <a:off x="2697480" y="4005072"/>
            <a:ext cx="457200" cy="274320"/>
          </a:xfrm>
          <a:prstGeom prst="rect">
            <a:avLst/>
          </a:prstGeom>
          <a:noFill/>
          <a:ln/>
        </p:spPr>
        <p:txBody>
          <a:bodyPr wrap="square" lIns="0" tIns="0" rIns="0" bIns="0" rtlCol="0" anchor="ctr"/>
          <a:lstStyle/>
          <a:p>
            <a:pPr indent="0" marL="0">
              <a:buNone/>
            </a:pPr>
            <a:r>
              <a:rPr lang="en-US" sz="1200" dirty="0">
                <a:solidFill>
                  <a:schemeClr val="tx2"/>
                </a:solidFill>
              </a:rPr>
              <a:t>25%</a:t>
            </a:r>
            <a:endParaRPr lang="en-US" sz="1200" dirty="0"/>
          </a:p>
        </p:txBody>
      </p:sp>
      <p:sp>
        <p:nvSpPr>
          <p:cNvPr id="26" name="Shape 24"/>
          <p:cNvSpPr/>
          <p:nvPr/>
        </p:nvSpPr>
        <p:spPr>
          <a:xfrm>
            <a:off x="3200400" y="4087368"/>
            <a:ext cx="2194560" cy="118872"/>
          </a:xfrm>
          <a:prstGeom prst="rect">
            <a:avLst/>
          </a:prstGeom>
          <a:solidFill>
            <a:srgbClr val="E8EEF6"/>
          </a:solidFill>
          <a:ln w="12700">
            <a:solidFill>
              <a:srgbClr val="E8EEF6"/>
            </a:solidFill>
            <a:prstDash val="solid"/>
          </a:ln>
        </p:spPr>
      </p:sp>
      <p:sp>
        <p:nvSpPr>
          <p:cNvPr id="27" name="Shape 25"/>
          <p:cNvSpPr/>
          <p:nvPr/>
        </p:nvSpPr>
        <p:spPr>
          <a:xfrm>
            <a:off x="3200400" y="4087368"/>
            <a:ext cx="1904878" cy="118872"/>
          </a:xfrm>
          <a:prstGeom prst="rect">
            <a:avLst/>
          </a:prstGeom>
          <a:solidFill>
            <a:srgbClr val="0F2A4A"/>
          </a:solidFill>
          <a:ln w="12700">
            <a:solidFill>
              <a:srgbClr val="0F2A4A"/>
            </a:solidFill>
            <a:prstDash val="solid"/>
          </a:ln>
        </p:spPr>
      </p:sp>
      <p:sp>
        <p:nvSpPr>
          <p:cNvPr id="28" name="Text 26"/>
          <p:cNvSpPr txBox="1"/>
          <p:nvPr/>
        </p:nvSpPr>
        <p:spPr>
          <a:xfrm>
            <a:off x="5440680" y="4005072"/>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21.7</a:t>
            </a:r>
            <a:endParaRPr lang="en-US" sz="1200" dirty="0"/>
          </a:p>
        </p:txBody>
      </p:sp>
      <p:sp>
        <p:nvSpPr>
          <p:cNvPr id="29" name="Text 27"/>
          <p:cNvSpPr txBox="1"/>
          <p:nvPr/>
        </p:nvSpPr>
        <p:spPr>
          <a:xfrm>
            <a:off x="868680" y="4334256"/>
            <a:ext cx="1828800" cy="274320"/>
          </a:xfrm>
          <a:prstGeom prst="rect">
            <a:avLst/>
          </a:prstGeom>
          <a:noFill/>
          <a:ln/>
        </p:spPr>
        <p:txBody>
          <a:bodyPr wrap="square" lIns="0" tIns="0" rIns="0" bIns="0" rtlCol="0" anchor="ctr"/>
          <a:lstStyle/>
          <a:p>
            <a:pPr indent="0" marL="0">
              <a:buNone/>
            </a:pPr>
            <a:r>
              <a:rPr lang="en-US" sz="1200" dirty="0">
                <a:solidFill>
                  <a:schemeClr val="tx1"/>
                </a:solidFill>
              </a:rPr>
              <a:t>Role / title</a:t>
            </a:r>
            <a:endParaRPr lang="en-US" sz="1200" dirty="0"/>
          </a:p>
        </p:txBody>
      </p:sp>
      <p:sp>
        <p:nvSpPr>
          <p:cNvPr id="30" name="Text 28"/>
          <p:cNvSpPr txBox="1"/>
          <p:nvPr/>
        </p:nvSpPr>
        <p:spPr>
          <a:xfrm>
            <a:off x="2697480" y="4334256"/>
            <a:ext cx="457200" cy="274320"/>
          </a:xfrm>
          <a:prstGeom prst="rect">
            <a:avLst/>
          </a:prstGeom>
          <a:noFill/>
          <a:ln/>
        </p:spPr>
        <p:txBody>
          <a:bodyPr wrap="square" lIns="0" tIns="0" rIns="0" bIns="0" rtlCol="0" anchor="ctr"/>
          <a:lstStyle/>
          <a:p>
            <a:pPr indent="0" marL="0">
              <a:buNone/>
            </a:pPr>
            <a:r>
              <a:rPr lang="en-US" sz="1200" dirty="0">
                <a:solidFill>
                  <a:schemeClr val="tx2"/>
                </a:solidFill>
              </a:rPr>
              <a:t>15%</a:t>
            </a:r>
            <a:endParaRPr lang="en-US" sz="1200" dirty="0"/>
          </a:p>
        </p:txBody>
      </p:sp>
      <p:sp>
        <p:nvSpPr>
          <p:cNvPr id="31" name="Shape 29"/>
          <p:cNvSpPr/>
          <p:nvPr/>
        </p:nvSpPr>
        <p:spPr>
          <a:xfrm>
            <a:off x="3200400" y="4416552"/>
            <a:ext cx="2194560" cy="118872"/>
          </a:xfrm>
          <a:prstGeom prst="rect">
            <a:avLst/>
          </a:prstGeom>
          <a:solidFill>
            <a:srgbClr val="E8EEF6"/>
          </a:solidFill>
          <a:ln w="12700">
            <a:solidFill>
              <a:srgbClr val="E8EEF6"/>
            </a:solidFill>
            <a:prstDash val="solid"/>
          </a:ln>
        </p:spPr>
      </p:sp>
      <p:sp>
        <p:nvSpPr>
          <p:cNvPr id="32" name="Shape 30"/>
          <p:cNvSpPr/>
          <p:nvPr/>
        </p:nvSpPr>
        <p:spPr>
          <a:xfrm>
            <a:off x="3200400" y="4416552"/>
            <a:ext cx="2004365" cy="118872"/>
          </a:xfrm>
          <a:prstGeom prst="rect">
            <a:avLst/>
          </a:prstGeom>
          <a:solidFill>
            <a:srgbClr val="0F2A4A"/>
          </a:solidFill>
          <a:ln w="12700">
            <a:solidFill>
              <a:srgbClr val="0F2A4A"/>
            </a:solidFill>
            <a:prstDash val="solid"/>
          </a:ln>
        </p:spPr>
      </p:sp>
      <p:sp>
        <p:nvSpPr>
          <p:cNvPr id="33" name="Text 31"/>
          <p:cNvSpPr txBox="1"/>
          <p:nvPr/>
        </p:nvSpPr>
        <p:spPr>
          <a:xfrm>
            <a:off x="5440680" y="4334256"/>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13.7</a:t>
            </a:r>
            <a:endParaRPr lang="en-US" sz="1200" dirty="0"/>
          </a:p>
        </p:txBody>
      </p:sp>
      <p:sp>
        <p:nvSpPr>
          <p:cNvPr id="34" name="Text 32"/>
          <p:cNvSpPr txBox="1"/>
          <p:nvPr/>
        </p:nvSpPr>
        <p:spPr>
          <a:xfrm>
            <a:off x="868680" y="4663440"/>
            <a:ext cx="1828800" cy="274320"/>
          </a:xfrm>
          <a:prstGeom prst="rect">
            <a:avLst/>
          </a:prstGeom>
          <a:noFill/>
          <a:ln/>
        </p:spPr>
        <p:txBody>
          <a:bodyPr wrap="square" lIns="0" tIns="0" rIns="0" bIns="0" rtlCol="0" anchor="ctr"/>
          <a:lstStyle/>
          <a:p>
            <a:pPr indent="0" marL="0">
              <a:buNone/>
            </a:pPr>
            <a:r>
              <a:rPr lang="en-US" sz="1200" dirty="0">
                <a:solidFill>
                  <a:schemeClr val="tx1"/>
                </a:solidFill>
              </a:rPr>
              <a:t>Education</a:t>
            </a:r>
            <a:endParaRPr lang="en-US" sz="1200" dirty="0"/>
          </a:p>
        </p:txBody>
      </p:sp>
      <p:sp>
        <p:nvSpPr>
          <p:cNvPr id="35" name="Text 33"/>
          <p:cNvSpPr txBox="1"/>
          <p:nvPr/>
        </p:nvSpPr>
        <p:spPr>
          <a:xfrm>
            <a:off x="2697480" y="4663440"/>
            <a:ext cx="457200" cy="274320"/>
          </a:xfrm>
          <a:prstGeom prst="rect">
            <a:avLst/>
          </a:prstGeom>
          <a:noFill/>
          <a:ln/>
        </p:spPr>
        <p:txBody>
          <a:bodyPr wrap="square" lIns="0" tIns="0" rIns="0" bIns="0" rtlCol="0" anchor="ctr"/>
          <a:lstStyle/>
          <a:p>
            <a:pPr indent="0" marL="0">
              <a:buNone/>
            </a:pPr>
            <a:r>
              <a:rPr lang="en-US" sz="1200" dirty="0">
                <a:solidFill>
                  <a:schemeClr val="tx2"/>
                </a:solidFill>
              </a:rPr>
              <a:t>10%</a:t>
            </a:r>
            <a:endParaRPr lang="en-US" sz="1200" dirty="0"/>
          </a:p>
        </p:txBody>
      </p:sp>
      <p:sp>
        <p:nvSpPr>
          <p:cNvPr id="36" name="Shape 34"/>
          <p:cNvSpPr/>
          <p:nvPr/>
        </p:nvSpPr>
        <p:spPr>
          <a:xfrm>
            <a:off x="3200400" y="4745736"/>
            <a:ext cx="2194560" cy="118872"/>
          </a:xfrm>
          <a:prstGeom prst="rect">
            <a:avLst/>
          </a:prstGeom>
          <a:solidFill>
            <a:srgbClr val="E8EEF6"/>
          </a:solidFill>
          <a:ln w="12700">
            <a:solidFill>
              <a:srgbClr val="E8EEF6"/>
            </a:solidFill>
            <a:prstDash val="solid"/>
          </a:ln>
        </p:spPr>
      </p:sp>
      <p:sp>
        <p:nvSpPr>
          <p:cNvPr id="37" name="Shape 35"/>
          <p:cNvSpPr/>
          <p:nvPr/>
        </p:nvSpPr>
        <p:spPr>
          <a:xfrm>
            <a:off x="3200400" y="4745736"/>
            <a:ext cx="1799539" cy="118872"/>
          </a:xfrm>
          <a:prstGeom prst="rect">
            <a:avLst/>
          </a:prstGeom>
          <a:solidFill>
            <a:srgbClr val="0F2A4A"/>
          </a:solidFill>
          <a:ln w="12700">
            <a:solidFill>
              <a:srgbClr val="0F2A4A"/>
            </a:solidFill>
            <a:prstDash val="solid"/>
          </a:ln>
        </p:spPr>
      </p:sp>
      <p:sp>
        <p:nvSpPr>
          <p:cNvPr id="38" name="Text 36"/>
          <p:cNvSpPr txBox="1"/>
          <p:nvPr/>
        </p:nvSpPr>
        <p:spPr>
          <a:xfrm>
            <a:off x="5440680" y="4663440"/>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8.2</a:t>
            </a:r>
            <a:endParaRPr lang="en-US" sz="1200" dirty="0"/>
          </a:p>
        </p:txBody>
      </p:sp>
      <p:sp>
        <p:nvSpPr>
          <p:cNvPr id="39" name="Text 37"/>
          <p:cNvSpPr txBox="1"/>
          <p:nvPr/>
        </p:nvSpPr>
        <p:spPr>
          <a:xfrm>
            <a:off x="868680" y="4992624"/>
            <a:ext cx="1828800" cy="274320"/>
          </a:xfrm>
          <a:prstGeom prst="rect">
            <a:avLst/>
          </a:prstGeom>
          <a:noFill/>
          <a:ln/>
        </p:spPr>
        <p:txBody>
          <a:bodyPr wrap="square" lIns="0" tIns="0" rIns="0" bIns="0" rtlCol="0" anchor="ctr"/>
          <a:lstStyle/>
          <a:p>
            <a:pPr indent="0" marL="0">
              <a:buNone/>
            </a:pPr>
            <a:r>
              <a:rPr lang="en-US" sz="1200" dirty="0">
                <a:solidFill>
                  <a:schemeClr val="tx1"/>
                </a:solidFill>
              </a:rPr>
              <a:t>Languages</a:t>
            </a:r>
            <a:endParaRPr lang="en-US" sz="1200" dirty="0"/>
          </a:p>
        </p:txBody>
      </p:sp>
      <p:sp>
        <p:nvSpPr>
          <p:cNvPr id="40" name="Text 38"/>
          <p:cNvSpPr txBox="1"/>
          <p:nvPr/>
        </p:nvSpPr>
        <p:spPr>
          <a:xfrm>
            <a:off x="2697480" y="4992624"/>
            <a:ext cx="457200" cy="274320"/>
          </a:xfrm>
          <a:prstGeom prst="rect">
            <a:avLst/>
          </a:prstGeom>
          <a:noFill/>
          <a:ln/>
        </p:spPr>
        <p:txBody>
          <a:bodyPr wrap="square" lIns="0" tIns="0" rIns="0" bIns="0" rtlCol="0" anchor="ctr"/>
          <a:lstStyle/>
          <a:p>
            <a:pPr indent="0" marL="0">
              <a:buNone/>
            </a:pPr>
            <a:r>
              <a:rPr lang="en-US" sz="1200" dirty="0">
                <a:solidFill>
                  <a:schemeClr val="tx2"/>
                </a:solidFill>
              </a:rPr>
              <a:t>10%</a:t>
            </a:r>
            <a:endParaRPr lang="en-US" sz="1200" dirty="0"/>
          </a:p>
        </p:txBody>
      </p:sp>
      <p:sp>
        <p:nvSpPr>
          <p:cNvPr id="41" name="Shape 39"/>
          <p:cNvSpPr/>
          <p:nvPr/>
        </p:nvSpPr>
        <p:spPr>
          <a:xfrm>
            <a:off x="3200400" y="5074920"/>
            <a:ext cx="2194560" cy="118872"/>
          </a:xfrm>
          <a:prstGeom prst="rect">
            <a:avLst/>
          </a:prstGeom>
          <a:solidFill>
            <a:srgbClr val="E8EEF6"/>
          </a:solidFill>
          <a:ln w="12700">
            <a:solidFill>
              <a:srgbClr val="E8EEF6"/>
            </a:solidFill>
            <a:prstDash val="solid"/>
          </a:ln>
        </p:spPr>
      </p:sp>
      <p:sp>
        <p:nvSpPr>
          <p:cNvPr id="42" name="Shape 40"/>
          <p:cNvSpPr/>
          <p:nvPr/>
        </p:nvSpPr>
        <p:spPr>
          <a:xfrm>
            <a:off x="3200400" y="5074920"/>
            <a:ext cx="2194560" cy="118872"/>
          </a:xfrm>
          <a:prstGeom prst="rect">
            <a:avLst/>
          </a:prstGeom>
          <a:solidFill>
            <a:srgbClr val="0F2A4A"/>
          </a:solidFill>
          <a:ln w="12700">
            <a:solidFill>
              <a:srgbClr val="0F2A4A"/>
            </a:solidFill>
            <a:prstDash val="solid"/>
          </a:ln>
        </p:spPr>
      </p:sp>
      <p:sp>
        <p:nvSpPr>
          <p:cNvPr id="43" name="Text 41"/>
          <p:cNvSpPr txBox="1"/>
          <p:nvPr/>
        </p:nvSpPr>
        <p:spPr>
          <a:xfrm>
            <a:off x="5440680" y="4992624"/>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10.0</a:t>
            </a:r>
            <a:endParaRPr lang="en-US" sz="1200" dirty="0"/>
          </a:p>
        </p:txBody>
      </p:sp>
      <p:sp>
        <p:nvSpPr>
          <p:cNvPr id="44" name="Text 42"/>
          <p:cNvSpPr txBox="1"/>
          <p:nvPr/>
        </p:nvSpPr>
        <p:spPr>
          <a:xfrm>
            <a:off x="868680" y="5321808"/>
            <a:ext cx="1828800" cy="274320"/>
          </a:xfrm>
          <a:prstGeom prst="rect">
            <a:avLst/>
          </a:prstGeom>
          <a:noFill/>
          <a:ln/>
        </p:spPr>
        <p:txBody>
          <a:bodyPr wrap="square" lIns="0" tIns="0" rIns="0" bIns="0" rtlCol="0" anchor="ctr"/>
          <a:lstStyle/>
          <a:p>
            <a:pPr indent="0" marL="0">
              <a:buNone/>
            </a:pPr>
            <a:r>
              <a:rPr lang="en-US" sz="1200" dirty="0">
                <a:solidFill>
                  <a:schemeClr val="tx1"/>
                </a:solidFill>
              </a:rPr>
              <a:t>Location</a:t>
            </a:r>
            <a:endParaRPr lang="en-US" sz="1200" dirty="0"/>
          </a:p>
        </p:txBody>
      </p:sp>
      <p:sp>
        <p:nvSpPr>
          <p:cNvPr id="45" name="Text 43"/>
          <p:cNvSpPr txBox="1"/>
          <p:nvPr/>
        </p:nvSpPr>
        <p:spPr>
          <a:xfrm>
            <a:off x="2697480" y="5321808"/>
            <a:ext cx="457200" cy="274320"/>
          </a:xfrm>
          <a:prstGeom prst="rect">
            <a:avLst/>
          </a:prstGeom>
          <a:noFill/>
          <a:ln/>
        </p:spPr>
        <p:txBody>
          <a:bodyPr wrap="square" lIns="0" tIns="0" rIns="0" bIns="0" rtlCol="0" anchor="ctr"/>
          <a:lstStyle/>
          <a:p>
            <a:pPr indent="0" marL="0">
              <a:buNone/>
            </a:pPr>
            <a:r>
              <a:rPr lang="en-US" sz="1200" dirty="0">
                <a:solidFill>
                  <a:schemeClr val="tx2"/>
                </a:solidFill>
              </a:rPr>
              <a:t>5%</a:t>
            </a:r>
            <a:endParaRPr lang="en-US" sz="1200" dirty="0"/>
          </a:p>
        </p:txBody>
      </p:sp>
      <p:sp>
        <p:nvSpPr>
          <p:cNvPr id="46" name="Shape 44"/>
          <p:cNvSpPr/>
          <p:nvPr/>
        </p:nvSpPr>
        <p:spPr>
          <a:xfrm>
            <a:off x="3200400" y="5404104"/>
            <a:ext cx="2194560" cy="118872"/>
          </a:xfrm>
          <a:prstGeom prst="rect">
            <a:avLst/>
          </a:prstGeom>
          <a:solidFill>
            <a:srgbClr val="E8EEF6"/>
          </a:solidFill>
          <a:ln w="12700">
            <a:solidFill>
              <a:srgbClr val="E8EEF6"/>
            </a:solidFill>
            <a:prstDash val="solid"/>
          </a:ln>
        </p:spPr>
      </p:sp>
      <p:sp>
        <p:nvSpPr>
          <p:cNvPr id="47" name="Shape 45"/>
          <p:cNvSpPr/>
          <p:nvPr/>
        </p:nvSpPr>
        <p:spPr>
          <a:xfrm>
            <a:off x="3200400" y="5404104"/>
            <a:ext cx="2194560" cy="118872"/>
          </a:xfrm>
          <a:prstGeom prst="rect">
            <a:avLst/>
          </a:prstGeom>
          <a:solidFill>
            <a:srgbClr val="0F2A4A"/>
          </a:solidFill>
          <a:ln w="12700">
            <a:solidFill>
              <a:srgbClr val="0F2A4A"/>
            </a:solidFill>
            <a:prstDash val="solid"/>
          </a:ln>
        </p:spPr>
      </p:sp>
      <p:sp>
        <p:nvSpPr>
          <p:cNvPr id="48" name="Text 46"/>
          <p:cNvSpPr txBox="1"/>
          <p:nvPr/>
        </p:nvSpPr>
        <p:spPr>
          <a:xfrm>
            <a:off x="5440680" y="5321808"/>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5.0</a:t>
            </a:r>
            <a:endParaRPr lang="en-US" sz="1200" dirty="0"/>
          </a:p>
        </p:txBody>
      </p:sp>
      <p:sp>
        <p:nvSpPr>
          <p:cNvPr id="49" name="Text 47"/>
          <p:cNvSpPr txBox="1"/>
          <p:nvPr/>
        </p:nvSpPr>
        <p:spPr>
          <a:xfrm>
            <a:off x="868680" y="5715000"/>
            <a:ext cx="5120640" cy="228600"/>
          </a:xfrm>
          <a:prstGeom prst="rect">
            <a:avLst/>
          </a:prstGeom>
          <a:noFill/>
          <a:ln/>
        </p:spPr>
        <p:txBody>
          <a:bodyPr wrap="square" lIns="0" tIns="0" rIns="0" bIns="0" rtlCol="0" anchor="t"/>
          <a:lstStyle/>
          <a:p>
            <a:pPr indent="0" marL="0">
              <a:buNone/>
            </a:pPr>
            <a:r>
              <a:rPr lang="en-US" sz="1000" dirty="0">
                <a:solidFill>
                  <a:schemeClr val="tx2"/>
                </a:solidFill>
              </a:rPr>
              <a:t>Illustrative demo job · weights published, not yet validated</a:t>
            </a:r>
            <a:endParaRPr lang="en-US" sz="1000" dirty="0"/>
          </a:p>
        </p:txBody>
      </p:sp>
      <p:sp>
        <p:nvSpPr>
          <p:cNvPr id="50" name="Text 48"/>
          <p:cNvSpPr txBox="1"/>
          <p:nvPr/>
        </p:nvSpPr>
        <p:spPr>
          <a:xfrm>
            <a:off x="6583680" y="2057400"/>
            <a:ext cx="5029200" cy="292608"/>
          </a:xfrm>
          <a:prstGeom prst="rect">
            <a:avLst/>
          </a:prstGeom>
          <a:noFill/>
          <a:ln/>
        </p:spPr>
        <p:txBody>
          <a:bodyPr wrap="square" lIns="0" tIns="0" rIns="0" bIns="0" rtlCol="0" anchor="t"/>
          <a:lstStyle/>
          <a:p>
            <a:pPr indent="0" marL="0">
              <a:buNone/>
            </a:pPr>
            <a:r>
              <a:rPr lang="en-US" sz="1600" b="1" dirty="0">
                <a:solidFill>
                  <a:schemeClr val="tx1"/>
                </a:solidFill>
              </a:rPr>
              <a:t>Six criteria, fixed weights</a:t>
            </a:r>
            <a:endParaRPr lang="en-US" sz="1600" dirty="0"/>
          </a:p>
        </p:txBody>
      </p:sp>
      <p:sp>
        <p:nvSpPr>
          <p:cNvPr id="51" name="Text 49"/>
          <p:cNvSpPr txBox="1"/>
          <p:nvPr/>
        </p:nvSpPr>
        <p:spPr>
          <a:xfrm>
            <a:off x="6583680" y="2377440"/>
            <a:ext cx="5029200" cy="640080"/>
          </a:xfrm>
          <a:prstGeom prst="rect">
            <a:avLst/>
          </a:prstGeom>
          <a:noFill/>
          <a:ln/>
        </p:spPr>
        <p:txBody>
          <a:bodyPr wrap="square" lIns="0" tIns="0" rIns="0" bIns="0" rtlCol="0" anchor="t"/>
          <a:lstStyle/>
          <a:p>
            <a:pPr indent="0" marL="0">
              <a:buNone/>
            </a:pPr>
            <a:r>
              <a:rPr lang="en-US" sz="1300" dirty="0">
                <a:solidFill>
                  <a:schemeClr val="tx2"/>
                </a:solidFill>
              </a:rPr>
              <a:t>Match = Σ weight × fit. Skills are mapped to the EU ESCO taxonomy, so copying keywords doesn't help.</a:t>
            </a:r>
            <a:endParaRPr lang="en-US" sz="1300" dirty="0"/>
          </a:p>
        </p:txBody>
      </p:sp>
      <p:sp>
        <p:nvSpPr>
          <p:cNvPr id="52" name="Text 50"/>
          <p:cNvSpPr txBox="1"/>
          <p:nvPr/>
        </p:nvSpPr>
        <p:spPr>
          <a:xfrm>
            <a:off x="6583680" y="3063240"/>
            <a:ext cx="5029200" cy="292608"/>
          </a:xfrm>
          <a:prstGeom prst="rect">
            <a:avLst/>
          </a:prstGeom>
          <a:noFill/>
          <a:ln/>
        </p:spPr>
        <p:txBody>
          <a:bodyPr wrap="square" lIns="0" tIns="0" rIns="0" bIns="0" rtlCol="0" anchor="t"/>
          <a:lstStyle/>
          <a:p>
            <a:pPr indent="0" marL="0">
              <a:buNone/>
            </a:pPr>
            <a:r>
              <a:rPr lang="en-US" sz="1600" b="1" dirty="0">
                <a:solidFill>
                  <a:schemeClr val="tx1"/>
                </a:solidFill>
              </a:rPr>
              <a:t>Must-haves cap, never hide</a:t>
            </a:r>
            <a:endParaRPr lang="en-US" sz="1600" dirty="0"/>
          </a:p>
        </p:txBody>
      </p:sp>
      <p:sp>
        <p:nvSpPr>
          <p:cNvPr id="53" name="Text 51"/>
          <p:cNvSpPr txBox="1"/>
          <p:nvPr/>
        </p:nvSpPr>
        <p:spPr>
          <a:xfrm>
            <a:off x="6583680" y="3383280"/>
            <a:ext cx="5029200" cy="640080"/>
          </a:xfrm>
          <a:prstGeom prst="rect">
            <a:avLst/>
          </a:prstGeom>
          <a:noFill/>
          <a:ln/>
        </p:spPr>
        <p:txBody>
          <a:bodyPr wrap="square" lIns="0" tIns="0" rIns="0" bIns="0" rtlCol="0" anchor="t"/>
          <a:lstStyle/>
          <a:p>
            <a:pPr indent="0" marL="0">
              <a:buNone/>
            </a:pPr>
            <a:r>
              <a:rPr lang="en-US" sz="1300" dirty="0">
                <a:solidFill>
                  <a:schemeClr val="tx2"/>
                </a:solidFill>
              </a:rPr>
              <a:t>An unmet must-have caps the score 1 point below your minimum fit (90% → 89%). The job stays visible with the reason.</a:t>
            </a:r>
            <a:endParaRPr lang="en-US" sz="1300" dirty="0"/>
          </a:p>
        </p:txBody>
      </p:sp>
      <p:sp>
        <p:nvSpPr>
          <p:cNvPr id="54" name="Text 52"/>
          <p:cNvSpPr txBox="1"/>
          <p:nvPr/>
        </p:nvSpPr>
        <p:spPr>
          <a:xfrm>
            <a:off x="6583680" y="4069080"/>
            <a:ext cx="5029200" cy="292608"/>
          </a:xfrm>
          <a:prstGeom prst="rect">
            <a:avLst/>
          </a:prstGeom>
          <a:noFill/>
          <a:ln/>
        </p:spPr>
        <p:txBody>
          <a:bodyPr wrap="square" lIns="0" tIns="0" rIns="0" bIns="0" rtlCol="0" anchor="t"/>
          <a:lstStyle/>
          <a:p>
            <a:pPr indent="0" marL="0">
              <a:buNone/>
            </a:pPr>
            <a:r>
              <a:rPr lang="en-US" sz="1600" b="1" dirty="0">
                <a:solidFill>
                  <a:schemeClr val="tx1"/>
                </a:solidFill>
              </a:rPr>
              <a:t>Completeness sets confidence</a:t>
            </a:r>
            <a:endParaRPr lang="en-US" sz="1600" dirty="0"/>
          </a:p>
        </p:txBody>
      </p:sp>
      <p:sp>
        <p:nvSpPr>
          <p:cNvPr id="55" name="Text 53"/>
          <p:cNvSpPr txBox="1"/>
          <p:nvPr/>
        </p:nvSpPr>
        <p:spPr>
          <a:xfrm>
            <a:off x="6583680" y="4389120"/>
            <a:ext cx="5029200" cy="640080"/>
          </a:xfrm>
          <a:prstGeom prst="rect">
            <a:avLst/>
          </a:prstGeom>
          <a:noFill/>
          <a:ln/>
        </p:spPr>
        <p:txBody>
          <a:bodyPr wrap="square" lIns="0" tIns="0" rIns="0" bIns="0" rtlCol="0" anchor="t"/>
          <a:lstStyle/>
          <a:p>
            <a:pPr indent="0" marL="0">
              <a:buNone/>
            </a:pPr>
            <a:r>
              <a:rPr lang="en-US" sz="1300" dirty="0">
                <a:solidFill>
                  <a:schemeClr val="tx2"/>
                </a:solidFill>
              </a:rPr>
              <a:t>A thin profile still gets scores; it lowers the label and we name the missing fields.</a:t>
            </a:r>
            <a:endParaRPr lang="en-US" sz="1300" dirty="0"/>
          </a:p>
        </p:txBody>
      </p:sp>
      <p:sp>
        <p:nvSpPr>
          <p:cNvPr id="56" name="Text 54"/>
          <p:cNvSpPr txBox="1"/>
          <p:nvPr/>
        </p:nvSpPr>
        <p:spPr>
          <a:xfrm>
            <a:off x="6583680" y="5074920"/>
            <a:ext cx="5029200" cy="292608"/>
          </a:xfrm>
          <a:prstGeom prst="rect">
            <a:avLst/>
          </a:prstGeom>
          <a:noFill/>
          <a:ln/>
        </p:spPr>
        <p:txBody>
          <a:bodyPr wrap="square" lIns="0" tIns="0" rIns="0" bIns="0" rtlCol="0" anchor="t"/>
          <a:lstStyle/>
          <a:p>
            <a:pPr indent="0" marL="0">
              <a:buNone/>
            </a:pPr>
            <a:r>
              <a:rPr lang="en-US" sz="1600" b="1" dirty="0">
                <a:solidFill>
                  <a:schemeClr val="tx1"/>
                </a:solidFill>
              </a:rPr>
              <a:t>A score is not a hiring probability</a:t>
            </a:r>
            <a:endParaRPr lang="en-US" sz="1600" dirty="0"/>
          </a:p>
        </p:txBody>
      </p:sp>
      <p:sp>
        <p:nvSpPr>
          <p:cNvPr id="57" name="Text 55"/>
          <p:cNvSpPr txBox="1"/>
          <p:nvPr/>
        </p:nvSpPr>
        <p:spPr>
          <a:xfrm>
            <a:off x="6583680" y="5394960"/>
            <a:ext cx="5029200" cy="640080"/>
          </a:xfrm>
          <a:prstGeom prst="rect">
            <a:avLst/>
          </a:prstGeom>
          <a:noFill/>
          <a:ln/>
        </p:spPr>
        <p:txBody>
          <a:bodyPr wrap="square" lIns="0" tIns="0" rIns="0" bIns="0" rtlCol="0" anchor="t"/>
          <a:lstStyle/>
          <a:p>
            <a:pPr indent="0" marL="0">
              <a:buNone/>
            </a:pPr>
            <a:r>
              <a:rPr lang="en-US" sz="1300" dirty="0">
                <a:solidFill>
                  <a:schemeClr val="tx2"/>
                </a:solidFill>
              </a:rPr>
              <a:t>No age, gender, nationality, photo or other protected attributes are used.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03 · BACKLOG · STRUCTURE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9 epics and 29 stories, each traced to the PRD</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epic"/>
          <p:cNvSpPr/>
          <p:nvPr/>
        </p:nvSpPr>
        <p:spPr>
          <a:xfrm>
            <a:off x="548640" y="2057400"/>
            <a:ext cx="2258568" cy="1207008"/>
          </a:xfrm>
          <a:prstGeom prst="roundRect">
            <a:avLst>
              <a:gd name="adj" fmla="val 9091"/>
            </a:avLst>
          </a:prstGeom>
          <a:solidFill>
            <a:schemeClr val="bg1"/>
          </a:solidFill>
          <a:ln w="12700">
            <a:solidFill>
              <a:schemeClr val="bg1"/>
            </a:solidFill>
            <a:prstDash val="solid"/>
          </a:ln>
        </p:spPr>
      </p:sp>
      <p:sp>
        <p:nvSpPr>
          <p:cNvPr id="12" name="Text 10"/>
          <p:cNvSpPr txBox="1"/>
          <p:nvPr/>
        </p:nvSpPr>
        <p:spPr>
          <a:xfrm>
            <a:off x="731520"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CPA-2</a:t>
            </a:r>
            <a:endParaRPr lang="en-US" sz="1000" dirty="0"/>
          </a:p>
        </p:txBody>
      </p:sp>
      <p:sp>
        <p:nvSpPr>
          <p:cNvPr id="13" name="Text 11"/>
          <p:cNvSpPr txBox="1"/>
          <p:nvPr/>
        </p:nvSpPr>
        <p:spPr>
          <a:xfrm>
            <a:off x="731520"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Profile &amp; Onboarding</a:t>
            </a:r>
            <a:endParaRPr lang="en-US" sz="1400" dirty="0"/>
          </a:p>
        </p:txBody>
      </p:sp>
      <p:sp>
        <p:nvSpPr>
          <p:cNvPr id="14" name="Text 12"/>
          <p:cNvSpPr txBox="1"/>
          <p:nvPr/>
        </p:nvSpPr>
        <p:spPr>
          <a:xfrm>
            <a:off x="2148840"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5</a:t>
            </a:r>
            <a:endParaRPr lang="en-US" sz="2600" dirty="0"/>
          </a:p>
        </p:txBody>
      </p:sp>
      <p:sp>
        <p:nvSpPr>
          <p:cNvPr id="15" name="epic"/>
          <p:cNvSpPr/>
          <p:nvPr/>
        </p:nvSpPr>
        <p:spPr>
          <a:xfrm>
            <a:off x="2944368" y="2057400"/>
            <a:ext cx="2258568" cy="1207008"/>
          </a:xfrm>
          <a:prstGeom prst="roundRect">
            <a:avLst>
              <a:gd name="adj" fmla="val 9091"/>
            </a:avLst>
          </a:prstGeom>
          <a:solidFill>
            <a:schemeClr val="bg1"/>
          </a:solidFill>
          <a:ln w="12700">
            <a:solidFill>
              <a:schemeClr val="bg1"/>
            </a:solidFill>
            <a:prstDash val="solid"/>
          </a:ln>
        </p:spPr>
      </p:sp>
      <p:sp>
        <p:nvSpPr>
          <p:cNvPr id="16" name="Text 14"/>
          <p:cNvSpPr txBox="1"/>
          <p:nvPr/>
        </p:nvSpPr>
        <p:spPr>
          <a:xfrm>
            <a:off x="3127248"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CPA-3</a:t>
            </a:r>
            <a:endParaRPr lang="en-US" sz="1000" dirty="0"/>
          </a:p>
        </p:txBody>
      </p:sp>
      <p:sp>
        <p:nvSpPr>
          <p:cNvPr id="17" name="Text 15"/>
          <p:cNvSpPr txBox="1"/>
          <p:nvPr/>
        </p:nvSpPr>
        <p:spPr>
          <a:xfrm>
            <a:off x="3127248"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Job Discovery</a:t>
            </a:r>
            <a:endParaRPr lang="en-US" sz="1400" dirty="0"/>
          </a:p>
        </p:txBody>
      </p:sp>
      <p:sp>
        <p:nvSpPr>
          <p:cNvPr id="18" name="Text 16"/>
          <p:cNvSpPr txBox="1"/>
          <p:nvPr/>
        </p:nvSpPr>
        <p:spPr>
          <a:xfrm>
            <a:off x="4544568"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19" name="epic"/>
          <p:cNvSpPr/>
          <p:nvPr/>
        </p:nvSpPr>
        <p:spPr>
          <a:xfrm>
            <a:off x="5340096" y="2057400"/>
            <a:ext cx="2258568" cy="1207008"/>
          </a:xfrm>
          <a:prstGeom prst="roundRect">
            <a:avLst>
              <a:gd name="adj" fmla="val 9091"/>
            </a:avLst>
          </a:prstGeom>
          <a:solidFill>
            <a:schemeClr val="bg1"/>
          </a:solidFill>
          <a:ln w="12700">
            <a:solidFill>
              <a:schemeClr val="bg1"/>
            </a:solidFill>
            <a:prstDash val="solid"/>
          </a:ln>
        </p:spPr>
      </p:sp>
      <p:sp>
        <p:nvSpPr>
          <p:cNvPr id="20" name="Text 18"/>
          <p:cNvSpPr txBox="1"/>
          <p:nvPr/>
        </p:nvSpPr>
        <p:spPr>
          <a:xfrm>
            <a:off x="5522976"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CPA-4</a:t>
            </a:r>
            <a:endParaRPr lang="en-US" sz="1000" dirty="0"/>
          </a:p>
        </p:txBody>
      </p:sp>
      <p:sp>
        <p:nvSpPr>
          <p:cNvPr id="21" name="Text 19"/>
          <p:cNvSpPr txBox="1"/>
          <p:nvPr/>
        </p:nvSpPr>
        <p:spPr>
          <a:xfrm>
            <a:off x="5522976"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Explainable Matching</a:t>
            </a:r>
            <a:endParaRPr lang="en-US" sz="1400" dirty="0"/>
          </a:p>
        </p:txBody>
      </p:sp>
      <p:sp>
        <p:nvSpPr>
          <p:cNvPr id="22" name="Text 20"/>
          <p:cNvSpPr txBox="1"/>
          <p:nvPr/>
        </p:nvSpPr>
        <p:spPr>
          <a:xfrm>
            <a:off x="6940296"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4</a:t>
            </a:r>
            <a:endParaRPr lang="en-US" sz="2600" dirty="0"/>
          </a:p>
        </p:txBody>
      </p:sp>
      <p:sp>
        <p:nvSpPr>
          <p:cNvPr id="23" name="epic"/>
          <p:cNvSpPr/>
          <p:nvPr/>
        </p:nvSpPr>
        <p:spPr>
          <a:xfrm>
            <a:off x="548640" y="3401568"/>
            <a:ext cx="2258568" cy="1207008"/>
          </a:xfrm>
          <a:prstGeom prst="roundRect">
            <a:avLst>
              <a:gd name="adj" fmla="val 9091"/>
            </a:avLst>
          </a:prstGeom>
          <a:solidFill>
            <a:schemeClr val="bg1"/>
          </a:solidFill>
          <a:ln w="12700">
            <a:solidFill>
              <a:schemeClr val="bg1"/>
            </a:solidFill>
            <a:prstDash val="solid"/>
          </a:ln>
        </p:spPr>
      </p:sp>
      <p:sp>
        <p:nvSpPr>
          <p:cNvPr id="24" name="Text 22"/>
          <p:cNvSpPr txBox="1"/>
          <p:nvPr/>
        </p:nvSpPr>
        <p:spPr>
          <a:xfrm>
            <a:off x="731520"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CPA-5</a:t>
            </a:r>
            <a:endParaRPr lang="en-US" sz="1000" dirty="0"/>
          </a:p>
        </p:txBody>
      </p:sp>
      <p:sp>
        <p:nvSpPr>
          <p:cNvPr id="25" name="Text 23"/>
          <p:cNvSpPr txBox="1"/>
          <p:nvPr/>
        </p:nvSpPr>
        <p:spPr>
          <a:xfrm>
            <a:off x="731520"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Application Documents</a:t>
            </a:r>
            <a:endParaRPr lang="en-US" sz="1400" dirty="0"/>
          </a:p>
        </p:txBody>
      </p:sp>
      <p:sp>
        <p:nvSpPr>
          <p:cNvPr id="26" name="Text 24"/>
          <p:cNvSpPr txBox="1"/>
          <p:nvPr/>
        </p:nvSpPr>
        <p:spPr>
          <a:xfrm>
            <a:off x="2148840"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27" name="epic"/>
          <p:cNvSpPr/>
          <p:nvPr/>
        </p:nvSpPr>
        <p:spPr>
          <a:xfrm>
            <a:off x="2944368" y="3401568"/>
            <a:ext cx="2258568" cy="1207008"/>
          </a:xfrm>
          <a:prstGeom prst="roundRect">
            <a:avLst>
              <a:gd name="adj" fmla="val 9091"/>
            </a:avLst>
          </a:prstGeom>
          <a:solidFill>
            <a:schemeClr val="bg1"/>
          </a:solidFill>
          <a:ln w="12700">
            <a:solidFill>
              <a:schemeClr val="bg1"/>
            </a:solidFill>
            <a:prstDash val="solid"/>
          </a:ln>
        </p:spPr>
      </p:sp>
      <p:sp>
        <p:nvSpPr>
          <p:cNvPr id="28" name="Text 26"/>
          <p:cNvSpPr txBox="1"/>
          <p:nvPr/>
        </p:nvSpPr>
        <p:spPr>
          <a:xfrm>
            <a:off x="3127248"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CPA-6</a:t>
            </a:r>
            <a:endParaRPr lang="en-US" sz="1000" dirty="0"/>
          </a:p>
        </p:txBody>
      </p:sp>
      <p:sp>
        <p:nvSpPr>
          <p:cNvPr id="29" name="Text 27"/>
          <p:cNvSpPr txBox="1"/>
          <p:nvPr/>
        </p:nvSpPr>
        <p:spPr>
          <a:xfrm>
            <a:off x="3127248"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Application History</a:t>
            </a:r>
            <a:endParaRPr lang="en-US" sz="1400" dirty="0"/>
          </a:p>
        </p:txBody>
      </p:sp>
      <p:sp>
        <p:nvSpPr>
          <p:cNvPr id="30" name="Text 28"/>
          <p:cNvSpPr txBox="1"/>
          <p:nvPr/>
        </p:nvSpPr>
        <p:spPr>
          <a:xfrm>
            <a:off x="4544568"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2</a:t>
            </a:r>
            <a:endParaRPr lang="en-US" sz="2600" dirty="0"/>
          </a:p>
        </p:txBody>
      </p:sp>
      <p:sp>
        <p:nvSpPr>
          <p:cNvPr id="31" name="epic"/>
          <p:cNvSpPr/>
          <p:nvPr/>
        </p:nvSpPr>
        <p:spPr>
          <a:xfrm>
            <a:off x="5340096" y="3401568"/>
            <a:ext cx="2258568" cy="1207008"/>
          </a:xfrm>
          <a:prstGeom prst="roundRect">
            <a:avLst>
              <a:gd name="adj" fmla="val 9091"/>
            </a:avLst>
          </a:prstGeom>
          <a:solidFill>
            <a:schemeClr val="bg1"/>
          </a:solidFill>
          <a:ln w="12700">
            <a:solidFill>
              <a:schemeClr val="bg1"/>
            </a:solidFill>
            <a:prstDash val="solid"/>
          </a:ln>
        </p:spPr>
      </p:sp>
      <p:sp>
        <p:nvSpPr>
          <p:cNvPr id="32" name="Text 30"/>
          <p:cNvSpPr txBox="1"/>
          <p:nvPr/>
        </p:nvSpPr>
        <p:spPr>
          <a:xfrm>
            <a:off x="5522976"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CPA-8</a:t>
            </a:r>
            <a:endParaRPr lang="en-US" sz="1000" dirty="0"/>
          </a:p>
        </p:txBody>
      </p:sp>
      <p:sp>
        <p:nvSpPr>
          <p:cNvPr id="33" name="Text 31"/>
          <p:cNvSpPr txBox="1"/>
          <p:nvPr/>
        </p:nvSpPr>
        <p:spPr>
          <a:xfrm>
            <a:off x="5522976"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Trust &amp; Privacy</a:t>
            </a:r>
            <a:endParaRPr lang="en-US" sz="1400" dirty="0"/>
          </a:p>
        </p:txBody>
      </p:sp>
      <p:sp>
        <p:nvSpPr>
          <p:cNvPr id="34" name="Text 32"/>
          <p:cNvSpPr txBox="1"/>
          <p:nvPr/>
        </p:nvSpPr>
        <p:spPr>
          <a:xfrm>
            <a:off x="6940296"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35" name="epic"/>
          <p:cNvSpPr/>
          <p:nvPr/>
        </p:nvSpPr>
        <p:spPr>
          <a:xfrm>
            <a:off x="548640" y="4745736"/>
            <a:ext cx="2258568" cy="1207008"/>
          </a:xfrm>
          <a:prstGeom prst="roundRect">
            <a:avLst>
              <a:gd name="adj" fmla="val 9091"/>
            </a:avLst>
          </a:prstGeom>
          <a:solidFill>
            <a:schemeClr val="bg1"/>
          </a:solidFill>
          <a:ln w="12700">
            <a:solidFill>
              <a:schemeClr val="bg1"/>
            </a:solidFill>
            <a:prstDash val="solid"/>
          </a:ln>
        </p:spPr>
      </p:sp>
      <p:sp>
        <p:nvSpPr>
          <p:cNvPr id="36" name="Text 34"/>
          <p:cNvSpPr txBox="1"/>
          <p:nvPr/>
        </p:nvSpPr>
        <p:spPr>
          <a:xfrm>
            <a:off x="731520" y="4882896"/>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CPA-78</a:t>
            </a:r>
            <a:endParaRPr lang="en-US" sz="1000" dirty="0"/>
          </a:p>
        </p:txBody>
      </p:sp>
      <p:sp>
        <p:nvSpPr>
          <p:cNvPr id="37" name="Text 35"/>
          <p:cNvSpPr txBox="1"/>
          <p:nvPr/>
        </p:nvSpPr>
        <p:spPr>
          <a:xfrm>
            <a:off x="731520" y="5129784"/>
            <a:ext cx="1463040" cy="685800"/>
          </a:xfrm>
          <a:prstGeom prst="rect">
            <a:avLst/>
          </a:prstGeom>
          <a:noFill/>
          <a:ln/>
        </p:spPr>
        <p:txBody>
          <a:bodyPr wrap="square" lIns="0" tIns="0" rIns="0" bIns="0" rtlCol="0" anchor="t"/>
          <a:lstStyle/>
          <a:p>
            <a:pPr indent="0" marL="0">
              <a:buNone/>
            </a:pPr>
            <a:r>
              <a:rPr lang="en-US" sz="1400" b="1" dirty="0">
                <a:solidFill>
                  <a:schemeClr val="tx1"/>
                </a:solidFill>
              </a:rPr>
              <a:t>Career &amp; Interview</a:t>
            </a:r>
            <a:endParaRPr lang="en-US" sz="1400" dirty="0"/>
          </a:p>
        </p:txBody>
      </p:sp>
      <p:sp>
        <p:nvSpPr>
          <p:cNvPr id="38" name="Text 36"/>
          <p:cNvSpPr txBox="1"/>
          <p:nvPr/>
        </p:nvSpPr>
        <p:spPr>
          <a:xfrm>
            <a:off x="2148840" y="5202936"/>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2</a:t>
            </a:r>
            <a:endParaRPr lang="en-US" sz="2600" dirty="0"/>
          </a:p>
        </p:txBody>
      </p:sp>
      <p:sp>
        <p:nvSpPr>
          <p:cNvPr id="39" name="epic"/>
          <p:cNvSpPr/>
          <p:nvPr/>
        </p:nvSpPr>
        <p:spPr>
          <a:xfrm>
            <a:off x="2944368" y="4745736"/>
            <a:ext cx="2258568" cy="1207008"/>
          </a:xfrm>
          <a:prstGeom prst="roundRect">
            <a:avLst>
              <a:gd name="adj" fmla="val 9091"/>
            </a:avLst>
          </a:prstGeom>
          <a:solidFill>
            <a:srgbClr val="0F2A4A"/>
          </a:solidFill>
          <a:ln w="12700">
            <a:solidFill>
              <a:srgbClr val="0F2A4A"/>
            </a:solidFill>
            <a:prstDash val="solid"/>
          </a:ln>
        </p:spPr>
      </p:sp>
      <p:sp>
        <p:nvSpPr>
          <p:cNvPr id="40" name="Text 38"/>
          <p:cNvSpPr txBox="1"/>
          <p:nvPr/>
        </p:nvSpPr>
        <p:spPr>
          <a:xfrm>
            <a:off x="3127248" y="4882896"/>
            <a:ext cx="1920240" cy="228600"/>
          </a:xfrm>
          <a:prstGeom prst="rect">
            <a:avLst/>
          </a:prstGeom>
          <a:noFill/>
          <a:ln/>
        </p:spPr>
        <p:txBody>
          <a:bodyPr wrap="square" lIns="0" tIns="0" rIns="0" bIns="0" rtlCol="0" anchor="t"/>
          <a:lstStyle/>
          <a:p>
            <a:pPr indent="0" marL="0">
              <a:buNone/>
            </a:pPr>
            <a:r>
              <a:rPr lang="en-US" sz="1000" b="1" dirty="0">
                <a:solidFill>
                  <a:schemeClr val="accent1"/>
                </a:solidFill>
              </a:rPr>
              <a:t>CPA-88 · PILOT</a:t>
            </a:r>
            <a:endParaRPr lang="en-US" sz="1000" dirty="0"/>
          </a:p>
        </p:txBody>
      </p:sp>
      <p:sp>
        <p:nvSpPr>
          <p:cNvPr id="41" name="Text 39"/>
          <p:cNvSpPr txBox="1"/>
          <p:nvPr/>
        </p:nvSpPr>
        <p:spPr>
          <a:xfrm>
            <a:off x="3127248" y="5129784"/>
            <a:ext cx="1463040" cy="685800"/>
          </a:xfrm>
          <a:prstGeom prst="rect">
            <a:avLst/>
          </a:prstGeom>
          <a:noFill/>
          <a:ln/>
        </p:spPr>
        <p:txBody>
          <a:bodyPr wrap="square" lIns="0" tIns="0" rIns="0" bIns="0" rtlCol="0" anchor="t"/>
          <a:lstStyle/>
          <a:p>
            <a:pPr indent="0" marL="0">
              <a:buNone/>
            </a:pPr>
            <a:r>
              <a:rPr lang="en-US" sz="1400" b="1" dirty="0">
                <a:solidFill>
                  <a:schemeClr val="bg1"/>
                </a:solidFill>
              </a:rPr>
              <a:t>Headhunter Matching</a:t>
            </a:r>
            <a:endParaRPr lang="en-US" sz="1400" dirty="0"/>
          </a:p>
        </p:txBody>
      </p:sp>
      <p:sp>
        <p:nvSpPr>
          <p:cNvPr id="42" name="Text 40"/>
          <p:cNvSpPr txBox="1"/>
          <p:nvPr/>
        </p:nvSpPr>
        <p:spPr>
          <a:xfrm>
            <a:off x="4544568" y="5202936"/>
            <a:ext cx="502920" cy="548640"/>
          </a:xfrm>
          <a:prstGeom prst="rect">
            <a:avLst/>
          </a:prstGeom>
          <a:noFill/>
          <a:ln/>
        </p:spPr>
        <p:txBody>
          <a:bodyPr wrap="square" lIns="0" tIns="0" rIns="0" bIns="0" rtlCol="0" anchor="t"/>
          <a:lstStyle/>
          <a:p>
            <a:pPr algn="r" indent="0" marL="0">
              <a:buNone/>
            </a:pPr>
            <a:r>
              <a:rPr lang="en-US" sz="2600" b="1" dirty="0">
                <a:solidFill>
                  <a:schemeClr val="bg1"/>
                </a:solidFill>
              </a:rPr>
              <a:t>5</a:t>
            </a:r>
            <a:endParaRPr lang="en-US" sz="2600" dirty="0"/>
          </a:p>
        </p:txBody>
      </p:sp>
      <p:sp>
        <p:nvSpPr>
          <p:cNvPr id="43" name="epic"/>
          <p:cNvSpPr/>
          <p:nvPr/>
        </p:nvSpPr>
        <p:spPr>
          <a:xfrm>
            <a:off x="5340096" y="4745736"/>
            <a:ext cx="2258568" cy="1207008"/>
          </a:xfrm>
          <a:prstGeom prst="roundRect">
            <a:avLst>
              <a:gd name="adj" fmla="val 9091"/>
            </a:avLst>
          </a:prstGeom>
          <a:solidFill>
            <a:srgbClr val="0F2A4A"/>
          </a:solidFill>
          <a:ln w="12700">
            <a:solidFill>
              <a:srgbClr val="0F2A4A"/>
            </a:solidFill>
            <a:prstDash val="solid"/>
          </a:ln>
        </p:spPr>
      </p:sp>
      <p:sp>
        <p:nvSpPr>
          <p:cNvPr id="44" name="Text 42"/>
          <p:cNvSpPr txBox="1"/>
          <p:nvPr/>
        </p:nvSpPr>
        <p:spPr>
          <a:xfrm>
            <a:off x="5522976" y="4882896"/>
            <a:ext cx="1920240" cy="228600"/>
          </a:xfrm>
          <a:prstGeom prst="rect">
            <a:avLst/>
          </a:prstGeom>
          <a:noFill/>
          <a:ln/>
        </p:spPr>
        <p:txBody>
          <a:bodyPr wrap="square" lIns="0" tIns="0" rIns="0" bIns="0" rtlCol="0" anchor="t"/>
          <a:lstStyle/>
          <a:p>
            <a:pPr indent="0" marL="0">
              <a:buNone/>
            </a:pPr>
            <a:r>
              <a:rPr lang="en-US" sz="1000" b="1" dirty="0">
                <a:solidFill>
                  <a:schemeClr val="accent1"/>
                </a:solidFill>
              </a:rPr>
              <a:t>CPA-89 · PILOT</a:t>
            </a:r>
            <a:endParaRPr lang="en-US" sz="1000" dirty="0"/>
          </a:p>
        </p:txBody>
      </p:sp>
      <p:sp>
        <p:nvSpPr>
          <p:cNvPr id="45" name="Text 43"/>
          <p:cNvSpPr txBox="1"/>
          <p:nvPr/>
        </p:nvSpPr>
        <p:spPr>
          <a:xfrm>
            <a:off x="5522976" y="5129784"/>
            <a:ext cx="1463040" cy="685800"/>
          </a:xfrm>
          <a:prstGeom prst="rect">
            <a:avLst/>
          </a:prstGeom>
          <a:noFill/>
          <a:ln/>
        </p:spPr>
        <p:txBody>
          <a:bodyPr wrap="square" lIns="0" tIns="0" rIns="0" bIns="0" rtlCol="0" anchor="t"/>
          <a:lstStyle/>
          <a:p>
            <a:pPr indent="0" marL="0">
              <a:buNone/>
            </a:pPr>
            <a:r>
              <a:rPr lang="en-US" sz="1400" b="1" dirty="0">
                <a:solidFill>
                  <a:schemeClr val="bg1"/>
                </a:solidFill>
              </a:rPr>
              <a:t>Consent &amp; Availability</a:t>
            </a:r>
            <a:endParaRPr lang="en-US" sz="1400" dirty="0"/>
          </a:p>
        </p:txBody>
      </p:sp>
      <p:sp>
        <p:nvSpPr>
          <p:cNvPr id="46" name="Text 44"/>
          <p:cNvSpPr txBox="1"/>
          <p:nvPr/>
        </p:nvSpPr>
        <p:spPr>
          <a:xfrm>
            <a:off x="6940296" y="5202936"/>
            <a:ext cx="502920" cy="548640"/>
          </a:xfrm>
          <a:prstGeom prst="rect">
            <a:avLst/>
          </a:prstGeom>
          <a:noFill/>
          <a:ln/>
        </p:spPr>
        <p:txBody>
          <a:bodyPr wrap="square" lIns="0" tIns="0" rIns="0" bIns="0" rtlCol="0" anchor="t"/>
          <a:lstStyle/>
          <a:p>
            <a:pPr algn="r" indent="0" marL="0">
              <a:buNone/>
            </a:pPr>
            <a:r>
              <a:rPr lang="en-US" sz="2600" b="1" dirty="0">
                <a:solidFill>
                  <a:schemeClr val="bg1"/>
                </a:solidFill>
              </a:rPr>
              <a:t>2</a:t>
            </a:r>
            <a:endParaRPr lang="en-US" sz="2600" dirty="0"/>
          </a:p>
        </p:txBody>
      </p:sp>
      <p:sp>
        <p:nvSpPr>
          <p:cNvPr id="47" name="Text 45"/>
          <p:cNvSpPr txBox="1"/>
          <p:nvPr/>
        </p:nvSpPr>
        <p:spPr>
          <a:xfrm>
            <a:off x="7909560" y="2057400"/>
            <a:ext cx="3749040" cy="292608"/>
          </a:xfrm>
          <a:prstGeom prst="rect">
            <a:avLst/>
          </a:prstGeom>
          <a:noFill/>
          <a:ln/>
        </p:spPr>
        <p:txBody>
          <a:bodyPr wrap="square" lIns="0" tIns="0" rIns="0" bIns="0" rtlCol="0" anchor="t"/>
          <a:lstStyle/>
          <a:p>
            <a:pPr indent="0" marL="0">
              <a:buNone/>
            </a:pPr>
            <a:r>
              <a:rPr lang="en-US" sz="1500" b="1" dirty="0">
                <a:solidFill>
                  <a:schemeClr val="tx1"/>
                </a:solidFill>
              </a:rPr>
              <a:t>MoSCoW sets the scope</a:t>
            </a:r>
            <a:endParaRPr lang="en-US" sz="1500" dirty="0"/>
          </a:p>
        </p:txBody>
      </p:sp>
      <p:sp>
        <p:nvSpPr>
          <p:cNvPr id="48" name="Text 46"/>
          <p:cNvSpPr txBox="1"/>
          <p:nvPr/>
        </p:nvSpPr>
        <p:spPr>
          <a:xfrm>
            <a:off x="7909560" y="2368296"/>
            <a:ext cx="3749040" cy="640080"/>
          </a:xfrm>
          <a:prstGeom prst="rect">
            <a:avLst/>
          </a:prstGeom>
          <a:noFill/>
          <a:ln/>
        </p:spPr>
        <p:txBody>
          <a:bodyPr wrap="square" lIns="0" tIns="0" rIns="0" bIns="0" rtlCol="0" anchor="t"/>
          <a:lstStyle/>
          <a:p>
            <a:pPr indent="0" marL="0">
              <a:buNone/>
            </a:pPr>
            <a:r>
              <a:rPr lang="en-US" sz="1200" dirty="0">
                <a:solidFill>
                  <a:schemeClr val="tx2"/>
                </a:solidFill>
              </a:rPr>
              <a:t>22 candidate stories: 13 Must, 6 Should, 2 Could, 1 post-MVP.</a:t>
            </a:r>
            <a:endParaRPr lang="en-US" sz="1200" dirty="0"/>
          </a:p>
        </p:txBody>
      </p:sp>
      <p:sp>
        <p:nvSpPr>
          <p:cNvPr id="49" name="Text 47"/>
          <p:cNvSpPr txBox="1"/>
          <p:nvPr/>
        </p:nvSpPr>
        <p:spPr>
          <a:xfrm>
            <a:off x="7909560" y="3063240"/>
            <a:ext cx="3749040" cy="292608"/>
          </a:xfrm>
          <a:prstGeom prst="rect">
            <a:avLst/>
          </a:prstGeom>
          <a:noFill/>
          <a:ln/>
        </p:spPr>
        <p:txBody>
          <a:bodyPr wrap="square" lIns="0" tIns="0" rIns="0" bIns="0" rtlCol="0" anchor="t"/>
          <a:lstStyle/>
          <a:p>
            <a:pPr indent="0" marL="0">
              <a:buNone/>
            </a:pPr>
            <a:r>
              <a:rPr lang="en-US" sz="1500" b="1" dirty="0">
                <a:solidFill>
                  <a:schemeClr val="tx1"/>
                </a:solidFill>
              </a:rPr>
              <a:t>RICE ranks within it</a:t>
            </a:r>
            <a:endParaRPr lang="en-US" sz="1500" dirty="0"/>
          </a:p>
        </p:txBody>
      </p:sp>
      <p:sp>
        <p:nvSpPr>
          <p:cNvPr id="50" name="Text 48"/>
          <p:cNvSpPr txBox="1"/>
          <p:nvPr/>
        </p:nvSpPr>
        <p:spPr>
          <a:xfrm>
            <a:off x="7909560" y="3374136"/>
            <a:ext cx="3749040" cy="640080"/>
          </a:xfrm>
          <a:prstGeom prst="rect">
            <a:avLst/>
          </a:prstGeom>
          <a:noFill/>
          <a:ln/>
        </p:spPr>
        <p:txBody>
          <a:bodyPr wrap="square" lIns="0" tIns="0" rIns="0" bIns="0" rtlCol="0" anchor="t"/>
          <a:lstStyle/>
          <a:p>
            <a:pPr indent="0" marL="0">
              <a:buNone/>
            </a:pPr>
            <a:r>
              <a:rPr lang="en-US" sz="1200" dirty="0">
                <a:solidFill>
                  <a:schemeClr val="tx2"/>
                </a:solidFill>
              </a:rPr>
              <a:t>Reach × impact × confidence ÷ effort. Matching without a gate scores highest (800).</a:t>
            </a:r>
            <a:endParaRPr lang="en-US" sz="1200" dirty="0"/>
          </a:p>
        </p:txBody>
      </p:sp>
      <p:sp>
        <p:nvSpPr>
          <p:cNvPr id="51" name="Text 49"/>
          <p:cNvSpPr txBox="1"/>
          <p:nvPr/>
        </p:nvSpPr>
        <p:spPr>
          <a:xfrm>
            <a:off x="7909560" y="4069080"/>
            <a:ext cx="3749040" cy="292608"/>
          </a:xfrm>
          <a:prstGeom prst="rect">
            <a:avLst/>
          </a:prstGeom>
          <a:noFill/>
          <a:ln/>
        </p:spPr>
        <p:txBody>
          <a:bodyPr wrap="square" lIns="0" tIns="0" rIns="0" bIns="0" rtlCol="0" anchor="t"/>
          <a:lstStyle/>
          <a:p>
            <a:pPr indent="0" marL="0">
              <a:buNone/>
            </a:pPr>
            <a:r>
              <a:rPr lang="en-US" sz="1500" b="1" dirty="0">
                <a:solidFill>
                  <a:schemeClr val="tx1"/>
                </a:solidFill>
              </a:rPr>
              <a:t>WSJF for the pilot</a:t>
            </a:r>
            <a:endParaRPr lang="en-US" sz="1500" dirty="0"/>
          </a:p>
        </p:txBody>
      </p:sp>
      <p:sp>
        <p:nvSpPr>
          <p:cNvPr id="52" name="Text 50"/>
          <p:cNvSpPr txBox="1"/>
          <p:nvPr/>
        </p:nvSpPr>
        <p:spPr>
          <a:xfrm>
            <a:off x="7909560" y="4379976"/>
            <a:ext cx="3749040" cy="640080"/>
          </a:xfrm>
          <a:prstGeom prst="rect">
            <a:avLst/>
          </a:prstGeom>
          <a:noFill/>
          <a:ln/>
        </p:spPr>
        <p:txBody>
          <a:bodyPr wrap="square" lIns="0" tIns="0" rIns="0" bIns="0" rtlCol="0" anchor="t"/>
          <a:lstStyle/>
          <a:p>
            <a:pPr indent="0" marL="0">
              <a:buNone/>
            </a:pPr>
            <a:r>
              <a:rPr lang="en-US" sz="1200" dirty="0">
                <a:solidFill>
                  <a:schemeClr val="tx2"/>
                </a:solidFill>
              </a:rPr>
              <a:t>7 headhunter stories, ordered by dependencies; capacity decided at G2.</a:t>
            </a:r>
            <a:endParaRPr lang="en-US" sz="1200" dirty="0"/>
          </a:p>
        </p:txBody>
      </p:sp>
      <p:sp>
        <p:nvSpPr>
          <p:cNvPr id="53" name="Text 51"/>
          <p:cNvSpPr txBox="1"/>
          <p:nvPr/>
        </p:nvSpPr>
        <p:spPr>
          <a:xfrm>
            <a:off x="7909560" y="5074920"/>
            <a:ext cx="3749040" cy="292608"/>
          </a:xfrm>
          <a:prstGeom prst="rect">
            <a:avLst/>
          </a:prstGeom>
          <a:noFill/>
          <a:ln/>
        </p:spPr>
        <p:txBody>
          <a:bodyPr wrap="square" lIns="0" tIns="0" rIns="0" bIns="0" rtlCol="0" anchor="t"/>
          <a:lstStyle/>
          <a:p>
            <a:pPr indent="0" marL="0">
              <a:buNone/>
            </a:pPr>
            <a:r>
              <a:rPr lang="en-US" sz="1500" b="1" dirty="0">
                <a:solidFill>
                  <a:schemeClr val="tx1"/>
                </a:solidFill>
              </a:rPr>
              <a:t>Same template everywhere</a:t>
            </a:r>
            <a:endParaRPr lang="en-US" sz="1500" dirty="0"/>
          </a:p>
        </p:txBody>
      </p:sp>
      <p:sp>
        <p:nvSpPr>
          <p:cNvPr id="54" name="Text 52"/>
          <p:cNvSpPr txBox="1"/>
          <p:nvPr/>
        </p:nvSpPr>
        <p:spPr>
          <a:xfrm>
            <a:off x="7909560" y="5385816"/>
            <a:ext cx="3749040" cy="640080"/>
          </a:xfrm>
          <a:prstGeom prst="rect">
            <a:avLst/>
          </a:prstGeom>
          <a:noFill/>
          <a:ln/>
        </p:spPr>
        <p:txBody>
          <a:bodyPr wrap="square" lIns="0" tIns="0" rIns="0" bIns="0" rtlCol="0" anchor="t"/>
          <a:lstStyle/>
          <a:p>
            <a:pPr indent="0" marL="0">
              <a:buNone/>
            </a:pPr>
            <a:r>
              <a:rPr lang="en-US" sz="1200" dirty="0">
                <a:solidFill>
                  <a:schemeClr val="tx2"/>
                </a:solidFill>
              </a:rPr>
              <a:t>Persona, FR reference, Given / When / Then criteria, epic link.</a:t>
            </a:r>
            <a:endParaRPr lang="en-US" sz="1200" dirty="0"/>
          </a:p>
        </p:txBody>
      </p:sp>
      <p:sp>
        <p:nvSpPr>
          <p:cNvPr id="55" name="Text 53"/>
          <p:cNvSpPr txBox="1"/>
          <p:nvPr/>
        </p:nvSpPr>
        <p:spPr>
          <a:xfrm>
            <a:off x="548640" y="6126480"/>
            <a:ext cx="10058400" cy="228600"/>
          </a:xfrm>
          <a:prstGeom prst="rect">
            <a:avLst/>
          </a:prstGeom>
          <a:noFill/>
          <a:ln/>
        </p:spPr>
        <p:txBody>
          <a:bodyPr wrap="square" lIns="0" tIns="0" rIns="0" bIns="0" rtlCol="0" anchor="t"/>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Jira · project CPA · board 39</a:t>
            </a:r>
            <a:pPr indent="0" marL="0">
              <a:buNone/>
            </a:pPr>
            <a:r>
              <a:rPr lang="en-US" sz="1100" dirty="0">
                <a:solidFill>
                  <a:schemeClr val="tx2"/>
                </a:solidFill>
              </a:rPr>
              <a:t> · number = stories per epic</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03 · BACKLOG · SPRINT PLAN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Six build sprints, 79 story points, alpha on 2 April 2027</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sprint"/>
          <p:cNvSpPr/>
          <p:nvPr/>
        </p:nvSpPr>
        <p:spPr>
          <a:xfrm>
            <a:off x="548640" y="2057400"/>
            <a:ext cx="1737360" cy="3154680"/>
          </a:xfrm>
          <a:prstGeom prst="roundRect">
            <a:avLst>
              <a:gd name="adj" fmla="val 6316"/>
            </a:avLst>
          </a:prstGeom>
          <a:solidFill>
            <a:schemeClr val="bg1"/>
          </a:solidFill>
          <a:ln w="12700">
            <a:solidFill>
              <a:schemeClr val="bg1"/>
            </a:solidFill>
            <a:prstDash val="solid"/>
          </a:ln>
        </p:spPr>
      </p:sp>
      <p:sp>
        <p:nvSpPr>
          <p:cNvPr id="12" name="Text 10"/>
          <p:cNvSpPr txBox="1"/>
          <p:nvPr/>
        </p:nvSpPr>
        <p:spPr>
          <a:xfrm>
            <a:off x="713232"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1</a:t>
            </a:r>
            <a:endParaRPr lang="en-US" sz="1000" dirty="0"/>
          </a:p>
        </p:txBody>
      </p:sp>
      <p:sp>
        <p:nvSpPr>
          <p:cNvPr id="13" name="Text 11"/>
          <p:cNvSpPr txBox="1"/>
          <p:nvPr/>
        </p:nvSpPr>
        <p:spPr>
          <a:xfrm>
            <a:off x="713232"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Profile</a:t>
            </a:r>
            <a:endParaRPr lang="en-US" sz="1500" dirty="0"/>
          </a:p>
        </p:txBody>
      </p:sp>
      <p:sp>
        <p:nvSpPr>
          <p:cNvPr id="14" name="Text 12"/>
          <p:cNvSpPr txBox="1"/>
          <p:nvPr/>
        </p:nvSpPr>
        <p:spPr>
          <a:xfrm>
            <a:off x="713232"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11–22 Jan</a:t>
            </a:r>
            <a:endParaRPr lang="en-US" sz="1100" dirty="0"/>
          </a:p>
        </p:txBody>
      </p:sp>
      <p:sp>
        <p:nvSpPr>
          <p:cNvPr id="15" name="Text 13"/>
          <p:cNvSpPr txBox="1"/>
          <p:nvPr/>
        </p:nvSpPr>
        <p:spPr>
          <a:xfrm>
            <a:off x="713232"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US8 CV to profile</a:t>
            </a:r>
            <a:endParaRPr lang="en-US" sz="1100" dirty="0"/>
          </a:p>
          <a:p>
            <a:pPr indent="0" marL="0">
              <a:spcAft>
                <a:spcPts val="300"/>
              </a:spcAft>
              <a:buNone/>
            </a:pPr>
            <a:r>
              <a:rPr lang="en-US" sz="1100" dirty="0">
                <a:solidFill>
                  <a:schemeClr val="tx1"/>
                </a:solidFill>
              </a:rPr>
              <a:t>US9 Completeness</a:t>
            </a:r>
            <a:endParaRPr lang="en-US" sz="1100" dirty="0"/>
          </a:p>
        </p:txBody>
      </p:sp>
      <p:sp>
        <p:nvSpPr>
          <p:cNvPr id="16" name="Text 14"/>
          <p:cNvSpPr txBox="1"/>
          <p:nvPr/>
        </p:nvSpPr>
        <p:spPr>
          <a:xfrm>
            <a:off x="713232"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17" name="sprint"/>
          <p:cNvSpPr/>
          <p:nvPr/>
        </p:nvSpPr>
        <p:spPr>
          <a:xfrm>
            <a:off x="2414016" y="2057400"/>
            <a:ext cx="1737360" cy="3154680"/>
          </a:xfrm>
          <a:prstGeom prst="roundRect">
            <a:avLst>
              <a:gd name="adj" fmla="val 6316"/>
            </a:avLst>
          </a:prstGeom>
          <a:solidFill>
            <a:schemeClr val="bg1"/>
          </a:solidFill>
          <a:ln w="12700">
            <a:solidFill>
              <a:schemeClr val="bg1"/>
            </a:solidFill>
            <a:prstDash val="solid"/>
          </a:ln>
        </p:spPr>
      </p:sp>
      <p:sp>
        <p:nvSpPr>
          <p:cNvPr id="18" name="Text 16"/>
          <p:cNvSpPr txBox="1"/>
          <p:nvPr/>
        </p:nvSpPr>
        <p:spPr>
          <a:xfrm>
            <a:off x="2578608"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2</a:t>
            </a:r>
            <a:endParaRPr lang="en-US" sz="1000" dirty="0"/>
          </a:p>
        </p:txBody>
      </p:sp>
      <p:sp>
        <p:nvSpPr>
          <p:cNvPr id="19" name="Text 17"/>
          <p:cNvSpPr txBox="1"/>
          <p:nvPr/>
        </p:nvSpPr>
        <p:spPr>
          <a:xfrm>
            <a:off x="2578608"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Discovery</a:t>
            </a:r>
            <a:endParaRPr lang="en-US" sz="1500" dirty="0"/>
          </a:p>
        </p:txBody>
      </p:sp>
      <p:sp>
        <p:nvSpPr>
          <p:cNvPr id="20" name="Text 18"/>
          <p:cNvSpPr txBox="1"/>
          <p:nvPr/>
        </p:nvSpPr>
        <p:spPr>
          <a:xfrm>
            <a:off x="2578608"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25 Jan–5 Feb</a:t>
            </a:r>
            <a:endParaRPr lang="en-US" sz="1100" dirty="0"/>
          </a:p>
        </p:txBody>
      </p:sp>
      <p:sp>
        <p:nvSpPr>
          <p:cNvPr id="21" name="Text 19"/>
          <p:cNvSpPr txBox="1"/>
          <p:nvPr/>
        </p:nvSpPr>
        <p:spPr>
          <a:xfrm>
            <a:off x="2578608"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US1 One digest</a:t>
            </a:r>
            <a:endParaRPr lang="en-US" sz="1100" dirty="0"/>
          </a:p>
          <a:p>
            <a:pPr indent="0" marL="0">
              <a:spcAft>
                <a:spcPts val="300"/>
              </a:spcAft>
              <a:buNone/>
            </a:pPr>
            <a:r>
              <a:rPr lang="en-US" sz="1100" dirty="0">
                <a:solidFill>
                  <a:schemeClr val="tx1"/>
                </a:solidFill>
              </a:rPr>
              <a:t>US14 Preferences</a:t>
            </a:r>
            <a:endParaRPr lang="en-US" sz="1100" dirty="0"/>
          </a:p>
        </p:txBody>
      </p:sp>
      <p:sp>
        <p:nvSpPr>
          <p:cNvPr id="22" name="Text 20"/>
          <p:cNvSpPr txBox="1"/>
          <p:nvPr/>
        </p:nvSpPr>
        <p:spPr>
          <a:xfrm>
            <a:off x="2578608"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23" name="sprint"/>
          <p:cNvSpPr/>
          <p:nvPr/>
        </p:nvSpPr>
        <p:spPr>
          <a:xfrm>
            <a:off x="4279392" y="2057400"/>
            <a:ext cx="1737360" cy="3154680"/>
          </a:xfrm>
          <a:prstGeom prst="roundRect">
            <a:avLst>
              <a:gd name="adj" fmla="val 6316"/>
            </a:avLst>
          </a:prstGeom>
          <a:solidFill>
            <a:schemeClr val="bg1"/>
          </a:solidFill>
          <a:ln w="12700">
            <a:solidFill>
              <a:schemeClr val="bg1"/>
            </a:solidFill>
            <a:prstDash val="solid"/>
          </a:ln>
        </p:spPr>
      </p:sp>
      <p:sp>
        <p:nvSpPr>
          <p:cNvPr id="24" name="Text 22"/>
          <p:cNvSpPr txBox="1"/>
          <p:nvPr/>
        </p:nvSpPr>
        <p:spPr>
          <a:xfrm>
            <a:off x="4443984"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3</a:t>
            </a:r>
            <a:endParaRPr lang="en-US" sz="1000" dirty="0"/>
          </a:p>
        </p:txBody>
      </p:sp>
      <p:sp>
        <p:nvSpPr>
          <p:cNvPr id="25" name="Text 23"/>
          <p:cNvSpPr txBox="1"/>
          <p:nvPr/>
        </p:nvSpPr>
        <p:spPr>
          <a:xfrm>
            <a:off x="4443984"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Matching</a:t>
            </a:r>
            <a:endParaRPr lang="en-US" sz="1500" dirty="0"/>
          </a:p>
        </p:txBody>
      </p:sp>
      <p:sp>
        <p:nvSpPr>
          <p:cNvPr id="26" name="Text 24"/>
          <p:cNvSpPr txBox="1"/>
          <p:nvPr/>
        </p:nvSpPr>
        <p:spPr>
          <a:xfrm>
            <a:off x="4443984"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8–19 Feb</a:t>
            </a:r>
            <a:endParaRPr lang="en-US" sz="1100" dirty="0"/>
          </a:p>
        </p:txBody>
      </p:sp>
      <p:sp>
        <p:nvSpPr>
          <p:cNvPr id="27" name="Text 25"/>
          <p:cNvSpPr txBox="1"/>
          <p:nvPr/>
        </p:nvSpPr>
        <p:spPr>
          <a:xfrm>
            <a:off x="4443984"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US2 Explained score</a:t>
            </a:r>
            <a:endParaRPr lang="en-US" sz="1100" dirty="0"/>
          </a:p>
          <a:p>
            <a:pPr indent="0" marL="0">
              <a:spcAft>
                <a:spcPts val="300"/>
              </a:spcAft>
              <a:buNone/>
            </a:pPr>
            <a:r>
              <a:rPr lang="en-US" sz="1100" dirty="0">
                <a:solidFill>
                  <a:schemeClr val="tx1"/>
                </a:solidFill>
              </a:rPr>
              <a:t>US6 Language level</a:t>
            </a:r>
            <a:endParaRPr lang="en-US" sz="1100" dirty="0"/>
          </a:p>
        </p:txBody>
      </p:sp>
      <p:sp>
        <p:nvSpPr>
          <p:cNvPr id="28" name="Text 26"/>
          <p:cNvSpPr txBox="1"/>
          <p:nvPr/>
        </p:nvSpPr>
        <p:spPr>
          <a:xfrm>
            <a:off x="4443984"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29" name="sprint"/>
          <p:cNvSpPr/>
          <p:nvPr/>
        </p:nvSpPr>
        <p:spPr>
          <a:xfrm>
            <a:off x="6144768" y="2057400"/>
            <a:ext cx="1737360" cy="3154680"/>
          </a:xfrm>
          <a:prstGeom prst="roundRect">
            <a:avLst>
              <a:gd name="adj" fmla="val 6316"/>
            </a:avLst>
          </a:prstGeom>
          <a:solidFill>
            <a:schemeClr val="bg1"/>
          </a:solidFill>
          <a:ln w="12700">
            <a:solidFill>
              <a:schemeClr val="bg1"/>
            </a:solidFill>
            <a:prstDash val="solid"/>
          </a:ln>
        </p:spPr>
      </p:sp>
      <p:sp>
        <p:nvSpPr>
          <p:cNvPr id="30" name="Text 28"/>
          <p:cNvSpPr txBox="1"/>
          <p:nvPr/>
        </p:nvSpPr>
        <p:spPr>
          <a:xfrm>
            <a:off x="6309360"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4</a:t>
            </a:r>
            <a:endParaRPr lang="en-US" sz="1000" dirty="0"/>
          </a:p>
        </p:txBody>
      </p:sp>
      <p:sp>
        <p:nvSpPr>
          <p:cNvPr id="31" name="Text 29"/>
          <p:cNvSpPr txBox="1"/>
          <p:nvPr/>
        </p:nvSpPr>
        <p:spPr>
          <a:xfrm>
            <a:off x="6309360"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Fit &amp; privacy</a:t>
            </a:r>
            <a:endParaRPr lang="en-US" sz="1500" dirty="0"/>
          </a:p>
        </p:txBody>
      </p:sp>
      <p:sp>
        <p:nvSpPr>
          <p:cNvPr id="32" name="Text 30"/>
          <p:cNvSpPr txBox="1"/>
          <p:nvPr/>
        </p:nvSpPr>
        <p:spPr>
          <a:xfrm>
            <a:off x="6309360"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22 Feb–5 Mar</a:t>
            </a:r>
            <a:endParaRPr lang="en-US" sz="1100" dirty="0"/>
          </a:p>
        </p:txBody>
      </p:sp>
      <p:sp>
        <p:nvSpPr>
          <p:cNvPr id="33" name="Text 31"/>
          <p:cNvSpPr txBox="1"/>
          <p:nvPr/>
        </p:nvSpPr>
        <p:spPr>
          <a:xfrm>
            <a:off x="6309360"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US3 Fit, not missing data</a:t>
            </a:r>
            <a:endParaRPr lang="en-US" sz="1100" dirty="0"/>
          </a:p>
          <a:p>
            <a:pPr indent="0" marL="0">
              <a:spcAft>
                <a:spcPts val="300"/>
              </a:spcAft>
              <a:buNone/>
            </a:pPr>
            <a:r>
              <a:rPr lang="en-US" sz="1100" dirty="0">
                <a:solidFill>
                  <a:schemeClr val="tx1"/>
                </a:solidFill>
              </a:rPr>
              <a:t>US12 My data</a:t>
            </a:r>
            <a:endParaRPr lang="en-US" sz="1100" dirty="0"/>
          </a:p>
          <a:p>
            <a:pPr indent="0" marL="0">
              <a:spcAft>
                <a:spcPts val="300"/>
              </a:spcAft>
              <a:buNone/>
            </a:pPr>
            <a:r>
              <a:rPr lang="en-US" sz="1100" dirty="0">
                <a:solidFill>
                  <a:schemeClr val="tx1"/>
                </a:solidFill>
              </a:rPr>
              <a:t>US17 Confidence</a:t>
            </a:r>
            <a:endParaRPr lang="en-US" sz="1100" dirty="0"/>
          </a:p>
        </p:txBody>
      </p:sp>
      <p:sp>
        <p:nvSpPr>
          <p:cNvPr id="34" name="Text 32"/>
          <p:cNvSpPr txBox="1"/>
          <p:nvPr/>
        </p:nvSpPr>
        <p:spPr>
          <a:xfrm>
            <a:off x="6309360"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35" name="sprint"/>
          <p:cNvSpPr/>
          <p:nvPr/>
        </p:nvSpPr>
        <p:spPr>
          <a:xfrm>
            <a:off x="8010144" y="2057400"/>
            <a:ext cx="1737360" cy="3154680"/>
          </a:xfrm>
          <a:prstGeom prst="roundRect">
            <a:avLst>
              <a:gd name="adj" fmla="val 6316"/>
            </a:avLst>
          </a:prstGeom>
          <a:solidFill>
            <a:schemeClr val="bg1"/>
          </a:solidFill>
          <a:ln w="12700">
            <a:solidFill>
              <a:schemeClr val="bg1"/>
            </a:solidFill>
            <a:prstDash val="solid"/>
          </a:ln>
        </p:spPr>
      </p:sp>
      <p:sp>
        <p:nvSpPr>
          <p:cNvPr id="36" name="Text 34"/>
          <p:cNvSpPr txBox="1"/>
          <p:nvPr/>
        </p:nvSpPr>
        <p:spPr>
          <a:xfrm>
            <a:off x="8174736"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5</a:t>
            </a:r>
            <a:endParaRPr lang="en-US" sz="1000" dirty="0"/>
          </a:p>
        </p:txBody>
      </p:sp>
      <p:sp>
        <p:nvSpPr>
          <p:cNvPr id="37" name="Text 35"/>
          <p:cNvSpPr txBox="1"/>
          <p:nvPr/>
        </p:nvSpPr>
        <p:spPr>
          <a:xfrm>
            <a:off x="8174736"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Documents</a:t>
            </a:r>
            <a:endParaRPr lang="en-US" sz="1500" dirty="0"/>
          </a:p>
        </p:txBody>
      </p:sp>
      <p:sp>
        <p:nvSpPr>
          <p:cNvPr id="38" name="Text 36"/>
          <p:cNvSpPr txBox="1"/>
          <p:nvPr/>
        </p:nvSpPr>
        <p:spPr>
          <a:xfrm>
            <a:off x="8174736"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8–19 Mar</a:t>
            </a:r>
            <a:endParaRPr lang="en-US" sz="1100" dirty="0"/>
          </a:p>
        </p:txBody>
      </p:sp>
      <p:sp>
        <p:nvSpPr>
          <p:cNvPr id="39" name="Text 37"/>
          <p:cNvSpPr txBox="1"/>
          <p:nvPr/>
        </p:nvSpPr>
        <p:spPr>
          <a:xfrm>
            <a:off x="8174736"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US5 CV and letter</a:t>
            </a:r>
            <a:endParaRPr lang="en-US" sz="1100" dirty="0"/>
          </a:p>
          <a:p>
            <a:pPr indent="0" marL="0">
              <a:spcAft>
                <a:spcPts val="300"/>
              </a:spcAft>
              <a:buNone/>
            </a:pPr>
            <a:r>
              <a:rPr lang="en-US" sz="1100" dirty="0">
                <a:solidFill>
                  <a:schemeClr val="tx1"/>
                </a:solidFill>
              </a:rPr>
              <a:t>US10 Credits</a:t>
            </a:r>
            <a:endParaRPr lang="en-US" sz="1100" dirty="0"/>
          </a:p>
          <a:p>
            <a:pPr indent="0" marL="0">
              <a:spcAft>
                <a:spcPts val="300"/>
              </a:spcAft>
              <a:buNone/>
            </a:pPr>
            <a:r>
              <a:rPr lang="en-US" sz="1100" dirty="0">
                <a:solidFill>
                  <a:schemeClr val="tx1"/>
                </a:solidFill>
              </a:rPr>
              <a:t>US22 What's free</a:t>
            </a:r>
            <a:endParaRPr lang="en-US" sz="1100" dirty="0"/>
          </a:p>
        </p:txBody>
      </p:sp>
      <p:sp>
        <p:nvSpPr>
          <p:cNvPr id="40" name="Text 38"/>
          <p:cNvSpPr txBox="1"/>
          <p:nvPr/>
        </p:nvSpPr>
        <p:spPr>
          <a:xfrm>
            <a:off x="8174736"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41" name="sprint"/>
          <p:cNvSpPr/>
          <p:nvPr/>
        </p:nvSpPr>
        <p:spPr>
          <a:xfrm>
            <a:off x="9875520" y="2057400"/>
            <a:ext cx="1737360" cy="3154680"/>
          </a:xfrm>
          <a:prstGeom prst="roundRect">
            <a:avLst>
              <a:gd name="adj" fmla="val 6316"/>
            </a:avLst>
          </a:prstGeom>
          <a:solidFill>
            <a:srgbClr val="0F2A4A"/>
          </a:solidFill>
          <a:ln w="12700">
            <a:solidFill>
              <a:srgbClr val="0F2A4A"/>
            </a:solidFill>
            <a:prstDash val="solid"/>
          </a:ln>
        </p:spPr>
      </p:sp>
      <p:sp>
        <p:nvSpPr>
          <p:cNvPr id="42" name="Text 40"/>
          <p:cNvSpPr txBox="1"/>
          <p:nvPr/>
        </p:nvSpPr>
        <p:spPr>
          <a:xfrm>
            <a:off x="10040112"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6</a:t>
            </a:r>
            <a:endParaRPr lang="en-US" sz="1000" dirty="0"/>
          </a:p>
        </p:txBody>
      </p:sp>
      <p:sp>
        <p:nvSpPr>
          <p:cNvPr id="43" name="Text 41"/>
          <p:cNvSpPr txBox="1"/>
          <p:nvPr/>
        </p:nvSpPr>
        <p:spPr>
          <a:xfrm>
            <a:off x="10040112" y="2468880"/>
            <a:ext cx="1463040" cy="320040"/>
          </a:xfrm>
          <a:prstGeom prst="rect">
            <a:avLst/>
          </a:prstGeom>
          <a:noFill/>
          <a:ln/>
        </p:spPr>
        <p:txBody>
          <a:bodyPr wrap="square" lIns="0" tIns="0" rIns="0" bIns="0" rtlCol="0" anchor="t"/>
          <a:lstStyle/>
          <a:p>
            <a:pPr indent="0" marL="0">
              <a:buNone/>
            </a:pPr>
            <a:r>
              <a:rPr lang="en-US" sz="1500" b="1" dirty="0">
                <a:solidFill>
                  <a:schemeClr val="bg1"/>
                </a:solidFill>
              </a:rPr>
              <a:t>Tracking</a:t>
            </a:r>
            <a:endParaRPr lang="en-US" sz="1500" dirty="0"/>
          </a:p>
        </p:txBody>
      </p:sp>
      <p:sp>
        <p:nvSpPr>
          <p:cNvPr id="44" name="Text 42"/>
          <p:cNvSpPr txBox="1"/>
          <p:nvPr/>
        </p:nvSpPr>
        <p:spPr>
          <a:xfrm>
            <a:off x="10040112" y="2788920"/>
            <a:ext cx="1463040" cy="228600"/>
          </a:xfrm>
          <a:prstGeom prst="rect">
            <a:avLst/>
          </a:prstGeom>
          <a:noFill/>
          <a:ln/>
        </p:spPr>
        <p:txBody>
          <a:bodyPr wrap="square" lIns="0" tIns="0" rIns="0" bIns="0" rtlCol="0" anchor="t"/>
          <a:lstStyle/>
          <a:p>
            <a:pPr indent="0" marL="0">
              <a:buNone/>
            </a:pPr>
            <a:r>
              <a:rPr lang="en-US" sz="1100" dirty="0">
                <a:solidFill>
                  <a:schemeClr val="accent4"/>
                </a:solidFill>
              </a:rPr>
              <a:t>22 Mar–2 Apr</a:t>
            </a:r>
            <a:endParaRPr lang="en-US" sz="1100" dirty="0"/>
          </a:p>
        </p:txBody>
      </p:sp>
      <p:sp>
        <p:nvSpPr>
          <p:cNvPr id="45" name="Text 43"/>
          <p:cNvSpPr txBox="1"/>
          <p:nvPr/>
        </p:nvSpPr>
        <p:spPr>
          <a:xfrm>
            <a:off x="10040112"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bg1"/>
                </a:solidFill>
              </a:rPr>
              <a:t>US4 History</a:t>
            </a:r>
            <a:endParaRPr lang="en-US" sz="1100" dirty="0"/>
          </a:p>
          <a:p>
            <a:pPr indent="0" marL="0">
              <a:spcAft>
                <a:spcPts val="300"/>
              </a:spcAft>
              <a:buNone/>
            </a:pPr>
            <a:r>
              <a:rPr lang="en-US" sz="1100" dirty="0">
                <a:solidFill>
                  <a:schemeClr val="bg1"/>
                </a:solidFill>
              </a:rPr>
              <a:t>US11 Reminders</a:t>
            </a:r>
            <a:endParaRPr lang="en-US" sz="1100" dirty="0"/>
          </a:p>
          <a:p>
            <a:pPr indent="0" marL="0">
              <a:spcAft>
                <a:spcPts val="300"/>
              </a:spcAft>
              <a:buNone/>
            </a:pPr>
            <a:r>
              <a:rPr lang="en-US" sz="1100" dirty="0">
                <a:solidFill>
                  <a:schemeClr val="bg1"/>
                </a:solidFill>
              </a:rPr>
              <a:t>US20 Language</a:t>
            </a:r>
            <a:endParaRPr lang="en-US" sz="1100" dirty="0"/>
          </a:p>
          <a:p>
            <a:pPr indent="0" marL="0">
              <a:spcAft>
                <a:spcPts val="300"/>
              </a:spcAft>
              <a:buNone/>
            </a:pPr>
            <a:r>
              <a:rPr lang="en-US" sz="1100" dirty="0">
                <a:solidFill>
                  <a:schemeClr val="bg1"/>
                </a:solidFill>
              </a:rPr>
              <a:t>US21 Apply + confirm</a:t>
            </a:r>
            <a:endParaRPr lang="en-US" sz="1100" dirty="0"/>
          </a:p>
        </p:txBody>
      </p:sp>
      <p:sp>
        <p:nvSpPr>
          <p:cNvPr id="46" name="Text 44"/>
          <p:cNvSpPr txBox="1"/>
          <p:nvPr/>
        </p:nvSpPr>
        <p:spPr>
          <a:xfrm>
            <a:off x="10040112" y="4754880"/>
            <a:ext cx="1463040" cy="320040"/>
          </a:xfrm>
          <a:prstGeom prst="rect">
            <a:avLst/>
          </a:prstGeom>
          <a:noFill/>
          <a:ln/>
        </p:spPr>
        <p:txBody>
          <a:bodyPr wrap="square" lIns="0" tIns="0" rIns="0" bIns="0" rtlCol="0" anchor="t"/>
          <a:lstStyle/>
          <a:p>
            <a:pPr indent="0" marL="0">
              <a:buNone/>
            </a:pPr>
            <a:r>
              <a:rPr lang="en-US" sz="1600" b="1" dirty="0">
                <a:solidFill>
                  <a:schemeClr val="bg1"/>
                </a:solidFill>
              </a:rPr>
              <a:t>14 pts</a:t>
            </a:r>
            <a:endParaRPr lang="en-US" sz="1600" dirty="0"/>
          </a:p>
        </p:txBody>
      </p:sp>
      <p:sp>
        <p:nvSpPr>
          <p:cNvPr id="47" name="around"/>
          <p:cNvSpPr/>
          <p:nvPr/>
        </p:nvSpPr>
        <p:spPr>
          <a:xfrm>
            <a:off x="548640" y="5394960"/>
            <a:ext cx="11091672" cy="658368"/>
          </a:xfrm>
          <a:prstGeom prst="roundRect">
            <a:avLst>
              <a:gd name="adj" fmla="val 16667"/>
            </a:avLst>
          </a:prstGeom>
          <a:solidFill>
            <a:schemeClr val="bg1"/>
          </a:solidFill>
          <a:ln w="12700">
            <a:solidFill>
              <a:schemeClr val="bg1"/>
            </a:solidFill>
            <a:prstDash val="solid"/>
          </a:ln>
        </p:spPr>
      </p:sp>
      <p:sp>
        <p:nvSpPr>
          <p:cNvPr id="48" name="Text 46"/>
          <p:cNvSpPr txBox="1"/>
          <p:nvPr/>
        </p:nvSpPr>
        <p:spPr>
          <a:xfrm>
            <a:off x="777240" y="5394960"/>
            <a:ext cx="10698480" cy="658368"/>
          </a:xfrm>
          <a:prstGeom prst="rect">
            <a:avLst/>
          </a:prstGeom>
          <a:noFill/>
          <a:ln/>
        </p:spPr>
        <p:txBody>
          <a:bodyPr wrap="square" lIns="0" tIns="0" rIns="0" bIns="0" rtlCol="0" anchor="ctr"/>
          <a:lstStyle/>
          <a:p>
            <a:pPr indent="0" marL="0">
              <a:buNone/>
            </a:pPr>
            <a:r>
              <a:rPr lang="en-US" sz="1200" b="1" dirty="0">
                <a:solidFill>
                  <a:schemeClr val="tx1"/>
                </a:solidFill>
              </a:rPr>
              <a:t>Before: </a:t>
            </a:r>
            <a:pPr indent="0" marL="0">
              <a:buNone/>
            </a:pPr>
            <a:r>
              <a:rPr lang="en-US" sz="1200" dirty="0">
                <a:solidFill>
                  <a:schemeClr val="tx1"/>
                </a:solidFill>
              </a:rPr>
              <a:t>S1–S6 validate and design (Oct 2026 – Jan 2027).   </a:t>
            </a:r>
            <a:pPr indent="0" marL="0">
              <a:buNone/>
            </a:pPr>
            <a:r>
              <a:rPr lang="en-US" sz="1200" b="1" dirty="0">
                <a:solidFill>
                  <a:schemeClr val="tx1"/>
                </a:solidFill>
              </a:rPr>
              <a:t>After: </a:t>
            </a:r>
            <a:pPr indent="0" marL="0">
              <a:buNone/>
            </a:pPr>
            <a:r>
              <a:rPr lang="en-US" sz="1200" dirty="0">
                <a:solidFill>
                  <a:schemeClr val="tx1"/>
                </a:solidFill>
              </a:rPr>
              <a:t>hardening and Should stretch (US18 interview prep, US7, US15, US16, US19), beta in May, launch 14 June 2027.</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04 · WIREFRAMES · FIGMA PROTOTYPE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Seven screens in one clickable flow, on web and mobile</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flow"/>
          <p:cNvSpPr/>
          <p:nvPr/>
        </p:nvSpPr>
        <p:spPr>
          <a:xfrm>
            <a:off x="548640" y="2011680"/>
            <a:ext cx="1444752" cy="384048"/>
          </a:xfrm>
          <a:prstGeom prst="roundRect">
            <a:avLst>
              <a:gd name="adj" fmla="val 50000"/>
            </a:avLst>
          </a:prstGeom>
          <a:solidFill>
            <a:srgbClr val="0F2A4A"/>
          </a:solidFill>
          <a:ln w="12700">
            <a:solidFill>
              <a:srgbClr val="0F2A4A"/>
            </a:solidFill>
            <a:prstDash val="solid"/>
          </a:ln>
        </p:spPr>
      </p:sp>
      <p:sp>
        <p:nvSpPr>
          <p:cNvPr id="12" name="Text 10"/>
          <p:cNvSpPr txBox="1"/>
          <p:nvPr/>
        </p:nvSpPr>
        <p:spPr>
          <a:xfrm>
            <a:off x="548640" y="2011680"/>
            <a:ext cx="1444752" cy="384048"/>
          </a:xfrm>
          <a:prstGeom prst="rect">
            <a:avLst/>
          </a:prstGeom>
          <a:noFill/>
          <a:ln/>
        </p:spPr>
        <p:txBody>
          <a:bodyPr wrap="square" lIns="0" tIns="0" rIns="0" bIns="0" rtlCol="0" anchor="ctr"/>
          <a:lstStyle/>
          <a:p>
            <a:pPr algn="ctr" indent="0" marL="0">
              <a:buNone/>
            </a:pPr>
            <a:r>
              <a:rPr lang="en-US" sz="1100" b="1" dirty="0">
                <a:solidFill>
                  <a:schemeClr val="bg1"/>
                </a:solidFill>
              </a:rPr>
              <a:t>1 SSO sign-in</a:t>
            </a:r>
            <a:endParaRPr lang="en-US" sz="1100" dirty="0"/>
          </a:p>
        </p:txBody>
      </p:sp>
      <p:sp>
        <p:nvSpPr>
          <p:cNvPr id="13" name="Text 11"/>
          <p:cNvSpPr txBox="1"/>
          <p:nvPr/>
        </p:nvSpPr>
        <p:spPr>
          <a:xfrm>
            <a:off x="1993392" y="2011680"/>
            <a:ext cx="146304" cy="38404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14" name="flow"/>
          <p:cNvSpPr/>
          <p:nvPr/>
        </p:nvSpPr>
        <p:spPr>
          <a:xfrm>
            <a:off x="2139696" y="2011680"/>
            <a:ext cx="1444752" cy="384048"/>
          </a:xfrm>
          <a:prstGeom prst="roundRect">
            <a:avLst>
              <a:gd name="adj" fmla="val 50000"/>
            </a:avLst>
          </a:prstGeom>
          <a:solidFill>
            <a:srgbClr val="0F2A4A"/>
          </a:solidFill>
          <a:ln w="12700">
            <a:solidFill>
              <a:srgbClr val="0F2A4A"/>
            </a:solidFill>
            <a:prstDash val="solid"/>
          </a:ln>
        </p:spPr>
      </p:sp>
      <p:sp>
        <p:nvSpPr>
          <p:cNvPr id="15" name="Text 13"/>
          <p:cNvSpPr txBox="1"/>
          <p:nvPr/>
        </p:nvSpPr>
        <p:spPr>
          <a:xfrm>
            <a:off x="2139696" y="2011680"/>
            <a:ext cx="1444752" cy="384048"/>
          </a:xfrm>
          <a:prstGeom prst="rect">
            <a:avLst/>
          </a:prstGeom>
          <a:noFill/>
          <a:ln/>
        </p:spPr>
        <p:txBody>
          <a:bodyPr wrap="square" lIns="0" tIns="0" rIns="0" bIns="0" rtlCol="0" anchor="ctr"/>
          <a:lstStyle/>
          <a:p>
            <a:pPr algn="ctr" indent="0" marL="0">
              <a:buNone/>
            </a:pPr>
            <a:r>
              <a:rPr lang="en-US" sz="1100" b="1" dirty="0">
                <a:solidFill>
                  <a:schemeClr val="bg1"/>
                </a:solidFill>
              </a:rPr>
              <a:t>2 Onboarding</a:t>
            </a:r>
            <a:endParaRPr lang="en-US" sz="1100" dirty="0"/>
          </a:p>
        </p:txBody>
      </p:sp>
      <p:sp>
        <p:nvSpPr>
          <p:cNvPr id="16" name="Text 14"/>
          <p:cNvSpPr txBox="1"/>
          <p:nvPr/>
        </p:nvSpPr>
        <p:spPr>
          <a:xfrm>
            <a:off x="3584448" y="2011680"/>
            <a:ext cx="146304" cy="38404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17" name="flow"/>
          <p:cNvSpPr/>
          <p:nvPr/>
        </p:nvSpPr>
        <p:spPr>
          <a:xfrm>
            <a:off x="3730752" y="2011680"/>
            <a:ext cx="1444752" cy="384048"/>
          </a:xfrm>
          <a:prstGeom prst="roundRect">
            <a:avLst>
              <a:gd name="adj" fmla="val 50000"/>
            </a:avLst>
          </a:prstGeom>
          <a:solidFill>
            <a:srgbClr val="0F2A4A"/>
          </a:solidFill>
          <a:ln w="12700">
            <a:solidFill>
              <a:srgbClr val="0F2A4A"/>
            </a:solidFill>
            <a:prstDash val="solid"/>
          </a:ln>
        </p:spPr>
      </p:sp>
      <p:sp>
        <p:nvSpPr>
          <p:cNvPr id="18" name="Text 16"/>
          <p:cNvSpPr txBox="1"/>
          <p:nvPr/>
        </p:nvSpPr>
        <p:spPr>
          <a:xfrm>
            <a:off x="3730752" y="2011680"/>
            <a:ext cx="1444752" cy="384048"/>
          </a:xfrm>
          <a:prstGeom prst="rect">
            <a:avLst/>
          </a:prstGeom>
          <a:noFill/>
          <a:ln/>
        </p:spPr>
        <p:txBody>
          <a:bodyPr wrap="square" lIns="0" tIns="0" rIns="0" bIns="0" rtlCol="0" anchor="ctr"/>
          <a:lstStyle/>
          <a:p>
            <a:pPr algn="ctr" indent="0" marL="0">
              <a:buNone/>
            </a:pPr>
            <a:r>
              <a:rPr lang="en-US" sz="1100" b="1" dirty="0">
                <a:solidFill>
                  <a:schemeClr val="bg1"/>
                </a:solidFill>
              </a:rPr>
              <a:t>3 Alerts &amp; filters</a:t>
            </a:r>
            <a:endParaRPr lang="en-US" sz="1100" dirty="0"/>
          </a:p>
        </p:txBody>
      </p:sp>
      <p:sp>
        <p:nvSpPr>
          <p:cNvPr id="19" name="Text 17"/>
          <p:cNvSpPr txBox="1"/>
          <p:nvPr/>
        </p:nvSpPr>
        <p:spPr>
          <a:xfrm>
            <a:off x="5175504" y="2011680"/>
            <a:ext cx="146304" cy="38404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20" name="flow"/>
          <p:cNvSpPr/>
          <p:nvPr/>
        </p:nvSpPr>
        <p:spPr>
          <a:xfrm>
            <a:off x="5321808" y="2011680"/>
            <a:ext cx="1444752" cy="384048"/>
          </a:xfrm>
          <a:prstGeom prst="roundRect">
            <a:avLst>
              <a:gd name="adj" fmla="val 50000"/>
            </a:avLst>
          </a:prstGeom>
          <a:solidFill>
            <a:srgbClr val="0F2A4A"/>
          </a:solidFill>
          <a:ln w="12700">
            <a:solidFill>
              <a:srgbClr val="0F2A4A"/>
            </a:solidFill>
            <a:prstDash val="solid"/>
          </a:ln>
        </p:spPr>
      </p:sp>
      <p:sp>
        <p:nvSpPr>
          <p:cNvPr id="21" name="Text 19"/>
          <p:cNvSpPr txBox="1"/>
          <p:nvPr/>
        </p:nvSpPr>
        <p:spPr>
          <a:xfrm>
            <a:off x="5321808" y="2011680"/>
            <a:ext cx="1444752" cy="384048"/>
          </a:xfrm>
          <a:prstGeom prst="rect">
            <a:avLst/>
          </a:prstGeom>
          <a:noFill/>
          <a:ln/>
        </p:spPr>
        <p:txBody>
          <a:bodyPr wrap="square" lIns="0" tIns="0" rIns="0" bIns="0" rtlCol="0" anchor="ctr"/>
          <a:lstStyle/>
          <a:p>
            <a:pPr algn="ctr" indent="0" marL="0">
              <a:buNone/>
            </a:pPr>
            <a:r>
              <a:rPr lang="en-US" sz="1100" b="1" dirty="0">
                <a:solidFill>
                  <a:schemeClr val="bg1"/>
                </a:solidFill>
              </a:rPr>
              <a:t>4 Job list</a:t>
            </a:r>
            <a:endParaRPr lang="en-US" sz="1100" dirty="0"/>
          </a:p>
        </p:txBody>
      </p:sp>
      <p:sp>
        <p:nvSpPr>
          <p:cNvPr id="22" name="Text 20"/>
          <p:cNvSpPr txBox="1"/>
          <p:nvPr/>
        </p:nvSpPr>
        <p:spPr>
          <a:xfrm>
            <a:off x="6766560" y="2011680"/>
            <a:ext cx="146304" cy="38404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23" name="flow"/>
          <p:cNvSpPr/>
          <p:nvPr/>
        </p:nvSpPr>
        <p:spPr>
          <a:xfrm>
            <a:off x="6912864" y="2011680"/>
            <a:ext cx="1444752" cy="384048"/>
          </a:xfrm>
          <a:prstGeom prst="roundRect">
            <a:avLst>
              <a:gd name="adj" fmla="val 50000"/>
            </a:avLst>
          </a:prstGeom>
          <a:solidFill>
            <a:srgbClr val="F2542D"/>
          </a:solidFill>
          <a:ln w="12700">
            <a:solidFill>
              <a:srgbClr val="F2542D"/>
            </a:solidFill>
            <a:prstDash val="solid"/>
          </a:ln>
        </p:spPr>
      </p:sp>
      <p:sp>
        <p:nvSpPr>
          <p:cNvPr id="24" name="Text 22"/>
          <p:cNvSpPr txBox="1"/>
          <p:nvPr/>
        </p:nvSpPr>
        <p:spPr>
          <a:xfrm>
            <a:off x="6912864" y="2011680"/>
            <a:ext cx="1444752" cy="384048"/>
          </a:xfrm>
          <a:prstGeom prst="rect">
            <a:avLst/>
          </a:prstGeom>
          <a:noFill/>
          <a:ln/>
        </p:spPr>
        <p:txBody>
          <a:bodyPr wrap="square" lIns="0" tIns="0" rIns="0" bIns="0" rtlCol="0" anchor="ctr"/>
          <a:lstStyle/>
          <a:p>
            <a:pPr algn="ctr" indent="0" marL="0">
              <a:buNone/>
            </a:pPr>
            <a:r>
              <a:rPr lang="en-US" sz="1100" b="1" dirty="0">
                <a:solidFill>
                  <a:schemeClr val="bg1"/>
                </a:solidFill>
              </a:rPr>
              <a:t>5 Job focus</a:t>
            </a:r>
            <a:endParaRPr lang="en-US" sz="1100" dirty="0"/>
          </a:p>
        </p:txBody>
      </p:sp>
      <p:sp>
        <p:nvSpPr>
          <p:cNvPr id="25" name="Text 23"/>
          <p:cNvSpPr txBox="1"/>
          <p:nvPr/>
        </p:nvSpPr>
        <p:spPr>
          <a:xfrm>
            <a:off x="8357616" y="2011680"/>
            <a:ext cx="146304" cy="38404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26" name="flow"/>
          <p:cNvSpPr/>
          <p:nvPr/>
        </p:nvSpPr>
        <p:spPr>
          <a:xfrm>
            <a:off x="8503920" y="2011680"/>
            <a:ext cx="1444752" cy="384048"/>
          </a:xfrm>
          <a:prstGeom prst="roundRect">
            <a:avLst>
              <a:gd name="adj" fmla="val 50000"/>
            </a:avLst>
          </a:prstGeom>
          <a:solidFill>
            <a:srgbClr val="0F2A4A"/>
          </a:solidFill>
          <a:ln w="12700">
            <a:solidFill>
              <a:srgbClr val="0F2A4A"/>
            </a:solidFill>
            <a:prstDash val="solid"/>
          </a:ln>
        </p:spPr>
      </p:sp>
      <p:sp>
        <p:nvSpPr>
          <p:cNvPr id="27" name="Text 25"/>
          <p:cNvSpPr txBox="1"/>
          <p:nvPr/>
        </p:nvSpPr>
        <p:spPr>
          <a:xfrm>
            <a:off x="8503920" y="2011680"/>
            <a:ext cx="1444752" cy="384048"/>
          </a:xfrm>
          <a:prstGeom prst="rect">
            <a:avLst/>
          </a:prstGeom>
          <a:noFill/>
          <a:ln/>
        </p:spPr>
        <p:txBody>
          <a:bodyPr wrap="square" lIns="0" tIns="0" rIns="0" bIns="0" rtlCol="0" anchor="ctr"/>
          <a:lstStyle/>
          <a:p>
            <a:pPr algn="ctr" indent="0" marL="0">
              <a:buNone/>
            </a:pPr>
            <a:r>
              <a:rPr lang="en-US" sz="1100" b="1" dirty="0">
                <a:solidFill>
                  <a:schemeClr val="bg1"/>
                </a:solidFill>
              </a:rPr>
              <a:t>6 Preparation</a:t>
            </a:r>
            <a:endParaRPr lang="en-US" sz="1100" dirty="0"/>
          </a:p>
        </p:txBody>
      </p:sp>
      <p:sp>
        <p:nvSpPr>
          <p:cNvPr id="28" name="Text 26"/>
          <p:cNvSpPr txBox="1"/>
          <p:nvPr/>
        </p:nvSpPr>
        <p:spPr>
          <a:xfrm>
            <a:off x="9948672" y="2011680"/>
            <a:ext cx="146304" cy="38404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29" name="flow"/>
          <p:cNvSpPr/>
          <p:nvPr/>
        </p:nvSpPr>
        <p:spPr>
          <a:xfrm>
            <a:off x="10094976" y="2011680"/>
            <a:ext cx="1444752" cy="384048"/>
          </a:xfrm>
          <a:prstGeom prst="roundRect">
            <a:avLst>
              <a:gd name="adj" fmla="val 50000"/>
            </a:avLst>
          </a:prstGeom>
          <a:solidFill>
            <a:srgbClr val="0F2A4A"/>
          </a:solidFill>
          <a:ln w="12700">
            <a:solidFill>
              <a:srgbClr val="0F2A4A"/>
            </a:solidFill>
            <a:prstDash val="solid"/>
          </a:ln>
        </p:spPr>
      </p:sp>
      <p:sp>
        <p:nvSpPr>
          <p:cNvPr id="30" name="Text 28"/>
          <p:cNvSpPr txBox="1"/>
          <p:nvPr/>
        </p:nvSpPr>
        <p:spPr>
          <a:xfrm>
            <a:off x="10094976" y="2011680"/>
            <a:ext cx="1444752" cy="384048"/>
          </a:xfrm>
          <a:prstGeom prst="rect">
            <a:avLst/>
          </a:prstGeom>
          <a:noFill/>
          <a:ln/>
        </p:spPr>
        <p:txBody>
          <a:bodyPr wrap="square" lIns="0" tIns="0" rIns="0" bIns="0" rtlCol="0" anchor="ctr"/>
          <a:lstStyle/>
          <a:p>
            <a:pPr algn="ctr" indent="0" marL="0">
              <a:buNone/>
            </a:pPr>
            <a:r>
              <a:rPr lang="en-US" sz="1100" b="1" dirty="0">
                <a:solidFill>
                  <a:schemeClr val="bg1"/>
                </a:solidFill>
              </a:rPr>
              <a:t>7 History</a:t>
            </a:r>
            <a:endParaRPr lang="en-US" sz="1100" dirty="0"/>
          </a:p>
        </p:txBody>
      </p:sp>
      <p:pic>
        <p:nvPicPr>
          <p:cNvPr id="31" name="Image 0" descr="/tmp/claude-0/-home-claude/d1b11841-31a5-5c6c-8b8a-2c68ca1b0a7c/scratchpad/deck/shots/signin.png">    </p:cNvPr>
          <p:cNvPicPr>
            <a:picLocks noChangeAspect="1"/>
          </p:cNvPicPr>
          <p:nvPr/>
        </p:nvPicPr>
        <p:blipFill>
          <a:blip r:embed="rId1"/>
          <a:srcRect l="0" r="0" t="0" b="0"/>
          <a:stretch/>
        </p:blipFill>
        <p:spPr>
          <a:xfrm>
            <a:off x="548640" y="2651760"/>
            <a:ext cx="2194560" cy="1371600"/>
          </a:xfrm>
          <a:prstGeom prst="rect">
            <a:avLst/>
          </a:prstGeom>
        </p:spPr>
      </p:pic>
      <p:sp>
        <p:nvSpPr>
          <p:cNvPr id="32" name="Shape 29"/>
          <p:cNvSpPr/>
          <p:nvPr/>
        </p:nvSpPr>
        <p:spPr>
          <a:xfrm>
            <a:off x="548640" y="2651760"/>
            <a:ext cx="2194560" cy="1371600"/>
          </a:xfrm>
          <a:prstGeom prst="rect">
            <a:avLst/>
          </a:prstGeom>
          <a:ln w="9525">
            <a:solidFill>
              <a:srgbClr val="D5DEEA"/>
            </a:solidFill>
            <a:prstDash val="solid"/>
          </a:ln>
        </p:spPr>
      </p:sp>
      <p:sp>
        <p:nvSpPr>
          <p:cNvPr id="33" name="Text 30"/>
          <p:cNvSpPr txBox="1"/>
          <p:nvPr/>
        </p:nvSpPr>
        <p:spPr>
          <a:xfrm>
            <a:off x="2880360" y="2743200"/>
            <a:ext cx="1691640" cy="1097280"/>
          </a:xfrm>
          <a:prstGeom prst="rect">
            <a:avLst/>
          </a:prstGeom>
          <a:noFill/>
          <a:ln/>
        </p:spPr>
        <p:txBody>
          <a:bodyPr wrap="square" lIns="0" tIns="0" rIns="0" bIns="0" rtlCol="0" anchor="t"/>
          <a:lstStyle/>
          <a:p>
            <a:pPr indent="0" marL="0">
              <a:buNone/>
            </a:pPr>
            <a:r>
              <a:rPr lang="en-US" sz="1200" dirty="0">
                <a:solidFill>
                  <a:schemeClr val="tx1"/>
                </a:solidFill>
              </a:rPr>
              <a:t>1 · SSO card (Figma Community)</a:t>
            </a:r>
            <a:endParaRPr lang="en-US" sz="1200" dirty="0"/>
          </a:p>
        </p:txBody>
      </p:sp>
      <p:pic>
        <p:nvPicPr>
          <p:cNvPr id="34" name="Image 1" descr="/tmp/claude-0/-home-claude/d1b11841-31a5-5c6c-8b8a-2c68ca1b0a7c/scratchpad/deck/shots/jobs.png">    </p:cNvPr>
          <p:cNvPicPr>
            <a:picLocks noChangeAspect="1"/>
          </p:cNvPicPr>
          <p:nvPr/>
        </p:nvPicPr>
        <p:blipFill>
          <a:blip r:embed="rId2"/>
          <a:srcRect l="0" r="0" t="0" b="0"/>
          <a:stretch/>
        </p:blipFill>
        <p:spPr>
          <a:xfrm>
            <a:off x="4709160" y="2651760"/>
            <a:ext cx="2194560" cy="1371600"/>
          </a:xfrm>
          <a:prstGeom prst="rect">
            <a:avLst/>
          </a:prstGeom>
        </p:spPr>
      </p:pic>
      <p:sp>
        <p:nvSpPr>
          <p:cNvPr id="35" name="Shape 31"/>
          <p:cNvSpPr/>
          <p:nvPr/>
        </p:nvSpPr>
        <p:spPr>
          <a:xfrm>
            <a:off x="4709160" y="2651760"/>
            <a:ext cx="2194560" cy="1371600"/>
          </a:xfrm>
          <a:prstGeom prst="rect">
            <a:avLst/>
          </a:prstGeom>
          <a:ln w="9525">
            <a:solidFill>
              <a:srgbClr val="D5DEEA"/>
            </a:solidFill>
            <a:prstDash val="solid"/>
          </a:ln>
        </p:spPr>
      </p:sp>
      <p:sp>
        <p:nvSpPr>
          <p:cNvPr id="36" name="Text 32"/>
          <p:cNvSpPr txBox="1"/>
          <p:nvPr/>
        </p:nvSpPr>
        <p:spPr>
          <a:xfrm>
            <a:off x="7040880" y="2743200"/>
            <a:ext cx="1691640" cy="1097280"/>
          </a:xfrm>
          <a:prstGeom prst="rect">
            <a:avLst/>
          </a:prstGeom>
          <a:noFill/>
          <a:ln/>
        </p:spPr>
        <p:txBody>
          <a:bodyPr wrap="square" lIns="0" tIns="0" rIns="0" bIns="0" rtlCol="0" anchor="t"/>
          <a:lstStyle/>
          <a:p>
            <a:pPr indent="0" marL="0">
              <a:buNone/>
            </a:pPr>
            <a:r>
              <a:rPr lang="en-US" sz="1200" dirty="0">
                <a:solidFill>
                  <a:schemeClr val="tx1"/>
                </a:solidFill>
              </a:rPr>
              <a:t>4 · Job list: 10 jobs, fit ring</a:t>
            </a:r>
            <a:endParaRPr lang="en-US" sz="1200" dirty="0"/>
          </a:p>
        </p:txBody>
      </p:sp>
      <p:pic>
        <p:nvPicPr>
          <p:cNvPr id="37" name="Image 2" descr="/tmp/claude-0/-home-claude/d1b11841-31a5-5c6c-8b8a-2c68ca1b0a7c/scratchpad/deck/shots/job.png">    </p:cNvPr>
          <p:cNvPicPr>
            <a:picLocks noChangeAspect="1"/>
          </p:cNvPicPr>
          <p:nvPr/>
        </p:nvPicPr>
        <p:blipFill>
          <a:blip r:embed="rId3"/>
          <a:srcRect l="0" r="0" t="0" b="0"/>
          <a:stretch/>
        </p:blipFill>
        <p:spPr>
          <a:xfrm>
            <a:off x="548640" y="4434840"/>
            <a:ext cx="2194560" cy="1371600"/>
          </a:xfrm>
          <a:prstGeom prst="rect">
            <a:avLst/>
          </a:prstGeom>
        </p:spPr>
      </p:pic>
      <p:sp>
        <p:nvSpPr>
          <p:cNvPr id="38" name="Shape 33"/>
          <p:cNvSpPr/>
          <p:nvPr/>
        </p:nvSpPr>
        <p:spPr>
          <a:xfrm>
            <a:off x="548640" y="4434840"/>
            <a:ext cx="2194560" cy="1371600"/>
          </a:xfrm>
          <a:prstGeom prst="rect">
            <a:avLst/>
          </a:prstGeom>
          <a:ln w="9525">
            <a:solidFill>
              <a:srgbClr val="D5DEEA"/>
            </a:solidFill>
            <a:prstDash val="solid"/>
          </a:ln>
        </p:spPr>
      </p:sp>
      <p:sp>
        <p:nvSpPr>
          <p:cNvPr id="39" name="Text 34"/>
          <p:cNvSpPr txBox="1"/>
          <p:nvPr/>
        </p:nvSpPr>
        <p:spPr>
          <a:xfrm>
            <a:off x="2880360" y="4526280"/>
            <a:ext cx="1691640" cy="1097280"/>
          </a:xfrm>
          <a:prstGeom prst="rect">
            <a:avLst/>
          </a:prstGeom>
          <a:noFill/>
          <a:ln/>
        </p:spPr>
        <p:txBody>
          <a:bodyPr wrap="square" lIns="0" tIns="0" rIns="0" bIns="0" rtlCol="0" anchor="t"/>
          <a:lstStyle/>
          <a:p>
            <a:pPr indent="0" marL="0">
              <a:buNone/>
            </a:pPr>
            <a:r>
              <a:rPr lang="en-US" sz="1200" dirty="0">
                <a:solidFill>
                  <a:schemeClr val="tx1"/>
                </a:solidFill>
              </a:rPr>
              <a:t>5 · Job focus: Prepare, Apply, Save</a:t>
            </a:r>
            <a:endParaRPr lang="en-US" sz="1200" dirty="0"/>
          </a:p>
        </p:txBody>
      </p:sp>
      <p:pic>
        <p:nvPicPr>
          <p:cNvPr id="40" name="Image 3" descr="/tmp/claude-0/-home-claude/d1b11841-31a5-5c6c-8b8a-2c68ca1b0a7c/scratchpad/deck/shots/prepare.png">    </p:cNvPr>
          <p:cNvPicPr>
            <a:picLocks noChangeAspect="1"/>
          </p:cNvPicPr>
          <p:nvPr/>
        </p:nvPicPr>
        <p:blipFill>
          <a:blip r:embed="rId4"/>
          <a:srcRect l="0" r="0" t="0" b="0"/>
          <a:stretch/>
        </p:blipFill>
        <p:spPr>
          <a:xfrm>
            <a:off x="4709160" y="4434840"/>
            <a:ext cx="2194560" cy="1371600"/>
          </a:xfrm>
          <a:prstGeom prst="rect">
            <a:avLst/>
          </a:prstGeom>
        </p:spPr>
      </p:pic>
      <p:sp>
        <p:nvSpPr>
          <p:cNvPr id="41" name="Shape 35"/>
          <p:cNvSpPr/>
          <p:nvPr/>
        </p:nvSpPr>
        <p:spPr>
          <a:xfrm>
            <a:off x="4709160" y="4434840"/>
            <a:ext cx="2194560" cy="1371600"/>
          </a:xfrm>
          <a:prstGeom prst="rect">
            <a:avLst/>
          </a:prstGeom>
          <a:ln w="9525">
            <a:solidFill>
              <a:srgbClr val="D5DEEA"/>
            </a:solidFill>
            <a:prstDash val="solid"/>
          </a:ln>
        </p:spPr>
      </p:sp>
      <p:sp>
        <p:nvSpPr>
          <p:cNvPr id="42" name="Text 36"/>
          <p:cNvSpPr txBox="1"/>
          <p:nvPr/>
        </p:nvSpPr>
        <p:spPr>
          <a:xfrm>
            <a:off x="7040880" y="4526280"/>
            <a:ext cx="1691640" cy="1097280"/>
          </a:xfrm>
          <a:prstGeom prst="rect">
            <a:avLst/>
          </a:prstGeom>
          <a:noFill/>
          <a:ln/>
        </p:spPr>
        <p:txBody>
          <a:bodyPr wrap="square" lIns="0" tIns="0" rIns="0" bIns="0" rtlCol="0" anchor="t"/>
          <a:lstStyle/>
          <a:p>
            <a:pPr indent="0" marL="0">
              <a:buNone/>
            </a:pPr>
            <a:r>
              <a:rPr lang="en-US" sz="1200" dirty="0">
                <a:solidFill>
                  <a:schemeClr val="tx1"/>
                </a:solidFill>
              </a:rPr>
              <a:t>6 · Preparation: evidence, strategy</a:t>
            </a:r>
            <a:endParaRPr lang="en-US" sz="1200" dirty="0"/>
          </a:p>
        </p:txBody>
      </p:sp>
      <p:pic>
        <p:nvPicPr>
          <p:cNvPr id="43" name="Image 4" descr="/tmp/claude-0/-home-claude/d1b11841-31a5-5c6c-8b8a-2c68ca1b0a7c/scratchpad/deck/shots/mobile.png">    </p:cNvPr>
          <p:cNvPicPr>
            <a:picLocks noChangeAspect="1"/>
          </p:cNvPicPr>
          <p:nvPr/>
        </p:nvPicPr>
        <p:blipFill>
          <a:blip r:embed="rId5"/>
          <a:stretch>
            <a:fillRect/>
          </a:stretch>
        </p:blipFill>
        <p:spPr>
          <a:xfrm>
            <a:off x="8915400" y="2651760"/>
            <a:ext cx="1280160" cy="2770632"/>
          </a:xfrm>
          <a:prstGeom prst="rect">
            <a:avLst/>
          </a:prstGeom>
        </p:spPr>
      </p:pic>
      <p:sp>
        <p:nvSpPr>
          <p:cNvPr id="44" name="Shape 37"/>
          <p:cNvSpPr/>
          <p:nvPr/>
        </p:nvSpPr>
        <p:spPr>
          <a:xfrm>
            <a:off x="8915400" y="2651760"/>
            <a:ext cx="1280160" cy="2770632"/>
          </a:xfrm>
          <a:prstGeom prst="rect">
            <a:avLst/>
          </a:prstGeom>
          <a:ln w="9525">
            <a:solidFill>
              <a:srgbClr val="D5DEEA"/>
            </a:solidFill>
            <a:prstDash val="solid"/>
          </a:ln>
        </p:spPr>
      </p:sp>
      <p:sp>
        <p:nvSpPr>
          <p:cNvPr id="45" name="Text 38"/>
          <p:cNvSpPr txBox="1"/>
          <p:nvPr/>
        </p:nvSpPr>
        <p:spPr>
          <a:xfrm>
            <a:off x="10332720" y="2697480"/>
            <a:ext cx="1325880" cy="1097280"/>
          </a:xfrm>
          <a:prstGeom prst="rect">
            <a:avLst/>
          </a:prstGeom>
          <a:noFill/>
          <a:ln/>
        </p:spPr>
        <p:txBody>
          <a:bodyPr wrap="square" lIns="0" tIns="0" rIns="0" bIns="0" rtlCol="0" anchor="t"/>
          <a:lstStyle/>
          <a:p>
            <a:pPr indent="0" marL="0">
              <a:buNone/>
            </a:pPr>
            <a:r>
              <a:rPr lang="en-US" sz="1200" dirty="0">
                <a:solidFill>
                  <a:schemeClr val="tx1"/>
                </a:solidFill>
              </a:rPr>
              <a:t>Mobile frame 390 × 844: the job focus</a:t>
            </a:r>
            <a:endParaRPr lang="en-US" sz="1200" dirty="0"/>
          </a:p>
        </p:txBody>
      </p:sp>
      <p:sp>
        <p:nvSpPr>
          <p:cNvPr id="46" name="Text 39"/>
          <p:cNvSpPr txBox="1"/>
          <p:nvPr/>
        </p:nvSpPr>
        <p:spPr>
          <a:xfrm>
            <a:off x="10332720" y="3886200"/>
            <a:ext cx="1325880" cy="1554480"/>
          </a:xfrm>
          <a:prstGeom prst="rect">
            <a:avLst/>
          </a:prstGeom>
          <a:noFill/>
          <a:ln/>
        </p:spPr>
        <p:txBody>
          <a:bodyPr wrap="square" lIns="0" tIns="0" rIns="0" bIns="0" rtlCol="0" anchor="t"/>
          <a:lstStyle/>
          <a:p>
            <a:pPr indent="0" marL="0">
              <a:buNone/>
            </a:pPr>
            <a:r>
              <a:rPr lang="en-US" sz="1100" dirty="0">
                <a:solidFill>
                  <a:schemeClr val="tx2"/>
                </a:solidFill>
              </a:rPr>
              <a:t>Built from Figma Community parts (SSO card, wireframes kit) in the logo A style. Each frame names the user stories it covers.</a:t>
            </a:r>
            <a:endParaRPr lang="en-US" sz="1100" dirty="0"/>
          </a:p>
        </p:txBody>
      </p:sp>
      <p:sp>
        <p:nvSpPr>
          <p:cNvPr id="47" name="Text 40"/>
          <p:cNvSpPr txBox="1"/>
          <p:nvPr/>
        </p:nvSpPr>
        <p:spPr>
          <a:xfrm>
            <a:off x="548640" y="6126480"/>
            <a:ext cx="10058400" cy="228600"/>
          </a:xfrm>
          <a:prstGeom prst="rect">
            <a:avLst/>
          </a:prstGeom>
          <a:noFill/>
          <a:ln/>
        </p:spPr>
        <p:txBody>
          <a:bodyPr wrap="square" lIns="0" tIns="0" rIns="0" bIns="0" rtlCol="0" anchor="t"/>
          <a:lstStyle/>
          <a:p>
            <a:pPr indent="0" marL="0">
              <a:buNone/>
            </a:pPr>
            <a:r>
              <a:rPr lang="en-US" sz="1100" u="sng" dirty="0">
                <a:solidFill>
                  <a:schemeClr val="tx2"/>
                </a:solidFill>
                <a:hlinkClick r:id="rId6" invalidUrl="" action="" tgtFrame="" tooltip="" history="1" highlightClick="0" endSnd="0">
                  <a:extLst>
                    <a:ext uri="{A12FA001-AC4F-418D-AE19-62706E023703}">
                      <ahyp:hlinkClr xmlns:ahyp="http://schemas.microsoft.com/office/drawing/2018/hyperlinkcolor" val="tx"/>
                    </a:ext>
                  </a:extLst>
                </a:hlinkClick>
              </a:rPr>
              <a:t>Figma · CareerPilot prototype</a:t>
            </a:r>
            <a:pPr indent="0" marL="0">
              <a:buNone/>
            </a:pPr>
            <a:r>
              <a:rPr lang="en-US" sz="1100" dirty="0">
                <a:solidFill>
                  <a:schemeClr val="tx2"/>
                </a:solidFill>
              </a:rPr>
              <a:t> · screenshots from the demo built from it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05 · INTEGRATION · HOW IT FITS TOGETHER</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One thread from problem to demo, for every feature</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colhead"/>
          <p:cNvSpPr/>
          <p:nvPr/>
        </p:nvSpPr>
        <p:spPr>
          <a:xfrm>
            <a:off x="548640" y="2011680"/>
            <a:ext cx="2130552" cy="411480"/>
          </a:xfrm>
          <a:prstGeom prst="roundRect">
            <a:avLst>
              <a:gd name="adj" fmla="val 22222"/>
            </a:avLst>
          </a:prstGeom>
          <a:solidFill>
            <a:srgbClr val="0F2A4A"/>
          </a:solidFill>
          <a:ln w="12700">
            <a:solidFill>
              <a:srgbClr val="0F2A4A"/>
            </a:solidFill>
            <a:prstDash val="solid"/>
          </a:ln>
        </p:spPr>
      </p:sp>
      <p:sp>
        <p:nvSpPr>
          <p:cNvPr id="12" name="Text 10"/>
          <p:cNvSpPr txBox="1"/>
          <p:nvPr/>
        </p:nvSpPr>
        <p:spPr>
          <a:xfrm>
            <a:off x="548640" y="2011680"/>
            <a:ext cx="2130552" cy="411480"/>
          </a:xfrm>
          <a:prstGeom prst="rect">
            <a:avLst/>
          </a:prstGeom>
          <a:noFill/>
          <a:ln/>
        </p:spPr>
        <p:txBody>
          <a:bodyPr wrap="square" lIns="0" tIns="0" rIns="0" bIns="0" rtlCol="0" anchor="ctr"/>
          <a:lstStyle/>
          <a:p>
            <a:pPr algn="ctr" indent="0" marL="0">
              <a:buNone/>
            </a:pPr>
            <a:r>
              <a:rPr lang="en-US" sz="1400" b="1" dirty="0">
                <a:solidFill>
                  <a:schemeClr val="bg1"/>
                </a:solidFill>
              </a:rPr>
              <a:t>Problem</a:t>
            </a:r>
            <a:endParaRPr lang="en-US" sz="1400" dirty="0"/>
          </a:p>
        </p:txBody>
      </p:sp>
      <p:sp>
        <p:nvSpPr>
          <p:cNvPr id="13" name="colhead"/>
          <p:cNvSpPr/>
          <p:nvPr/>
        </p:nvSpPr>
        <p:spPr>
          <a:xfrm>
            <a:off x="2788920" y="2011680"/>
            <a:ext cx="2130552" cy="411480"/>
          </a:xfrm>
          <a:prstGeom prst="roundRect">
            <a:avLst>
              <a:gd name="adj" fmla="val 22222"/>
            </a:avLst>
          </a:prstGeom>
          <a:solidFill>
            <a:srgbClr val="0F2A4A"/>
          </a:solidFill>
          <a:ln w="12700">
            <a:solidFill>
              <a:srgbClr val="0F2A4A"/>
            </a:solidFill>
            <a:prstDash val="solid"/>
          </a:ln>
        </p:spPr>
      </p:sp>
      <p:sp>
        <p:nvSpPr>
          <p:cNvPr id="14" name="Text 12"/>
          <p:cNvSpPr txBox="1"/>
          <p:nvPr/>
        </p:nvSpPr>
        <p:spPr>
          <a:xfrm>
            <a:off x="2788920" y="2011680"/>
            <a:ext cx="2130552" cy="411480"/>
          </a:xfrm>
          <a:prstGeom prst="rect">
            <a:avLst/>
          </a:prstGeom>
          <a:noFill/>
          <a:ln/>
        </p:spPr>
        <p:txBody>
          <a:bodyPr wrap="square" lIns="0" tIns="0" rIns="0" bIns="0" rtlCol="0" anchor="ctr"/>
          <a:lstStyle/>
          <a:p>
            <a:pPr algn="ctr" indent="0" marL="0">
              <a:buNone/>
            </a:pPr>
            <a:r>
              <a:rPr lang="en-US" sz="1400" b="1" dirty="0">
                <a:solidFill>
                  <a:schemeClr val="bg1"/>
                </a:solidFill>
              </a:rPr>
              <a:t>PRD</a:t>
            </a:r>
            <a:endParaRPr lang="en-US" sz="1400" dirty="0"/>
          </a:p>
        </p:txBody>
      </p:sp>
      <p:sp>
        <p:nvSpPr>
          <p:cNvPr id="15" name="colhead"/>
          <p:cNvSpPr/>
          <p:nvPr/>
        </p:nvSpPr>
        <p:spPr>
          <a:xfrm>
            <a:off x="5029200" y="2011680"/>
            <a:ext cx="2130552" cy="411480"/>
          </a:xfrm>
          <a:prstGeom prst="roundRect">
            <a:avLst>
              <a:gd name="adj" fmla="val 22222"/>
            </a:avLst>
          </a:prstGeom>
          <a:solidFill>
            <a:srgbClr val="0F2A4A"/>
          </a:solidFill>
          <a:ln w="12700">
            <a:solidFill>
              <a:srgbClr val="0F2A4A"/>
            </a:solidFill>
            <a:prstDash val="solid"/>
          </a:ln>
        </p:spPr>
      </p:sp>
      <p:sp>
        <p:nvSpPr>
          <p:cNvPr id="16" name="Text 14"/>
          <p:cNvSpPr txBox="1"/>
          <p:nvPr/>
        </p:nvSpPr>
        <p:spPr>
          <a:xfrm>
            <a:off x="5029200" y="2011680"/>
            <a:ext cx="2130552" cy="411480"/>
          </a:xfrm>
          <a:prstGeom prst="rect">
            <a:avLst/>
          </a:prstGeom>
          <a:noFill/>
          <a:ln/>
        </p:spPr>
        <p:txBody>
          <a:bodyPr wrap="square" lIns="0" tIns="0" rIns="0" bIns="0" rtlCol="0" anchor="ctr"/>
          <a:lstStyle/>
          <a:p>
            <a:pPr algn="ctr" indent="0" marL="0">
              <a:buNone/>
            </a:pPr>
            <a:r>
              <a:rPr lang="en-US" sz="1400" b="1" dirty="0">
                <a:solidFill>
                  <a:schemeClr val="bg1"/>
                </a:solidFill>
              </a:rPr>
              <a:t>Jira</a:t>
            </a:r>
            <a:endParaRPr lang="en-US" sz="1400" dirty="0"/>
          </a:p>
        </p:txBody>
      </p:sp>
      <p:sp>
        <p:nvSpPr>
          <p:cNvPr id="17" name="colhead"/>
          <p:cNvSpPr/>
          <p:nvPr/>
        </p:nvSpPr>
        <p:spPr>
          <a:xfrm>
            <a:off x="7269480" y="2011680"/>
            <a:ext cx="2130552" cy="411480"/>
          </a:xfrm>
          <a:prstGeom prst="roundRect">
            <a:avLst>
              <a:gd name="adj" fmla="val 22222"/>
            </a:avLst>
          </a:prstGeom>
          <a:solidFill>
            <a:srgbClr val="0F2A4A"/>
          </a:solidFill>
          <a:ln w="12700">
            <a:solidFill>
              <a:srgbClr val="0F2A4A"/>
            </a:solidFill>
            <a:prstDash val="solid"/>
          </a:ln>
        </p:spPr>
      </p:sp>
      <p:sp>
        <p:nvSpPr>
          <p:cNvPr id="18" name="Text 16"/>
          <p:cNvSpPr txBox="1"/>
          <p:nvPr/>
        </p:nvSpPr>
        <p:spPr>
          <a:xfrm>
            <a:off x="7269480" y="2011680"/>
            <a:ext cx="2130552" cy="411480"/>
          </a:xfrm>
          <a:prstGeom prst="rect">
            <a:avLst/>
          </a:prstGeom>
          <a:noFill/>
          <a:ln/>
        </p:spPr>
        <p:txBody>
          <a:bodyPr wrap="square" lIns="0" tIns="0" rIns="0" bIns="0" rtlCol="0" anchor="ctr"/>
          <a:lstStyle/>
          <a:p>
            <a:pPr algn="ctr" indent="0" marL="0">
              <a:buNone/>
            </a:pPr>
            <a:r>
              <a:rPr lang="en-US" sz="1400" b="1" dirty="0">
                <a:solidFill>
                  <a:schemeClr val="bg1"/>
                </a:solidFill>
              </a:rPr>
              <a:t>Wireframe</a:t>
            </a:r>
            <a:endParaRPr lang="en-US" sz="1400" dirty="0"/>
          </a:p>
        </p:txBody>
      </p:sp>
      <p:sp>
        <p:nvSpPr>
          <p:cNvPr id="19" name="colhead"/>
          <p:cNvSpPr/>
          <p:nvPr/>
        </p:nvSpPr>
        <p:spPr>
          <a:xfrm>
            <a:off x="9509760" y="2011680"/>
            <a:ext cx="2130552" cy="411480"/>
          </a:xfrm>
          <a:prstGeom prst="roundRect">
            <a:avLst>
              <a:gd name="adj" fmla="val 22222"/>
            </a:avLst>
          </a:prstGeom>
          <a:solidFill>
            <a:srgbClr val="0F2A4A"/>
          </a:solidFill>
          <a:ln w="12700">
            <a:solidFill>
              <a:srgbClr val="0F2A4A"/>
            </a:solidFill>
            <a:prstDash val="solid"/>
          </a:ln>
        </p:spPr>
      </p:sp>
      <p:sp>
        <p:nvSpPr>
          <p:cNvPr id="20" name="Text 18"/>
          <p:cNvSpPr txBox="1"/>
          <p:nvPr/>
        </p:nvSpPr>
        <p:spPr>
          <a:xfrm>
            <a:off x="9509760" y="2011680"/>
            <a:ext cx="2130552" cy="411480"/>
          </a:xfrm>
          <a:prstGeom prst="rect">
            <a:avLst/>
          </a:prstGeom>
          <a:noFill/>
          <a:ln/>
        </p:spPr>
        <p:txBody>
          <a:bodyPr wrap="square" lIns="0" tIns="0" rIns="0" bIns="0" rtlCol="0" anchor="ctr"/>
          <a:lstStyle/>
          <a:p>
            <a:pPr algn="ctr" indent="0" marL="0">
              <a:buNone/>
            </a:pPr>
            <a:r>
              <a:rPr lang="en-US" sz="1400" b="1" dirty="0">
                <a:solidFill>
                  <a:schemeClr val="bg1"/>
                </a:solidFill>
              </a:rPr>
              <a:t>Demo</a:t>
            </a:r>
            <a:endParaRPr lang="en-US" sz="1400" dirty="0"/>
          </a:p>
        </p:txBody>
      </p:sp>
      <p:sp>
        <p:nvSpPr>
          <p:cNvPr id="21" name="cell"/>
          <p:cNvSpPr/>
          <p:nvPr/>
        </p:nvSpPr>
        <p:spPr>
          <a:xfrm>
            <a:off x="548640" y="2606040"/>
            <a:ext cx="2130552" cy="658368"/>
          </a:xfrm>
          <a:prstGeom prst="roundRect">
            <a:avLst>
              <a:gd name="adj" fmla="val 16667"/>
            </a:avLst>
          </a:prstGeom>
          <a:solidFill>
            <a:srgbClr val="FDE3DB"/>
          </a:solidFill>
          <a:ln w="12700">
            <a:solidFill>
              <a:srgbClr val="FDE3DB"/>
            </a:solidFill>
            <a:prstDash val="solid"/>
          </a:ln>
        </p:spPr>
      </p:sp>
      <p:sp>
        <p:nvSpPr>
          <p:cNvPr id="22" name="Text 20"/>
          <p:cNvSpPr txBox="1"/>
          <p:nvPr/>
        </p:nvSpPr>
        <p:spPr>
          <a:xfrm>
            <a:off x="685800" y="2606040"/>
            <a:ext cx="1856232" cy="658368"/>
          </a:xfrm>
          <a:prstGeom prst="rect">
            <a:avLst/>
          </a:prstGeom>
          <a:noFill/>
          <a:ln/>
        </p:spPr>
        <p:txBody>
          <a:bodyPr wrap="square" lIns="0" tIns="0" rIns="0" bIns="0" rtlCol="0" anchor="ctr"/>
          <a:lstStyle/>
          <a:p>
            <a:pPr indent="0" marL="0">
              <a:buNone/>
            </a:pPr>
            <a:r>
              <a:rPr lang="en-US" sz="1200" b="1" dirty="0">
                <a:solidFill>
                  <a:srgbClr val="B8401F"/>
                </a:solidFill>
              </a:rPr>
              <a:t>P3 · Unclear fit</a:t>
            </a:r>
            <a:endParaRPr lang="en-US" sz="1200" dirty="0"/>
          </a:p>
        </p:txBody>
      </p:sp>
      <p:sp>
        <p:nvSpPr>
          <p:cNvPr id="23" name="Text 21"/>
          <p:cNvSpPr txBox="1"/>
          <p:nvPr/>
        </p:nvSpPr>
        <p:spPr>
          <a:xfrm>
            <a:off x="2679192" y="2606040"/>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24" name="cell"/>
          <p:cNvSpPr/>
          <p:nvPr/>
        </p:nvSpPr>
        <p:spPr>
          <a:xfrm>
            <a:off x="2788920" y="2606040"/>
            <a:ext cx="2130552" cy="658368"/>
          </a:xfrm>
          <a:prstGeom prst="roundRect">
            <a:avLst>
              <a:gd name="adj" fmla="val 16667"/>
            </a:avLst>
          </a:prstGeom>
          <a:solidFill>
            <a:schemeClr val="bg1"/>
          </a:solidFill>
          <a:ln w="12700">
            <a:solidFill>
              <a:schemeClr val="bg1"/>
            </a:solidFill>
            <a:prstDash val="solid"/>
          </a:ln>
        </p:spPr>
      </p:sp>
      <p:sp>
        <p:nvSpPr>
          <p:cNvPr id="25" name="Text 23"/>
          <p:cNvSpPr txBox="1"/>
          <p:nvPr/>
        </p:nvSpPr>
        <p:spPr>
          <a:xfrm>
            <a:off x="2926080" y="2606040"/>
            <a:ext cx="1856232" cy="658368"/>
          </a:xfrm>
          <a:prstGeom prst="rect">
            <a:avLst/>
          </a:prstGeom>
          <a:noFill/>
          <a:ln/>
        </p:spPr>
        <p:txBody>
          <a:bodyPr wrap="square" lIns="0" tIns="0" rIns="0" bIns="0" rtlCol="0" anchor="ctr"/>
          <a:lstStyle/>
          <a:p>
            <a:pPr indent="0" marL="0">
              <a:buNone/>
            </a:pPr>
            <a:r>
              <a:rPr lang="en-US" sz="1200" dirty="0">
                <a:solidFill>
                  <a:schemeClr val="tx1"/>
                </a:solidFill>
              </a:rPr>
              <a:t>FR18, FR19 · no gate, explain the cause</a:t>
            </a:r>
            <a:endParaRPr lang="en-US" sz="1200" dirty="0"/>
          </a:p>
        </p:txBody>
      </p:sp>
      <p:sp>
        <p:nvSpPr>
          <p:cNvPr id="26" name="Text 24"/>
          <p:cNvSpPr txBox="1"/>
          <p:nvPr/>
        </p:nvSpPr>
        <p:spPr>
          <a:xfrm>
            <a:off x="4919472" y="2606040"/>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27" name="cell"/>
          <p:cNvSpPr/>
          <p:nvPr/>
        </p:nvSpPr>
        <p:spPr>
          <a:xfrm>
            <a:off x="5029200" y="2606040"/>
            <a:ext cx="2130552" cy="658368"/>
          </a:xfrm>
          <a:prstGeom prst="roundRect">
            <a:avLst>
              <a:gd name="adj" fmla="val 16667"/>
            </a:avLst>
          </a:prstGeom>
          <a:solidFill>
            <a:schemeClr val="bg1"/>
          </a:solidFill>
          <a:ln w="12700">
            <a:solidFill>
              <a:schemeClr val="bg1"/>
            </a:solidFill>
            <a:prstDash val="solid"/>
          </a:ln>
        </p:spPr>
      </p:sp>
      <p:sp>
        <p:nvSpPr>
          <p:cNvPr id="28" name="Text 26"/>
          <p:cNvSpPr txBox="1"/>
          <p:nvPr/>
        </p:nvSpPr>
        <p:spPr>
          <a:xfrm>
            <a:off x="5166360" y="2606040"/>
            <a:ext cx="1856232" cy="658368"/>
          </a:xfrm>
          <a:prstGeom prst="rect">
            <a:avLst/>
          </a:prstGeom>
          <a:noFill/>
          <a:ln/>
        </p:spPr>
        <p:txBody>
          <a:bodyPr wrap="square" lIns="0" tIns="0" rIns="0" bIns="0" rtlCol="0" anchor="ctr"/>
          <a:lstStyle/>
          <a:p>
            <a:pPr indent="0" marL="0">
              <a:buNone/>
            </a:pPr>
            <a:r>
              <a:rPr lang="en-US" sz="1200" dirty="0">
                <a:solidFill>
                  <a:schemeClr val="tx1"/>
                </a:solidFill>
              </a:rPr>
              <a:t>US3 · CPA-25 · Sprint 4</a:t>
            </a:r>
            <a:endParaRPr lang="en-US" sz="1200" dirty="0"/>
          </a:p>
        </p:txBody>
      </p:sp>
      <p:sp>
        <p:nvSpPr>
          <p:cNvPr id="29" name="Text 27"/>
          <p:cNvSpPr txBox="1"/>
          <p:nvPr/>
        </p:nvSpPr>
        <p:spPr>
          <a:xfrm>
            <a:off x="7159752" y="2606040"/>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30" name="cell"/>
          <p:cNvSpPr/>
          <p:nvPr/>
        </p:nvSpPr>
        <p:spPr>
          <a:xfrm>
            <a:off x="7269480" y="2606040"/>
            <a:ext cx="2130552" cy="658368"/>
          </a:xfrm>
          <a:prstGeom prst="roundRect">
            <a:avLst>
              <a:gd name="adj" fmla="val 16667"/>
            </a:avLst>
          </a:prstGeom>
          <a:solidFill>
            <a:schemeClr val="bg1"/>
          </a:solidFill>
          <a:ln w="12700">
            <a:solidFill>
              <a:schemeClr val="bg1"/>
            </a:solidFill>
            <a:prstDash val="solid"/>
          </a:ln>
        </p:spPr>
      </p:sp>
      <p:sp>
        <p:nvSpPr>
          <p:cNvPr id="31" name="Text 29"/>
          <p:cNvSpPr txBox="1"/>
          <p:nvPr/>
        </p:nvSpPr>
        <p:spPr>
          <a:xfrm>
            <a:off x="7406640" y="2606040"/>
            <a:ext cx="1856232" cy="658368"/>
          </a:xfrm>
          <a:prstGeom prst="rect">
            <a:avLst/>
          </a:prstGeom>
          <a:noFill/>
          <a:ln/>
        </p:spPr>
        <p:txBody>
          <a:bodyPr wrap="square" lIns="0" tIns="0" rIns="0" bIns="0" rtlCol="0" anchor="ctr"/>
          <a:lstStyle/>
          <a:p>
            <a:pPr indent="0" marL="0">
              <a:buNone/>
            </a:pPr>
            <a:r>
              <a:rPr lang="en-US" sz="1200" dirty="0">
                <a:solidFill>
                  <a:schemeClr val="tx1"/>
                </a:solidFill>
              </a:rPr>
              <a:t>Job list · score view</a:t>
            </a:r>
            <a:endParaRPr lang="en-US" sz="1200" dirty="0"/>
          </a:p>
        </p:txBody>
      </p:sp>
      <p:sp>
        <p:nvSpPr>
          <p:cNvPr id="32" name="Text 30"/>
          <p:cNvSpPr txBox="1"/>
          <p:nvPr/>
        </p:nvSpPr>
        <p:spPr>
          <a:xfrm>
            <a:off x="9400032" y="2606040"/>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33" name="cell"/>
          <p:cNvSpPr/>
          <p:nvPr/>
        </p:nvSpPr>
        <p:spPr>
          <a:xfrm>
            <a:off x="9509760" y="2606040"/>
            <a:ext cx="2130552" cy="658368"/>
          </a:xfrm>
          <a:prstGeom prst="roundRect">
            <a:avLst>
              <a:gd name="adj" fmla="val 16667"/>
            </a:avLst>
          </a:prstGeom>
          <a:solidFill>
            <a:schemeClr val="bg1"/>
          </a:solidFill>
          <a:ln w="12700">
            <a:solidFill>
              <a:schemeClr val="bg1"/>
            </a:solidFill>
            <a:prstDash val="solid"/>
          </a:ln>
        </p:spPr>
      </p:sp>
      <p:sp>
        <p:nvSpPr>
          <p:cNvPr id="34" name="Text 32"/>
          <p:cNvSpPr txBox="1"/>
          <p:nvPr/>
        </p:nvSpPr>
        <p:spPr>
          <a:xfrm>
            <a:off x="9646920" y="2606040"/>
            <a:ext cx="1856232" cy="658368"/>
          </a:xfrm>
          <a:prstGeom prst="rect">
            <a:avLst/>
          </a:prstGeom>
          <a:noFill/>
          <a:ln/>
        </p:spPr>
        <p:txBody>
          <a:bodyPr wrap="square" lIns="0" tIns="0" rIns="0" bIns="0" rtlCol="0" anchor="ctr"/>
          <a:lstStyle/>
          <a:p>
            <a:pPr indent="0" marL="0">
              <a:buNone/>
            </a:pPr>
            <a:r>
              <a:rPr lang="en-US" sz="1200" dirty="0">
                <a:solidFill>
                  <a:schemeClr val="tx1"/>
                </a:solidFill>
              </a:rPr>
              <a:t>/jobs · /score</a:t>
            </a:r>
            <a:endParaRPr lang="en-US" sz="1200" dirty="0"/>
          </a:p>
        </p:txBody>
      </p:sp>
      <p:sp>
        <p:nvSpPr>
          <p:cNvPr id="35" name="cell"/>
          <p:cNvSpPr/>
          <p:nvPr/>
        </p:nvSpPr>
        <p:spPr>
          <a:xfrm>
            <a:off x="548640" y="3410712"/>
            <a:ext cx="2130552" cy="658368"/>
          </a:xfrm>
          <a:prstGeom prst="roundRect">
            <a:avLst>
              <a:gd name="adj" fmla="val 16667"/>
            </a:avLst>
          </a:prstGeom>
          <a:solidFill>
            <a:srgbClr val="FDE3DB"/>
          </a:solidFill>
          <a:ln w="12700">
            <a:solidFill>
              <a:srgbClr val="FDE3DB"/>
            </a:solidFill>
            <a:prstDash val="solid"/>
          </a:ln>
        </p:spPr>
      </p:sp>
      <p:sp>
        <p:nvSpPr>
          <p:cNvPr id="36" name="Text 34"/>
          <p:cNvSpPr txBox="1"/>
          <p:nvPr/>
        </p:nvSpPr>
        <p:spPr>
          <a:xfrm>
            <a:off x="685800" y="3410712"/>
            <a:ext cx="1856232" cy="658368"/>
          </a:xfrm>
          <a:prstGeom prst="rect">
            <a:avLst/>
          </a:prstGeom>
          <a:noFill/>
          <a:ln/>
        </p:spPr>
        <p:txBody>
          <a:bodyPr wrap="square" lIns="0" tIns="0" rIns="0" bIns="0" rtlCol="0" anchor="ctr"/>
          <a:lstStyle/>
          <a:p>
            <a:pPr indent="0" marL="0">
              <a:buNone/>
            </a:pPr>
            <a:r>
              <a:rPr lang="en-US" sz="1200" b="1" dirty="0">
                <a:solidFill>
                  <a:srgbClr val="B8401F"/>
                </a:solidFill>
              </a:rPr>
              <a:t>P6 · Paid rankings</a:t>
            </a:r>
            <a:endParaRPr lang="en-US" sz="1200" dirty="0"/>
          </a:p>
        </p:txBody>
      </p:sp>
      <p:sp>
        <p:nvSpPr>
          <p:cNvPr id="37" name="Text 35"/>
          <p:cNvSpPr txBox="1"/>
          <p:nvPr/>
        </p:nvSpPr>
        <p:spPr>
          <a:xfrm>
            <a:off x="2679192" y="3410712"/>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38" name="cell"/>
          <p:cNvSpPr/>
          <p:nvPr/>
        </p:nvSpPr>
        <p:spPr>
          <a:xfrm>
            <a:off x="2788920" y="3410712"/>
            <a:ext cx="2130552" cy="658368"/>
          </a:xfrm>
          <a:prstGeom prst="roundRect">
            <a:avLst>
              <a:gd name="adj" fmla="val 16667"/>
            </a:avLst>
          </a:prstGeom>
          <a:solidFill>
            <a:schemeClr val="bg1"/>
          </a:solidFill>
          <a:ln w="12700">
            <a:solidFill>
              <a:schemeClr val="bg1"/>
            </a:solidFill>
            <a:prstDash val="solid"/>
          </a:ln>
        </p:spPr>
      </p:sp>
      <p:sp>
        <p:nvSpPr>
          <p:cNvPr id="39" name="Text 37"/>
          <p:cNvSpPr txBox="1"/>
          <p:nvPr/>
        </p:nvSpPr>
        <p:spPr>
          <a:xfrm>
            <a:off x="2926080" y="3410712"/>
            <a:ext cx="1856232" cy="658368"/>
          </a:xfrm>
          <a:prstGeom prst="rect">
            <a:avLst/>
          </a:prstGeom>
          <a:noFill/>
          <a:ln/>
        </p:spPr>
        <p:txBody>
          <a:bodyPr wrap="square" lIns="0" tIns="0" rIns="0" bIns="0" rtlCol="0" anchor="ctr"/>
          <a:lstStyle/>
          <a:p>
            <a:pPr indent="0" marL="0">
              <a:buNone/>
            </a:pPr>
            <a:r>
              <a:rPr lang="en-US" sz="1200" dirty="0">
                <a:solidFill>
                  <a:schemeClr val="tx1"/>
                </a:solidFill>
              </a:rPr>
              <a:t>NFR1, FR23 · neutral, why it fits</a:t>
            </a:r>
            <a:endParaRPr lang="en-US" sz="1200" dirty="0"/>
          </a:p>
        </p:txBody>
      </p:sp>
      <p:sp>
        <p:nvSpPr>
          <p:cNvPr id="40" name="Text 38"/>
          <p:cNvSpPr txBox="1"/>
          <p:nvPr/>
        </p:nvSpPr>
        <p:spPr>
          <a:xfrm>
            <a:off x="4919472" y="3410712"/>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41" name="cell"/>
          <p:cNvSpPr/>
          <p:nvPr/>
        </p:nvSpPr>
        <p:spPr>
          <a:xfrm>
            <a:off x="5029200" y="3410712"/>
            <a:ext cx="2130552" cy="658368"/>
          </a:xfrm>
          <a:prstGeom prst="roundRect">
            <a:avLst>
              <a:gd name="adj" fmla="val 16667"/>
            </a:avLst>
          </a:prstGeom>
          <a:solidFill>
            <a:schemeClr val="bg1"/>
          </a:solidFill>
          <a:ln w="12700">
            <a:solidFill>
              <a:schemeClr val="bg1"/>
            </a:solidFill>
            <a:prstDash val="solid"/>
          </a:ln>
        </p:spPr>
      </p:sp>
      <p:sp>
        <p:nvSpPr>
          <p:cNvPr id="42" name="Text 40"/>
          <p:cNvSpPr txBox="1"/>
          <p:nvPr/>
        </p:nvSpPr>
        <p:spPr>
          <a:xfrm>
            <a:off x="5166360" y="3410712"/>
            <a:ext cx="1856232" cy="658368"/>
          </a:xfrm>
          <a:prstGeom prst="rect">
            <a:avLst/>
          </a:prstGeom>
          <a:noFill/>
          <a:ln/>
        </p:spPr>
        <p:txBody>
          <a:bodyPr wrap="square" lIns="0" tIns="0" rIns="0" bIns="0" rtlCol="0" anchor="ctr"/>
          <a:lstStyle/>
          <a:p>
            <a:pPr indent="0" marL="0">
              <a:buNone/>
            </a:pPr>
            <a:r>
              <a:rPr lang="en-US" sz="1200" dirty="0">
                <a:solidFill>
                  <a:schemeClr val="tx1"/>
                </a:solidFill>
              </a:rPr>
              <a:t>US2 · CPA-24 · Sprint 3</a:t>
            </a:r>
            <a:endParaRPr lang="en-US" sz="1200" dirty="0"/>
          </a:p>
        </p:txBody>
      </p:sp>
      <p:sp>
        <p:nvSpPr>
          <p:cNvPr id="43" name="Text 41"/>
          <p:cNvSpPr txBox="1"/>
          <p:nvPr/>
        </p:nvSpPr>
        <p:spPr>
          <a:xfrm>
            <a:off x="7159752" y="3410712"/>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44" name="cell"/>
          <p:cNvSpPr/>
          <p:nvPr/>
        </p:nvSpPr>
        <p:spPr>
          <a:xfrm>
            <a:off x="7269480" y="3410712"/>
            <a:ext cx="2130552" cy="658368"/>
          </a:xfrm>
          <a:prstGeom prst="roundRect">
            <a:avLst>
              <a:gd name="adj" fmla="val 16667"/>
            </a:avLst>
          </a:prstGeom>
          <a:solidFill>
            <a:schemeClr val="bg1"/>
          </a:solidFill>
          <a:ln w="12700">
            <a:solidFill>
              <a:schemeClr val="bg1"/>
            </a:solidFill>
            <a:prstDash val="solid"/>
          </a:ln>
        </p:spPr>
      </p:sp>
      <p:sp>
        <p:nvSpPr>
          <p:cNvPr id="45" name="Text 43"/>
          <p:cNvSpPr txBox="1"/>
          <p:nvPr/>
        </p:nvSpPr>
        <p:spPr>
          <a:xfrm>
            <a:off x="7406640" y="3410712"/>
            <a:ext cx="1856232" cy="658368"/>
          </a:xfrm>
          <a:prstGeom prst="rect">
            <a:avLst/>
          </a:prstGeom>
          <a:noFill/>
          <a:ln/>
        </p:spPr>
        <p:txBody>
          <a:bodyPr wrap="square" lIns="0" tIns="0" rIns="0" bIns="0" rtlCol="0" anchor="ctr"/>
          <a:lstStyle/>
          <a:p>
            <a:pPr indent="0" marL="0">
              <a:buNone/>
            </a:pPr>
            <a:r>
              <a:rPr lang="en-US" sz="1200" dirty="0">
                <a:solidFill>
                  <a:schemeClr val="tx1"/>
                </a:solidFill>
              </a:rPr>
              <a:t>Job focus · ranking note</a:t>
            </a:r>
            <a:endParaRPr lang="en-US" sz="1200" dirty="0"/>
          </a:p>
        </p:txBody>
      </p:sp>
      <p:sp>
        <p:nvSpPr>
          <p:cNvPr id="46" name="Text 44"/>
          <p:cNvSpPr txBox="1"/>
          <p:nvPr/>
        </p:nvSpPr>
        <p:spPr>
          <a:xfrm>
            <a:off x="9400032" y="3410712"/>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47" name="cell"/>
          <p:cNvSpPr/>
          <p:nvPr/>
        </p:nvSpPr>
        <p:spPr>
          <a:xfrm>
            <a:off x="9509760" y="3410712"/>
            <a:ext cx="2130552" cy="658368"/>
          </a:xfrm>
          <a:prstGeom prst="roundRect">
            <a:avLst>
              <a:gd name="adj" fmla="val 16667"/>
            </a:avLst>
          </a:prstGeom>
          <a:solidFill>
            <a:schemeClr val="bg1"/>
          </a:solidFill>
          <a:ln w="12700">
            <a:solidFill>
              <a:schemeClr val="bg1"/>
            </a:solidFill>
            <a:prstDash val="solid"/>
          </a:ln>
        </p:spPr>
      </p:sp>
      <p:sp>
        <p:nvSpPr>
          <p:cNvPr id="48" name="Text 46"/>
          <p:cNvSpPr txBox="1"/>
          <p:nvPr/>
        </p:nvSpPr>
        <p:spPr>
          <a:xfrm>
            <a:off x="9646920" y="3410712"/>
            <a:ext cx="1856232" cy="658368"/>
          </a:xfrm>
          <a:prstGeom prst="rect">
            <a:avLst/>
          </a:prstGeom>
          <a:noFill/>
          <a:ln/>
        </p:spPr>
        <p:txBody>
          <a:bodyPr wrap="square" lIns="0" tIns="0" rIns="0" bIns="0" rtlCol="0" anchor="ctr"/>
          <a:lstStyle/>
          <a:p>
            <a:pPr indent="0" marL="0">
              <a:buNone/>
            </a:pPr>
            <a:r>
              <a:rPr lang="en-US" sz="1200" dirty="0">
                <a:solidFill>
                  <a:schemeClr val="tx1"/>
                </a:solidFill>
              </a:rPr>
              <a:t>/jobs/data-analyst</a:t>
            </a:r>
            <a:endParaRPr lang="en-US" sz="1200" dirty="0"/>
          </a:p>
        </p:txBody>
      </p:sp>
      <p:sp>
        <p:nvSpPr>
          <p:cNvPr id="49" name="cell"/>
          <p:cNvSpPr/>
          <p:nvPr/>
        </p:nvSpPr>
        <p:spPr>
          <a:xfrm>
            <a:off x="548640" y="4215384"/>
            <a:ext cx="2130552" cy="658368"/>
          </a:xfrm>
          <a:prstGeom prst="roundRect">
            <a:avLst>
              <a:gd name="adj" fmla="val 16667"/>
            </a:avLst>
          </a:prstGeom>
          <a:solidFill>
            <a:srgbClr val="FDE3DB"/>
          </a:solidFill>
          <a:ln w="12700">
            <a:solidFill>
              <a:srgbClr val="FDE3DB"/>
            </a:solidFill>
            <a:prstDash val="solid"/>
          </a:ln>
        </p:spPr>
      </p:sp>
      <p:sp>
        <p:nvSpPr>
          <p:cNvPr id="50" name="Text 48"/>
          <p:cNvSpPr txBox="1"/>
          <p:nvPr/>
        </p:nvSpPr>
        <p:spPr>
          <a:xfrm>
            <a:off x="685800" y="4215384"/>
            <a:ext cx="1856232" cy="658368"/>
          </a:xfrm>
          <a:prstGeom prst="rect">
            <a:avLst/>
          </a:prstGeom>
          <a:noFill/>
          <a:ln/>
        </p:spPr>
        <p:txBody>
          <a:bodyPr wrap="square" lIns="0" tIns="0" rIns="0" bIns="0" rtlCol="0" anchor="ctr"/>
          <a:lstStyle/>
          <a:p>
            <a:pPr indent="0" marL="0">
              <a:buNone/>
            </a:pPr>
            <a:r>
              <a:rPr lang="en-US" sz="1200" b="1" dirty="0">
                <a:solidFill>
                  <a:srgbClr val="B8401F"/>
                </a:solidFill>
              </a:rPr>
              <a:t>P2 · Too much to do alone</a:t>
            </a:r>
            <a:endParaRPr lang="en-US" sz="1200" dirty="0"/>
          </a:p>
        </p:txBody>
      </p:sp>
      <p:sp>
        <p:nvSpPr>
          <p:cNvPr id="51" name="Text 49"/>
          <p:cNvSpPr txBox="1"/>
          <p:nvPr/>
        </p:nvSpPr>
        <p:spPr>
          <a:xfrm>
            <a:off x="2679192" y="4215384"/>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52" name="cell"/>
          <p:cNvSpPr/>
          <p:nvPr/>
        </p:nvSpPr>
        <p:spPr>
          <a:xfrm>
            <a:off x="2788920" y="4215384"/>
            <a:ext cx="2130552" cy="658368"/>
          </a:xfrm>
          <a:prstGeom prst="roundRect">
            <a:avLst>
              <a:gd name="adj" fmla="val 16667"/>
            </a:avLst>
          </a:prstGeom>
          <a:solidFill>
            <a:schemeClr val="bg1"/>
          </a:solidFill>
          <a:ln w="12700">
            <a:solidFill>
              <a:schemeClr val="bg1"/>
            </a:solidFill>
            <a:prstDash val="solid"/>
          </a:ln>
        </p:spPr>
      </p:sp>
      <p:sp>
        <p:nvSpPr>
          <p:cNvPr id="53" name="Text 51"/>
          <p:cNvSpPr txBox="1"/>
          <p:nvPr/>
        </p:nvSpPr>
        <p:spPr>
          <a:xfrm>
            <a:off x="2926080" y="4215384"/>
            <a:ext cx="1856232" cy="658368"/>
          </a:xfrm>
          <a:prstGeom prst="rect">
            <a:avLst/>
          </a:prstGeom>
          <a:noFill/>
          <a:ln/>
        </p:spPr>
        <p:txBody>
          <a:bodyPr wrap="square" lIns="0" tIns="0" rIns="0" bIns="0" rtlCol="0" anchor="ctr"/>
          <a:lstStyle/>
          <a:p>
            <a:pPr indent="0" marL="0">
              <a:buNone/>
            </a:pPr>
            <a:r>
              <a:rPr lang="en-US" sz="1200" dirty="0">
                <a:solidFill>
                  <a:schemeClr val="tx1"/>
                </a:solidFill>
              </a:rPr>
              <a:t>FR24, FR9, FR10 · prepare, approve</a:t>
            </a:r>
            <a:endParaRPr lang="en-US" sz="1200" dirty="0"/>
          </a:p>
        </p:txBody>
      </p:sp>
      <p:sp>
        <p:nvSpPr>
          <p:cNvPr id="54" name="Text 52"/>
          <p:cNvSpPr txBox="1"/>
          <p:nvPr/>
        </p:nvSpPr>
        <p:spPr>
          <a:xfrm>
            <a:off x="4919472" y="4215384"/>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55" name="cell"/>
          <p:cNvSpPr/>
          <p:nvPr/>
        </p:nvSpPr>
        <p:spPr>
          <a:xfrm>
            <a:off x="5029200" y="4215384"/>
            <a:ext cx="2130552" cy="658368"/>
          </a:xfrm>
          <a:prstGeom prst="roundRect">
            <a:avLst>
              <a:gd name="adj" fmla="val 16667"/>
            </a:avLst>
          </a:prstGeom>
          <a:solidFill>
            <a:schemeClr val="bg1"/>
          </a:solidFill>
          <a:ln w="12700">
            <a:solidFill>
              <a:schemeClr val="bg1"/>
            </a:solidFill>
            <a:prstDash val="solid"/>
          </a:ln>
        </p:spPr>
      </p:sp>
      <p:sp>
        <p:nvSpPr>
          <p:cNvPr id="56" name="Text 54"/>
          <p:cNvSpPr txBox="1"/>
          <p:nvPr/>
        </p:nvSpPr>
        <p:spPr>
          <a:xfrm>
            <a:off x="5166360" y="4215384"/>
            <a:ext cx="1856232" cy="658368"/>
          </a:xfrm>
          <a:prstGeom prst="rect">
            <a:avLst/>
          </a:prstGeom>
          <a:noFill/>
          <a:ln/>
        </p:spPr>
        <p:txBody>
          <a:bodyPr wrap="square" lIns="0" tIns="0" rIns="0" bIns="0" rtlCol="0" anchor="ctr"/>
          <a:lstStyle/>
          <a:p>
            <a:pPr indent="0" marL="0">
              <a:buNone/>
            </a:pPr>
            <a:r>
              <a:rPr lang="en-US" sz="1200" dirty="0">
                <a:solidFill>
                  <a:schemeClr val="tx1"/>
                </a:solidFill>
              </a:rPr>
              <a:t>US5 · CPA-27 · Sprint 5</a:t>
            </a:r>
            <a:endParaRPr lang="en-US" sz="1200" dirty="0"/>
          </a:p>
        </p:txBody>
      </p:sp>
      <p:sp>
        <p:nvSpPr>
          <p:cNvPr id="57" name="Text 55"/>
          <p:cNvSpPr txBox="1"/>
          <p:nvPr/>
        </p:nvSpPr>
        <p:spPr>
          <a:xfrm>
            <a:off x="7159752" y="4215384"/>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58" name="cell"/>
          <p:cNvSpPr/>
          <p:nvPr/>
        </p:nvSpPr>
        <p:spPr>
          <a:xfrm>
            <a:off x="7269480" y="4215384"/>
            <a:ext cx="2130552" cy="658368"/>
          </a:xfrm>
          <a:prstGeom prst="roundRect">
            <a:avLst>
              <a:gd name="adj" fmla="val 16667"/>
            </a:avLst>
          </a:prstGeom>
          <a:solidFill>
            <a:schemeClr val="bg1"/>
          </a:solidFill>
          <a:ln w="12700">
            <a:solidFill>
              <a:schemeClr val="bg1"/>
            </a:solidFill>
            <a:prstDash val="solid"/>
          </a:ln>
        </p:spPr>
      </p:sp>
      <p:sp>
        <p:nvSpPr>
          <p:cNvPr id="59" name="Text 57"/>
          <p:cNvSpPr txBox="1"/>
          <p:nvPr/>
        </p:nvSpPr>
        <p:spPr>
          <a:xfrm>
            <a:off x="7406640" y="4215384"/>
            <a:ext cx="1856232" cy="658368"/>
          </a:xfrm>
          <a:prstGeom prst="rect">
            <a:avLst/>
          </a:prstGeom>
          <a:noFill/>
          <a:ln/>
        </p:spPr>
        <p:txBody>
          <a:bodyPr wrap="square" lIns="0" tIns="0" rIns="0" bIns="0" rtlCol="0" anchor="ctr"/>
          <a:lstStyle/>
          <a:p>
            <a:pPr indent="0" marL="0">
              <a:buNone/>
            </a:pPr>
            <a:r>
              <a:rPr lang="en-US" sz="1200" dirty="0">
                <a:solidFill>
                  <a:schemeClr val="tx1"/>
                </a:solidFill>
              </a:rPr>
              <a:t>Preparation page</a:t>
            </a:r>
            <a:endParaRPr lang="en-US" sz="1200" dirty="0"/>
          </a:p>
        </p:txBody>
      </p:sp>
      <p:sp>
        <p:nvSpPr>
          <p:cNvPr id="60" name="Text 58"/>
          <p:cNvSpPr txBox="1"/>
          <p:nvPr/>
        </p:nvSpPr>
        <p:spPr>
          <a:xfrm>
            <a:off x="9400032" y="4215384"/>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61" name="cell"/>
          <p:cNvSpPr/>
          <p:nvPr/>
        </p:nvSpPr>
        <p:spPr>
          <a:xfrm>
            <a:off x="9509760" y="4215384"/>
            <a:ext cx="2130552" cy="658368"/>
          </a:xfrm>
          <a:prstGeom prst="roundRect">
            <a:avLst>
              <a:gd name="adj" fmla="val 16667"/>
            </a:avLst>
          </a:prstGeom>
          <a:solidFill>
            <a:schemeClr val="bg1"/>
          </a:solidFill>
          <a:ln w="12700">
            <a:solidFill>
              <a:schemeClr val="bg1"/>
            </a:solidFill>
            <a:prstDash val="solid"/>
          </a:ln>
        </p:spPr>
      </p:sp>
      <p:sp>
        <p:nvSpPr>
          <p:cNvPr id="62" name="Text 60"/>
          <p:cNvSpPr txBox="1"/>
          <p:nvPr/>
        </p:nvSpPr>
        <p:spPr>
          <a:xfrm>
            <a:off x="9646920" y="4215384"/>
            <a:ext cx="1856232" cy="658368"/>
          </a:xfrm>
          <a:prstGeom prst="rect">
            <a:avLst/>
          </a:prstGeom>
          <a:noFill/>
          <a:ln/>
        </p:spPr>
        <p:txBody>
          <a:bodyPr wrap="square" lIns="0" tIns="0" rIns="0" bIns="0" rtlCol="0" anchor="ctr"/>
          <a:lstStyle/>
          <a:p>
            <a:pPr indent="0" marL="0">
              <a:buNone/>
            </a:pPr>
            <a:r>
              <a:rPr lang="en-US" sz="1200" dirty="0">
                <a:solidFill>
                  <a:schemeClr val="tx1"/>
                </a:solidFill>
              </a:rPr>
              <a:t>/prepare · /cv</a:t>
            </a:r>
            <a:endParaRPr lang="en-US" sz="1200" dirty="0"/>
          </a:p>
        </p:txBody>
      </p:sp>
      <p:sp>
        <p:nvSpPr>
          <p:cNvPr id="63" name="cell"/>
          <p:cNvSpPr/>
          <p:nvPr/>
        </p:nvSpPr>
        <p:spPr>
          <a:xfrm>
            <a:off x="548640" y="5020056"/>
            <a:ext cx="2130552" cy="658368"/>
          </a:xfrm>
          <a:prstGeom prst="roundRect">
            <a:avLst>
              <a:gd name="adj" fmla="val 16667"/>
            </a:avLst>
          </a:prstGeom>
          <a:solidFill>
            <a:srgbClr val="FDE3DB"/>
          </a:solidFill>
          <a:ln w="12700">
            <a:solidFill>
              <a:srgbClr val="FDE3DB"/>
            </a:solidFill>
            <a:prstDash val="solid"/>
          </a:ln>
        </p:spPr>
      </p:sp>
      <p:sp>
        <p:nvSpPr>
          <p:cNvPr id="64" name="Text 62"/>
          <p:cNvSpPr txBox="1"/>
          <p:nvPr/>
        </p:nvSpPr>
        <p:spPr>
          <a:xfrm>
            <a:off x="685800" y="5020056"/>
            <a:ext cx="1856232" cy="658368"/>
          </a:xfrm>
          <a:prstGeom prst="rect">
            <a:avLst/>
          </a:prstGeom>
          <a:noFill/>
          <a:ln/>
        </p:spPr>
        <p:txBody>
          <a:bodyPr wrap="square" lIns="0" tIns="0" rIns="0" bIns="0" rtlCol="0" anchor="ctr"/>
          <a:lstStyle/>
          <a:p>
            <a:pPr indent="0" marL="0">
              <a:buNone/>
            </a:pPr>
            <a:r>
              <a:rPr lang="en-US" sz="1200" b="1" dirty="0">
                <a:solidFill>
                  <a:srgbClr val="B8401F"/>
                </a:solidFill>
              </a:rPr>
              <a:t>P5 · Losing track</a:t>
            </a:r>
            <a:endParaRPr lang="en-US" sz="1200" dirty="0"/>
          </a:p>
        </p:txBody>
      </p:sp>
      <p:sp>
        <p:nvSpPr>
          <p:cNvPr id="65" name="Text 63"/>
          <p:cNvSpPr txBox="1"/>
          <p:nvPr/>
        </p:nvSpPr>
        <p:spPr>
          <a:xfrm>
            <a:off x="2679192" y="5020056"/>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66" name="cell"/>
          <p:cNvSpPr/>
          <p:nvPr/>
        </p:nvSpPr>
        <p:spPr>
          <a:xfrm>
            <a:off x="2788920" y="5020056"/>
            <a:ext cx="2130552" cy="658368"/>
          </a:xfrm>
          <a:prstGeom prst="roundRect">
            <a:avLst>
              <a:gd name="adj" fmla="val 16667"/>
            </a:avLst>
          </a:prstGeom>
          <a:solidFill>
            <a:schemeClr val="bg1"/>
          </a:solidFill>
          <a:ln w="12700">
            <a:solidFill>
              <a:schemeClr val="bg1"/>
            </a:solidFill>
            <a:prstDash val="solid"/>
          </a:ln>
        </p:spPr>
      </p:sp>
      <p:sp>
        <p:nvSpPr>
          <p:cNvPr id="67" name="Text 65"/>
          <p:cNvSpPr txBox="1"/>
          <p:nvPr/>
        </p:nvSpPr>
        <p:spPr>
          <a:xfrm>
            <a:off x="2926080" y="5020056"/>
            <a:ext cx="1856232" cy="658368"/>
          </a:xfrm>
          <a:prstGeom prst="rect">
            <a:avLst/>
          </a:prstGeom>
          <a:noFill/>
          <a:ln/>
        </p:spPr>
        <p:txBody>
          <a:bodyPr wrap="square" lIns="0" tIns="0" rIns="0" bIns="0" rtlCol="0" anchor="ctr"/>
          <a:lstStyle/>
          <a:p>
            <a:pPr indent="0" marL="0">
              <a:buNone/>
            </a:pPr>
            <a:r>
              <a:rPr lang="en-US" sz="1200" dirty="0">
                <a:solidFill>
                  <a:schemeClr val="tx1"/>
                </a:solidFill>
              </a:rPr>
              <a:t>FR11, FR13 · history, interview prep</a:t>
            </a:r>
            <a:endParaRPr lang="en-US" sz="1200" dirty="0"/>
          </a:p>
        </p:txBody>
      </p:sp>
      <p:sp>
        <p:nvSpPr>
          <p:cNvPr id="68" name="Text 66"/>
          <p:cNvSpPr txBox="1"/>
          <p:nvPr/>
        </p:nvSpPr>
        <p:spPr>
          <a:xfrm>
            <a:off x="4919472" y="5020056"/>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69" name="cell"/>
          <p:cNvSpPr/>
          <p:nvPr/>
        </p:nvSpPr>
        <p:spPr>
          <a:xfrm>
            <a:off x="5029200" y="5020056"/>
            <a:ext cx="2130552" cy="658368"/>
          </a:xfrm>
          <a:prstGeom prst="roundRect">
            <a:avLst>
              <a:gd name="adj" fmla="val 16667"/>
            </a:avLst>
          </a:prstGeom>
          <a:solidFill>
            <a:schemeClr val="bg1"/>
          </a:solidFill>
          <a:ln w="12700">
            <a:solidFill>
              <a:schemeClr val="bg1"/>
            </a:solidFill>
            <a:prstDash val="solid"/>
          </a:ln>
        </p:spPr>
      </p:sp>
      <p:sp>
        <p:nvSpPr>
          <p:cNvPr id="70" name="Text 68"/>
          <p:cNvSpPr txBox="1"/>
          <p:nvPr/>
        </p:nvSpPr>
        <p:spPr>
          <a:xfrm>
            <a:off x="5166360" y="5020056"/>
            <a:ext cx="1856232" cy="658368"/>
          </a:xfrm>
          <a:prstGeom prst="rect">
            <a:avLst/>
          </a:prstGeom>
          <a:noFill/>
          <a:ln/>
        </p:spPr>
        <p:txBody>
          <a:bodyPr wrap="square" lIns="0" tIns="0" rIns="0" bIns="0" rtlCol="0" anchor="ctr"/>
          <a:lstStyle/>
          <a:p>
            <a:pPr indent="0" marL="0">
              <a:buNone/>
            </a:pPr>
            <a:r>
              <a:rPr lang="en-US" sz="1200" dirty="0">
                <a:solidFill>
                  <a:schemeClr val="tx1"/>
                </a:solidFill>
              </a:rPr>
              <a:t>US4 · CPA-26 · Sprint 6</a:t>
            </a:r>
            <a:endParaRPr lang="en-US" sz="1200" dirty="0"/>
          </a:p>
        </p:txBody>
      </p:sp>
      <p:sp>
        <p:nvSpPr>
          <p:cNvPr id="71" name="Text 69"/>
          <p:cNvSpPr txBox="1"/>
          <p:nvPr/>
        </p:nvSpPr>
        <p:spPr>
          <a:xfrm>
            <a:off x="7159752" y="5020056"/>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72" name="cell"/>
          <p:cNvSpPr/>
          <p:nvPr/>
        </p:nvSpPr>
        <p:spPr>
          <a:xfrm>
            <a:off x="7269480" y="5020056"/>
            <a:ext cx="2130552" cy="658368"/>
          </a:xfrm>
          <a:prstGeom prst="roundRect">
            <a:avLst>
              <a:gd name="adj" fmla="val 16667"/>
            </a:avLst>
          </a:prstGeom>
          <a:solidFill>
            <a:schemeClr val="bg1"/>
          </a:solidFill>
          <a:ln w="12700">
            <a:solidFill>
              <a:schemeClr val="bg1"/>
            </a:solidFill>
            <a:prstDash val="solid"/>
          </a:ln>
        </p:spPr>
      </p:sp>
      <p:sp>
        <p:nvSpPr>
          <p:cNvPr id="73" name="Text 71"/>
          <p:cNvSpPr txBox="1"/>
          <p:nvPr/>
        </p:nvSpPr>
        <p:spPr>
          <a:xfrm>
            <a:off x="7406640" y="5020056"/>
            <a:ext cx="1856232" cy="658368"/>
          </a:xfrm>
          <a:prstGeom prst="rect">
            <a:avLst/>
          </a:prstGeom>
          <a:noFill/>
          <a:ln/>
        </p:spPr>
        <p:txBody>
          <a:bodyPr wrap="square" lIns="0" tIns="0" rIns="0" bIns="0" rtlCol="0" anchor="ctr"/>
          <a:lstStyle/>
          <a:p>
            <a:pPr indent="0" marL="0">
              <a:buNone/>
            </a:pPr>
            <a:r>
              <a:rPr lang="en-US" sz="1200" dirty="0">
                <a:solidFill>
                  <a:schemeClr val="tx1"/>
                </a:solidFill>
              </a:rPr>
              <a:t>Application history</a:t>
            </a:r>
            <a:endParaRPr lang="en-US" sz="1200" dirty="0"/>
          </a:p>
        </p:txBody>
      </p:sp>
      <p:sp>
        <p:nvSpPr>
          <p:cNvPr id="74" name="Text 72"/>
          <p:cNvSpPr txBox="1"/>
          <p:nvPr/>
        </p:nvSpPr>
        <p:spPr>
          <a:xfrm>
            <a:off x="9400032" y="5020056"/>
            <a:ext cx="109728" cy="658368"/>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75" name="cell"/>
          <p:cNvSpPr/>
          <p:nvPr/>
        </p:nvSpPr>
        <p:spPr>
          <a:xfrm>
            <a:off x="9509760" y="5020056"/>
            <a:ext cx="2130552" cy="658368"/>
          </a:xfrm>
          <a:prstGeom prst="roundRect">
            <a:avLst>
              <a:gd name="adj" fmla="val 16667"/>
            </a:avLst>
          </a:prstGeom>
          <a:solidFill>
            <a:schemeClr val="bg1"/>
          </a:solidFill>
          <a:ln w="12700">
            <a:solidFill>
              <a:schemeClr val="bg1"/>
            </a:solidFill>
            <a:prstDash val="solid"/>
          </a:ln>
        </p:spPr>
      </p:sp>
      <p:sp>
        <p:nvSpPr>
          <p:cNvPr id="76" name="Text 74"/>
          <p:cNvSpPr txBox="1"/>
          <p:nvPr/>
        </p:nvSpPr>
        <p:spPr>
          <a:xfrm>
            <a:off x="9646920" y="5020056"/>
            <a:ext cx="1856232" cy="658368"/>
          </a:xfrm>
          <a:prstGeom prst="rect">
            <a:avLst/>
          </a:prstGeom>
          <a:noFill/>
          <a:ln/>
        </p:spPr>
        <p:txBody>
          <a:bodyPr wrap="square" lIns="0" tIns="0" rIns="0" bIns="0" rtlCol="0" anchor="ctr"/>
          <a:lstStyle/>
          <a:p>
            <a:pPr indent="0" marL="0">
              <a:buNone/>
            </a:pPr>
            <a:r>
              <a:rPr lang="en-US" sz="1200" dirty="0">
                <a:solidFill>
                  <a:schemeClr val="tx1"/>
                </a:solidFill>
              </a:rPr>
              <a:t>/applications</a:t>
            </a:r>
            <a:endParaRPr lang="en-US" sz="1200" dirty="0"/>
          </a:p>
        </p:txBody>
      </p:sp>
      <p:sp>
        <p:nvSpPr>
          <p:cNvPr id="77" name="rule"/>
          <p:cNvSpPr/>
          <p:nvPr/>
        </p:nvSpPr>
        <p:spPr>
          <a:xfrm>
            <a:off x="548640" y="5852160"/>
            <a:ext cx="11091672" cy="457200"/>
          </a:xfrm>
          <a:prstGeom prst="roundRect">
            <a:avLst>
              <a:gd name="adj" fmla="val 24000"/>
            </a:avLst>
          </a:prstGeom>
          <a:solidFill>
            <a:srgbClr val="0F2A4A"/>
          </a:solidFill>
          <a:ln w="12700">
            <a:solidFill>
              <a:srgbClr val="0F2A4A"/>
            </a:solidFill>
            <a:prstDash val="solid"/>
          </a:ln>
        </p:spPr>
      </p:sp>
      <p:sp>
        <p:nvSpPr>
          <p:cNvPr id="78" name="Text 76"/>
          <p:cNvSpPr txBox="1"/>
          <p:nvPr/>
        </p:nvSpPr>
        <p:spPr>
          <a:xfrm>
            <a:off x="777240" y="5852160"/>
            <a:ext cx="10698480" cy="457200"/>
          </a:xfrm>
          <a:prstGeom prst="rect">
            <a:avLst/>
          </a:prstGeom>
          <a:noFill/>
          <a:ln/>
        </p:spPr>
        <p:txBody>
          <a:bodyPr wrap="square" lIns="0" tIns="0" rIns="0" bIns="0" rtlCol="0" anchor="ctr"/>
          <a:lstStyle/>
          <a:p>
            <a:pPr indent="0" marL="0">
              <a:buNone/>
            </a:pPr>
            <a:r>
              <a:rPr lang="en-US" sz="1300" b="1" dirty="0">
                <a:solidFill>
                  <a:schemeClr val="bg1"/>
                </a:solidFill>
              </a:rPr>
              <a:t>Confluence is the source of truth: a decision lands in the PRD first, then Jira, Figma and the demo follow.</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05 · INTEGRATION · DECISIONS AND TRADE-OFFS</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What we decided, and what it costs us</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Close</a:t>
            </a:r>
            <a:endParaRPr lang="en-US" sz="1000" dirty="0"/>
          </a:p>
        </p:txBody>
      </p:sp>
      <p:sp>
        <p:nvSpPr>
          <p:cNvPr id="11" name="decision"/>
          <p:cNvSpPr/>
          <p:nvPr/>
        </p:nvSpPr>
        <p:spPr>
          <a:xfrm>
            <a:off x="548640" y="2057400"/>
            <a:ext cx="3593592" cy="1828800"/>
          </a:xfrm>
          <a:prstGeom prst="roundRect">
            <a:avLst>
              <a:gd name="adj" fmla="val 6000"/>
            </a:avLst>
          </a:prstGeom>
          <a:solidFill>
            <a:schemeClr val="bg1"/>
          </a:solidFill>
          <a:ln w="12700">
            <a:solidFill>
              <a:schemeClr val="bg1"/>
            </a:solidFill>
            <a:prstDash val="solid"/>
          </a:ln>
        </p:spPr>
      </p:sp>
      <p:sp>
        <p:nvSpPr>
          <p:cNvPr id="12" name="Text 10"/>
          <p:cNvSpPr txBox="1"/>
          <p:nvPr/>
        </p:nvSpPr>
        <p:spPr>
          <a:xfrm>
            <a:off x="822960" y="2240280"/>
            <a:ext cx="3044952" cy="320040"/>
          </a:xfrm>
          <a:prstGeom prst="rect">
            <a:avLst/>
          </a:prstGeom>
          <a:noFill/>
          <a:ln/>
        </p:spPr>
        <p:txBody>
          <a:bodyPr wrap="square" lIns="0" tIns="0" rIns="0" bIns="0" rtlCol="0" anchor="t"/>
          <a:lstStyle/>
          <a:p>
            <a:pPr indent="0" marL="0">
              <a:buNone/>
            </a:pPr>
            <a:r>
              <a:rPr lang="en-US" sz="1600" b="1" dirty="0">
                <a:solidFill>
                  <a:schemeClr val="tx1"/>
                </a:solidFill>
              </a:rPr>
              <a:t>No completeness gate</a:t>
            </a:r>
            <a:endParaRPr lang="en-US" sz="1600" dirty="0"/>
          </a:p>
        </p:txBody>
      </p:sp>
      <p:sp>
        <p:nvSpPr>
          <p:cNvPr id="13" name="Text 11"/>
          <p:cNvSpPr txBox="1"/>
          <p:nvPr/>
        </p:nvSpPr>
        <p:spPr>
          <a:xfrm>
            <a:off x="822960" y="2606040"/>
            <a:ext cx="3044952" cy="685800"/>
          </a:xfrm>
          <a:prstGeom prst="rect">
            <a:avLst/>
          </a:prstGeom>
          <a:noFill/>
          <a:ln/>
        </p:spPr>
        <p:txBody>
          <a:bodyPr wrap="square" lIns="0" tIns="0" rIns="0" bIns="0" rtlCol="0" anchor="t"/>
          <a:lstStyle/>
          <a:p>
            <a:pPr indent="0" marL="0">
              <a:buNone/>
            </a:pPr>
            <a:r>
              <a:rPr lang="en-US" sz="1300" dirty="0">
                <a:solidFill>
                  <a:schemeClr val="tx2"/>
                </a:solidFill>
              </a:rPr>
              <a:t>Every profile gets scores and 10 jobs; completeness sets confidence.</a:t>
            </a:r>
            <a:endParaRPr lang="en-US" sz="1300" dirty="0"/>
          </a:p>
        </p:txBody>
      </p:sp>
      <p:sp>
        <p:nvSpPr>
          <p:cNvPr id="14" name="Text 12"/>
          <p:cNvSpPr txBox="1"/>
          <p:nvPr/>
        </p:nvSpPr>
        <p:spPr>
          <a:xfrm>
            <a:off x="822960" y="3337560"/>
            <a:ext cx="3044952" cy="457200"/>
          </a:xfrm>
          <a:prstGeom prst="rect">
            <a:avLst/>
          </a:prstGeom>
          <a:noFill/>
          <a:ln/>
        </p:spPr>
        <p:txBody>
          <a:bodyPr wrap="square" lIns="0" tIns="0" rIns="0" bIns="0" rtlCol="0" anchor="t"/>
          <a:lstStyle/>
          <a:p>
            <a:pPr indent="0" marL="0">
              <a:buNone/>
            </a:pPr>
            <a:r>
              <a:rPr lang="en-US" sz="1200" b="1" dirty="0">
                <a:solidFill>
                  <a:srgbClr val="B8401F"/>
                </a:solidFill>
              </a:rPr>
              <a:t>Trade-off: </a:t>
            </a:r>
            <a:pPr indent="0" marL="0">
              <a:buNone/>
            </a:pPr>
            <a:r>
              <a:rPr lang="en-US" sz="1200" dirty="0">
                <a:solidFill>
                  <a:schemeClr val="tx1"/>
                </a:solidFill>
              </a:rPr>
              <a:t>Some scores show with low confidence.</a:t>
            </a:r>
            <a:endParaRPr lang="en-US" sz="1200" dirty="0"/>
          </a:p>
        </p:txBody>
      </p:sp>
      <p:sp>
        <p:nvSpPr>
          <p:cNvPr id="15" name="decision"/>
          <p:cNvSpPr/>
          <p:nvPr/>
        </p:nvSpPr>
        <p:spPr>
          <a:xfrm>
            <a:off x="4297680" y="2057400"/>
            <a:ext cx="3593592" cy="1828800"/>
          </a:xfrm>
          <a:prstGeom prst="roundRect">
            <a:avLst>
              <a:gd name="adj" fmla="val 6000"/>
            </a:avLst>
          </a:prstGeom>
          <a:solidFill>
            <a:schemeClr val="bg1"/>
          </a:solidFill>
          <a:ln w="12700">
            <a:solidFill>
              <a:schemeClr val="bg1"/>
            </a:solidFill>
            <a:prstDash val="solid"/>
          </a:ln>
        </p:spPr>
      </p:sp>
      <p:sp>
        <p:nvSpPr>
          <p:cNvPr id="16" name="Text 14"/>
          <p:cNvSpPr txBox="1"/>
          <p:nvPr/>
        </p:nvSpPr>
        <p:spPr>
          <a:xfrm>
            <a:off x="4572000" y="2240280"/>
            <a:ext cx="3044952" cy="320040"/>
          </a:xfrm>
          <a:prstGeom prst="rect">
            <a:avLst/>
          </a:prstGeom>
          <a:noFill/>
          <a:ln/>
        </p:spPr>
        <p:txBody>
          <a:bodyPr wrap="square" lIns="0" tIns="0" rIns="0" bIns="0" rtlCol="0" anchor="t"/>
          <a:lstStyle/>
          <a:p>
            <a:pPr indent="0" marL="0">
              <a:buNone/>
            </a:pPr>
            <a:r>
              <a:rPr lang="en-US" sz="1600" b="1" dirty="0">
                <a:solidFill>
                  <a:schemeClr val="tx1"/>
                </a:solidFill>
              </a:rPr>
              <a:t>Public job lists only</a:t>
            </a:r>
            <a:endParaRPr lang="en-US" sz="1600" dirty="0"/>
          </a:p>
        </p:txBody>
      </p:sp>
      <p:sp>
        <p:nvSpPr>
          <p:cNvPr id="17" name="Text 15"/>
          <p:cNvSpPr txBox="1"/>
          <p:nvPr/>
        </p:nvSpPr>
        <p:spPr>
          <a:xfrm>
            <a:off x="4572000" y="2606040"/>
            <a:ext cx="3044952" cy="685800"/>
          </a:xfrm>
          <a:prstGeom prst="rect">
            <a:avLst/>
          </a:prstGeom>
          <a:noFill/>
          <a:ln/>
        </p:spPr>
        <p:txBody>
          <a:bodyPr wrap="square" lIns="0" tIns="0" rIns="0" bIns="0" rtlCol="0" anchor="t"/>
          <a:lstStyle/>
          <a:p>
            <a:pPr indent="0" marL="0">
              <a:buNone/>
            </a:pPr>
            <a:r>
              <a:rPr lang="en-US" sz="1300" dirty="0">
                <a:solidFill>
                  <a:schemeClr val="tx2"/>
                </a:solidFill>
              </a:rPr>
              <a:t>Bundesagentur für Arbeit lists, Apply opens the original ad, no scraping.</a:t>
            </a:r>
            <a:endParaRPr lang="en-US" sz="1300" dirty="0"/>
          </a:p>
        </p:txBody>
      </p:sp>
      <p:sp>
        <p:nvSpPr>
          <p:cNvPr id="18" name="Text 16"/>
          <p:cNvSpPr txBox="1"/>
          <p:nvPr/>
        </p:nvSpPr>
        <p:spPr>
          <a:xfrm>
            <a:off x="4572000" y="3337560"/>
            <a:ext cx="3044952" cy="457200"/>
          </a:xfrm>
          <a:prstGeom prst="rect">
            <a:avLst/>
          </a:prstGeom>
          <a:noFill/>
          <a:ln/>
        </p:spPr>
        <p:txBody>
          <a:bodyPr wrap="square" lIns="0" tIns="0" rIns="0" bIns="0" rtlCol="0" anchor="t"/>
          <a:lstStyle/>
          <a:p>
            <a:pPr indent="0" marL="0">
              <a:buNone/>
            </a:pPr>
            <a:r>
              <a:rPr lang="en-US" sz="1200" b="1" dirty="0">
                <a:solidFill>
                  <a:srgbClr val="B8401F"/>
                </a:solidFill>
              </a:rPr>
              <a:t>Trade-off: </a:t>
            </a:r>
            <a:pPr indent="0" marL="0">
              <a:buNone/>
            </a:pPr>
            <a:r>
              <a:rPr lang="en-US" sz="1200" dirty="0">
                <a:solidFill>
                  <a:schemeClr val="tx1"/>
                </a:solidFill>
              </a:rPr>
              <a:t>Coverage risk; checked per persona at G1.</a:t>
            </a:r>
            <a:endParaRPr lang="en-US" sz="1200" dirty="0"/>
          </a:p>
        </p:txBody>
      </p:sp>
      <p:sp>
        <p:nvSpPr>
          <p:cNvPr id="19" name="decision"/>
          <p:cNvSpPr/>
          <p:nvPr/>
        </p:nvSpPr>
        <p:spPr>
          <a:xfrm>
            <a:off x="8046720" y="2057400"/>
            <a:ext cx="3593592" cy="1828800"/>
          </a:xfrm>
          <a:prstGeom prst="roundRect">
            <a:avLst>
              <a:gd name="adj" fmla="val 6000"/>
            </a:avLst>
          </a:prstGeom>
          <a:solidFill>
            <a:schemeClr val="bg1"/>
          </a:solidFill>
          <a:ln w="12700">
            <a:solidFill>
              <a:schemeClr val="bg1"/>
            </a:solidFill>
            <a:prstDash val="solid"/>
          </a:ln>
        </p:spPr>
      </p:sp>
      <p:sp>
        <p:nvSpPr>
          <p:cNvPr id="20" name="Text 18"/>
          <p:cNvSpPr txBox="1"/>
          <p:nvPr/>
        </p:nvSpPr>
        <p:spPr>
          <a:xfrm>
            <a:off x="8321040" y="2240280"/>
            <a:ext cx="3044952" cy="320040"/>
          </a:xfrm>
          <a:prstGeom prst="rect">
            <a:avLst/>
          </a:prstGeom>
          <a:noFill/>
          <a:ln/>
        </p:spPr>
        <p:txBody>
          <a:bodyPr wrap="square" lIns="0" tIns="0" rIns="0" bIns="0" rtlCol="0" anchor="t"/>
          <a:lstStyle/>
          <a:p>
            <a:pPr indent="0" marL="0">
              <a:buNone/>
            </a:pPr>
            <a:r>
              <a:rPr lang="en-US" sz="1600" b="1" dirty="0">
                <a:solidFill>
                  <a:schemeClr val="tx1"/>
                </a:solidFill>
              </a:rPr>
              <a:t>Free matching, paid prep</a:t>
            </a:r>
            <a:endParaRPr lang="en-US" sz="1600" dirty="0"/>
          </a:p>
        </p:txBody>
      </p:sp>
      <p:sp>
        <p:nvSpPr>
          <p:cNvPr id="21" name="Text 19"/>
          <p:cNvSpPr txBox="1"/>
          <p:nvPr/>
        </p:nvSpPr>
        <p:spPr>
          <a:xfrm>
            <a:off x="8321040" y="2606040"/>
            <a:ext cx="3044952" cy="685800"/>
          </a:xfrm>
          <a:prstGeom prst="rect">
            <a:avLst/>
          </a:prstGeom>
          <a:noFill/>
          <a:ln/>
        </p:spPr>
        <p:txBody>
          <a:bodyPr wrap="square" lIns="0" tIns="0" rIns="0" bIns="0" rtlCol="0" anchor="t"/>
          <a:lstStyle/>
          <a:p>
            <a:pPr indent="0" marL="0">
              <a:buNone/>
            </a:pPr>
            <a:r>
              <a:rPr lang="en-US" sz="1300" dirty="0">
                <a:solidFill>
                  <a:schemeClr val="tx2"/>
                </a:solidFill>
              </a:rPr>
              <a:t>Score and why it fits are free; credits pay for preparation tools.</a:t>
            </a:r>
            <a:endParaRPr lang="en-US" sz="1300" dirty="0"/>
          </a:p>
        </p:txBody>
      </p:sp>
      <p:sp>
        <p:nvSpPr>
          <p:cNvPr id="22" name="Text 20"/>
          <p:cNvSpPr txBox="1"/>
          <p:nvPr/>
        </p:nvSpPr>
        <p:spPr>
          <a:xfrm>
            <a:off x="8321040" y="3337560"/>
            <a:ext cx="3044952" cy="457200"/>
          </a:xfrm>
          <a:prstGeom prst="rect">
            <a:avLst/>
          </a:prstGeom>
          <a:noFill/>
          <a:ln/>
        </p:spPr>
        <p:txBody>
          <a:bodyPr wrap="square" lIns="0" tIns="0" rIns="0" bIns="0" rtlCol="0" anchor="t"/>
          <a:lstStyle/>
          <a:p>
            <a:pPr indent="0" marL="0">
              <a:buNone/>
            </a:pPr>
            <a:r>
              <a:rPr lang="en-US" sz="1200" b="1" dirty="0">
                <a:solidFill>
                  <a:srgbClr val="B8401F"/>
                </a:solidFill>
              </a:rPr>
              <a:t>Trade-off: </a:t>
            </a:r>
            <a:pPr indent="0" marL="0">
              <a:buNone/>
            </a:pPr>
            <a:r>
              <a:rPr lang="en-US" sz="1200" dirty="0">
                <a:solidFill>
                  <a:schemeClr val="tx1"/>
                </a:solidFill>
              </a:rPr>
              <a:t>10 credits a day limit heavy users.</a:t>
            </a:r>
            <a:endParaRPr lang="en-US" sz="1200" dirty="0"/>
          </a:p>
        </p:txBody>
      </p:sp>
      <p:sp>
        <p:nvSpPr>
          <p:cNvPr id="23" name="decision"/>
          <p:cNvSpPr/>
          <p:nvPr/>
        </p:nvSpPr>
        <p:spPr>
          <a:xfrm>
            <a:off x="548640" y="4069080"/>
            <a:ext cx="3593592" cy="1828800"/>
          </a:xfrm>
          <a:prstGeom prst="roundRect">
            <a:avLst>
              <a:gd name="adj" fmla="val 6000"/>
            </a:avLst>
          </a:prstGeom>
          <a:solidFill>
            <a:schemeClr val="bg1"/>
          </a:solidFill>
          <a:ln w="12700">
            <a:solidFill>
              <a:schemeClr val="bg1"/>
            </a:solidFill>
            <a:prstDash val="solid"/>
          </a:ln>
        </p:spPr>
      </p:sp>
      <p:sp>
        <p:nvSpPr>
          <p:cNvPr id="24" name="Text 22"/>
          <p:cNvSpPr txBox="1"/>
          <p:nvPr/>
        </p:nvSpPr>
        <p:spPr>
          <a:xfrm>
            <a:off x="822960" y="4251960"/>
            <a:ext cx="3044952" cy="320040"/>
          </a:xfrm>
          <a:prstGeom prst="rect">
            <a:avLst/>
          </a:prstGeom>
          <a:noFill/>
          <a:ln/>
        </p:spPr>
        <p:txBody>
          <a:bodyPr wrap="square" lIns="0" tIns="0" rIns="0" bIns="0" rtlCol="0" anchor="t"/>
          <a:lstStyle/>
          <a:p>
            <a:pPr indent="0" marL="0">
              <a:buNone/>
            </a:pPr>
            <a:r>
              <a:rPr lang="en-US" sz="1600" b="1" dirty="0">
                <a:solidFill>
                  <a:schemeClr val="tx1"/>
                </a:solidFill>
              </a:rPr>
              <a:t>Interview prep after applying</a:t>
            </a:r>
            <a:endParaRPr lang="en-US" sz="1600" dirty="0"/>
          </a:p>
        </p:txBody>
      </p:sp>
      <p:sp>
        <p:nvSpPr>
          <p:cNvPr id="25" name="Text 23"/>
          <p:cNvSpPr txBox="1"/>
          <p:nvPr/>
        </p:nvSpPr>
        <p:spPr>
          <a:xfrm>
            <a:off x="822960" y="4617720"/>
            <a:ext cx="3044952" cy="685800"/>
          </a:xfrm>
          <a:prstGeom prst="rect">
            <a:avLst/>
          </a:prstGeom>
          <a:noFill/>
          <a:ln/>
        </p:spPr>
        <p:txBody>
          <a:bodyPr wrap="square" lIns="0" tIns="0" rIns="0" bIns="0" rtlCol="0" anchor="t"/>
          <a:lstStyle/>
          <a:p>
            <a:pPr indent="0" marL="0">
              <a:buNone/>
            </a:pPr>
            <a:r>
              <a:rPr lang="en-US" sz="1300" dirty="0">
                <a:solidFill>
                  <a:schemeClr val="tx2"/>
                </a:solidFill>
              </a:rPr>
              <a:t>Offered from the application history, when it matters.</a:t>
            </a:r>
            <a:endParaRPr lang="en-US" sz="1300" dirty="0"/>
          </a:p>
        </p:txBody>
      </p:sp>
      <p:sp>
        <p:nvSpPr>
          <p:cNvPr id="26" name="Text 24"/>
          <p:cNvSpPr txBox="1"/>
          <p:nvPr/>
        </p:nvSpPr>
        <p:spPr>
          <a:xfrm>
            <a:off x="822960" y="5349240"/>
            <a:ext cx="3044952" cy="457200"/>
          </a:xfrm>
          <a:prstGeom prst="rect">
            <a:avLst/>
          </a:prstGeom>
          <a:noFill/>
          <a:ln/>
        </p:spPr>
        <p:txBody>
          <a:bodyPr wrap="square" lIns="0" tIns="0" rIns="0" bIns="0" rtlCol="0" anchor="t"/>
          <a:lstStyle/>
          <a:p>
            <a:pPr indent="0" marL="0">
              <a:buNone/>
            </a:pPr>
            <a:r>
              <a:rPr lang="en-US" sz="1200" b="1" dirty="0">
                <a:solidFill>
                  <a:srgbClr val="B8401F"/>
                </a:solidFill>
              </a:rPr>
              <a:t>Trade-off: </a:t>
            </a:r>
            <a:pPr indent="0" marL="0">
              <a:buNone/>
            </a:pPr>
            <a:r>
              <a:rPr lang="en-US" sz="1200" dirty="0">
                <a:solidFill>
                  <a:schemeClr val="tx1"/>
                </a:solidFill>
              </a:rPr>
              <a:t>Should; first to cut if time runs short.</a:t>
            </a:r>
            <a:endParaRPr lang="en-US" sz="1200" dirty="0"/>
          </a:p>
        </p:txBody>
      </p:sp>
      <p:sp>
        <p:nvSpPr>
          <p:cNvPr id="27" name="decision"/>
          <p:cNvSpPr/>
          <p:nvPr/>
        </p:nvSpPr>
        <p:spPr>
          <a:xfrm>
            <a:off x="4297680" y="4069080"/>
            <a:ext cx="3593592" cy="1828800"/>
          </a:xfrm>
          <a:prstGeom prst="roundRect">
            <a:avLst>
              <a:gd name="adj" fmla="val 6000"/>
            </a:avLst>
          </a:prstGeom>
          <a:solidFill>
            <a:schemeClr val="bg1"/>
          </a:solidFill>
          <a:ln w="12700">
            <a:solidFill>
              <a:schemeClr val="bg1"/>
            </a:solidFill>
            <a:prstDash val="solid"/>
          </a:ln>
        </p:spPr>
      </p:sp>
      <p:sp>
        <p:nvSpPr>
          <p:cNvPr id="28" name="Text 26"/>
          <p:cNvSpPr txBox="1"/>
          <p:nvPr/>
        </p:nvSpPr>
        <p:spPr>
          <a:xfrm>
            <a:off x="4572000" y="4251960"/>
            <a:ext cx="3044952" cy="320040"/>
          </a:xfrm>
          <a:prstGeom prst="rect">
            <a:avLst/>
          </a:prstGeom>
          <a:noFill/>
          <a:ln/>
        </p:spPr>
        <p:txBody>
          <a:bodyPr wrap="square" lIns="0" tIns="0" rIns="0" bIns="0" rtlCol="0" anchor="t"/>
          <a:lstStyle/>
          <a:p>
            <a:pPr indent="0" marL="0">
              <a:buNone/>
            </a:pPr>
            <a:r>
              <a:rPr lang="en-US" sz="1600" b="1" dirty="0">
                <a:solidFill>
                  <a:schemeClr val="tx1"/>
                </a:solidFill>
              </a:rPr>
              <a:t>Headhunter pilot, gated</a:t>
            </a:r>
            <a:endParaRPr lang="en-US" sz="1600" dirty="0"/>
          </a:p>
        </p:txBody>
      </p:sp>
      <p:sp>
        <p:nvSpPr>
          <p:cNvPr id="29" name="Text 27"/>
          <p:cNvSpPr txBox="1"/>
          <p:nvPr/>
        </p:nvSpPr>
        <p:spPr>
          <a:xfrm>
            <a:off x="4572000" y="4617720"/>
            <a:ext cx="3044952" cy="685800"/>
          </a:xfrm>
          <a:prstGeom prst="rect">
            <a:avLst/>
          </a:prstGeom>
          <a:noFill/>
          <a:ln/>
        </p:spPr>
        <p:txBody>
          <a:bodyPr wrap="square" lIns="0" tIns="0" rIns="0" bIns="0" rtlCol="0" anchor="t"/>
          <a:lstStyle/>
          <a:p>
            <a:pPr indent="0" marL="0">
              <a:buNone/>
            </a:pPr>
            <a:r>
              <a:rPr lang="en-US" sz="1300" dirty="0">
                <a:solidFill>
                  <a:schemeClr val="tx2"/>
                </a:solidFill>
              </a:rPr>
              <a:t>Invitation only, candidate consent for every CV share.</a:t>
            </a:r>
            <a:endParaRPr lang="en-US" sz="1300" dirty="0"/>
          </a:p>
        </p:txBody>
      </p:sp>
      <p:sp>
        <p:nvSpPr>
          <p:cNvPr id="30" name="Text 28"/>
          <p:cNvSpPr txBox="1"/>
          <p:nvPr/>
        </p:nvSpPr>
        <p:spPr>
          <a:xfrm>
            <a:off x="4572000" y="5349240"/>
            <a:ext cx="3044952" cy="457200"/>
          </a:xfrm>
          <a:prstGeom prst="rect">
            <a:avLst/>
          </a:prstGeom>
          <a:noFill/>
          <a:ln/>
        </p:spPr>
        <p:txBody>
          <a:bodyPr wrap="square" lIns="0" tIns="0" rIns="0" bIns="0" rtlCol="0" anchor="t"/>
          <a:lstStyle/>
          <a:p>
            <a:pPr indent="0" marL="0">
              <a:buNone/>
            </a:pPr>
            <a:r>
              <a:rPr lang="en-US" sz="1200" b="1" dirty="0">
                <a:solidFill>
                  <a:srgbClr val="B8401F"/>
                </a:solidFill>
              </a:rPr>
              <a:t>Trade-off: </a:t>
            </a:r>
            <a:pPr indent="0" marL="0">
              <a:buNone/>
            </a:pPr>
            <a:r>
              <a:rPr lang="en-US" sz="1200" dirty="0">
                <a:solidFill>
                  <a:schemeClr val="tx1"/>
                </a:solidFill>
              </a:rPr>
              <a:t>Low reach; capacity decided at G2.</a:t>
            </a:r>
            <a:endParaRPr lang="en-US" sz="1200" dirty="0"/>
          </a:p>
        </p:txBody>
      </p:sp>
      <p:sp>
        <p:nvSpPr>
          <p:cNvPr id="31" name="decision"/>
          <p:cNvSpPr/>
          <p:nvPr/>
        </p:nvSpPr>
        <p:spPr>
          <a:xfrm>
            <a:off x="8046720" y="4069080"/>
            <a:ext cx="3593592" cy="1828800"/>
          </a:xfrm>
          <a:prstGeom prst="roundRect">
            <a:avLst>
              <a:gd name="adj" fmla="val 6000"/>
            </a:avLst>
          </a:prstGeom>
          <a:solidFill>
            <a:schemeClr val="bg1"/>
          </a:solidFill>
          <a:ln w="12700">
            <a:solidFill>
              <a:schemeClr val="bg1"/>
            </a:solidFill>
            <a:prstDash val="solid"/>
          </a:ln>
        </p:spPr>
      </p:sp>
      <p:sp>
        <p:nvSpPr>
          <p:cNvPr id="32" name="Text 30"/>
          <p:cNvSpPr txBox="1"/>
          <p:nvPr/>
        </p:nvSpPr>
        <p:spPr>
          <a:xfrm>
            <a:off x="8321040" y="4251960"/>
            <a:ext cx="3044952" cy="320040"/>
          </a:xfrm>
          <a:prstGeom prst="rect">
            <a:avLst/>
          </a:prstGeom>
          <a:noFill/>
          <a:ln/>
        </p:spPr>
        <p:txBody>
          <a:bodyPr wrap="square" lIns="0" tIns="0" rIns="0" bIns="0" rtlCol="0" anchor="t"/>
          <a:lstStyle/>
          <a:p>
            <a:pPr indent="0" marL="0">
              <a:buNone/>
            </a:pPr>
            <a:r>
              <a:rPr lang="en-US" sz="1600" b="1" dirty="0">
                <a:solidFill>
                  <a:schemeClr val="tx1"/>
                </a:solidFill>
              </a:rPr>
              <a:t>Germany, DE / EN first</a:t>
            </a:r>
            <a:endParaRPr lang="en-US" sz="1600" dirty="0"/>
          </a:p>
        </p:txBody>
      </p:sp>
      <p:sp>
        <p:nvSpPr>
          <p:cNvPr id="33" name="Text 31"/>
          <p:cNvSpPr txBox="1"/>
          <p:nvPr/>
        </p:nvSpPr>
        <p:spPr>
          <a:xfrm>
            <a:off x="8321040" y="4617720"/>
            <a:ext cx="3044952" cy="685800"/>
          </a:xfrm>
          <a:prstGeom prst="rect">
            <a:avLst/>
          </a:prstGeom>
          <a:noFill/>
          <a:ln/>
        </p:spPr>
        <p:txBody>
          <a:bodyPr wrap="square" lIns="0" tIns="0" rIns="0" bIns="0" rtlCol="0" anchor="t"/>
          <a:lstStyle/>
          <a:p>
            <a:pPr indent="0" marL="0">
              <a:buNone/>
            </a:pPr>
            <a:r>
              <a:rPr lang="en-US" sz="1300" dirty="0">
                <a:solidFill>
                  <a:schemeClr val="tx2"/>
                </a:solidFill>
              </a:rPr>
              <a:t>Prove extraction and documents in two languages.</a:t>
            </a:r>
            <a:endParaRPr lang="en-US" sz="1300" dirty="0"/>
          </a:p>
        </p:txBody>
      </p:sp>
      <p:sp>
        <p:nvSpPr>
          <p:cNvPr id="34" name="Text 32"/>
          <p:cNvSpPr txBox="1"/>
          <p:nvPr/>
        </p:nvSpPr>
        <p:spPr>
          <a:xfrm>
            <a:off x="8321040" y="5349240"/>
            <a:ext cx="3044952" cy="457200"/>
          </a:xfrm>
          <a:prstGeom prst="rect">
            <a:avLst/>
          </a:prstGeom>
          <a:noFill/>
          <a:ln/>
        </p:spPr>
        <p:txBody>
          <a:bodyPr wrap="square" lIns="0" tIns="0" rIns="0" bIns="0" rtlCol="0" anchor="t"/>
          <a:lstStyle/>
          <a:p>
            <a:pPr indent="0" marL="0">
              <a:buNone/>
            </a:pPr>
            <a:r>
              <a:rPr lang="en-US" sz="1200" b="1" dirty="0">
                <a:solidFill>
                  <a:srgbClr val="B8401F"/>
                </a:solidFill>
              </a:rPr>
              <a:t>Trade-off: </a:t>
            </a:r>
            <a:pPr indent="0" marL="0">
              <a:buNone/>
            </a:pPr>
            <a:r>
              <a:rPr lang="en-US" sz="1200" dirty="0">
                <a:solidFill>
                  <a:schemeClr val="tx1"/>
                </a:solidFill>
              </a:rPr>
              <a:t>Spain waits until after launch.</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06 · LIVE DEMO</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From CV to a confirmed application in one flow</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Integration</a:t>
            </a:r>
            <a:endParaRPr lang="en-US" sz="1000" dirty="0"/>
          </a:p>
        </p:txBody>
      </p:sp>
      <p:sp>
        <p:nvSpPr>
          <p:cNvPr id="9" name="Text 7"/>
          <p:cNvSpPr txBox="1"/>
          <p:nvPr/>
        </p:nvSpPr>
        <p:spPr>
          <a:xfrm>
            <a:off x="9875520"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Demo</a:t>
            </a:r>
            <a:endParaRPr lang="en-US" sz="1000" dirty="0"/>
          </a:p>
        </p:txBody>
      </p:sp>
      <p:sp>
        <p:nvSpPr>
          <p:cNvPr id="10" name="Text 8"/>
          <p:cNvSpPr txBox="1"/>
          <p:nvPr/>
        </p:nvSpPr>
        <p:spPr>
          <a:xfrm>
            <a:off x="10735056"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Close</a:t>
            </a:r>
            <a:endParaRPr lang="en-US" sz="1000" dirty="0"/>
          </a:p>
        </p:txBody>
      </p:sp>
      <p:sp>
        <p:nvSpPr>
          <p:cNvPr id="11" name="demo"/>
          <p:cNvSpPr/>
          <p:nvPr/>
        </p:nvSpPr>
        <p:spPr>
          <a:xfrm>
            <a:off x="548640" y="2194560"/>
            <a:ext cx="3566160" cy="1005840"/>
          </a:xfrm>
          <a:prstGeom prst="roundRect">
            <a:avLst>
              <a:gd name="adj" fmla="val 10909"/>
            </a:avLst>
          </a:prstGeom>
          <a:solidFill>
            <a:srgbClr val="163A63"/>
          </a:solidFill>
          <a:ln w="12700">
            <a:solidFill>
              <a:srgbClr val="163A63"/>
            </a:solidFill>
            <a:prstDash val="solid"/>
          </a:ln>
        </p:spPr>
      </p:sp>
      <p:sp>
        <p:nvSpPr>
          <p:cNvPr id="12" name="Text 10"/>
          <p:cNvSpPr txBox="1"/>
          <p:nvPr/>
        </p:nvSpPr>
        <p:spPr>
          <a:xfrm>
            <a:off x="777240" y="237744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1</a:t>
            </a:r>
            <a:endParaRPr lang="en-US" sz="3000" dirty="0"/>
          </a:p>
        </p:txBody>
      </p:sp>
      <p:sp>
        <p:nvSpPr>
          <p:cNvPr id="13" name="Text 11"/>
          <p:cNvSpPr txBox="1"/>
          <p:nvPr/>
        </p:nvSpPr>
        <p:spPr>
          <a:xfrm>
            <a:off x="1463040" y="237744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SSO sign-in</a:t>
            </a:r>
            <a:endParaRPr lang="en-US" sz="1600" dirty="0"/>
          </a:p>
        </p:txBody>
      </p:sp>
      <p:sp>
        <p:nvSpPr>
          <p:cNvPr id="14" name="demo"/>
          <p:cNvSpPr/>
          <p:nvPr/>
        </p:nvSpPr>
        <p:spPr>
          <a:xfrm>
            <a:off x="4297680" y="2194560"/>
            <a:ext cx="3566160" cy="1005840"/>
          </a:xfrm>
          <a:prstGeom prst="roundRect">
            <a:avLst>
              <a:gd name="adj" fmla="val 10909"/>
            </a:avLst>
          </a:prstGeom>
          <a:solidFill>
            <a:srgbClr val="163A63"/>
          </a:solidFill>
          <a:ln w="12700">
            <a:solidFill>
              <a:srgbClr val="163A63"/>
            </a:solidFill>
            <a:prstDash val="solid"/>
          </a:ln>
        </p:spPr>
      </p:sp>
      <p:sp>
        <p:nvSpPr>
          <p:cNvPr id="15" name="Text 13"/>
          <p:cNvSpPr txBox="1"/>
          <p:nvPr/>
        </p:nvSpPr>
        <p:spPr>
          <a:xfrm>
            <a:off x="4526280" y="237744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2</a:t>
            </a:r>
            <a:endParaRPr lang="en-US" sz="3000" dirty="0"/>
          </a:p>
        </p:txBody>
      </p:sp>
      <p:sp>
        <p:nvSpPr>
          <p:cNvPr id="16" name="Text 14"/>
          <p:cNvSpPr txBox="1"/>
          <p:nvPr/>
        </p:nvSpPr>
        <p:spPr>
          <a:xfrm>
            <a:off x="5212080" y="237744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CV → profile at 72%</a:t>
            </a:r>
            <a:endParaRPr lang="en-US" sz="1600" dirty="0"/>
          </a:p>
        </p:txBody>
      </p:sp>
      <p:sp>
        <p:nvSpPr>
          <p:cNvPr id="17" name="demo"/>
          <p:cNvSpPr/>
          <p:nvPr/>
        </p:nvSpPr>
        <p:spPr>
          <a:xfrm>
            <a:off x="8046720" y="2194560"/>
            <a:ext cx="3566160" cy="1005840"/>
          </a:xfrm>
          <a:prstGeom prst="roundRect">
            <a:avLst>
              <a:gd name="adj" fmla="val 10909"/>
            </a:avLst>
          </a:prstGeom>
          <a:solidFill>
            <a:srgbClr val="163A63"/>
          </a:solidFill>
          <a:ln w="12700">
            <a:solidFill>
              <a:srgbClr val="163A63"/>
            </a:solidFill>
            <a:prstDash val="solid"/>
          </a:ln>
        </p:spPr>
      </p:sp>
      <p:sp>
        <p:nvSpPr>
          <p:cNvPr id="18" name="Text 16"/>
          <p:cNvSpPr txBox="1"/>
          <p:nvPr/>
        </p:nvSpPr>
        <p:spPr>
          <a:xfrm>
            <a:off x="8275320" y="237744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3</a:t>
            </a:r>
            <a:endParaRPr lang="en-US" sz="3000" dirty="0"/>
          </a:p>
        </p:txBody>
      </p:sp>
      <p:sp>
        <p:nvSpPr>
          <p:cNvPr id="19" name="Text 17"/>
          <p:cNvSpPr txBox="1"/>
          <p:nvPr/>
        </p:nvSpPr>
        <p:spPr>
          <a:xfrm>
            <a:off x="8961120" y="237744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Preferences, min. fit 90%</a:t>
            </a:r>
            <a:endParaRPr lang="en-US" sz="1600" dirty="0"/>
          </a:p>
        </p:txBody>
      </p:sp>
      <p:sp>
        <p:nvSpPr>
          <p:cNvPr id="20" name="demo"/>
          <p:cNvSpPr/>
          <p:nvPr/>
        </p:nvSpPr>
        <p:spPr>
          <a:xfrm>
            <a:off x="548640" y="3383280"/>
            <a:ext cx="3566160" cy="1005840"/>
          </a:xfrm>
          <a:prstGeom prst="roundRect">
            <a:avLst>
              <a:gd name="adj" fmla="val 10909"/>
            </a:avLst>
          </a:prstGeom>
          <a:solidFill>
            <a:srgbClr val="163A63"/>
          </a:solidFill>
          <a:ln w="12700">
            <a:solidFill>
              <a:srgbClr val="163A63"/>
            </a:solidFill>
            <a:prstDash val="solid"/>
          </a:ln>
        </p:spPr>
      </p:sp>
      <p:sp>
        <p:nvSpPr>
          <p:cNvPr id="21" name="Text 19"/>
          <p:cNvSpPr txBox="1"/>
          <p:nvPr/>
        </p:nvSpPr>
        <p:spPr>
          <a:xfrm>
            <a:off x="777240" y="356616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4</a:t>
            </a:r>
            <a:endParaRPr lang="en-US" sz="3000" dirty="0"/>
          </a:p>
        </p:txBody>
      </p:sp>
      <p:sp>
        <p:nvSpPr>
          <p:cNvPr id="22" name="Text 20"/>
          <p:cNvSpPr txBox="1"/>
          <p:nvPr/>
        </p:nvSpPr>
        <p:spPr>
          <a:xfrm>
            <a:off x="1463040" y="356616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10 jobs, 2 above 90%</a:t>
            </a:r>
            <a:endParaRPr lang="en-US" sz="1600" dirty="0"/>
          </a:p>
        </p:txBody>
      </p:sp>
      <p:sp>
        <p:nvSpPr>
          <p:cNvPr id="23" name="demo"/>
          <p:cNvSpPr/>
          <p:nvPr/>
        </p:nvSpPr>
        <p:spPr>
          <a:xfrm>
            <a:off x="4297680" y="3383280"/>
            <a:ext cx="3566160" cy="1005840"/>
          </a:xfrm>
          <a:prstGeom prst="roundRect">
            <a:avLst>
              <a:gd name="adj" fmla="val 10909"/>
            </a:avLst>
          </a:prstGeom>
          <a:solidFill>
            <a:srgbClr val="163A63"/>
          </a:solidFill>
          <a:ln w="12700">
            <a:solidFill>
              <a:srgbClr val="163A63"/>
            </a:solidFill>
            <a:prstDash val="solid"/>
          </a:ln>
        </p:spPr>
      </p:sp>
      <p:sp>
        <p:nvSpPr>
          <p:cNvPr id="24" name="Text 22"/>
          <p:cNvSpPr txBox="1"/>
          <p:nvPr/>
        </p:nvSpPr>
        <p:spPr>
          <a:xfrm>
            <a:off x="4526280" y="356616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5</a:t>
            </a:r>
            <a:endParaRPr lang="en-US" sz="3000" dirty="0"/>
          </a:p>
        </p:txBody>
      </p:sp>
      <p:sp>
        <p:nvSpPr>
          <p:cNvPr id="25" name="Text 23"/>
          <p:cNvSpPr txBox="1"/>
          <p:nvPr/>
        </p:nvSpPr>
        <p:spPr>
          <a:xfrm>
            <a:off x="5212080" y="356616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How it's calculated</a:t>
            </a:r>
            <a:endParaRPr lang="en-US" sz="1600" dirty="0"/>
          </a:p>
        </p:txBody>
      </p:sp>
      <p:sp>
        <p:nvSpPr>
          <p:cNvPr id="26" name="demo"/>
          <p:cNvSpPr/>
          <p:nvPr/>
        </p:nvSpPr>
        <p:spPr>
          <a:xfrm>
            <a:off x="8046720" y="3383280"/>
            <a:ext cx="3566160" cy="1005840"/>
          </a:xfrm>
          <a:prstGeom prst="roundRect">
            <a:avLst>
              <a:gd name="adj" fmla="val 10909"/>
            </a:avLst>
          </a:prstGeom>
          <a:solidFill>
            <a:srgbClr val="163A63"/>
          </a:solidFill>
          <a:ln w="12700">
            <a:solidFill>
              <a:srgbClr val="163A63"/>
            </a:solidFill>
            <a:prstDash val="solid"/>
          </a:ln>
        </p:spPr>
      </p:sp>
      <p:sp>
        <p:nvSpPr>
          <p:cNvPr id="27" name="Text 25"/>
          <p:cNvSpPr txBox="1"/>
          <p:nvPr/>
        </p:nvSpPr>
        <p:spPr>
          <a:xfrm>
            <a:off x="8275320" y="356616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6</a:t>
            </a:r>
            <a:endParaRPr lang="en-US" sz="3000" dirty="0"/>
          </a:p>
        </p:txBody>
      </p:sp>
      <p:sp>
        <p:nvSpPr>
          <p:cNvPr id="28" name="Text 26"/>
          <p:cNvSpPr txBox="1"/>
          <p:nvPr/>
        </p:nvSpPr>
        <p:spPr>
          <a:xfrm>
            <a:off x="8961120" y="356616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Prepare (−1)</a:t>
            </a:r>
            <a:endParaRPr lang="en-US" sz="1600" dirty="0"/>
          </a:p>
        </p:txBody>
      </p:sp>
      <p:sp>
        <p:nvSpPr>
          <p:cNvPr id="29" name="demo"/>
          <p:cNvSpPr/>
          <p:nvPr/>
        </p:nvSpPr>
        <p:spPr>
          <a:xfrm>
            <a:off x="548640" y="4572000"/>
            <a:ext cx="3566160" cy="1005840"/>
          </a:xfrm>
          <a:prstGeom prst="roundRect">
            <a:avLst>
              <a:gd name="adj" fmla="val 10909"/>
            </a:avLst>
          </a:prstGeom>
          <a:solidFill>
            <a:srgbClr val="163A63"/>
          </a:solidFill>
          <a:ln w="12700">
            <a:solidFill>
              <a:srgbClr val="163A63"/>
            </a:solidFill>
            <a:prstDash val="solid"/>
          </a:ln>
        </p:spPr>
      </p:sp>
      <p:sp>
        <p:nvSpPr>
          <p:cNvPr id="30" name="Text 28"/>
          <p:cNvSpPr txBox="1"/>
          <p:nvPr/>
        </p:nvSpPr>
        <p:spPr>
          <a:xfrm>
            <a:off x="777240" y="475488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7</a:t>
            </a:r>
            <a:endParaRPr lang="en-US" sz="3000" dirty="0"/>
          </a:p>
        </p:txBody>
      </p:sp>
      <p:sp>
        <p:nvSpPr>
          <p:cNvPr id="31" name="Text 29"/>
          <p:cNvSpPr txBox="1"/>
          <p:nvPr/>
        </p:nvSpPr>
        <p:spPr>
          <a:xfrm>
            <a:off x="1463040" y="475488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Tailored CV (−1)</a:t>
            </a:r>
            <a:endParaRPr lang="en-US" sz="1600" dirty="0"/>
          </a:p>
        </p:txBody>
      </p:sp>
      <p:sp>
        <p:nvSpPr>
          <p:cNvPr id="32" name="demo"/>
          <p:cNvSpPr/>
          <p:nvPr/>
        </p:nvSpPr>
        <p:spPr>
          <a:xfrm>
            <a:off x="4297680" y="4572000"/>
            <a:ext cx="3566160" cy="1005840"/>
          </a:xfrm>
          <a:prstGeom prst="roundRect">
            <a:avLst>
              <a:gd name="adj" fmla="val 10909"/>
            </a:avLst>
          </a:prstGeom>
          <a:solidFill>
            <a:srgbClr val="163A63"/>
          </a:solidFill>
          <a:ln w="12700">
            <a:solidFill>
              <a:srgbClr val="163A63"/>
            </a:solidFill>
            <a:prstDash val="solid"/>
          </a:ln>
        </p:spPr>
      </p:sp>
      <p:sp>
        <p:nvSpPr>
          <p:cNvPr id="33" name="Text 31"/>
          <p:cNvSpPr txBox="1"/>
          <p:nvPr/>
        </p:nvSpPr>
        <p:spPr>
          <a:xfrm>
            <a:off x="4526280" y="475488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8</a:t>
            </a:r>
            <a:endParaRPr lang="en-US" sz="3000" dirty="0"/>
          </a:p>
        </p:txBody>
      </p:sp>
      <p:sp>
        <p:nvSpPr>
          <p:cNvPr id="34" name="Text 32"/>
          <p:cNvSpPr txBox="1"/>
          <p:nvPr/>
        </p:nvSpPr>
        <p:spPr>
          <a:xfrm>
            <a:off x="5212080" y="475488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Apply + confirm</a:t>
            </a:r>
            <a:endParaRPr lang="en-US" sz="1600" dirty="0"/>
          </a:p>
        </p:txBody>
      </p:sp>
      <p:sp>
        <p:nvSpPr>
          <p:cNvPr id="35" name="demo"/>
          <p:cNvSpPr/>
          <p:nvPr/>
        </p:nvSpPr>
        <p:spPr>
          <a:xfrm>
            <a:off x="8046720" y="4572000"/>
            <a:ext cx="3566160" cy="1005840"/>
          </a:xfrm>
          <a:prstGeom prst="roundRect">
            <a:avLst>
              <a:gd name="adj" fmla="val 10909"/>
            </a:avLst>
          </a:prstGeom>
          <a:solidFill>
            <a:srgbClr val="163A63"/>
          </a:solidFill>
          <a:ln w="12700">
            <a:solidFill>
              <a:srgbClr val="163A63"/>
            </a:solidFill>
            <a:prstDash val="solid"/>
          </a:ln>
        </p:spPr>
      </p:sp>
      <p:sp>
        <p:nvSpPr>
          <p:cNvPr id="36" name="Text 34"/>
          <p:cNvSpPr txBox="1"/>
          <p:nvPr/>
        </p:nvSpPr>
        <p:spPr>
          <a:xfrm>
            <a:off x="8275320" y="4754880"/>
            <a:ext cx="640080" cy="640080"/>
          </a:xfrm>
          <a:prstGeom prst="rect">
            <a:avLst/>
          </a:prstGeom>
          <a:noFill/>
          <a:ln/>
        </p:spPr>
        <p:txBody>
          <a:bodyPr wrap="square" lIns="0" tIns="0" rIns="0" bIns="0" rtlCol="0" anchor="ctr"/>
          <a:lstStyle/>
          <a:p>
            <a:pPr indent="0" marL="0">
              <a:buNone/>
            </a:pPr>
            <a:r>
              <a:rPr lang="en-US" sz="3000" b="1" dirty="0">
                <a:solidFill>
                  <a:schemeClr val="accent1"/>
                </a:solidFill>
              </a:rPr>
              <a:t>9</a:t>
            </a:r>
            <a:endParaRPr lang="en-US" sz="3000" dirty="0"/>
          </a:p>
        </p:txBody>
      </p:sp>
      <p:sp>
        <p:nvSpPr>
          <p:cNvPr id="37" name="Text 35"/>
          <p:cNvSpPr txBox="1"/>
          <p:nvPr/>
        </p:nvSpPr>
        <p:spPr>
          <a:xfrm>
            <a:off x="8961120" y="4754880"/>
            <a:ext cx="2514600" cy="640080"/>
          </a:xfrm>
          <a:prstGeom prst="rect">
            <a:avLst/>
          </a:prstGeom>
          <a:noFill/>
          <a:ln/>
        </p:spPr>
        <p:txBody>
          <a:bodyPr wrap="square" lIns="0" tIns="0" rIns="0" bIns="0" rtlCol="0" anchor="ctr"/>
          <a:lstStyle/>
          <a:p>
            <a:pPr indent="0" marL="0">
              <a:buNone/>
            </a:pPr>
            <a:r>
              <a:rPr lang="en-US" sz="1600" b="1" dirty="0">
                <a:solidFill>
                  <a:schemeClr val="bg1"/>
                </a:solidFill>
              </a:rPr>
              <a:t>Interview prep</a:t>
            </a:r>
            <a:endParaRPr lang="en-US" sz="1600" dirty="0"/>
          </a:p>
        </p:txBody>
      </p:sp>
      <p:sp>
        <p:nvSpPr>
          <p:cNvPr id="38" name="Text 36"/>
          <p:cNvSpPr txBox="1"/>
          <p:nvPr/>
        </p:nvSpPr>
        <p:spPr>
          <a:xfrm>
            <a:off x="548640" y="5852160"/>
            <a:ext cx="10058400" cy="274320"/>
          </a:xfrm>
          <a:prstGeom prst="rect">
            <a:avLst/>
          </a:prstGeom>
          <a:noFill/>
          <a:ln/>
        </p:spPr>
        <p:txBody>
          <a:bodyPr wrap="square" lIns="0" tIns="0" rIns="0" bIns="0" rtlCol="0" anchor="t"/>
          <a:lstStyle/>
          <a:p>
            <a:pPr indent="0" marL="0">
              <a:buNone/>
            </a:pPr>
            <a:r>
              <a:rPr lang="en-US" sz="1200" dirty="0">
                <a:solidFill>
                  <a:schemeClr val="accent4"/>
                </a:solidFill>
              </a:rPr>
              <a:t>Next.js demo on Vercel · Figma prototype as backup · all jobs and scores are illustrative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07 · CONCLUSION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What we learned, and where we go next</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D5DEEA"/>
                </a:solidFill>
              </a:rPr>
              <a:t>Demo</a:t>
            </a:r>
            <a:endParaRPr lang="en-US" sz="1000" dirty="0"/>
          </a:p>
        </p:txBody>
      </p:sp>
      <p:sp>
        <p:nvSpPr>
          <p:cNvPr id="10" name="Text 8"/>
          <p:cNvSpPr txBox="1"/>
          <p:nvPr/>
        </p:nvSpPr>
        <p:spPr>
          <a:xfrm>
            <a:off x="10735056"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Close</a:t>
            </a:r>
            <a:endParaRPr lang="en-US" sz="1000" dirty="0"/>
          </a:p>
        </p:txBody>
      </p:sp>
      <p:sp>
        <p:nvSpPr>
          <p:cNvPr id="11" name="col"/>
          <p:cNvSpPr/>
          <p:nvPr/>
        </p:nvSpPr>
        <p:spPr>
          <a:xfrm>
            <a:off x="548640" y="2057400"/>
            <a:ext cx="3593592" cy="3657600"/>
          </a:xfrm>
          <a:prstGeom prst="roundRect">
            <a:avLst>
              <a:gd name="adj" fmla="val 3053"/>
            </a:avLst>
          </a:prstGeom>
          <a:solidFill>
            <a:srgbClr val="163A63"/>
          </a:solidFill>
          <a:ln w="12700">
            <a:solidFill>
              <a:srgbClr val="163A63"/>
            </a:solidFill>
            <a:prstDash val="solid"/>
          </a:ln>
        </p:spPr>
      </p:sp>
      <p:sp>
        <p:nvSpPr>
          <p:cNvPr id="12" name="Text 10"/>
          <p:cNvSpPr txBox="1"/>
          <p:nvPr/>
        </p:nvSpPr>
        <p:spPr>
          <a:xfrm>
            <a:off x="822960" y="2240280"/>
            <a:ext cx="3044952" cy="365760"/>
          </a:xfrm>
          <a:prstGeom prst="rect">
            <a:avLst/>
          </a:prstGeom>
          <a:noFill/>
          <a:ln/>
        </p:spPr>
        <p:txBody>
          <a:bodyPr wrap="square" lIns="0" tIns="0" rIns="0" bIns="0" rtlCol="0" anchor="t"/>
          <a:lstStyle/>
          <a:p>
            <a:pPr indent="0" marL="0">
              <a:buNone/>
            </a:pPr>
            <a:r>
              <a:rPr lang="en-US" sz="1800" b="1" dirty="0">
                <a:solidFill>
                  <a:schemeClr val="bg1"/>
                </a:solidFill>
              </a:rPr>
              <a:t>What we learned</a:t>
            </a:r>
            <a:endParaRPr lang="en-US" sz="1800" dirty="0"/>
          </a:p>
        </p:txBody>
      </p:sp>
      <p:sp>
        <p:nvSpPr>
          <p:cNvPr id="13" name="Text 11"/>
          <p:cNvSpPr txBox="1"/>
          <p:nvPr/>
        </p:nvSpPr>
        <p:spPr>
          <a:xfrm>
            <a:off x="822960" y="2743200"/>
            <a:ext cx="3044952" cy="28346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One source of truth saves rework: PRD first, then Jira, Figma and the demo</a:t>
            </a:r>
            <a:endParaRPr lang="en-US" sz="1400" dirty="0"/>
          </a:p>
          <a:p>
            <a:pPr marL="342900" indent="-342900">
              <a:spcAft>
                <a:spcPts val="1000"/>
              </a:spcAft>
              <a:buSzPct val="100000"/>
              <a:buChar char="•"/>
            </a:pPr>
            <a:r>
              <a:rPr lang="en-US" sz="1400" dirty="0">
                <a:solidFill>
                  <a:schemeClr val="bg1"/>
                </a:solidFill>
              </a:rPr>
              <a:t>Decisions ripple: dropping the completeness gate touched every artefact</a:t>
            </a:r>
            <a:endParaRPr lang="en-US" sz="1400" dirty="0"/>
          </a:p>
          <a:p>
            <a:pPr marL="342900" indent="-342900">
              <a:spcAft>
                <a:spcPts val="1000"/>
              </a:spcAft>
              <a:buSzPct val="100000"/>
              <a:buChar char="•"/>
            </a:pPr>
            <a:r>
              <a:rPr lang="en-US" sz="1400" dirty="0">
                <a:solidFill>
                  <a:schemeClr val="bg1"/>
                </a:solidFill>
              </a:rPr>
              <a:t>AI speeds up drafting; every number and claim still needs checking</a:t>
            </a:r>
            <a:endParaRPr lang="en-US" sz="1400" dirty="0"/>
          </a:p>
        </p:txBody>
      </p:sp>
      <p:sp>
        <p:nvSpPr>
          <p:cNvPr id="14" name="col"/>
          <p:cNvSpPr/>
          <p:nvPr/>
        </p:nvSpPr>
        <p:spPr>
          <a:xfrm>
            <a:off x="4297680" y="2057400"/>
            <a:ext cx="3593592" cy="3657600"/>
          </a:xfrm>
          <a:prstGeom prst="roundRect">
            <a:avLst>
              <a:gd name="adj" fmla="val 3053"/>
            </a:avLst>
          </a:prstGeom>
          <a:solidFill>
            <a:srgbClr val="163A63"/>
          </a:solidFill>
          <a:ln w="12700">
            <a:solidFill>
              <a:srgbClr val="163A63"/>
            </a:solidFill>
            <a:prstDash val="solid"/>
          </a:ln>
        </p:spPr>
      </p:sp>
      <p:sp>
        <p:nvSpPr>
          <p:cNvPr id="15" name="Text 13"/>
          <p:cNvSpPr txBox="1"/>
          <p:nvPr/>
        </p:nvSpPr>
        <p:spPr>
          <a:xfrm>
            <a:off x="4572000" y="2240280"/>
            <a:ext cx="3044952" cy="365760"/>
          </a:xfrm>
          <a:prstGeom prst="rect">
            <a:avLst/>
          </a:prstGeom>
          <a:noFill/>
          <a:ln/>
        </p:spPr>
        <p:txBody>
          <a:bodyPr wrap="square" lIns="0" tIns="0" rIns="0" bIns="0" rtlCol="0" anchor="t"/>
          <a:lstStyle/>
          <a:p>
            <a:pPr indent="0" marL="0">
              <a:buNone/>
            </a:pPr>
            <a:r>
              <a:rPr lang="en-US" sz="1800" b="1" dirty="0">
                <a:solidFill>
                  <a:schemeClr val="bg1"/>
                </a:solidFill>
              </a:rPr>
              <a:t>What we'd do differently</a:t>
            </a:r>
            <a:endParaRPr lang="en-US" sz="1800" dirty="0"/>
          </a:p>
        </p:txBody>
      </p:sp>
      <p:sp>
        <p:nvSpPr>
          <p:cNvPr id="16" name="Text 14"/>
          <p:cNvSpPr txBox="1"/>
          <p:nvPr/>
        </p:nvSpPr>
        <p:spPr>
          <a:xfrm>
            <a:off x="4572000" y="2743200"/>
            <a:ext cx="3044952" cy="28346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Talk to real job seekers before fixing thresholds like 90% fit</a:t>
            </a:r>
            <a:endParaRPr lang="en-US" sz="1400" dirty="0"/>
          </a:p>
          <a:p>
            <a:pPr marL="342900" indent="-342900">
              <a:spcAft>
                <a:spcPts val="1000"/>
              </a:spcAft>
              <a:buSzPct val="100000"/>
              <a:buChar char="•"/>
            </a:pPr>
            <a:r>
              <a:rPr lang="en-US" sz="1400" dirty="0">
                <a:solidFill>
                  <a:schemeClr val="bg1"/>
                </a:solidFill>
              </a:rPr>
              <a:t>Keep one change log so all artefacts update together</a:t>
            </a:r>
            <a:endParaRPr lang="en-US" sz="1400" dirty="0"/>
          </a:p>
          <a:p>
            <a:pPr marL="342900" indent="-342900">
              <a:spcAft>
                <a:spcPts val="1000"/>
              </a:spcAft>
              <a:buSzPct val="100000"/>
              <a:buChar char="•"/>
            </a:pPr>
            <a:r>
              <a:rPr lang="en-US" sz="1400" dirty="0">
                <a:solidFill>
                  <a:schemeClr val="bg1"/>
                </a:solidFill>
              </a:rPr>
              <a:t>Start Figma from community components on day one</a:t>
            </a:r>
            <a:endParaRPr lang="en-US" sz="1400" dirty="0"/>
          </a:p>
        </p:txBody>
      </p:sp>
      <p:sp>
        <p:nvSpPr>
          <p:cNvPr id="17" name="col"/>
          <p:cNvSpPr/>
          <p:nvPr/>
        </p:nvSpPr>
        <p:spPr>
          <a:xfrm>
            <a:off x="8046720" y="2057400"/>
            <a:ext cx="3593592" cy="3657600"/>
          </a:xfrm>
          <a:prstGeom prst="roundRect">
            <a:avLst>
              <a:gd name="adj" fmla="val 3053"/>
            </a:avLst>
          </a:prstGeom>
          <a:solidFill>
            <a:srgbClr val="F2542D"/>
          </a:solidFill>
          <a:ln w="12700">
            <a:solidFill>
              <a:srgbClr val="F2542D"/>
            </a:solidFill>
            <a:prstDash val="solid"/>
          </a:ln>
        </p:spPr>
      </p:sp>
      <p:sp>
        <p:nvSpPr>
          <p:cNvPr id="18" name="Text 16"/>
          <p:cNvSpPr txBox="1"/>
          <p:nvPr/>
        </p:nvSpPr>
        <p:spPr>
          <a:xfrm>
            <a:off x="8321040" y="2240280"/>
            <a:ext cx="3044952" cy="365760"/>
          </a:xfrm>
          <a:prstGeom prst="rect">
            <a:avLst/>
          </a:prstGeom>
          <a:noFill/>
          <a:ln/>
        </p:spPr>
        <p:txBody>
          <a:bodyPr wrap="square" lIns="0" tIns="0" rIns="0" bIns="0" rtlCol="0" anchor="t"/>
          <a:lstStyle/>
          <a:p>
            <a:pPr indent="0" marL="0">
              <a:buNone/>
            </a:pPr>
            <a:r>
              <a:rPr lang="en-US" sz="1800" b="1" dirty="0">
                <a:solidFill>
                  <a:schemeClr val="bg1"/>
                </a:solidFill>
              </a:rPr>
              <a:t>Next steps</a:t>
            </a:r>
            <a:endParaRPr lang="en-US" sz="1800" dirty="0"/>
          </a:p>
        </p:txBody>
      </p:sp>
      <p:sp>
        <p:nvSpPr>
          <p:cNvPr id="19" name="Text 17"/>
          <p:cNvSpPr txBox="1"/>
          <p:nvPr/>
        </p:nvSpPr>
        <p:spPr>
          <a:xfrm>
            <a:off x="8321040" y="2743200"/>
            <a:ext cx="3044952" cy="28346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15 candidate and 5 headhunter interviews</a:t>
            </a:r>
            <a:endParaRPr lang="en-US" sz="1400" dirty="0"/>
          </a:p>
          <a:p>
            <a:pPr marL="342900" indent="-342900">
              <a:spcAft>
                <a:spcPts val="1000"/>
              </a:spcAft>
              <a:buSzPct val="100000"/>
              <a:buChar char="•"/>
            </a:pPr>
            <a:r>
              <a:rPr lang="en-US" sz="1400" dirty="0">
                <a:solidFill>
                  <a:schemeClr val="bg1"/>
                </a:solidFill>
              </a:rPr>
              <a:t>Test the score against 100 expert-labelled profile–job pairs</a:t>
            </a:r>
            <a:endParaRPr lang="en-US" sz="1400" dirty="0"/>
          </a:p>
          <a:p>
            <a:pPr marL="342900" indent="-342900">
              <a:spcAft>
                <a:spcPts val="1000"/>
              </a:spcAft>
              <a:buSzPct val="100000"/>
              <a:buChar char="•"/>
            </a:pPr>
            <a:r>
              <a:rPr lang="en-US" sz="1400" dirty="0">
                <a:solidFill>
                  <a:schemeClr val="bg1"/>
                </a:solidFill>
              </a:rPr>
              <a:t>Engineering estimate and legal review at G2, 8 Jan 2027</a:t>
            </a:r>
            <a:endParaRPr lang="en-US" sz="1400" dirty="0"/>
          </a:p>
        </p:txBody>
      </p:sp>
      <p:sp>
        <p:nvSpPr>
          <p:cNvPr id="20" name="Text 18"/>
          <p:cNvSpPr txBox="1"/>
          <p:nvPr/>
        </p:nvSpPr>
        <p:spPr>
          <a:xfrm>
            <a:off x="548640" y="5852160"/>
            <a:ext cx="10058400" cy="365760"/>
          </a:xfrm>
          <a:prstGeom prst="rect">
            <a:avLst/>
          </a:prstGeom>
          <a:noFill/>
          <a:ln/>
        </p:spPr>
        <p:txBody>
          <a:bodyPr wrap="square" lIns="0" tIns="0" rIns="0" bIns="0" rtlCol="0" anchor="t"/>
          <a:lstStyle/>
          <a:p>
            <a:pPr indent="0" marL="0">
              <a:buNone/>
            </a:pPr>
            <a:r>
              <a:rPr lang="en-US" sz="1800" b="1" dirty="0">
                <a:solidFill>
                  <a:schemeClr val="bg1"/>
                </a:solidFill>
              </a:rPr>
              <a:t>Does the job fit you? Here's why.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07 · CONCLUSION · DELIVERABLES</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Everything is linked and open to view</a:t>
            </a:r>
            <a:endParaRPr lang="en-US" sz="3200" dirty="0"/>
          </a:p>
        </p:txBody>
      </p:sp>
      <p:sp>
        <p:nvSpPr>
          <p:cNvPr id="4" name="Text 2"/>
          <p:cNvSpPr txBox="1"/>
          <p:nvPr/>
        </p:nvSpPr>
        <p:spPr>
          <a:xfrm>
            <a:off x="557784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Intro</a:t>
            </a:r>
            <a:endParaRPr lang="en-US" sz="1000" dirty="0"/>
          </a:p>
        </p:txBody>
      </p:sp>
      <p:sp>
        <p:nvSpPr>
          <p:cNvPr id="5" name="Text 3"/>
          <p:cNvSpPr txBox="1"/>
          <p:nvPr/>
        </p:nvSpPr>
        <p:spPr>
          <a:xfrm>
            <a:off x="6437376"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PRD</a:t>
            </a:r>
            <a:endParaRPr lang="en-US" sz="1000" dirty="0"/>
          </a:p>
        </p:txBody>
      </p:sp>
      <p:sp>
        <p:nvSpPr>
          <p:cNvPr id="6" name="Text 4"/>
          <p:cNvSpPr txBox="1"/>
          <p:nvPr/>
        </p:nvSpPr>
        <p:spPr>
          <a:xfrm>
            <a:off x="7296912"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Backlog</a:t>
            </a:r>
            <a:endParaRPr lang="en-US" sz="1000" dirty="0"/>
          </a:p>
        </p:txBody>
      </p:sp>
      <p:sp>
        <p:nvSpPr>
          <p:cNvPr id="7" name="Text 5"/>
          <p:cNvSpPr txBox="1"/>
          <p:nvPr/>
        </p:nvSpPr>
        <p:spPr>
          <a:xfrm>
            <a:off x="8156448"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Wireframes</a:t>
            </a:r>
            <a:endParaRPr lang="en-US" sz="1000" dirty="0"/>
          </a:p>
        </p:txBody>
      </p:sp>
      <p:sp>
        <p:nvSpPr>
          <p:cNvPr id="8" name="Text 6"/>
          <p:cNvSpPr txBox="1"/>
          <p:nvPr/>
        </p:nvSpPr>
        <p:spPr>
          <a:xfrm>
            <a:off x="9015984"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Integration</a:t>
            </a:r>
            <a:endParaRPr lang="en-US" sz="1000" dirty="0"/>
          </a:p>
        </p:txBody>
      </p:sp>
      <p:sp>
        <p:nvSpPr>
          <p:cNvPr id="9" name="Text 7"/>
          <p:cNvSpPr txBox="1"/>
          <p:nvPr/>
        </p:nvSpPr>
        <p:spPr>
          <a:xfrm>
            <a:off x="9875520" y="310896"/>
            <a:ext cx="822960" cy="237744"/>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10735056" y="310896"/>
            <a:ext cx="822960" cy="237744"/>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Close</a:t>
            </a:r>
            <a:endParaRPr lang="en-US" sz="1000" dirty="0"/>
          </a:p>
        </p:txBody>
      </p:sp>
      <p:sp>
        <p:nvSpPr>
          <p:cNvPr id="11" name="link"/>
          <p:cNvSpPr/>
          <p:nvPr/>
        </p:nvSpPr>
        <p:spPr>
          <a:xfrm>
            <a:off x="548640" y="2057400"/>
            <a:ext cx="11091672" cy="548640"/>
          </a:xfrm>
          <a:prstGeom prst="roundRect">
            <a:avLst>
              <a:gd name="adj" fmla="val 20000"/>
            </a:avLst>
          </a:prstGeom>
          <a:solidFill>
            <a:schemeClr val="bg1"/>
          </a:solidFill>
          <a:ln w="12700">
            <a:solidFill>
              <a:schemeClr val="bg1"/>
            </a:solidFill>
            <a:prstDash val="solid"/>
          </a:ln>
        </p:spPr>
      </p:sp>
      <p:sp>
        <p:nvSpPr>
          <p:cNvPr id="12" name="Text 10"/>
          <p:cNvSpPr txBox="1"/>
          <p:nvPr/>
        </p:nvSpPr>
        <p:spPr>
          <a:xfrm>
            <a:off x="822960" y="2057400"/>
            <a:ext cx="2103120" cy="548640"/>
          </a:xfrm>
          <a:prstGeom prst="rect">
            <a:avLst/>
          </a:prstGeom>
          <a:noFill/>
          <a:ln/>
        </p:spPr>
        <p:txBody>
          <a:bodyPr wrap="square" lIns="0" tIns="0" rIns="0" bIns="0" rtlCol="0" anchor="ctr"/>
          <a:lstStyle/>
          <a:p>
            <a:pPr indent="0" marL="0">
              <a:buNone/>
            </a:pPr>
            <a:r>
              <a:rPr lang="en-US" sz="1400" b="1" dirty="0">
                <a:solidFill>
                  <a:schemeClr val="tx1"/>
                </a:solidFill>
              </a:rPr>
              <a:t>PRD</a:t>
            </a:r>
            <a:endParaRPr lang="en-US" sz="1400" dirty="0"/>
          </a:p>
        </p:txBody>
      </p:sp>
      <p:sp>
        <p:nvSpPr>
          <p:cNvPr id="13" name="Text 11"/>
          <p:cNvSpPr txBox="1"/>
          <p:nvPr/>
        </p:nvSpPr>
        <p:spPr>
          <a:xfrm>
            <a:off x="2926080" y="2057400"/>
            <a:ext cx="8503920" cy="548640"/>
          </a:xfrm>
          <a:prstGeom prst="rect">
            <a:avLst/>
          </a:prstGeom>
          <a:noFill/>
          <a:ln/>
        </p:spPr>
        <p:txBody>
          <a:bodyPr wrap="square" lIns="0" tIns="0" rIns="0" bIns="0" rtlCol="0" anchor="ctr"/>
          <a:lstStyle/>
          <a:p>
            <a:pPr indent="0" marL="0">
              <a:buNone/>
            </a:pPr>
            <a:r>
              <a:rPr lang="en-US" sz="14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Confluence · CareerPilot – MVP PRD (12 chapters, 29 stories)</a:t>
            </a:r>
            <a:endParaRPr lang="en-US" sz="1400" dirty="0"/>
          </a:p>
        </p:txBody>
      </p:sp>
      <p:sp>
        <p:nvSpPr>
          <p:cNvPr id="14" name="link"/>
          <p:cNvSpPr/>
          <p:nvPr/>
        </p:nvSpPr>
        <p:spPr>
          <a:xfrm>
            <a:off x="548640" y="2715768"/>
            <a:ext cx="11091672" cy="548640"/>
          </a:xfrm>
          <a:prstGeom prst="roundRect">
            <a:avLst>
              <a:gd name="adj" fmla="val 20000"/>
            </a:avLst>
          </a:prstGeom>
          <a:solidFill>
            <a:schemeClr val="bg1"/>
          </a:solidFill>
          <a:ln w="12700">
            <a:solidFill>
              <a:schemeClr val="bg1"/>
            </a:solidFill>
            <a:prstDash val="solid"/>
          </a:ln>
        </p:spPr>
      </p:sp>
      <p:sp>
        <p:nvSpPr>
          <p:cNvPr id="15" name="Text 13"/>
          <p:cNvSpPr txBox="1"/>
          <p:nvPr/>
        </p:nvSpPr>
        <p:spPr>
          <a:xfrm>
            <a:off x="822960" y="2715768"/>
            <a:ext cx="2103120" cy="548640"/>
          </a:xfrm>
          <a:prstGeom prst="rect">
            <a:avLst/>
          </a:prstGeom>
          <a:noFill/>
          <a:ln/>
        </p:spPr>
        <p:txBody>
          <a:bodyPr wrap="square" lIns="0" tIns="0" rIns="0" bIns="0" rtlCol="0" anchor="ctr"/>
          <a:lstStyle/>
          <a:p>
            <a:pPr indent="0" marL="0">
              <a:buNone/>
            </a:pPr>
            <a:r>
              <a:rPr lang="en-US" sz="1400" b="1" dirty="0">
                <a:solidFill>
                  <a:schemeClr val="tx1"/>
                </a:solidFill>
              </a:rPr>
              <a:t>Score model</a:t>
            </a:r>
            <a:endParaRPr lang="en-US" sz="1400" dirty="0"/>
          </a:p>
        </p:txBody>
      </p:sp>
      <p:sp>
        <p:nvSpPr>
          <p:cNvPr id="16" name="Text 14"/>
          <p:cNvSpPr txBox="1"/>
          <p:nvPr/>
        </p:nvSpPr>
        <p:spPr>
          <a:xfrm>
            <a:off x="2926080" y="2715768"/>
            <a:ext cx="8503920" cy="548640"/>
          </a:xfrm>
          <a:prstGeom prst="rect">
            <a:avLst/>
          </a:prstGeom>
          <a:noFill/>
          <a:ln/>
        </p:spPr>
        <p:txBody>
          <a:bodyPr wrap="square" lIns="0" tIns="0" rIns="0" bIns="0" rtlCol="0" anchor="ctr"/>
          <a:lstStyle/>
          <a:p>
            <a:pPr indent="0" marL="0">
              <a:buNone/>
            </a:pPr>
            <a:r>
              <a:rPr lang="en-US" sz="14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Confluence · Calculating the Matching score</a:t>
            </a:r>
            <a:endParaRPr lang="en-US" sz="1400" dirty="0"/>
          </a:p>
        </p:txBody>
      </p:sp>
      <p:sp>
        <p:nvSpPr>
          <p:cNvPr id="17" name="link"/>
          <p:cNvSpPr/>
          <p:nvPr/>
        </p:nvSpPr>
        <p:spPr>
          <a:xfrm>
            <a:off x="548640" y="3374136"/>
            <a:ext cx="11091672" cy="548640"/>
          </a:xfrm>
          <a:prstGeom prst="roundRect">
            <a:avLst>
              <a:gd name="adj" fmla="val 20000"/>
            </a:avLst>
          </a:prstGeom>
          <a:solidFill>
            <a:schemeClr val="bg1"/>
          </a:solidFill>
          <a:ln w="12700">
            <a:solidFill>
              <a:schemeClr val="bg1"/>
            </a:solidFill>
            <a:prstDash val="solid"/>
          </a:ln>
        </p:spPr>
      </p:sp>
      <p:sp>
        <p:nvSpPr>
          <p:cNvPr id="18" name="Text 16"/>
          <p:cNvSpPr txBox="1"/>
          <p:nvPr/>
        </p:nvSpPr>
        <p:spPr>
          <a:xfrm>
            <a:off x="822960" y="3374136"/>
            <a:ext cx="2103120" cy="548640"/>
          </a:xfrm>
          <a:prstGeom prst="rect">
            <a:avLst/>
          </a:prstGeom>
          <a:noFill/>
          <a:ln/>
        </p:spPr>
        <p:txBody>
          <a:bodyPr wrap="square" lIns="0" tIns="0" rIns="0" bIns="0" rtlCol="0" anchor="ctr"/>
          <a:lstStyle/>
          <a:p>
            <a:pPr indent="0" marL="0">
              <a:buNone/>
            </a:pPr>
            <a:r>
              <a:rPr lang="en-US" sz="1400" b="1" dirty="0">
                <a:solidFill>
                  <a:schemeClr val="tx1"/>
                </a:solidFill>
              </a:rPr>
              <a:t>Backlog</a:t>
            </a:r>
            <a:endParaRPr lang="en-US" sz="1400" dirty="0"/>
          </a:p>
        </p:txBody>
      </p:sp>
      <p:sp>
        <p:nvSpPr>
          <p:cNvPr id="19" name="Text 17"/>
          <p:cNvSpPr txBox="1"/>
          <p:nvPr/>
        </p:nvSpPr>
        <p:spPr>
          <a:xfrm>
            <a:off x="2926080" y="3374136"/>
            <a:ext cx="8503920" cy="548640"/>
          </a:xfrm>
          <a:prstGeom prst="rect">
            <a:avLst/>
          </a:prstGeom>
          <a:noFill/>
          <a:ln/>
        </p:spPr>
        <p:txBody>
          <a:bodyPr wrap="square" lIns="0" tIns="0" rIns="0" bIns="0" rtlCol="0" anchor="ctr"/>
          <a:lstStyle/>
          <a:p>
            <a:pPr indent="0" marL="0">
              <a:buNone/>
            </a:pPr>
            <a:r>
              <a:rPr lang="en-US" sz="1400" u="sng" dirty="0">
                <a:solidFill>
                  <a:schemeClr val="accent2"/>
                </a:solidFill>
                <a:hlinkClick r:id="rId3" invalidUrl="" action="" tgtFrame="" tooltip="" history="1" highlightClick="0" endSnd="0">
                  <a:extLst>
                    <a:ext uri="{A12FA001-AC4F-418D-AE19-62706E023703}">
                      <ahyp:hlinkClr xmlns:ahyp="http://schemas.microsoft.com/office/drawing/2018/hyperlinkcolor" val="tx"/>
                    </a:ext>
                  </a:extLst>
                </a:hlinkClick>
              </a:rPr>
              <a:t>Jira · CPA board (9 epics, 29 stories, 6 sprints)</a:t>
            </a:r>
            <a:endParaRPr lang="en-US" sz="1400" dirty="0"/>
          </a:p>
        </p:txBody>
      </p:sp>
      <p:sp>
        <p:nvSpPr>
          <p:cNvPr id="20" name="link"/>
          <p:cNvSpPr/>
          <p:nvPr/>
        </p:nvSpPr>
        <p:spPr>
          <a:xfrm>
            <a:off x="548640" y="4032504"/>
            <a:ext cx="11091672" cy="548640"/>
          </a:xfrm>
          <a:prstGeom prst="roundRect">
            <a:avLst>
              <a:gd name="adj" fmla="val 20000"/>
            </a:avLst>
          </a:prstGeom>
          <a:solidFill>
            <a:schemeClr val="bg1"/>
          </a:solidFill>
          <a:ln w="12700">
            <a:solidFill>
              <a:schemeClr val="bg1"/>
            </a:solidFill>
            <a:prstDash val="solid"/>
          </a:ln>
        </p:spPr>
      </p:sp>
      <p:sp>
        <p:nvSpPr>
          <p:cNvPr id="21" name="Text 19"/>
          <p:cNvSpPr txBox="1"/>
          <p:nvPr/>
        </p:nvSpPr>
        <p:spPr>
          <a:xfrm>
            <a:off x="822960" y="4032504"/>
            <a:ext cx="2103120" cy="548640"/>
          </a:xfrm>
          <a:prstGeom prst="rect">
            <a:avLst/>
          </a:prstGeom>
          <a:noFill/>
          <a:ln/>
        </p:spPr>
        <p:txBody>
          <a:bodyPr wrap="square" lIns="0" tIns="0" rIns="0" bIns="0" rtlCol="0" anchor="ctr"/>
          <a:lstStyle/>
          <a:p>
            <a:pPr indent="0" marL="0">
              <a:buNone/>
            </a:pPr>
            <a:r>
              <a:rPr lang="en-US" sz="1400" b="1" dirty="0">
                <a:solidFill>
                  <a:schemeClr val="tx1"/>
                </a:solidFill>
              </a:rPr>
              <a:t>Wireframe plan</a:t>
            </a:r>
            <a:endParaRPr lang="en-US" sz="1400" dirty="0"/>
          </a:p>
        </p:txBody>
      </p:sp>
      <p:sp>
        <p:nvSpPr>
          <p:cNvPr id="22" name="Text 20"/>
          <p:cNvSpPr txBox="1"/>
          <p:nvPr/>
        </p:nvSpPr>
        <p:spPr>
          <a:xfrm>
            <a:off x="2926080" y="4032504"/>
            <a:ext cx="8503920" cy="548640"/>
          </a:xfrm>
          <a:prstGeom prst="rect">
            <a:avLst/>
          </a:prstGeom>
          <a:noFill/>
          <a:ln/>
        </p:spPr>
        <p:txBody>
          <a:bodyPr wrap="square" lIns="0" tIns="0" rIns="0" bIns="0" rtlCol="0" anchor="ctr"/>
          <a:lstStyle/>
          <a:p>
            <a:pPr indent="0" marL="0">
              <a:buNone/>
            </a:pPr>
            <a:r>
              <a:rPr lang="en-US" sz="1400" u="sng" dirty="0">
                <a:solidFill>
                  <a:schemeClr val="accent2"/>
                </a:solidFill>
                <a:hlinkClick r:id="rId4" invalidUrl="" action="" tgtFrame="" tooltip="" history="1" highlightClick="0" endSnd="0">
                  <a:extLst>
                    <a:ext uri="{A12FA001-AC4F-418D-AE19-62706E023703}">
                      <ahyp:hlinkClr xmlns:ahyp="http://schemas.microsoft.com/office/drawing/2018/hyperlinkcolor" val="tx"/>
                    </a:ext>
                  </a:extLst>
                </a:hlinkClick>
              </a:rPr>
              <a:t>Confluence · CareerPilot – Wireframe Plan</a:t>
            </a:r>
            <a:endParaRPr lang="en-US" sz="1400" dirty="0"/>
          </a:p>
        </p:txBody>
      </p:sp>
      <p:sp>
        <p:nvSpPr>
          <p:cNvPr id="23" name="link"/>
          <p:cNvSpPr/>
          <p:nvPr/>
        </p:nvSpPr>
        <p:spPr>
          <a:xfrm>
            <a:off x="548640" y="4690872"/>
            <a:ext cx="11091672" cy="548640"/>
          </a:xfrm>
          <a:prstGeom prst="roundRect">
            <a:avLst>
              <a:gd name="adj" fmla="val 20000"/>
            </a:avLst>
          </a:prstGeom>
          <a:solidFill>
            <a:schemeClr val="bg1"/>
          </a:solidFill>
          <a:ln w="12700">
            <a:solidFill>
              <a:schemeClr val="bg1"/>
            </a:solidFill>
            <a:prstDash val="solid"/>
          </a:ln>
        </p:spPr>
      </p:sp>
      <p:sp>
        <p:nvSpPr>
          <p:cNvPr id="24" name="Text 22"/>
          <p:cNvSpPr txBox="1"/>
          <p:nvPr/>
        </p:nvSpPr>
        <p:spPr>
          <a:xfrm>
            <a:off x="822960" y="4690872"/>
            <a:ext cx="2103120" cy="548640"/>
          </a:xfrm>
          <a:prstGeom prst="rect">
            <a:avLst/>
          </a:prstGeom>
          <a:noFill/>
          <a:ln/>
        </p:spPr>
        <p:txBody>
          <a:bodyPr wrap="square" lIns="0" tIns="0" rIns="0" bIns="0" rtlCol="0" anchor="ctr"/>
          <a:lstStyle/>
          <a:p>
            <a:pPr indent="0" marL="0">
              <a:buNone/>
            </a:pPr>
            <a:r>
              <a:rPr lang="en-US" sz="1400" b="1" dirty="0">
                <a:solidFill>
                  <a:schemeClr val="tx1"/>
                </a:solidFill>
              </a:rPr>
              <a:t>Prototype</a:t>
            </a:r>
            <a:endParaRPr lang="en-US" sz="1400" dirty="0"/>
          </a:p>
        </p:txBody>
      </p:sp>
      <p:sp>
        <p:nvSpPr>
          <p:cNvPr id="25" name="Text 23"/>
          <p:cNvSpPr txBox="1"/>
          <p:nvPr/>
        </p:nvSpPr>
        <p:spPr>
          <a:xfrm>
            <a:off x="2926080" y="4690872"/>
            <a:ext cx="8503920" cy="548640"/>
          </a:xfrm>
          <a:prstGeom prst="rect">
            <a:avLst/>
          </a:prstGeom>
          <a:noFill/>
          <a:ln/>
        </p:spPr>
        <p:txBody>
          <a:bodyPr wrap="square" lIns="0" tIns="0" rIns="0" bIns="0" rtlCol="0" anchor="ctr"/>
          <a:lstStyle/>
          <a:p>
            <a:pPr indent="0" marL="0">
              <a:buNone/>
            </a:pPr>
            <a:r>
              <a:rPr lang="en-US" sz="1400" u="sng" dirty="0">
                <a:solidFill>
                  <a:schemeClr val="accent2"/>
                </a:solidFill>
                <a:hlinkClick r:id="rId5" invalidUrl="" action="" tgtFrame="" tooltip="" history="1" highlightClick="0" endSnd="0">
                  <a:extLst>
                    <a:ext uri="{A12FA001-AC4F-418D-AE19-62706E023703}">
                      <ahyp:hlinkClr xmlns:ahyp="http://schemas.microsoft.com/office/drawing/2018/hyperlinkcolor" val="tx"/>
                    </a:ext>
                  </a:extLst>
                </a:hlinkClick>
              </a:rPr>
              <a:t>Figma · CareerPilot prototype</a:t>
            </a:r>
            <a:endParaRPr lang="en-US" sz="1400" dirty="0"/>
          </a:p>
        </p:txBody>
      </p:sp>
      <p:sp>
        <p:nvSpPr>
          <p:cNvPr id="26" name="link"/>
          <p:cNvSpPr/>
          <p:nvPr/>
        </p:nvSpPr>
        <p:spPr>
          <a:xfrm>
            <a:off x="548640" y="5349240"/>
            <a:ext cx="11091672" cy="548640"/>
          </a:xfrm>
          <a:prstGeom prst="roundRect">
            <a:avLst>
              <a:gd name="adj" fmla="val 20000"/>
            </a:avLst>
          </a:prstGeom>
          <a:solidFill>
            <a:schemeClr val="bg1"/>
          </a:solidFill>
          <a:ln w="12700">
            <a:solidFill>
              <a:schemeClr val="bg1"/>
            </a:solidFill>
            <a:prstDash val="solid"/>
          </a:ln>
        </p:spPr>
      </p:sp>
      <p:sp>
        <p:nvSpPr>
          <p:cNvPr id="27" name="Text 25"/>
          <p:cNvSpPr txBox="1"/>
          <p:nvPr/>
        </p:nvSpPr>
        <p:spPr>
          <a:xfrm>
            <a:off x="822960" y="5349240"/>
            <a:ext cx="2103120" cy="548640"/>
          </a:xfrm>
          <a:prstGeom prst="rect">
            <a:avLst/>
          </a:prstGeom>
          <a:noFill/>
          <a:ln/>
        </p:spPr>
        <p:txBody>
          <a:bodyPr wrap="square" lIns="0" tIns="0" rIns="0" bIns="0" rtlCol="0" anchor="ctr"/>
          <a:lstStyle/>
          <a:p>
            <a:pPr indent="0" marL="0">
              <a:buNone/>
            </a:pPr>
            <a:r>
              <a:rPr lang="en-US" sz="1400" b="1" dirty="0">
                <a:solidFill>
                  <a:schemeClr val="tx1"/>
                </a:solidFill>
              </a:rPr>
              <a:t>Demo and code</a:t>
            </a:r>
            <a:endParaRPr lang="en-US" sz="1400" dirty="0"/>
          </a:p>
        </p:txBody>
      </p:sp>
      <p:sp>
        <p:nvSpPr>
          <p:cNvPr id="28" name="Text 26"/>
          <p:cNvSpPr txBox="1"/>
          <p:nvPr/>
        </p:nvSpPr>
        <p:spPr>
          <a:xfrm>
            <a:off x="2926080" y="5349240"/>
            <a:ext cx="8503920" cy="548640"/>
          </a:xfrm>
          <a:prstGeom prst="rect">
            <a:avLst/>
          </a:prstGeom>
          <a:noFill/>
          <a:ln/>
        </p:spPr>
        <p:txBody>
          <a:bodyPr wrap="square" lIns="0" tIns="0" rIns="0" bIns="0" rtlCol="0" anchor="ctr"/>
          <a:lstStyle/>
          <a:p>
            <a:pPr indent="0" marL="0">
              <a:buNone/>
            </a:pPr>
            <a:r>
              <a:rPr lang="en-US" sz="1400" u="sng" dirty="0">
                <a:solidFill>
                  <a:schemeClr val="accent2"/>
                </a:solidFill>
                <a:hlinkClick r:id="rId6" invalidUrl="" action="" tgtFrame="" tooltip="" history="1" highlightClick="0" endSnd="0">
                  <a:extLst>
                    <a:ext uri="{A12FA001-AC4F-418D-AE19-62706E023703}">
                      <ahyp:hlinkClr xmlns:ahyp="http://schemas.microsoft.com/office/drawing/2018/hyperlinkcolor" val="tx"/>
                    </a:ext>
                  </a:extLst>
                </a:hlinkClick>
              </a:rPr>
              <a:t>GitHub · cugetare/CareerPilot (Next.js demo, deployed on Vercel)</a:t>
            </a:r>
            <a:endParaRPr lang="en-US" sz="1400" dirty="0"/>
          </a:p>
        </p:txBody>
      </p:sp>
      <p:sp>
        <p:nvSpPr>
          <p:cNvPr id="29" name="Text 27"/>
          <p:cNvSpPr txBox="1"/>
          <p:nvPr/>
        </p:nvSpPr>
        <p:spPr>
          <a:xfrm>
            <a:off x="548640" y="6126480"/>
            <a:ext cx="10058400" cy="228600"/>
          </a:xfrm>
          <a:prstGeom prst="rect">
            <a:avLst/>
          </a:prstGeom>
          <a:noFill/>
          <a:ln/>
        </p:spPr>
        <p:txBody>
          <a:bodyPr wrap="square" lIns="0" tIns="0" rIns="0" bIns="0" rtlCol="0" anchor="t"/>
          <a:lstStyle/>
          <a:p>
            <a:pPr indent="0" marL="0">
              <a:buNone/>
            </a:pPr>
            <a:r>
              <a:rPr lang="en-US" sz="1100" dirty="0">
                <a:solidFill>
                  <a:schemeClr val="tx2"/>
                </a:solidFill>
              </a:rPr>
              <a:t>Before submitting: open each link in a private window to check view access.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BUSINESS MODEL</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Matching is free; credits pay for preparation</a:t>
            </a:r>
            <a:endParaRPr lang="en-US" sz="3200" dirty="0"/>
          </a:p>
        </p:txBody>
      </p:sp>
      <p:sp>
        <p:nvSpPr>
          <p:cNvPr id="4" name="stat"/>
          <p:cNvSpPr/>
          <p:nvPr/>
        </p:nvSpPr>
        <p:spPr>
          <a:xfrm>
            <a:off x="548640" y="2103120"/>
            <a:ext cx="2194560" cy="1645920"/>
          </a:xfrm>
          <a:prstGeom prst="roundRect">
            <a:avLst>
              <a:gd name="adj" fmla="val 6667"/>
            </a:avLst>
          </a:prstGeom>
          <a:solidFill>
            <a:schemeClr val="bg1"/>
          </a:solidFill>
          <a:ln w="12700">
            <a:solidFill>
              <a:schemeClr val="bg1"/>
            </a:solidFill>
            <a:prstDash val="solid"/>
          </a:ln>
        </p:spPr>
      </p:sp>
      <p:sp>
        <p:nvSpPr>
          <p:cNvPr id="5" name="Text 3"/>
          <p:cNvSpPr txBox="1"/>
          <p:nvPr/>
        </p:nvSpPr>
        <p:spPr>
          <a:xfrm>
            <a:off x="777240" y="2240280"/>
            <a:ext cx="1828800" cy="777240"/>
          </a:xfrm>
          <a:prstGeom prst="rect">
            <a:avLst/>
          </a:prstGeom>
          <a:noFill/>
          <a:ln/>
        </p:spPr>
        <p:txBody>
          <a:bodyPr wrap="square" lIns="0" tIns="0" rIns="0" bIns="0" rtlCol="0" anchor="ctr"/>
          <a:lstStyle/>
          <a:p>
            <a:pPr indent="0" marL="0">
              <a:buNone/>
            </a:pPr>
            <a:r>
              <a:rPr lang="en-US" sz="4000" b="1" dirty="0">
                <a:solidFill>
                  <a:schemeClr val="tx1"/>
                </a:solidFill>
              </a:rPr>
              <a:t>10</a:t>
            </a:r>
            <a:endParaRPr lang="en-US" sz="4000" dirty="0"/>
          </a:p>
        </p:txBody>
      </p:sp>
      <p:sp>
        <p:nvSpPr>
          <p:cNvPr id="6" name="Text 4"/>
          <p:cNvSpPr txBox="1"/>
          <p:nvPr/>
        </p:nvSpPr>
        <p:spPr>
          <a:xfrm>
            <a:off x="77724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free credits per user per day</a:t>
            </a:r>
            <a:endParaRPr lang="en-US" sz="1300" dirty="0"/>
          </a:p>
        </p:txBody>
      </p:sp>
      <p:sp>
        <p:nvSpPr>
          <p:cNvPr id="7" name="stat"/>
          <p:cNvSpPr/>
          <p:nvPr/>
        </p:nvSpPr>
        <p:spPr>
          <a:xfrm>
            <a:off x="2926080" y="2103120"/>
            <a:ext cx="2194560" cy="1645920"/>
          </a:xfrm>
          <a:prstGeom prst="roundRect">
            <a:avLst>
              <a:gd name="adj" fmla="val 6667"/>
            </a:avLst>
          </a:prstGeom>
          <a:solidFill>
            <a:schemeClr val="bg1"/>
          </a:solidFill>
          <a:ln w="12700">
            <a:solidFill>
              <a:schemeClr val="bg1"/>
            </a:solidFill>
            <a:prstDash val="solid"/>
          </a:ln>
        </p:spPr>
      </p:sp>
      <p:sp>
        <p:nvSpPr>
          <p:cNvPr id="8" name="Text 6"/>
          <p:cNvSpPr txBox="1"/>
          <p:nvPr/>
        </p:nvSpPr>
        <p:spPr>
          <a:xfrm>
            <a:off x="3154680" y="2240280"/>
            <a:ext cx="1828800" cy="777240"/>
          </a:xfrm>
          <a:prstGeom prst="rect">
            <a:avLst/>
          </a:prstGeom>
          <a:noFill/>
          <a:ln/>
        </p:spPr>
        <p:txBody>
          <a:bodyPr wrap="square" lIns="0" tIns="0" rIns="0" bIns="0" rtlCol="0" anchor="ctr"/>
          <a:lstStyle/>
          <a:p>
            <a:pPr indent="0" marL="0">
              <a:buNone/>
            </a:pPr>
            <a:r>
              <a:rPr lang="en-US" sz="4000" b="1" dirty="0">
                <a:solidFill>
                  <a:schemeClr val="tx1"/>
                </a:solidFill>
              </a:rPr>
              <a:t>4</a:t>
            </a:r>
            <a:endParaRPr lang="en-US" sz="4000" dirty="0"/>
          </a:p>
        </p:txBody>
      </p:sp>
      <p:sp>
        <p:nvSpPr>
          <p:cNvPr id="9" name="Text 7"/>
          <p:cNvSpPr txBox="1"/>
          <p:nvPr/>
        </p:nvSpPr>
        <p:spPr>
          <a:xfrm>
            <a:off x="315468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credits to fully prepare one application</a:t>
            </a:r>
            <a:endParaRPr lang="en-US" sz="1300" dirty="0"/>
          </a:p>
        </p:txBody>
      </p:sp>
      <p:sp>
        <p:nvSpPr>
          <p:cNvPr id="10" name="stat"/>
          <p:cNvSpPr/>
          <p:nvPr/>
        </p:nvSpPr>
        <p:spPr>
          <a:xfrm>
            <a:off x="5303520" y="2103120"/>
            <a:ext cx="2194560" cy="1645920"/>
          </a:xfrm>
          <a:prstGeom prst="roundRect">
            <a:avLst>
              <a:gd name="adj" fmla="val 6667"/>
            </a:avLst>
          </a:prstGeom>
          <a:solidFill>
            <a:schemeClr val="bg1"/>
          </a:solidFill>
          <a:ln w="12700">
            <a:solidFill>
              <a:schemeClr val="bg1"/>
            </a:solidFill>
            <a:prstDash val="solid"/>
          </a:ln>
        </p:spPr>
      </p:sp>
      <p:sp>
        <p:nvSpPr>
          <p:cNvPr id="11" name="Text 9"/>
          <p:cNvSpPr txBox="1"/>
          <p:nvPr/>
        </p:nvSpPr>
        <p:spPr>
          <a:xfrm>
            <a:off x="5532120" y="2240280"/>
            <a:ext cx="1828800" cy="777240"/>
          </a:xfrm>
          <a:prstGeom prst="rect">
            <a:avLst/>
          </a:prstGeom>
          <a:noFill/>
          <a:ln/>
        </p:spPr>
        <p:txBody>
          <a:bodyPr wrap="square" lIns="0" tIns="0" rIns="0" bIns="0" rtlCol="0" anchor="ctr"/>
          <a:lstStyle/>
          <a:p>
            <a:pPr indent="0" marL="0">
              <a:buNone/>
            </a:pPr>
            <a:r>
              <a:rPr lang="en-US" sz="3000" b="1" dirty="0">
                <a:solidFill>
                  <a:schemeClr val="accent1"/>
                </a:solidFill>
              </a:rPr>
              <a:t>&lt; €0.01</a:t>
            </a:r>
            <a:endParaRPr lang="en-US" sz="3000" dirty="0"/>
          </a:p>
        </p:txBody>
      </p:sp>
      <p:sp>
        <p:nvSpPr>
          <p:cNvPr id="12" name="Text 10"/>
          <p:cNvSpPr txBox="1"/>
          <p:nvPr/>
        </p:nvSpPr>
        <p:spPr>
          <a:xfrm>
            <a:off x="553212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AI cost target per fully prepared application</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6949440" cy="914400"/>
        </p:xfrm>
        <a:graphic>
          <a:graphicData uri="http://schemas.openxmlformats.org/drawingml/2006/table">
            <a:tbl>
              <a:tblPr/>
              <a:tblGrid>
                <a:gridCol w="5120640"/>
                <a:gridCol w="1828800"/>
              </a:tblGrid>
              <a:tr h="329184">
                <a:tc>
                  <a:txBody>
                    <a:bodyPr/>
                    <a:lstStyle/>
                    <a:p>
                      <a:pPr indent="0" marL="0">
                        <a:buNone/>
                      </a:pPr>
                      <a:r>
                        <a:rPr lang="en-US" sz="1300" b="1" dirty="0">
                          <a:solidFill>
                            <a:srgbClr val="5B6B80"/>
                          </a:solidFill>
                        </a:rPr>
                        <a:t>Action</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5B6B80"/>
                          </a:solidFill>
                        </a:rPr>
                        <a:t>Cost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Match score, why it fits, how it's calculated</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Apply on job site, save a job</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Prepare application (gaps, risks, strategy)</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Tailored CV · cover letter</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 each</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Interview prep, from the application</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14" name="later"/>
          <p:cNvSpPr/>
          <p:nvPr/>
        </p:nvSpPr>
        <p:spPr>
          <a:xfrm>
            <a:off x="7863840" y="2103120"/>
            <a:ext cx="3776472" cy="3931920"/>
          </a:xfrm>
          <a:prstGeom prst="roundRect">
            <a:avLst>
              <a:gd name="adj" fmla="val 2906"/>
            </a:avLst>
          </a:prstGeom>
          <a:solidFill>
            <a:srgbClr val="0F2A4A"/>
          </a:solidFill>
          <a:ln w="12700">
            <a:solidFill>
              <a:srgbClr val="0F2A4A"/>
            </a:solidFill>
            <a:prstDash val="solid"/>
          </a:ln>
        </p:spPr>
      </p:sp>
      <p:sp>
        <p:nvSpPr>
          <p:cNvPr id="15" name="Text 12"/>
          <p:cNvSpPr txBox="1"/>
          <p:nvPr/>
        </p:nvSpPr>
        <p:spPr>
          <a:xfrm>
            <a:off x="8138160" y="2331720"/>
            <a:ext cx="32918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COMING SOON</a:t>
            </a:r>
            <a:endParaRPr lang="en-US" sz="1100" dirty="0"/>
          </a:p>
        </p:txBody>
      </p:sp>
      <p:sp>
        <p:nvSpPr>
          <p:cNvPr id="16" name="Text 13"/>
          <p:cNvSpPr txBox="1"/>
          <p:nvPr/>
        </p:nvSpPr>
        <p:spPr>
          <a:xfrm>
            <a:off x="8138160" y="2606040"/>
            <a:ext cx="3291840" cy="365760"/>
          </a:xfrm>
          <a:prstGeom prst="rect">
            <a:avLst/>
          </a:prstGeom>
          <a:noFill/>
          <a:ln/>
        </p:spPr>
        <p:txBody>
          <a:bodyPr wrap="square" lIns="0" tIns="0" rIns="0" bIns="0" rtlCol="0" anchor="t"/>
          <a:lstStyle/>
          <a:p>
            <a:pPr indent="0" marL="0">
              <a:buNone/>
            </a:pPr>
            <a:r>
              <a:rPr lang="en-US" sz="1800" b="1" dirty="0">
                <a:solidFill>
                  <a:schemeClr val="bg1"/>
                </a:solidFill>
              </a:rPr>
              <a:t>Top up credits</a:t>
            </a:r>
            <a:endParaRPr lang="en-US" sz="1800" dirty="0"/>
          </a:p>
        </p:txBody>
      </p:sp>
      <p:sp>
        <p:nvSpPr>
          <p:cNvPr id="17" name="Text 14"/>
          <p:cNvSpPr txBox="1"/>
          <p:nvPr/>
        </p:nvSpPr>
        <p:spPr>
          <a:xfrm>
            <a:off x="8138160" y="3063240"/>
            <a:ext cx="329184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Prepaid wallet, top-up from €10</a:t>
            </a:r>
            <a:endParaRPr lang="en-US" sz="1400" dirty="0"/>
          </a:p>
          <a:p>
            <a:pPr marL="342900" indent="-342900">
              <a:spcAft>
                <a:spcPts val="400"/>
              </a:spcAft>
              <a:buSzPct val="100000"/>
              <a:buChar char="•"/>
            </a:pPr>
            <a:r>
              <a:rPr lang="en-US" sz="1400" dirty="0">
                <a:solidFill>
                  <a:schemeClr val="accent4"/>
                </a:solidFill>
              </a:rPr>
              <a:t>10 credits for €0.99</a:t>
            </a:r>
            <a:endParaRPr lang="en-US" sz="1400" dirty="0"/>
          </a:p>
          <a:p>
            <a:pPr marL="342900" indent="-342900">
              <a:spcAft>
                <a:spcPts val="400"/>
              </a:spcAft>
              <a:buSzPct val="100000"/>
              <a:buChar char="•"/>
            </a:pPr>
            <a:r>
              <a:rPr lang="en-US" sz="1400" dirty="0">
                <a:solidFill>
                  <a:schemeClr val="accent4"/>
                </a:solidFill>
              </a:rPr>
              <a:t>Bought credits never expire</a:t>
            </a:r>
            <a:endParaRPr lang="en-US" sz="1400" dirty="0"/>
          </a:p>
        </p:txBody>
      </p:sp>
      <p:sp>
        <p:nvSpPr>
          <p:cNvPr id="18" name="Text 15"/>
          <p:cNvSpPr txBox="1"/>
          <p:nvPr/>
        </p:nvSpPr>
        <p:spPr>
          <a:xfrm>
            <a:off x="8138160" y="4251960"/>
            <a:ext cx="32918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LATER</a:t>
            </a:r>
            <a:endParaRPr lang="en-US" sz="1100" dirty="0"/>
          </a:p>
        </p:txBody>
      </p:sp>
      <p:sp>
        <p:nvSpPr>
          <p:cNvPr id="19" name="Text 16"/>
          <p:cNvSpPr txBox="1"/>
          <p:nvPr/>
        </p:nvSpPr>
        <p:spPr>
          <a:xfrm>
            <a:off x="8138160" y="4526280"/>
            <a:ext cx="3291840" cy="640080"/>
          </a:xfrm>
          <a:prstGeom prst="rect">
            <a:avLst/>
          </a:prstGeom>
          <a:noFill/>
          <a:ln/>
        </p:spPr>
        <p:txBody>
          <a:bodyPr wrap="square" lIns="0" tIns="0" rIns="0" bIns="0" rtlCol="0" anchor="t"/>
          <a:lstStyle/>
          <a:p>
            <a:pPr indent="0" marL="0">
              <a:buNone/>
            </a:pPr>
            <a:r>
              <a:rPr lang="en-US" sz="1400" dirty="0">
                <a:solidFill>
                  <a:schemeClr val="accent4"/>
                </a:solidFill>
              </a:rPr>
              <a:t>Employers pay for job ads and talent search, behind an employer login.</a:t>
            </a:r>
            <a:endParaRPr lang="en-US" sz="1400" dirty="0"/>
          </a:p>
        </p:txBody>
      </p:sp>
      <p:sp>
        <p:nvSpPr>
          <p:cNvPr id="20" name="Text 17"/>
          <p:cNvSpPr txBox="1"/>
          <p:nvPr/>
        </p:nvSpPr>
        <p:spPr>
          <a:xfrm>
            <a:off x="8138160" y="5257800"/>
            <a:ext cx="3291840" cy="548640"/>
          </a:xfrm>
          <a:prstGeom prst="rect">
            <a:avLst/>
          </a:prstGeom>
          <a:noFill/>
          <a:ln/>
        </p:spPr>
        <p:txBody>
          <a:bodyPr wrap="square" lIns="0" tIns="0" rIns="0" bIns="0" rtlCol="0" anchor="t"/>
          <a:lstStyle/>
          <a:p>
            <a:pPr indent="0" marL="0">
              <a:buNone/>
            </a:pPr>
            <a:r>
              <a:rPr lang="en-US" sz="1400" b="1" dirty="0">
                <a:solidFill>
                  <a:schemeClr val="bg1"/>
                </a:solidFill>
              </a:rPr>
              <a:t>Credits buy preparation tools, never a better ranking.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HEADHUNTER PILOT</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A match is an invitation; the candidate decides</a:t>
            </a:r>
            <a:endParaRPr lang="en-US" sz="3200" dirty="0"/>
          </a:p>
        </p:txBody>
      </p:sp>
      <p:sp>
        <p:nvSpPr>
          <p:cNvPr id="4" name="filter"/>
          <p:cNvSpPr/>
          <p:nvPr/>
        </p:nvSpPr>
        <p:spPr>
          <a:xfrm>
            <a:off x="548640" y="2103120"/>
            <a:ext cx="6583680" cy="548640"/>
          </a:xfrm>
          <a:prstGeom prst="roundRect">
            <a:avLst>
              <a:gd name="adj" fmla="val 13333"/>
            </a:avLst>
          </a:prstGeom>
          <a:solidFill>
            <a:srgbClr val="163A63"/>
          </a:solidFill>
          <a:ln w="12700">
            <a:solidFill>
              <a:srgbClr val="163A63"/>
            </a:solidFill>
            <a:prstDash val="solid"/>
          </a:ln>
        </p:spPr>
      </p:sp>
      <p:sp>
        <p:nvSpPr>
          <p:cNvPr id="5" name="Text 3"/>
          <p:cNvSpPr txBox="1"/>
          <p:nvPr/>
        </p:nvSpPr>
        <p:spPr>
          <a:xfrm>
            <a:off x="777240" y="210312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1  Verified recruiter</a:t>
            </a:r>
            <a:endParaRPr lang="en-US" sz="1400" dirty="0"/>
          </a:p>
        </p:txBody>
      </p:sp>
      <p:sp>
        <p:nvSpPr>
          <p:cNvPr id="6" name="Text 4"/>
          <p:cNvSpPr txBox="1"/>
          <p:nvPr/>
        </p:nvSpPr>
        <p:spPr>
          <a:xfrm>
            <a:off x="4251960" y="2103120"/>
            <a:ext cx="2697480" cy="548640"/>
          </a:xfrm>
          <a:prstGeom prst="rect">
            <a:avLst/>
          </a:prstGeom>
          <a:noFill/>
          <a:ln/>
        </p:spPr>
        <p:txBody>
          <a:bodyPr wrap="square" lIns="0" tIns="0" rIns="0" bIns="0" rtlCol="0" anchor="ctr"/>
          <a:lstStyle/>
          <a:p>
            <a:pPr indent="0" marL="0">
              <a:buNone/>
            </a:pPr>
            <a:r>
              <a:rPr lang="en-US" sz="1100" dirty="0">
                <a:solidFill>
                  <a:schemeClr val="accent4"/>
                </a:solidFill>
              </a:rPr>
              <a:t>Identity and organisation checked by an admin</a:t>
            </a:r>
            <a:endParaRPr lang="en-US" sz="1100" dirty="0"/>
          </a:p>
        </p:txBody>
      </p:sp>
      <p:sp>
        <p:nvSpPr>
          <p:cNvPr id="7" name="filter"/>
          <p:cNvSpPr/>
          <p:nvPr/>
        </p:nvSpPr>
        <p:spPr>
          <a:xfrm>
            <a:off x="548640" y="2743200"/>
            <a:ext cx="6400800" cy="548640"/>
          </a:xfrm>
          <a:prstGeom prst="roundRect">
            <a:avLst>
              <a:gd name="adj" fmla="val 13333"/>
            </a:avLst>
          </a:prstGeom>
          <a:solidFill>
            <a:srgbClr val="163A63"/>
          </a:solidFill>
          <a:ln w="12700">
            <a:solidFill>
              <a:srgbClr val="163A63"/>
            </a:solidFill>
            <a:prstDash val="solid"/>
          </a:ln>
        </p:spPr>
      </p:sp>
      <p:sp>
        <p:nvSpPr>
          <p:cNvPr id="8" name="Text 6"/>
          <p:cNvSpPr txBox="1"/>
          <p:nvPr/>
        </p:nvSpPr>
        <p:spPr>
          <a:xfrm>
            <a:off x="777240" y="274320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2  Authorised job description</a:t>
            </a:r>
            <a:endParaRPr lang="en-US" sz="1400" dirty="0"/>
          </a:p>
        </p:txBody>
      </p:sp>
      <p:sp>
        <p:nvSpPr>
          <p:cNvPr id="9" name="Text 7"/>
          <p:cNvSpPr txBox="1"/>
          <p:nvPr/>
        </p:nvSpPr>
        <p:spPr>
          <a:xfrm>
            <a:off x="4251960" y="2743200"/>
            <a:ext cx="2514600" cy="548640"/>
          </a:xfrm>
          <a:prstGeom prst="rect">
            <a:avLst/>
          </a:prstGeom>
          <a:noFill/>
          <a:ln/>
        </p:spPr>
        <p:txBody>
          <a:bodyPr wrap="square" lIns="0" tIns="0" rIns="0" bIns="0" rtlCol="0" anchor="ctr"/>
          <a:lstStyle/>
          <a:p>
            <a:pPr indent="0" marL="0">
              <a:buNone/>
            </a:pPr>
            <a:r>
              <a:rPr lang="en-US" sz="1100" dirty="0">
                <a:solidFill>
                  <a:schemeClr val="accent4"/>
                </a:solidFill>
              </a:rPr>
              <a:t>Must-haves and start date confirmed</a:t>
            </a:r>
            <a:endParaRPr lang="en-US" sz="1100" dirty="0"/>
          </a:p>
        </p:txBody>
      </p:sp>
      <p:sp>
        <p:nvSpPr>
          <p:cNvPr id="10" name="filter"/>
          <p:cNvSpPr/>
          <p:nvPr/>
        </p:nvSpPr>
        <p:spPr>
          <a:xfrm>
            <a:off x="548640" y="3383280"/>
            <a:ext cx="6217920" cy="548640"/>
          </a:xfrm>
          <a:prstGeom prst="roundRect">
            <a:avLst>
              <a:gd name="adj" fmla="val 13333"/>
            </a:avLst>
          </a:prstGeom>
          <a:solidFill>
            <a:srgbClr val="163A63"/>
          </a:solidFill>
          <a:ln w="12700">
            <a:solidFill>
              <a:srgbClr val="163A63"/>
            </a:solidFill>
            <a:prstDash val="solid"/>
          </a:ln>
        </p:spPr>
      </p:sp>
      <p:sp>
        <p:nvSpPr>
          <p:cNvPr id="11" name="Text 9"/>
          <p:cNvSpPr txBox="1"/>
          <p:nvPr/>
        </p:nvSpPr>
        <p:spPr>
          <a:xfrm>
            <a:off x="777240" y="338328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3  Opted-in candidates only</a:t>
            </a:r>
            <a:endParaRPr lang="en-US" sz="1400" dirty="0"/>
          </a:p>
        </p:txBody>
      </p:sp>
      <p:sp>
        <p:nvSpPr>
          <p:cNvPr id="12" name="Text 10"/>
          <p:cNvSpPr txBox="1"/>
          <p:nvPr/>
        </p:nvSpPr>
        <p:spPr>
          <a:xfrm>
            <a:off x="4251960" y="3383280"/>
            <a:ext cx="2331720" cy="548640"/>
          </a:xfrm>
          <a:prstGeom prst="rect">
            <a:avLst/>
          </a:prstGeom>
          <a:noFill/>
          <a:ln/>
        </p:spPr>
        <p:txBody>
          <a:bodyPr wrap="square" lIns="0" tIns="0" rIns="0" bIns="0" rtlCol="0" anchor="ctr"/>
          <a:lstStyle/>
          <a:p>
            <a:pPr indent="0" marL="0">
              <a:buNone/>
            </a:pPr>
            <a:r>
              <a:rPr lang="en-US" sz="1100" dirty="0">
                <a:solidFill>
                  <a:schemeClr val="accent4"/>
                </a:solidFill>
              </a:rPr>
              <a:t>Discovery is off by default</a:t>
            </a:r>
            <a:endParaRPr lang="en-US" sz="1100" dirty="0"/>
          </a:p>
        </p:txBody>
      </p:sp>
      <p:sp>
        <p:nvSpPr>
          <p:cNvPr id="13" name="filter"/>
          <p:cNvSpPr/>
          <p:nvPr/>
        </p:nvSpPr>
        <p:spPr>
          <a:xfrm>
            <a:off x="548640" y="4023360"/>
            <a:ext cx="6035040" cy="548640"/>
          </a:xfrm>
          <a:prstGeom prst="roundRect">
            <a:avLst>
              <a:gd name="adj" fmla="val 13333"/>
            </a:avLst>
          </a:prstGeom>
          <a:solidFill>
            <a:srgbClr val="163A63"/>
          </a:solidFill>
          <a:ln w="12700">
            <a:solidFill>
              <a:srgbClr val="163A63"/>
            </a:solidFill>
            <a:prstDash val="solid"/>
          </a:ln>
        </p:spPr>
      </p:sp>
      <p:sp>
        <p:nvSpPr>
          <p:cNvPr id="14" name="Text 12"/>
          <p:cNvSpPr txBox="1"/>
          <p:nvPr/>
        </p:nvSpPr>
        <p:spPr>
          <a:xfrm>
            <a:off x="777240" y="402336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4  Fit ≥ 90% and completeness ≥ 90%</a:t>
            </a:r>
            <a:endParaRPr lang="en-US" sz="1400" dirty="0"/>
          </a:p>
        </p:txBody>
      </p:sp>
      <p:sp>
        <p:nvSpPr>
          <p:cNvPr id="15" name="Text 13"/>
          <p:cNvSpPr txBox="1"/>
          <p:nvPr/>
        </p:nvSpPr>
        <p:spPr>
          <a:xfrm>
            <a:off x="4251960" y="4023360"/>
            <a:ext cx="2148840" cy="548640"/>
          </a:xfrm>
          <a:prstGeom prst="rect">
            <a:avLst/>
          </a:prstGeom>
          <a:noFill/>
          <a:ln/>
        </p:spPr>
        <p:txBody>
          <a:bodyPr wrap="square" lIns="0" tIns="0" rIns="0" bIns="0" rtlCol="0" anchor="ctr"/>
          <a:lstStyle/>
          <a:p>
            <a:pPr indent="0" marL="0">
              <a:buNone/>
            </a:pPr>
            <a:r>
              <a:rPr lang="en-US" sz="1100" dirty="0">
                <a:solidFill>
                  <a:schemeClr val="accent4"/>
                </a:solidFill>
              </a:rPr>
              <a:t>Must-haves met, high confidence</a:t>
            </a:r>
            <a:endParaRPr lang="en-US" sz="1100" dirty="0"/>
          </a:p>
        </p:txBody>
      </p:sp>
      <p:sp>
        <p:nvSpPr>
          <p:cNvPr id="16" name="filter"/>
          <p:cNvSpPr/>
          <p:nvPr/>
        </p:nvSpPr>
        <p:spPr>
          <a:xfrm>
            <a:off x="548640" y="4663440"/>
            <a:ext cx="5852160" cy="548640"/>
          </a:xfrm>
          <a:prstGeom prst="roundRect">
            <a:avLst>
              <a:gd name="adj" fmla="val 13333"/>
            </a:avLst>
          </a:prstGeom>
          <a:solidFill>
            <a:srgbClr val="163A63"/>
          </a:solidFill>
          <a:ln w="12700">
            <a:solidFill>
              <a:srgbClr val="163A63"/>
            </a:solidFill>
            <a:prstDash val="solid"/>
          </a:ln>
        </p:spPr>
      </p:sp>
      <p:sp>
        <p:nvSpPr>
          <p:cNvPr id="17" name="Text 15"/>
          <p:cNvSpPr txBox="1"/>
          <p:nvPr/>
        </p:nvSpPr>
        <p:spPr>
          <a:xfrm>
            <a:off x="777240" y="466344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5  Available now</a:t>
            </a:r>
            <a:endParaRPr lang="en-US" sz="1400" dirty="0"/>
          </a:p>
        </p:txBody>
      </p:sp>
      <p:sp>
        <p:nvSpPr>
          <p:cNvPr id="18" name="Text 16"/>
          <p:cNvSpPr txBox="1"/>
          <p:nvPr/>
        </p:nvSpPr>
        <p:spPr>
          <a:xfrm>
            <a:off x="4251960" y="4663440"/>
            <a:ext cx="1965960" cy="548640"/>
          </a:xfrm>
          <a:prstGeom prst="rect">
            <a:avLst/>
          </a:prstGeom>
          <a:noFill/>
          <a:ln/>
        </p:spPr>
        <p:txBody>
          <a:bodyPr wrap="square" lIns="0" tIns="0" rIns="0" bIns="0" rtlCol="0" anchor="ctr"/>
          <a:lstStyle/>
          <a:p>
            <a:pPr indent="0" marL="0">
              <a:buNone/>
            </a:pPr>
            <a:r>
              <a:rPr lang="en-US" sz="1100" dirty="0">
                <a:solidFill>
                  <a:schemeClr val="accent4"/>
                </a:solidFill>
              </a:rPr>
              <a:t>Confirmed in the last 7 days</a:t>
            </a:r>
            <a:endParaRPr lang="en-US" sz="1100" dirty="0"/>
          </a:p>
        </p:txBody>
      </p:sp>
      <p:sp>
        <p:nvSpPr>
          <p:cNvPr id="19" name="filter"/>
          <p:cNvSpPr/>
          <p:nvPr/>
        </p:nvSpPr>
        <p:spPr>
          <a:xfrm>
            <a:off x="548640" y="5303520"/>
            <a:ext cx="5669280" cy="548640"/>
          </a:xfrm>
          <a:prstGeom prst="roundRect">
            <a:avLst>
              <a:gd name="adj" fmla="val 13333"/>
            </a:avLst>
          </a:prstGeom>
          <a:solidFill>
            <a:srgbClr val="F2542D"/>
          </a:solidFill>
          <a:ln w="12700">
            <a:solidFill>
              <a:srgbClr val="F2542D"/>
            </a:solidFill>
            <a:prstDash val="solid"/>
          </a:ln>
        </p:spPr>
      </p:sp>
      <p:sp>
        <p:nvSpPr>
          <p:cNvPr id="20" name="Text 18"/>
          <p:cNvSpPr txBox="1"/>
          <p:nvPr/>
        </p:nvSpPr>
        <p:spPr>
          <a:xfrm>
            <a:off x="777240" y="530352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6  Explained, pseudonymised shortlist</a:t>
            </a:r>
            <a:endParaRPr lang="en-US" sz="1400" dirty="0"/>
          </a:p>
        </p:txBody>
      </p:sp>
      <p:sp>
        <p:nvSpPr>
          <p:cNvPr id="21" name="Text 19"/>
          <p:cNvSpPr txBox="1"/>
          <p:nvPr/>
        </p:nvSpPr>
        <p:spPr>
          <a:xfrm>
            <a:off x="4251960" y="5303520"/>
            <a:ext cx="1783080" cy="548640"/>
          </a:xfrm>
          <a:prstGeom prst="rect">
            <a:avLst/>
          </a:prstGeom>
          <a:noFill/>
          <a:ln/>
        </p:spPr>
        <p:txBody>
          <a:bodyPr wrap="square" lIns="0" tIns="0" rIns="0" bIns="0" rtlCol="0" anchor="ctr"/>
          <a:lstStyle/>
          <a:p>
            <a:pPr indent="0" marL="0">
              <a:buNone/>
            </a:pPr>
            <a:r>
              <a:rPr lang="en-US" sz="1100" dirty="0">
                <a:solidFill>
                  <a:schemeClr val="bg1"/>
                </a:solidFill>
              </a:rPr>
              <a:t>No CV or contact details yet</a:t>
            </a:r>
            <a:endParaRPr lang="en-US" sz="1100" dirty="0"/>
          </a:p>
        </p:txBody>
      </p:sp>
      <p:sp>
        <p:nvSpPr>
          <p:cNvPr id="22" name="consent"/>
          <p:cNvSpPr/>
          <p:nvPr/>
        </p:nvSpPr>
        <p:spPr>
          <a:xfrm>
            <a:off x="7498080" y="2103120"/>
            <a:ext cx="4142232" cy="3749040"/>
          </a:xfrm>
          <a:prstGeom prst="roundRect">
            <a:avLst>
              <a:gd name="adj" fmla="val 2927"/>
            </a:avLst>
          </a:prstGeom>
          <a:solidFill>
            <a:srgbClr val="163A63"/>
          </a:solidFill>
          <a:ln w="12700">
            <a:solidFill>
              <a:srgbClr val="163A63"/>
            </a:solidFill>
            <a:prstDash val="solid"/>
          </a:ln>
        </p:spPr>
      </p:sp>
      <p:sp>
        <p:nvSpPr>
          <p:cNvPr id="23" name="Text 21"/>
          <p:cNvSpPr txBox="1"/>
          <p:nvPr/>
        </p:nvSpPr>
        <p:spPr>
          <a:xfrm>
            <a:off x="7772400" y="2286000"/>
            <a:ext cx="3657600" cy="365760"/>
          </a:xfrm>
          <a:prstGeom prst="rect">
            <a:avLst/>
          </a:prstGeom>
          <a:noFill/>
          <a:ln/>
        </p:spPr>
        <p:txBody>
          <a:bodyPr wrap="square" lIns="0" tIns="0" rIns="0" bIns="0" rtlCol="0" anchor="t"/>
          <a:lstStyle/>
          <a:p>
            <a:pPr indent="0" marL="0">
              <a:buNone/>
            </a:pPr>
            <a:r>
              <a:rPr lang="en-US" sz="1800" b="1" dirty="0">
                <a:solidFill>
                  <a:schemeClr val="bg1"/>
                </a:solidFill>
              </a:rPr>
              <a:t>Candidate control</a:t>
            </a:r>
            <a:endParaRPr lang="en-US" sz="1800" dirty="0"/>
          </a:p>
        </p:txBody>
      </p:sp>
      <p:sp>
        <p:nvSpPr>
          <p:cNvPr id="24" name="Text 22"/>
          <p:cNvSpPr txBox="1"/>
          <p:nvPr/>
        </p:nvSpPr>
        <p:spPr>
          <a:xfrm>
            <a:off x="7772400" y="2743200"/>
            <a:ext cx="36576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accent4"/>
                </a:solidFill>
              </a:rPr>
              <a:t>Approves each CV share, per recruiter and job</a:t>
            </a:r>
            <a:endParaRPr lang="en-US" sz="1400" dirty="0"/>
          </a:p>
          <a:p>
            <a:pPr marL="342900" indent="-342900">
              <a:spcAft>
                <a:spcPts val="800"/>
              </a:spcAft>
              <a:buSzPct val="100000"/>
              <a:buChar char="•"/>
            </a:pPr>
            <a:r>
              <a:rPr lang="en-US" sz="1400" dirty="0">
                <a:solidFill>
                  <a:schemeClr val="accent4"/>
                </a:solidFill>
              </a:rPr>
              <a:t>Access expires and every view is logged</a:t>
            </a:r>
            <a:endParaRPr lang="en-US" sz="1400" dirty="0"/>
          </a:p>
          <a:p>
            <a:pPr marL="342900" indent="-342900">
              <a:spcAft>
                <a:spcPts val="800"/>
              </a:spcAft>
              <a:buSzPct val="100000"/>
              <a:buChar char="•"/>
            </a:pPr>
            <a:r>
              <a:rPr lang="en-US" sz="1400" dirty="0">
                <a:solidFill>
                  <a:schemeClr val="accent4"/>
                </a:solidFill>
              </a:rPr>
              <a:t>Can revoke discovery at any time</a:t>
            </a:r>
            <a:endParaRPr lang="en-US" sz="1400" dirty="0"/>
          </a:p>
          <a:p>
            <a:pPr marL="342900" indent="-342900">
              <a:spcAft>
                <a:spcPts val="800"/>
              </a:spcAft>
              <a:buSzPct val="100000"/>
              <a:buChar char="•"/>
            </a:pPr>
            <a:r>
              <a:rPr lang="en-US" sz="1400" dirty="0">
                <a:solidFill>
                  <a:schemeClr val="accent4"/>
                </a:solidFill>
              </a:rPr>
              <a:t>No bulk export, no automatic decisions</a:t>
            </a:r>
            <a:endParaRPr lang="en-US" sz="1400" dirty="0"/>
          </a:p>
        </p:txBody>
      </p:sp>
      <p:sp>
        <p:nvSpPr>
          <p:cNvPr id="25" name="Text 23"/>
          <p:cNvSpPr txBox="1"/>
          <p:nvPr/>
        </p:nvSpPr>
        <p:spPr>
          <a:xfrm>
            <a:off x="7772400" y="4846320"/>
            <a:ext cx="3657600" cy="731520"/>
          </a:xfrm>
          <a:prstGeom prst="rect">
            <a:avLst/>
          </a:prstGeom>
          <a:noFill/>
          <a:ln/>
        </p:spPr>
        <p:txBody>
          <a:bodyPr wrap="square" lIns="0" tIns="0" rIns="0" bIns="0" rtlCol="0" anchor="t"/>
          <a:lstStyle/>
          <a:p>
            <a:pPr indent="0" marL="0">
              <a:buNone/>
            </a:pPr>
            <a:r>
              <a:rPr lang="en-US" sz="1300" b="1" dirty="0">
                <a:solidFill>
                  <a:schemeClr val="bg1"/>
                </a:solidFill>
              </a:rPr>
              <a:t>No match? An honest empty list. Thresholds are never lowered.</a:t>
            </a:r>
            <a:endParaRPr lang="en-US" sz="1300" dirty="0"/>
          </a:p>
        </p:txBody>
      </p:sp>
      <p:sp>
        <p:nvSpPr>
          <p:cNvPr id="26" name="Text 24"/>
          <p:cNvSpPr txBox="1"/>
          <p:nvPr/>
        </p:nvSpPr>
        <p:spPr>
          <a:xfrm>
            <a:off x="548640" y="5989320"/>
            <a:ext cx="10058400" cy="274320"/>
          </a:xfrm>
          <a:prstGeom prst="rect">
            <a:avLst/>
          </a:prstGeom>
          <a:noFill/>
          <a:ln/>
        </p:spPr>
        <p:txBody>
          <a:bodyPr wrap="square" lIns="0" tIns="0" rIns="0" bIns="0" rtlCol="0" anchor="t"/>
          <a:lstStyle/>
          <a:p>
            <a:pPr indent="0" marL="0">
              <a:buNone/>
            </a:pPr>
            <a:r>
              <a:rPr lang="en-US" sz="1100" dirty="0">
                <a:solidFill>
                  <a:schemeClr val="accent4"/>
                </a:solidFill>
              </a:rPr>
              <a:t>Pilot work is estimated at G2 (8 Jan 2027); it never delays the candidate launch.</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SCOPE AND TIMELINE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Germany first, public launch on 14 June 2027</a:t>
            </a:r>
            <a:endParaRPr lang="en-US" sz="3200" dirty="0"/>
          </a:p>
        </p:txBody>
      </p:sp>
      <p:sp>
        <p:nvSpPr>
          <p:cNvPr id="4" name="Shape 2"/>
          <p:cNvSpPr/>
          <p:nvPr/>
        </p:nvSpPr>
        <p:spPr>
          <a:xfrm>
            <a:off x="548640" y="2240280"/>
            <a:ext cx="2428240" cy="457200"/>
          </a:xfrm>
          <a:prstGeom prst="rect">
            <a:avLst/>
          </a:prstGeom>
          <a:solidFill>
            <a:srgbClr val="0F2A4A"/>
          </a:solidFill>
          <a:ln w="12700">
            <a:solidFill>
              <a:srgbClr val="FFFFFF"/>
            </a:solidFill>
            <a:prstDash val="solid"/>
          </a:ln>
        </p:spPr>
      </p:sp>
      <p:sp>
        <p:nvSpPr>
          <p:cNvPr id="5" name="Text 3"/>
          <p:cNvSpPr txBox="1"/>
          <p:nvPr/>
        </p:nvSpPr>
        <p:spPr>
          <a:xfrm>
            <a:off x="658368" y="2240280"/>
            <a:ext cx="2281936" cy="457200"/>
          </a:xfrm>
          <a:prstGeom prst="rect">
            <a:avLst/>
          </a:prstGeom>
          <a:noFill/>
          <a:ln/>
        </p:spPr>
        <p:txBody>
          <a:bodyPr wrap="square" lIns="0" tIns="0" rIns="0" bIns="0" rtlCol="0" anchor="ctr"/>
          <a:lstStyle/>
          <a:p>
            <a:pPr indent="0" marL="0">
              <a:buNone/>
            </a:pPr>
            <a:r>
              <a:rPr lang="en-US" sz="1300" b="1" dirty="0">
                <a:solidFill>
                  <a:schemeClr val="bg1"/>
                </a:solidFill>
              </a:rPr>
              <a:t>Validate</a:t>
            </a:r>
            <a:endParaRPr lang="en-US" sz="1300" dirty="0"/>
          </a:p>
        </p:txBody>
      </p:sp>
      <p:sp>
        <p:nvSpPr>
          <p:cNvPr id="6" name="Shape 4"/>
          <p:cNvSpPr/>
          <p:nvPr/>
        </p:nvSpPr>
        <p:spPr>
          <a:xfrm>
            <a:off x="3013456" y="2240280"/>
            <a:ext cx="1565554" cy="457200"/>
          </a:xfrm>
          <a:prstGeom prst="rect">
            <a:avLst/>
          </a:prstGeom>
          <a:solidFill>
            <a:srgbClr val="163A63"/>
          </a:solidFill>
          <a:ln w="12700">
            <a:solidFill>
              <a:srgbClr val="FFFFFF"/>
            </a:solidFill>
            <a:prstDash val="solid"/>
          </a:ln>
        </p:spPr>
      </p:sp>
      <p:sp>
        <p:nvSpPr>
          <p:cNvPr id="7" name="Text 5"/>
          <p:cNvSpPr txBox="1"/>
          <p:nvPr/>
        </p:nvSpPr>
        <p:spPr>
          <a:xfrm>
            <a:off x="3123184" y="2240280"/>
            <a:ext cx="1419250" cy="457200"/>
          </a:xfrm>
          <a:prstGeom prst="rect">
            <a:avLst/>
          </a:prstGeom>
          <a:noFill/>
          <a:ln/>
        </p:spPr>
        <p:txBody>
          <a:bodyPr wrap="square" lIns="0" tIns="0" rIns="0" bIns="0" rtlCol="0" anchor="ctr"/>
          <a:lstStyle/>
          <a:p>
            <a:pPr indent="0" marL="0">
              <a:buNone/>
            </a:pPr>
            <a:r>
              <a:rPr lang="en-US" sz="1300" b="1" dirty="0">
                <a:solidFill>
                  <a:schemeClr val="bg1"/>
                </a:solidFill>
              </a:rPr>
              <a:t>Design</a:t>
            </a:r>
            <a:endParaRPr lang="en-US" sz="1300" dirty="0"/>
          </a:p>
        </p:txBody>
      </p:sp>
      <p:sp>
        <p:nvSpPr>
          <p:cNvPr id="8" name="Shape 6"/>
          <p:cNvSpPr/>
          <p:nvPr/>
        </p:nvSpPr>
        <p:spPr>
          <a:xfrm>
            <a:off x="4615586" y="2240280"/>
            <a:ext cx="4523334" cy="457200"/>
          </a:xfrm>
          <a:prstGeom prst="rect">
            <a:avLst/>
          </a:prstGeom>
          <a:solidFill>
            <a:srgbClr val="0F2A4A"/>
          </a:solidFill>
          <a:ln w="12700">
            <a:solidFill>
              <a:srgbClr val="FFFFFF"/>
            </a:solidFill>
            <a:prstDash val="solid"/>
          </a:ln>
        </p:spPr>
      </p:sp>
      <p:sp>
        <p:nvSpPr>
          <p:cNvPr id="9" name="Text 7"/>
          <p:cNvSpPr txBox="1"/>
          <p:nvPr/>
        </p:nvSpPr>
        <p:spPr>
          <a:xfrm>
            <a:off x="4725314" y="2240280"/>
            <a:ext cx="4377030" cy="457200"/>
          </a:xfrm>
          <a:prstGeom prst="rect">
            <a:avLst/>
          </a:prstGeom>
          <a:noFill/>
          <a:ln/>
        </p:spPr>
        <p:txBody>
          <a:bodyPr wrap="square" lIns="0" tIns="0" rIns="0" bIns="0" rtlCol="0" anchor="ctr"/>
          <a:lstStyle/>
          <a:p>
            <a:pPr indent="0" marL="0">
              <a:buNone/>
            </a:pPr>
            <a:r>
              <a:rPr lang="en-US" sz="1300" b="1" dirty="0">
                <a:solidFill>
                  <a:schemeClr val="bg1"/>
                </a:solidFill>
              </a:rPr>
              <a:t>Build</a:t>
            </a:r>
            <a:endParaRPr lang="en-US" sz="1300" dirty="0"/>
          </a:p>
        </p:txBody>
      </p:sp>
      <p:sp>
        <p:nvSpPr>
          <p:cNvPr id="10" name="Shape 8"/>
          <p:cNvSpPr/>
          <p:nvPr/>
        </p:nvSpPr>
        <p:spPr>
          <a:xfrm>
            <a:off x="9175496" y="2240280"/>
            <a:ext cx="1195832" cy="457200"/>
          </a:xfrm>
          <a:prstGeom prst="rect">
            <a:avLst/>
          </a:prstGeom>
          <a:solidFill>
            <a:srgbClr val="163A63"/>
          </a:solidFill>
          <a:ln w="12700">
            <a:solidFill>
              <a:srgbClr val="FFFFFF"/>
            </a:solidFill>
            <a:prstDash val="solid"/>
          </a:ln>
        </p:spPr>
      </p:sp>
      <p:sp>
        <p:nvSpPr>
          <p:cNvPr id="11" name="Text 9"/>
          <p:cNvSpPr txBox="1"/>
          <p:nvPr/>
        </p:nvSpPr>
        <p:spPr>
          <a:xfrm>
            <a:off x="9285224" y="2240280"/>
            <a:ext cx="1049528" cy="457200"/>
          </a:xfrm>
          <a:prstGeom prst="rect">
            <a:avLst/>
          </a:prstGeom>
          <a:noFill/>
          <a:ln/>
        </p:spPr>
        <p:txBody>
          <a:bodyPr wrap="square" lIns="0" tIns="0" rIns="0" bIns="0" rtlCol="0" anchor="ctr"/>
          <a:lstStyle/>
          <a:p>
            <a:pPr indent="0" marL="0">
              <a:buNone/>
            </a:pPr>
            <a:r>
              <a:rPr lang="en-US" sz="1300" b="1" dirty="0">
                <a:solidFill>
                  <a:schemeClr val="bg1"/>
                </a:solidFill>
              </a:rPr>
              <a:t>Beta</a:t>
            </a:r>
            <a:endParaRPr lang="en-US" sz="1300" dirty="0"/>
          </a:p>
        </p:txBody>
      </p:sp>
      <p:sp>
        <p:nvSpPr>
          <p:cNvPr id="12" name="Shape 10"/>
          <p:cNvSpPr/>
          <p:nvPr/>
        </p:nvSpPr>
        <p:spPr>
          <a:xfrm>
            <a:off x="10407904" y="2240280"/>
            <a:ext cx="1195832" cy="457200"/>
          </a:xfrm>
          <a:prstGeom prst="rect">
            <a:avLst/>
          </a:prstGeom>
          <a:solidFill>
            <a:srgbClr val="F2542D"/>
          </a:solidFill>
          <a:ln w="12700">
            <a:solidFill>
              <a:srgbClr val="FFFFFF"/>
            </a:solidFill>
            <a:prstDash val="solid"/>
          </a:ln>
        </p:spPr>
      </p:sp>
      <p:sp>
        <p:nvSpPr>
          <p:cNvPr id="13" name="Text 11"/>
          <p:cNvSpPr txBox="1"/>
          <p:nvPr/>
        </p:nvSpPr>
        <p:spPr>
          <a:xfrm>
            <a:off x="10517632" y="2240280"/>
            <a:ext cx="1049528" cy="457200"/>
          </a:xfrm>
          <a:prstGeom prst="rect">
            <a:avLst/>
          </a:prstGeom>
          <a:noFill/>
          <a:ln/>
        </p:spPr>
        <p:txBody>
          <a:bodyPr wrap="square" lIns="0" tIns="0" rIns="0" bIns="0" rtlCol="0" anchor="ctr"/>
          <a:lstStyle/>
          <a:p>
            <a:pPr indent="0" marL="0">
              <a:buNone/>
            </a:pPr>
            <a:r>
              <a:rPr lang="en-US" sz="1300" b="1" dirty="0">
                <a:solidFill>
                  <a:schemeClr val="bg1"/>
                </a:solidFill>
              </a:rPr>
              <a:t>Launch</a:t>
            </a:r>
            <a:endParaRPr lang="en-US" sz="1300" dirty="0"/>
          </a:p>
        </p:txBody>
      </p:sp>
      <p:sp>
        <p:nvSpPr>
          <p:cNvPr id="14" name="Text 12"/>
          <p:cNvSpPr txBox="1"/>
          <p:nvPr/>
        </p:nvSpPr>
        <p:spPr>
          <a:xfrm>
            <a:off x="548640"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Oct 26</a:t>
            </a:r>
            <a:endParaRPr lang="en-US" sz="1000" dirty="0"/>
          </a:p>
        </p:txBody>
      </p:sp>
      <p:sp>
        <p:nvSpPr>
          <p:cNvPr id="15" name="Text 13"/>
          <p:cNvSpPr txBox="1"/>
          <p:nvPr/>
        </p:nvSpPr>
        <p:spPr>
          <a:xfrm>
            <a:off x="1781048"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Nov</a:t>
            </a:r>
            <a:endParaRPr lang="en-US" sz="1000" dirty="0"/>
          </a:p>
        </p:txBody>
      </p:sp>
      <p:sp>
        <p:nvSpPr>
          <p:cNvPr id="16" name="Text 14"/>
          <p:cNvSpPr txBox="1"/>
          <p:nvPr/>
        </p:nvSpPr>
        <p:spPr>
          <a:xfrm>
            <a:off x="3013456"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Dec</a:t>
            </a:r>
            <a:endParaRPr lang="en-US" sz="1000" dirty="0"/>
          </a:p>
        </p:txBody>
      </p:sp>
      <p:sp>
        <p:nvSpPr>
          <p:cNvPr id="17" name="Text 15"/>
          <p:cNvSpPr txBox="1"/>
          <p:nvPr/>
        </p:nvSpPr>
        <p:spPr>
          <a:xfrm>
            <a:off x="4245864"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Jan 27</a:t>
            </a:r>
            <a:endParaRPr lang="en-US" sz="1000" dirty="0"/>
          </a:p>
        </p:txBody>
      </p:sp>
      <p:sp>
        <p:nvSpPr>
          <p:cNvPr id="18" name="Text 16"/>
          <p:cNvSpPr txBox="1"/>
          <p:nvPr/>
        </p:nvSpPr>
        <p:spPr>
          <a:xfrm>
            <a:off x="5478272"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Feb</a:t>
            </a:r>
            <a:endParaRPr lang="en-US" sz="1000" dirty="0"/>
          </a:p>
        </p:txBody>
      </p:sp>
      <p:sp>
        <p:nvSpPr>
          <p:cNvPr id="19" name="Text 17"/>
          <p:cNvSpPr txBox="1"/>
          <p:nvPr/>
        </p:nvSpPr>
        <p:spPr>
          <a:xfrm>
            <a:off x="6710680"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Mar</a:t>
            </a:r>
            <a:endParaRPr lang="en-US" sz="1000" dirty="0"/>
          </a:p>
        </p:txBody>
      </p:sp>
      <p:sp>
        <p:nvSpPr>
          <p:cNvPr id="20" name="Text 18"/>
          <p:cNvSpPr txBox="1"/>
          <p:nvPr/>
        </p:nvSpPr>
        <p:spPr>
          <a:xfrm>
            <a:off x="7943088"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Apr</a:t>
            </a:r>
            <a:endParaRPr lang="en-US" sz="1000" dirty="0"/>
          </a:p>
        </p:txBody>
      </p:sp>
      <p:sp>
        <p:nvSpPr>
          <p:cNvPr id="21" name="Text 19"/>
          <p:cNvSpPr txBox="1"/>
          <p:nvPr/>
        </p:nvSpPr>
        <p:spPr>
          <a:xfrm>
            <a:off x="9175496"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May</a:t>
            </a:r>
            <a:endParaRPr lang="en-US" sz="1000" dirty="0"/>
          </a:p>
        </p:txBody>
      </p:sp>
      <p:sp>
        <p:nvSpPr>
          <p:cNvPr id="22" name="Text 20"/>
          <p:cNvSpPr txBox="1"/>
          <p:nvPr/>
        </p:nvSpPr>
        <p:spPr>
          <a:xfrm>
            <a:off x="10407904" y="2770632"/>
            <a:ext cx="1232408" cy="228600"/>
          </a:xfrm>
          <a:prstGeom prst="rect">
            <a:avLst/>
          </a:prstGeom>
          <a:noFill/>
          <a:ln/>
        </p:spPr>
        <p:txBody>
          <a:bodyPr wrap="square" lIns="0" tIns="0" rIns="0" bIns="0" rtlCol="0" anchor="t"/>
          <a:lstStyle/>
          <a:p>
            <a:pPr indent="0" marL="0">
              <a:buNone/>
            </a:pPr>
            <a:r>
              <a:rPr lang="en-US" sz="1000" dirty="0">
                <a:solidFill>
                  <a:schemeClr val="tx2"/>
                </a:solidFill>
              </a:rPr>
              <a:t>Jun</a:t>
            </a:r>
            <a:endParaRPr lang="en-US" sz="1000" dirty="0"/>
          </a:p>
        </p:txBody>
      </p:sp>
      <p:sp>
        <p:nvSpPr>
          <p:cNvPr id="23" name="Shape 21"/>
          <p:cNvSpPr/>
          <p:nvPr/>
        </p:nvSpPr>
        <p:spPr>
          <a:xfrm>
            <a:off x="2817063" y="3108960"/>
            <a:ext cx="146304" cy="146304"/>
          </a:xfrm>
          <a:prstGeom prst="ellipse">
            <a:avLst/>
          </a:prstGeom>
          <a:solidFill>
            <a:srgbClr val="F2542D"/>
          </a:solidFill>
          <a:ln w="12700">
            <a:solidFill>
              <a:srgbClr val="F2542D"/>
            </a:solidFill>
            <a:prstDash val="solid"/>
          </a:ln>
        </p:spPr>
      </p:sp>
      <p:sp>
        <p:nvSpPr>
          <p:cNvPr id="24" name="Text 22"/>
          <p:cNvSpPr txBox="1"/>
          <p:nvPr/>
        </p:nvSpPr>
        <p:spPr>
          <a:xfrm>
            <a:off x="2433015" y="3291840"/>
            <a:ext cx="914400" cy="228600"/>
          </a:xfrm>
          <a:prstGeom prst="rect">
            <a:avLst/>
          </a:prstGeom>
          <a:noFill/>
          <a:ln/>
        </p:spPr>
        <p:txBody>
          <a:bodyPr wrap="square" lIns="0" tIns="0" rIns="0" bIns="0" rtlCol="0" anchor="t"/>
          <a:lstStyle/>
          <a:p>
            <a:pPr algn="ctr" indent="0" marL="0">
              <a:buNone/>
            </a:pPr>
            <a:r>
              <a:rPr lang="en-US" sz="1100" b="1" dirty="0">
                <a:solidFill>
                  <a:schemeClr val="tx1"/>
                </a:solidFill>
              </a:rPr>
              <a:t>G1</a:t>
            </a:r>
            <a:endParaRPr lang="en-US" sz="1100" dirty="0"/>
          </a:p>
        </p:txBody>
      </p:sp>
      <p:sp>
        <p:nvSpPr>
          <p:cNvPr id="25" name="Text 23"/>
          <p:cNvSpPr txBox="1"/>
          <p:nvPr/>
        </p:nvSpPr>
        <p:spPr>
          <a:xfrm>
            <a:off x="2433015" y="3502152"/>
            <a:ext cx="914400" cy="228600"/>
          </a:xfrm>
          <a:prstGeom prst="rect">
            <a:avLst/>
          </a:prstGeom>
          <a:noFill/>
          <a:ln/>
        </p:spPr>
        <p:txBody>
          <a:bodyPr wrap="square" lIns="0" tIns="0" rIns="0" bIns="0" rtlCol="0" anchor="t"/>
          <a:lstStyle/>
          <a:p>
            <a:pPr algn="ctr" indent="0" marL="0">
              <a:buNone/>
            </a:pPr>
            <a:r>
              <a:rPr lang="en-US" sz="1000" dirty="0">
                <a:solidFill>
                  <a:schemeClr val="tx2"/>
                </a:solidFill>
              </a:rPr>
              <a:t>27 Nov</a:t>
            </a:r>
            <a:endParaRPr lang="en-US" sz="1000" dirty="0"/>
          </a:p>
        </p:txBody>
      </p:sp>
      <p:sp>
        <p:nvSpPr>
          <p:cNvPr id="26" name="Shape 24"/>
          <p:cNvSpPr/>
          <p:nvPr/>
        </p:nvSpPr>
        <p:spPr>
          <a:xfrm>
            <a:off x="4480814" y="3108960"/>
            <a:ext cx="146304" cy="146304"/>
          </a:xfrm>
          <a:prstGeom prst="ellipse">
            <a:avLst/>
          </a:prstGeom>
          <a:solidFill>
            <a:srgbClr val="F2542D"/>
          </a:solidFill>
          <a:ln w="12700">
            <a:solidFill>
              <a:srgbClr val="F2542D"/>
            </a:solidFill>
            <a:prstDash val="solid"/>
          </a:ln>
        </p:spPr>
      </p:sp>
      <p:sp>
        <p:nvSpPr>
          <p:cNvPr id="27" name="Text 25"/>
          <p:cNvSpPr txBox="1"/>
          <p:nvPr/>
        </p:nvSpPr>
        <p:spPr>
          <a:xfrm>
            <a:off x="4096766" y="3291840"/>
            <a:ext cx="914400" cy="228600"/>
          </a:xfrm>
          <a:prstGeom prst="rect">
            <a:avLst/>
          </a:prstGeom>
          <a:noFill/>
          <a:ln/>
        </p:spPr>
        <p:txBody>
          <a:bodyPr wrap="square" lIns="0" tIns="0" rIns="0" bIns="0" rtlCol="0" anchor="t"/>
          <a:lstStyle/>
          <a:p>
            <a:pPr algn="ctr" indent="0" marL="0">
              <a:buNone/>
            </a:pPr>
            <a:r>
              <a:rPr lang="en-US" sz="1100" b="1" dirty="0">
                <a:solidFill>
                  <a:schemeClr val="tx1"/>
                </a:solidFill>
              </a:rPr>
              <a:t>G2</a:t>
            </a:r>
            <a:endParaRPr lang="en-US" sz="1100" dirty="0"/>
          </a:p>
        </p:txBody>
      </p:sp>
      <p:sp>
        <p:nvSpPr>
          <p:cNvPr id="28" name="Text 26"/>
          <p:cNvSpPr txBox="1"/>
          <p:nvPr/>
        </p:nvSpPr>
        <p:spPr>
          <a:xfrm>
            <a:off x="4096766" y="3502152"/>
            <a:ext cx="914400" cy="228600"/>
          </a:xfrm>
          <a:prstGeom prst="rect">
            <a:avLst/>
          </a:prstGeom>
          <a:noFill/>
          <a:ln/>
        </p:spPr>
        <p:txBody>
          <a:bodyPr wrap="square" lIns="0" tIns="0" rIns="0" bIns="0" rtlCol="0" anchor="t"/>
          <a:lstStyle/>
          <a:p>
            <a:pPr algn="ctr" indent="0" marL="0">
              <a:buNone/>
            </a:pPr>
            <a:r>
              <a:rPr lang="en-US" sz="1000" dirty="0">
                <a:solidFill>
                  <a:schemeClr val="tx2"/>
                </a:solidFill>
              </a:rPr>
              <a:t>8 Jan</a:t>
            </a:r>
            <a:endParaRPr lang="en-US" sz="1000" dirty="0"/>
          </a:p>
        </p:txBody>
      </p:sp>
      <p:sp>
        <p:nvSpPr>
          <p:cNvPr id="29" name="Shape 27"/>
          <p:cNvSpPr/>
          <p:nvPr/>
        </p:nvSpPr>
        <p:spPr>
          <a:xfrm>
            <a:off x="7931556" y="3108960"/>
            <a:ext cx="146304" cy="146304"/>
          </a:xfrm>
          <a:prstGeom prst="ellipse">
            <a:avLst/>
          </a:prstGeom>
          <a:solidFill>
            <a:srgbClr val="F2542D"/>
          </a:solidFill>
          <a:ln w="12700">
            <a:solidFill>
              <a:srgbClr val="F2542D"/>
            </a:solidFill>
            <a:prstDash val="solid"/>
          </a:ln>
        </p:spPr>
      </p:sp>
      <p:sp>
        <p:nvSpPr>
          <p:cNvPr id="30" name="Text 28"/>
          <p:cNvSpPr txBox="1"/>
          <p:nvPr/>
        </p:nvSpPr>
        <p:spPr>
          <a:xfrm>
            <a:off x="7547508" y="3291840"/>
            <a:ext cx="914400" cy="228600"/>
          </a:xfrm>
          <a:prstGeom prst="rect">
            <a:avLst/>
          </a:prstGeom>
          <a:noFill/>
          <a:ln/>
        </p:spPr>
        <p:txBody>
          <a:bodyPr wrap="square" lIns="0" tIns="0" rIns="0" bIns="0" rtlCol="0" anchor="t"/>
          <a:lstStyle/>
          <a:p>
            <a:pPr algn="ctr" indent="0" marL="0">
              <a:buNone/>
            </a:pPr>
            <a:r>
              <a:rPr lang="en-US" sz="1100" b="1" dirty="0">
                <a:solidFill>
                  <a:schemeClr val="tx1"/>
                </a:solidFill>
              </a:rPr>
              <a:t>Alpha</a:t>
            </a:r>
            <a:endParaRPr lang="en-US" sz="1100" dirty="0"/>
          </a:p>
        </p:txBody>
      </p:sp>
      <p:sp>
        <p:nvSpPr>
          <p:cNvPr id="31" name="Text 29"/>
          <p:cNvSpPr txBox="1"/>
          <p:nvPr/>
        </p:nvSpPr>
        <p:spPr>
          <a:xfrm>
            <a:off x="7547508" y="3502152"/>
            <a:ext cx="914400" cy="228600"/>
          </a:xfrm>
          <a:prstGeom prst="rect">
            <a:avLst/>
          </a:prstGeom>
          <a:noFill/>
          <a:ln/>
        </p:spPr>
        <p:txBody>
          <a:bodyPr wrap="square" lIns="0" tIns="0" rIns="0" bIns="0" rtlCol="0" anchor="t"/>
          <a:lstStyle/>
          <a:p>
            <a:pPr algn="ctr" indent="0" marL="0">
              <a:buNone/>
            </a:pPr>
            <a:r>
              <a:rPr lang="en-US" sz="1000" dirty="0">
                <a:solidFill>
                  <a:schemeClr val="tx2"/>
                </a:solidFill>
              </a:rPr>
              <a:t>2 Apr</a:t>
            </a:r>
            <a:endParaRPr lang="en-US" sz="1000" dirty="0"/>
          </a:p>
        </p:txBody>
      </p:sp>
      <p:sp>
        <p:nvSpPr>
          <p:cNvPr id="32" name="Shape 30"/>
          <p:cNvSpPr/>
          <p:nvPr/>
        </p:nvSpPr>
        <p:spPr>
          <a:xfrm>
            <a:off x="9040724" y="3108960"/>
            <a:ext cx="146304" cy="146304"/>
          </a:xfrm>
          <a:prstGeom prst="ellipse">
            <a:avLst/>
          </a:prstGeom>
          <a:solidFill>
            <a:srgbClr val="F2542D"/>
          </a:solidFill>
          <a:ln w="12700">
            <a:solidFill>
              <a:srgbClr val="F2542D"/>
            </a:solidFill>
            <a:prstDash val="solid"/>
          </a:ln>
        </p:spPr>
      </p:sp>
      <p:sp>
        <p:nvSpPr>
          <p:cNvPr id="33" name="Text 31"/>
          <p:cNvSpPr txBox="1"/>
          <p:nvPr/>
        </p:nvSpPr>
        <p:spPr>
          <a:xfrm>
            <a:off x="8656676" y="3291840"/>
            <a:ext cx="914400" cy="228600"/>
          </a:xfrm>
          <a:prstGeom prst="rect">
            <a:avLst/>
          </a:prstGeom>
          <a:noFill/>
          <a:ln/>
        </p:spPr>
        <p:txBody>
          <a:bodyPr wrap="square" lIns="0" tIns="0" rIns="0" bIns="0" rtlCol="0" anchor="t"/>
          <a:lstStyle/>
          <a:p>
            <a:pPr algn="ctr" indent="0" marL="0">
              <a:buNone/>
            </a:pPr>
            <a:r>
              <a:rPr lang="en-US" sz="1100" b="1" dirty="0">
                <a:solidFill>
                  <a:schemeClr val="tx1"/>
                </a:solidFill>
              </a:rPr>
              <a:t>G3</a:t>
            </a:r>
            <a:endParaRPr lang="en-US" sz="1100" dirty="0"/>
          </a:p>
        </p:txBody>
      </p:sp>
      <p:sp>
        <p:nvSpPr>
          <p:cNvPr id="34" name="Text 32"/>
          <p:cNvSpPr txBox="1"/>
          <p:nvPr/>
        </p:nvSpPr>
        <p:spPr>
          <a:xfrm>
            <a:off x="8656676" y="3502152"/>
            <a:ext cx="914400" cy="228600"/>
          </a:xfrm>
          <a:prstGeom prst="rect">
            <a:avLst/>
          </a:prstGeom>
          <a:noFill/>
          <a:ln/>
        </p:spPr>
        <p:txBody>
          <a:bodyPr wrap="square" lIns="0" tIns="0" rIns="0" bIns="0" rtlCol="0" anchor="t"/>
          <a:lstStyle/>
          <a:p>
            <a:pPr algn="ctr" indent="0" marL="0">
              <a:buNone/>
            </a:pPr>
            <a:r>
              <a:rPr lang="en-US" sz="1000" dirty="0">
                <a:solidFill>
                  <a:schemeClr val="tx2"/>
                </a:solidFill>
              </a:rPr>
              <a:t>30 Apr</a:t>
            </a:r>
            <a:endParaRPr lang="en-US" sz="1000" dirty="0"/>
          </a:p>
        </p:txBody>
      </p:sp>
      <p:sp>
        <p:nvSpPr>
          <p:cNvPr id="35" name="Shape 33"/>
          <p:cNvSpPr/>
          <p:nvPr/>
        </p:nvSpPr>
        <p:spPr>
          <a:xfrm>
            <a:off x="10211511" y="3108960"/>
            <a:ext cx="146304" cy="146304"/>
          </a:xfrm>
          <a:prstGeom prst="ellipse">
            <a:avLst/>
          </a:prstGeom>
          <a:solidFill>
            <a:srgbClr val="F2542D"/>
          </a:solidFill>
          <a:ln w="12700">
            <a:solidFill>
              <a:srgbClr val="F2542D"/>
            </a:solidFill>
            <a:prstDash val="solid"/>
          </a:ln>
        </p:spPr>
      </p:sp>
      <p:sp>
        <p:nvSpPr>
          <p:cNvPr id="36" name="Text 34"/>
          <p:cNvSpPr txBox="1"/>
          <p:nvPr/>
        </p:nvSpPr>
        <p:spPr>
          <a:xfrm>
            <a:off x="9827463" y="3291840"/>
            <a:ext cx="914400" cy="228600"/>
          </a:xfrm>
          <a:prstGeom prst="rect">
            <a:avLst/>
          </a:prstGeom>
          <a:noFill/>
          <a:ln/>
        </p:spPr>
        <p:txBody>
          <a:bodyPr wrap="square" lIns="0" tIns="0" rIns="0" bIns="0" rtlCol="0" anchor="t"/>
          <a:lstStyle/>
          <a:p>
            <a:pPr algn="ctr" indent="0" marL="0">
              <a:buNone/>
            </a:pPr>
            <a:r>
              <a:rPr lang="en-US" sz="1100" b="1" dirty="0">
                <a:solidFill>
                  <a:schemeClr val="tx1"/>
                </a:solidFill>
              </a:rPr>
              <a:t>G4</a:t>
            </a:r>
            <a:endParaRPr lang="en-US" sz="1100" dirty="0"/>
          </a:p>
        </p:txBody>
      </p:sp>
      <p:sp>
        <p:nvSpPr>
          <p:cNvPr id="37" name="Text 35"/>
          <p:cNvSpPr txBox="1"/>
          <p:nvPr/>
        </p:nvSpPr>
        <p:spPr>
          <a:xfrm>
            <a:off x="9827463" y="3502152"/>
            <a:ext cx="914400" cy="228600"/>
          </a:xfrm>
          <a:prstGeom prst="rect">
            <a:avLst/>
          </a:prstGeom>
          <a:noFill/>
          <a:ln/>
        </p:spPr>
        <p:txBody>
          <a:bodyPr wrap="square" lIns="0" tIns="0" rIns="0" bIns="0" rtlCol="0" anchor="t"/>
          <a:lstStyle/>
          <a:p>
            <a:pPr algn="ctr" indent="0" marL="0">
              <a:buNone/>
            </a:pPr>
            <a:r>
              <a:rPr lang="en-US" sz="1000" dirty="0">
                <a:solidFill>
                  <a:schemeClr val="tx2"/>
                </a:solidFill>
              </a:rPr>
              <a:t>28 May</a:t>
            </a:r>
            <a:endParaRPr lang="en-US" sz="1000" dirty="0"/>
          </a:p>
        </p:txBody>
      </p:sp>
      <p:sp>
        <p:nvSpPr>
          <p:cNvPr id="38" name="Shape 36"/>
          <p:cNvSpPr/>
          <p:nvPr/>
        </p:nvSpPr>
        <p:spPr>
          <a:xfrm>
            <a:off x="10889336" y="3108960"/>
            <a:ext cx="146304" cy="146304"/>
          </a:xfrm>
          <a:prstGeom prst="ellipse">
            <a:avLst/>
          </a:prstGeom>
          <a:solidFill>
            <a:srgbClr val="F2542D"/>
          </a:solidFill>
          <a:ln w="12700">
            <a:solidFill>
              <a:srgbClr val="F2542D"/>
            </a:solidFill>
            <a:prstDash val="solid"/>
          </a:ln>
        </p:spPr>
      </p:sp>
      <p:sp>
        <p:nvSpPr>
          <p:cNvPr id="39" name="Text 37"/>
          <p:cNvSpPr txBox="1"/>
          <p:nvPr/>
        </p:nvSpPr>
        <p:spPr>
          <a:xfrm>
            <a:off x="10505288" y="3291840"/>
            <a:ext cx="914400" cy="228600"/>
          </a:xfrm>
          <a:prstGeom prst="rect">
            <a:avLst/>
          </a:prstGeom>
          <a:noFill/>
          <a:ln/>
        </p:spPr>
        <p:txBody>
          <a:bodyPr wrap="square" lIns="0" tIns="0" rIns="0" bIns="0" rtlCol="0" anchor="t"/>
          <a:lstStyle/>
          <a:p>
            <a:pPr algn="ctr" indent="0" marL="0">
              <a:buNone/>
            </a:pPr>
            <a:r>
              <a:rPr lang="en-US" sz="1100" b="1" dirty="0">
                <a:solidFill>
                  <a:schemeClr val="tx1"/>
                </a:solidFill>
              </a:rPr>
              <a:t>Launch</a:t>
            </a:r>
            <a:endParaRPr lang="en-US" sz="1100" dirty="0"/>
          </a:p>
        </p:txBody>
      </p:sp>
      <p:sp>
        <p:nvSpPr>
          <p:cNvPr id="40" name="Text 38"/>
          <p:cNvSpPr txBox="1"/>
          <p:nvPr/>
        </p:nvSpPr>
        <p:spPr>
          <a:xfrm>
            <a:off x="10505288" y="3502152"/>
            <a:ext cx="914400" cy="228600"/>
          </a:xfrm>
          <a:prstGeom prst="rect">
            <a:avLst/>
          </a:prstGeom>
          <a:noFill/>
          <a:ln/>
        </p:spPr>
        <p:txBody>
          <a:bodyPr wrap="square" lIns="0" tIns="0" rIns="0" bIns="0" rtlCol="0" anchor="t"/>
          <a:lstStyle/>
          <a:p>
            <a:pPr algn="ctr" indent="0" marL="0">
              <a:buNone/>
            </a:pPr>
            <a:r>
              <a:rPr lang="en-US" sz="1000" dirty="0">
                <a:solidFill>
                  <a:schemeClr val="tx2"/>
                </a:solidFill>
              </a:rPr>
              <a:t>14 Jun</a:t>
            </a:r>
            <a:endParaRPr lang="en-US" sz="1000" dirty="0"/>
          </a:p>
        </p:txBody>
      </p:sp>
      <p:sp>
        <p:nvSpPr>
          <p:cNvPr id="41" name="in"/>
          <p:cNvSpPr/>
          <p:nvPr/>
        </p:nvSpPr>
        <p:spPr>
          <a:xfrm>
            <a:off x="548640" y="4023360"/>
            <a:ext cx="5394960" cy="2011680"/>
          </a:xfrm>
          <a:prstGeom prst="roundRect">
            <a:avLst>
              <a:gd name="adj" fmla="val 5455"/>
            </a:avLst>
          </a:prstGeom>
          <a:solidFill>
            <a:schemeClr val="bg1"/>
          </a:solidFill>
          <a:ln w="12700">
            <a:solidFill>
              <a:schemeClr val="bg1"/>
            </a:solidFill>
            <a:prstDash val="solid"/>
          </a:ln>
        </p:spPr>
      </p:sp>
      <p:sp>
        <p:nvSpPr>
          <p:cNvPr id="42" name="Text 40"/>
          <p:cNvSpPr txBox="1"/>
          <p:nvPr/>
        </p:nvSpPr>
        <p:spPr>
          <a:xfrm>
            <a:off x="822960" y="4160520"/>
            <a:ext cx="484632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IN THE MVP</a:t>
            </a:r>
            <a:endParaRPr lang="en-US" sz="1100" dirty="0"/>
          </a:p>
        </p:txBody>
      </p:sp>
      <p:sp>
        <p:nvSpPr>
          <p:cNvPr id="43" name="Text 41"/>
          <p:cNvSpPr txBox="1"/>
          <p:nvPr/>
        </p:nvSpPr>
        <p:spPr>
          <a:xfrm>
            <a:off x="822960" y="4434840"/>
            <a:ext cx="4937760" cy="15087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Germany, German and English, on web and mobile browsers</a:t>
            </a:r>
            <a:endParaRPr lang="en-US" sz="1300" dirty="0"/>
          </a:p>
          <a:p>
            <a:pPr marL="342900" indent="-342900">
              <a:spcAft>
                <a:spcPts val="400"/>
              </a:spcAft>
              <a:buSzPct val="100000"/>
              <a:buChar char="•"/>
            </a:pPr>
            <a:r>
              <a:rPr lang="en-US" sz="1300" dirty="0">
                <a:solidFill>
                  <a:schemeClr val="tx1"/>
                </a:solidFill>
              </a:rPr>
              <a:t>Bundesagentur für Arbeit public job lists, no scraping</a:t>
            </a:r>
            <a:endParaRPr lang="en-US" sz="1300" dirty="0"/>
          </a:p>
          <a:p>
            <a:pPr marL="342900" indent="-342900">
              <a:spcAft>
                <a:spcPts val="400"/>
              </a:spcAft>
              <a:buSzPct val="100000"/>
              <a:buChar char="•"/>
            </a:pPr>
            <a:r>
              <a:rPr lang="en-US" sz="1300" dirty="0">
                <a:solidFill>
                  <a:schemeClr val="tx1"/>
                </a:solidFill>
              </a:rPr>
              <a:t>Explained matching, reviewed CV and cover letter, history</a:t>
            </a:r>
            <a:endParaRPr lang="en-US" sz="1300" dirty="0"/>
          </a:p>
          <a:p>
            <a:pPr marL="342900" indent="-342900">
              <a:spcAft>
                <a:spcPts val="400"/>
              </a:spcAft>
              <a:buSzPct val="100000"/>
              <a:buChar char="•"/>
            </a:pPr>
            <a:r>
              <a:rPr lang="en-US" sz="1300" dirty="0">
                <a:solidFill>
                  <a:schemeClr val="tx1"/>
                </a:solidFill>
              </a:rPr>
              <a:t>Invitation-only headhunter pilot</a:t>
            </a:r>
            <a:endParaRPr lang="en-US" sz="1300" dirty="0"/>
          </a:p>
        </p:txBody>
      </p:sp>
      <p:sp>
        <p:nvSpPr>
          <p:cNvPr id="44" name="out"/>
          <p:cNvSpPr/>
          <p:nvPr/>
        </p:nvSpPr>
        <p:spPr>
          <a:xfrm>
            <a:off x="6245352" y="4023360"/>
            <a:ext cx="5394960" cy="2011680"/>
          </a:xfrm>
          <a:prstGeom prst="roundRect">
            <a:avLst>
              <a:gd name="adj" fmla="val 5455"/>
            </a:avLst>
          </a:prstGeom>
          <a:solidFill>
            <a:schemeClr val="bg1"/>
          </a:solidFill>
          <a:ln w="12700">
            <a:solidFill>
              <a:schemeClr val="bg1"/>
            </a:solidFill>
            <a:prstDash val="solid"/>
          </a:ln>
        </p:spPr>
      </p:sp>
      <p:sp>
        <p:nvSpPr>
          <p:cNvPr id="45" name="Text 43"/>
          <p:cNvSpPr txBox="1"/>
          <p:nvPr/>
        </p:nvSpPr>
        <p:spPr>
          <a:xfrm>
            <a:off x="6519672" y="4160520"/>
            <a:ext cx="48463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NEVER, AT ANY STAGE</a:t>
            </a:r>
            <a:endParaRPr lang="en-US" sz="1100" dirty="0"/>
          </a:p>
        </p:txBody>
      </p:sp>
      <p:sp>
        <p:nvSpPr>
          <p:cNvPr id="46" name="Text 44"/>
          <p:cNvSpPr txBox="1"/>
          <p:nvPr/>
        </p:nvSpPr>
        <p:spPr>
          <a:xfrm>
            <a:off x="6519672" y="4434840"/>
            <a:ext cx="4937760" cy="15087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Auto-apply or bulk applications</a:t>
            </a:r>
            <a:endParaRPr lang="en-US" sz="1300" dirty="0"/>
          </a:p>
          <a:p>
            <a:pPr marL="342900" indent="-342900">
              <a:spcAft>
                <a:spcPts val="400"/>
              </a:spcAft>
              <a:buSzPct val="100000"/>
              <a:buChar char="•"/>
            </a:pPr>
            <a:r>
              <a:rPr lang="en-US" sz="1300" dirty="0">
                <a:solidFill>
                  <a:schemeClr val="tx1"/>
                </a:solidFill>
              </a:rPr>
              <a:t>Paid boosts or earlier alerts that change the ranking</a:t>
            </a:r>
            <a:endParaRPr lang="en-US" sz="1300" dirty="0"/>
          </a:p>
          <a:p>
            <a:pPr marL="342900" indent="-342900">
              <a:spcAft>
                <a:spcPts val="400"/>
              </a:spcAft>
              <a:buSzPct val="100000"/>
              <a:buChar char="•"/>
            </a:pPr>
            <a:r>
              <a:rPr lang="en-US" sz="1300" dirty="0">
                <a:solidFill>
                  <a:schemeClr val="tx1"/>
                </a:solidFill>
              </a:rPr>
              <a:t>Sharing a CV without the candidate's approval</a:t>
            </a:r>
            <a:endParaRPr lang="en-US" sz="1300" dirty="0"/>
          </a:p>
          <a:p>
            <a:pPr marL="342900" indent="-342900">
              <a:spcAft>
                <a:spcPts val="400"/>
              </a:spcAft>
              <a:buSzPct val="100000"/>
              <a:buChar char="•"/>
            </a:pPr>
            <a:r>
              <a:rPr lang="en-US" sz="1300" dirty="0">
                <a:solidFill>
                  <a:schemeClr val="tx1"/>
                </a:solidFill>
              </a:rPr>
              <a:t>Automatic hiring or rejection decisions</a:t>
            </a:r>
            <a:endParaRPr lang="en-US" sz="1300" dirty="0"/>
          </a:p>
        </p:txBody>
      </p:sp>
      <p:sp>
        <p:nvSpPr>
          <p:cNvPr id="47" name="Text 45"/>
          <p:cNvSpPr txBox="1"/>
          <p:nvPr/>
        </p:nvSpPr>
        <p:spPr>
          <a:xfrm>
            <a:off x="548640" y="6108192"/>
            <a:ext cx="10058400" cy="228600"/>
          </a:xfrm>
          <a:prstGeom prst="rect">
            <a:avLst/>
          </a:prstGeom>
          <a:noFill/>
          <a:ln/>
        </p:spPr>
        <p:txBody>
          <a:bodyPr wrap="square" lIns="0" tIns="0" rIns="0" bIns="0" rtlCol="0" anchor="t"/>
          <a:lstStyle/>
          <a:p>
            <a:pPr indent="0" marL="0">
              <a:buNone/>
            </a:pPr>
            <a:r>
              <a:rPr lang="en-US" sz="1000" dirty="0">
                <a:solidFill>
                  <a:schemeClr val="tx2"/>
                </a:solidFill>
              </a:rPr>
              <a:t>After launch: employer login (job ads, talent search, partner feeds), credit top-ups, then a second market · Team: 2 eng., 1 ML, 1 PM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SUCCESS METRICS</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The score has to predict interviews</a:t>
            </a:r>
            <a:endParaRPr lang="en-US" sz="3200" dirty="0"/>
          </a:p>
        </p:txBody>
      </p:sp>
      <p:sp>
        <p:nvSpPr>
          <p:cNvPr id="4" name="metric"/>
          <p:cNvSpPr/>
          <p:nvPr/>
        </p:nvSpPr>
        <p:spPr>
          <a:xfrm>
            <a:off x="548640" y="2194560"/>
            <a:ext cx="2633472" cy="2743200"/>
          </a:xfrm>
          <a:prstGeom prst="roundRect">
            <a:avLst>
              <a:gd name="adj" fmla="val 4167"/>
            </a:avLst>
          </a:prstGeom>
          <a:solidFill>
            <a:srgbClr val="F2542D"/>
          </a:solidFill>
          <a:ln w="12700">
            <a:solidFill>
              <a:srgbClr val="F2542D"/>
            </a:solidFill>
            <a:prstDash val="solid"/>
          </a:ln>
        </p:spPr>
      </p:sp>
      <p:sp>
        <p:nvSpPr>
          <p:cNvPr id="5" name="Text 3"/>
          <p:cNvSpPr txBox="1"/>
          <p:nvPr/>
        </p:nvSpPr>
        <p:spPr>
          <a:xfrm>
            <a:off x="777240" y="2423160"/>
            <a:ext cx="2194560" cy="1005840"/>
          </a:xfrm>
          <a:prstGeom prst="rect">
            <a:avLst/>
          </a:prstGeom>
          <a:noFill/>
          <a:ln/>
        </p:spPr>
        <p:txBody>
          <a:bodyPr wrap="square" lIns="0" tIns="0" rIns="0" bIns="0" rtlCol="0" anchor="ctr"/>
          <a:lstStyle/>
          <a:p>
            <a:pPr indent="0" marL="0">
              <a:buNone/>
            </a:pPr>
            <a:r>
              <a:rPr lang="en-US" sz="4400" b="1" dirty="0">
                <a:solidFill>
                  <a:schemeClr val="bg1"/>
                </a:solidFill>
              </a:rPr>
              <a:t>2×</a:t>
            </a:r>
            <a:endParaRPr lang="en-US" sz="4400" dirty="0"/>
          </a:p>
        </p:txBody>
      </p:sp>
      <p:sp>
        <p:nvSpPr>
          <p:cNvPr id="6" name="Text 4"/>
          <p:cNvSpPr txBox="1"/>
          <p:nvPr/>
        </p:nvSpPr>
        <p:spPr>
          <a:xfrm>
            <a:off x="777240" y="3566160"/>
            <a:ext cx="2194560" cy="1188720"/>
          </a:xfrm>
          <a:prstGeom prst="rect">
            <a:avLst/>
          </a:prstGeom>
          <a:noFill/>
          <a:ln/>
        </p:spPr>
        <p:txBody>
          <a:bodyPr wrap="square" lIns="0" tIns="0" rIns="0" bIns="0" rtlCol="0" anchor="t"/>
          <a:lstStyle/>
          <a:p>
            <a:pPr indent="0" marL="0">
              <a:buNone/>
            </a:pPr>
            <a:r>
              <a:rPr lang="en-US" sz="1500" dirty="0">
                <a:solidFill>
                  <a:schemeClr val="bg1"/>
                </a:solidFill>
              </a:rPr>
              <a:t>interview rate for applications in the ≥ 90% band vs. &lt; 70%</a:t>
            </a:r>
            <a:endParaRPr lang="en-US" sz="1500" dirty="0"/>
          </a:p>
        </p:txBody>
      </p:sp>
      <p:sp>
        <p:nvSpPr>
          <p:cNvPr id="7" name="metric"/>
          <p:cNvSpPr/>
          <p:nvPr/>
        </p:nvSpPr>
        <p:spPr>
          <a:xfrm>
            <a:off x="3364992" y="2194560"/>
            <a:ext cx="2633472" cy="2743200"/>
          </a:xfrm>
          <a:prstGeom prst="roundRect">
            <a:avLst>
              <a:gd name="adj" fmla="val 4167"/>
            </a:avLst>
          </a:prstGeom>
          <a:solidFill>
            <a:srgbClr val="163A63"/>
          </a:solidFill>
          <a:ln w="12700">
            <a:solidFill>
              <a:srgbClr val="163A63"/>
            </a:solidFill>
            <a:prstDash val="solid"/>
          </a:ln>
        </p:spPr>
      </p:sp>
      <p:sp>
        <p:nvSpPr>
          <p:cNvPr id="8" name="Text 6"/>
          <p:cNvSpPr txBox="1"/>
          <p:nvPr/>
        </p:nvSpPr>
        <p:spPr>
          <a:xfrm>
            <a:off x="3593592" y="2423160"/>
            <a:ext cx="2194560" cy="1005840"/>
          </a:xfrm>
          <a:prstGeom prst="rect">
            <a:avLst/>
          </a:prstGeom>
          <a:noFill/>
          <a:ln/>
        </p:spPr>
        <p:txBody>
          <a:bodyPr wrap="square" lIns="0" tIns="0" rIns="0" bIns="0" rtlCol="0" anchor="ctr"/>
          <a:lstStyle/>
          <a:p>
            <a:pPr indent="0" marL="0">
              <a:buNone/>
            </a:pPr>
            <a:r>
              <a:rPr lang="en-US" sz="4400" b="1" dirty="0">
                <a:solidFill>
                  <a:schemeClr val="bg1"/>
                </a:solidFill>
              </a:rPr>
              <a:t>≥ 90%</a:t>
            </a:r>
            <a:endParaRPr lang="en-US" sz="4400" dirty="0"/>
          </a:p>
        </p:txBody>
      </p:sp>
      <p:sp>
        <p:nvSpPr>
          <p:cNvPr id="9" name="Text 7"/>
          <p:cNvSpPr txBox="1"/>
          <p:nvPr/>
        </p:nvSpPr>
        <p:spPr>
          <a:xfrm>
            <a:off x="3593592" y="3566160"/>
            <a:ext cx="2194560" cy="1188720"/>
          </a:xfrm>
          <a:prstGeom prst="rect">
            <a:avLst/>
          </a:prstGeom>
          <a:noFill/>
          <a:ln/>
        </p:spPr>
        <p:txBody>
          <a:bodyPr wrap="square" lIns="0" tIns="0" rIns="0" bIns="0" rtlCol="0" anchor="t"/>
          <a:lstStyle/>
          <a:p>
            <a:pPr indent="0" marL="0">
              <a:buNone/>
            </a:pPr>
            <a:r>
              <a:rPr lang="en-US" sz="1500" dirty="0">
                <a:solidFill>
                  <a:schemeClr val="accent4"/>
                </a:solidFill>
              </a:rPr>
              <a:t>of matches rated accurate by users</a:t>
            </a:r>
            <a:endParaRPr lang="en-US" sz="1500" dirty="0"/>
          </a:p>
        </p:txBody>
      </p:sp>
      <p:sp>
        <p:nvSpPr>
          <p:cNvPr id="10" name="metric"/>
          <p:cNvSpPr/>
          <p:nvPr/>
        </p:nvSpPr>
        <p:spPr>
          <a:xfrm>
            <a:off x="6181344" y="2194560"/>
            <a:ext cx="2633472" cy="2743200"/>
          </a:xfrm>
          <a:prstGeom prst="roundRect">
            <a:avLst>
              <a:gd name="adj" fmla="val 4167"/>
            </a:avLst>
          </a:prstGeom>
          <a:solidFill>
            <a:srgbClr val="163A63"/>
          </a:solidFill>
          <a:ln w="12700">
            <a:solidFill>
              <a:srgbClr val="163A63"/>
            </a:solidFill>
            <a:prstDash val="solid"/>
          </a:ln>
        </p:spPr>
      </p:sp>
      <p:sp>
        <p:nvSpPr>
          <p:cNvPr id="11" name="Text 9"/>
          <p:cNvSpPr txBox="1"/>
          <p:nvPr/>
        </p:nvSpPr>
        <p:spPr>
          <a:xfrm>
            <a:off x="6409944" y="2423160"/>
            <a:ext cx="2194560" cy="1005840"/>
          </a:xfrm>
          <a:prstGeom prst="rect">
            <a:avLst/>
          </a:prstGeom>
          <a:noFill/>
          <a:ln/>
        </p:spPr>
        <p:txBody>
          <a:bodyPr wrap="square" lIns="0" tIns="0" rIns="0" bIns="0" rtlCol="0" anchor="ctr"/>
          <a:lstStyle/>
          <a:p>
            <a:pPr indent="0" marL="0">
              <a:buNone/>
            </a:pPr>
            <a:r>
              <a:rPr lang="en-US" sz="4400" b="1" dirty="0">
                <a:solidFill>
                  <a:schemeClr val="bg1"/>
                </a:solidFill>
              </a:rPr>
              <a:t>≥ 50%</a:t>
            </a:r>
            <a:endParaRPr lang="en-US" sz="4400" dirty="0"/>
          </a:p>
        </p:txBody>
      </p:sp>
      <p:sp>
        <p:nvSpPr>
          <p:cNvPr id="12" name="Text 10"/>
          <p:cNvSpPr txBox="1"/>
          <p:nvPr/>
        </p:nvSpPr>
        <p:spPr>
          <a:xfrm>
            <a:off x="6409944" y="3566160"/>
            <a:ext cx="2194560" cy="1188720"/>
          </a:xfrm>
          <a:prstGeom prst="rect">
            <a:avLst/>
          </a:prstGeom>
          <a:noFill/>
          <a:ln/>
        </p:spPr>
        <p:txBody>
          <a:bodyPr wrap="square" lIns="0" tIns="0" rIns="0" bIns="0" rtlCol="0" anchor="t"/>
          <a:lstStyle/>
          <a:p>
            <a:pPr indent="0" marL="0">
              <a:buNone/>
            </a:pPr>
            <a:r>
              <a:rPr lang="en-US" sz="1500" dirty="0">
                <a:solidFill>
                  <a:schemeClr val="accent4"/>
                </a:solidFill>
              </a:rPr>
              <a:t>of users still active in week 4</a:t>
            </a:r>
            <a:endParaRPr lang="en-US" sz="1500" dirty="0"/>
          </a:p>
        </p:txBody>
      </p:sp>
      <p:sp>
        <p:nvSpPr>
          <p:cNvPr id="13" name="metric"/>
          <p:cNvSpPr/>
          <p:nvPr/>
        </p:nvSpPr>
        <p:spPr>
          <a:xfrm>
            <a:off x="8997696" y="2194560"/>
            <a:ext cx="2633472" cy="2743200"/>
          </a:xfrm>
          <a:prstGeom prst="roundRect">
            <a:avLst>
              <a:gd name="adj" fmla="val 4167"/>
            </a:avLst>
          </a:prstGeom>
          <a:solidFill>
            <a:srgbClr val="163A63"/>
          </a:solidFill>
          <a:ln w="12700">
            <a:solidFill>
              <a:srgbClr val="163A63"/>
            </a:solidFill>
            <a:prstDash val="solid"/>
          </a:ln>
        </p:spPr>
      </p:sp>
      <p:sp>
        <p:nvSpPr>
          <p:cNvPr id="14" name="Text 12"/>
          <p:cNvSpPr txBox="1"/>
          <p:nvPr/>
        </p:nvSpPr>
        <p:spPr>
          <a:xfrm>
            <a:off x="9226296" y="2423160"/>
            <a:ext cx="2194560" cy="1005840"/>
          </a:xfrm>
          <a:prstGeom prst="rect">
            <a:avLst/>
          </a:prstGeom>
          <a:noFill/>
          <a:ln/>
        </p:spPr>
        <p:txBody>
          <a:bodyPr wrap="square" lIns="0" tIns="0" rIns="0" bIns="0" rtlCol="0" anchor="ctr"/>
          <a:lstStyle/>
          <a:p>
            <a:pPr indent="0" marL="0">
              <a:buNone/>
            </a:pPr>
            <a:r>
              <a:rPr lang="en-US" sz="4400" b="1" dirty="0">
                <a:solidFill>
                  <a:schemeClr val="bg1"/>
                </a:solidFill>
              </a:rPr>
              <a:t>&lt; €0.01</a:t>
            </a:r>
            <a:endParaRPr lang="en-US" sz="4400" dirty="0"/>
          </a:p>
        </p:txBody>
      </p:sp>
      <p:sp>
        <p:nvSpPr>
          <p:cNvPr id="15" name="Text 13"/>
          <p:cNvSpPr txBox="1"/>
          <p:nvPr/>
        </p:nvSpPr>
        <p:spPr>
          <a:xfrm>
            <a:off x="9226296" y="3566160"/>
            <a:ext cx="2194560" cy="1188720"/>
          </a:xfrm>
          <a:prstGeom prst="rect">
            <a:avLst/>
          </a:prstGeom>
          <a:noFill/>
          <a:ln/>
        </p:spPr>
        <p:txBody>
          <a:bodyPr wrap="square" lIns="0" tIns="0" rIns="0" bIns="0" rtlCol="0" anchor="t"/>
          <a:lstStyle/>
          <a:p>
            <a:pPr indent="0" marL="0">
              <a:buNone/>
            </a:pPr>
            <a:r>
              <a:rPr lang="en-US" sz="1500" dirty="0">
                <a:solidFill>
                  <a:schemeClr val="accent4"/>
                </a:solidFill>
              </a:rPr>
              <a:t>AI cost per complete application at scale</a:t>
            </a:r>
            <a:endParaRPr lang="en-US" sz="1500" dirty="0"/>
          </a:p>
        </p:txBody>
      </p:sp>
      <p:sp>
        <p:nvSpPr>
          <p:cNvPr id="16" name="Text 14"/>
          <p:cNvSpPr txBox="1"/>
          <p:nvPr/>
        </p:nvSpPr>
        <p:spPr>
          <a:xfrm>
            <a:off x="548640" y="5257800"/>
            <a:ext cx="10058400" cy="274320"/>
          </a:xfrm>
          <a:prstGeom prst="rect">
            <a:avLst/>
          </a:prstGeom>
          <a:noFill/>
          <a:ln/>
        </p:spPr>
        <p:txBody>
          <a:bodyPr wrap="square" lIns="0" tIns="0" rIns="0" bIns="0" rtlCol="0" anchor="t"/>
          <a:lstStyle/>
          <a:p>
            <a:pPr indent="0" marL="0">
              <a:buNone/>
            </a:pPr>
            <a:r>
              <a:rPr lang="en-US" sz="1300" dirty="0">
                <a:solidFill>
                  <a:schemeClr val="accent4"/>
                </a:solidFill>
              </a:rPr>
              <a:t>Targets, not results. Reviewed after a four-week beta baseline; full list in the appendix.</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COMPETITION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Competitors at a glance</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286000"/>
                <a:gridCol w="3108960"/>
                <a:gridCol w="2743200"/>
                <a:gridCol w="2953512"/>
              </a:tblGrid>
              <a:tr h="502920">
                <a:tc>
                  <a:txBody>
                    <a:bodyPr/>
                    <a:lstStyle/>
                    <a:p>
                      <a:pPr indent="0" marL="0">
                        <a:buNone/>
                      </a:pPr>
                      <a:r>
                        <a:rPr lang="en-US" sz="1300" b="1" dirty="0">
                          <a:solidFill>
                            <a:srgbClr val="FFFFFF"/>
                          </a:solidFill>
                        </a:rPr>
                        <a:t>Tool</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What it does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Price (Oct 2026)</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Gap vs. CareerPilot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r>
              <a:tr h="502920">
                <a:tc>
                  <a:txBody>
                    <a:bodyPr/>
                    <a:lstStyle/>
                    <a:p>
                      <a:pPr indent="0" marL="0">
                        <a:buNone/>
                      </a:pPr>
                      <a:r>
                        <a:rPr lang="en-US" sz="1300" dirty="0">
                          <a:solidFill>
                            <a:srgbClr val="0F2A4A"/>
                          </a:solidFill>
                        </a:rPr>
                        <a:t>Jobscan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Match rate of CV vs. ad, keyword-based</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$49.95 / month · 5 free scans a month</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Optimises wording; no fit vs. missing-data split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Teal</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CV builder, keyword matching, job tracker</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Teal+ $29 per 30 days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Keyword matching, no explained fit score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Huntr</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Job tracker, tailored CVs, basic match score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Pro $40 / month</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Records applications, doesn't advise where to apply</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JobCopilot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Auto-applies to matched jobs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From $0.93 / day</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Volume over fit; no review of each application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Job boards (LinkedIn, StepStone, Indeed)</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Listings, alerts, premium insights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paid premium tiers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Sponsored and premium visibility; no explanation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F2542D"/>
                          </a:solidFill>
                        </a:rPr>
                        <a:t>CareerPilot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Explained fit, reviewed documents, tracking</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10 free credits a day · €0.99 / 10 credits (coming soon)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1000" dirty="0">
                <a:solidFill>
                  <a:schemeClr val="tx2"/>
                </a:solidFill>
              </a:rPr>
              <a:t>Sources: Huntr, Teal and JobCopilot pricing pages; Jobscan via The Interview Guys review (2026). Prices in USD as listed, checked 8 Oct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METRICS</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Measurement targets</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743200"/>
                <a:gridCol w="5120640"/>
                <a:gridCol w="3227832"/>
              </a:tblGrid>
              <a:tr h="502920">
                <a:tc>
                  <a:txBody>
                    <a:bodyPr/>
                    <a:lstStyle/>
                    <a:p>
                      <a:pPr indent="0" marL="0">
                        <a:buNone/>
                      </a:pPr>
                      <a:r>
                        <a:rPr lang="en-US" sz="1300" b="1" dirty="0">
                          <a:solidFill>
                            <a:srgbClr val="FFFFFF"/>
                          </a:solidFill>
                        </a:rPr>
                        <a:t>Metric</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Target, 3 months after launch</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Note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r>
              <a:tr h="502920">
                <a:tc>
                  <a:txBody>
                    <a:bodyPr/>
                    <a:lstStyle/>
                    <a:p>
                      <a:pPr indent="0" marL="0">
                        <a:buNone/>
                      </a:pPr>
                      <a:r>
                        <a:rPr lang="en-US" sz="1300" dirty="0">
                          <a:solidFill>
                            <a:srgbClr val="0F2A4A"/>
                          </a:solidFill>
                        </a:rPr>
                        <a:t>Application-to-interview rate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 20% overall · ≥ 90% band at least 2× the &lt; 70% band</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Main proof that the score works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Score trust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 90% rated accurate · ≥ 60% explanation-to-decision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Thumbs on evidence points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Profile completeness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 90% of new users reach 90% within 7 days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Quality signal, not a gate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Retention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Week 4 ≥ 50% · week 12 ≥ 35%</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Hired users count as success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Abandonment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&lt; 25% before first scored match · &lt; 20% unexported documents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Find the drop-off stage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AI cost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&lt; €0.01 per complete application at scale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Tracked from alpha</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Pay-as-you-apply interest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 20% "Coming soon" clicks among users at 0 credits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Fake-door signal</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1000" dirty="0">
                <a:solidFill>
                  <a:schemeClr val="tx2"/>
                </a:solidFill>
              </a:rPr>
              <a:t>All targets are assumptions, reviewed after a four-week beta baseline. Headhunter pilot: 100% eligibility compliance, zero unauthorised disclosures.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LEGAL</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What a real pilot would need</a:t>
            </a:r>
            <a:endParaRPr lang="en-US" sz="3200" dirty="0"/>
          </a:p>
        </p:txBody>
      </p:sp>
      <p:sp>
        <p:nvSpPr>
          <p:cNvPr id="4" name="legal"/>
          <p:cNvSpPr/>
          <p:nvPr/>
        </p:nvSpPr>
        <p:spPr>
          <a:xfrm>
            <a:off x="548640" y="2057400"/>
            <a:ext cx="5449824" cy="1143000"/>
          </a:xfrm>
          <a:prstGeom prst="roundRect">
            <a:avLst>
              <a:gd name="adj" fmla="val 9600"/>
            </a:avLst>
          </a:prstGeom>
          <a:solidFill>
            <a:schemeClr val="bg1"/>
          </a:solidFill>
          <a:ln w="12700">
            <a:solidFill>
              <a:schemeClr val="bg1"/>
            </a:solidFill>
            <a:prstDash val="solid"/>
          </a:ln>
        </p:spPr>
      </p:sp>
      <p:sp>
        <p:nvSpPr>
          <p:cNvPr id="5" name="Text 3"/>
          <p:cNvSpPr txBox="1"/>
          <p:nvPr/>
        </p:nvSpPr>
        <p:spPr>
          <a:xfrm>
            <a:off x="822960" y="2221992"/>
            <a:ext cx="4937760" cy="292608"/>
          </a:xfrm>
          <a:prstGeom prst="rect">
            <a:avLst/>
          </a:prstGeom>
          <a:noFill/>
          <a:ln/>
        </p:spPr>
        <p:txBody>
          <a:bodyPr wrap="square" lIns="0" tIns="0" rIns="0" bIns="0" rtlCol="0" anchor="t"/>
          <a:lstStyle/>
          <a:p>
            <a:pPr indent="0" marL="0">
              <a:buNone/>
            </a:pPr>
            <a:r>
              <a:rPr lang="en-US" sz="1500" b="1" dirty="0">
                <a:solidFill>
                  <a:schemeClr val="tx1"/>
                </a:solidFill>
              </a:rPr>
              <a:t>GDPR and BDSG</a:t>
            </a:r>
            <a:endParaRPr lang="en-US" sz="1500" dirty="0"/>
          </a:p>
        </p:txBody>
      </p:sp>
      <p:sp>
        <p:nvSpPr>
          <p:cNvPr id="6" name="Text 4"/>
          <p:cNvSpPr txBox="1"/>
          <p:nvPr/>
        </p:nvSpPr>
        <p:spPr>
          <a:xfrm>
            <a:off x="822960" y="2532888"/>
            <a:ext cx="4937760" cy="594360"/>
          </a:xfrm>
          <a:prstGeom prst="rect">
            <a:avLst/>
          </a:prstGeom>
          <a:noFill/>
          <a:ln/>
        </p:spPr>
        <p:txBody>
          <a:bodyPr wrap="square" lIns="0" tIns="0" rIns="0" bIns="0" rtlCol="0" anchor="t"/>
          <a:lstStyle/>
          <a:p>
            <a:pPr indent="0" marL="0">
              <a:buNone/>
            </a:pPr>
            <a:r>
              <a:rPr lang="en-US" sz="1200" dirty="0">
                <a:solidFill>
                  <a:schemeClr val="tx2"/>
                </a:solidFill>
              </a:rPr>
              <a:t>Legal basis per use, DPIA, data protection officer, EU hosting, deletion that reaches logs and backups</a:t>
            </a:r>
            <a:endParaRPr lang="en-US" sz="1200" dirty="0"/>
          </a:p>
        </p:txBody>
      </p:sp>
      <p:sp>
        <p:nvSpPr>
          <p:cNvPr id="7" name="legal"/>
          <p:cNvSpPr/>
          <p:nvPr/>
        </p:nvSpPr>
        <p:spPr>
          <a:xfrm>
            <a:off x="6190488" y="2057400"/>
            <a:ext cx="5449824" cy="1143000"/>
          </a:xfrm>
          <a:prstGeom prst="roundRect">
            <a:avLst>
              <a:gd name="adj" fmla="val 9600"/>
            </a:avLst>
          </a:prstGeom>
          <a:solidFill>
            <a:schemeClr val="bg1"/>
          </a:solidFill>
          <a:ln w="12700">
            <a:solidFill>
              <a:schemeClr val="bg1"/>
            </a:solidFill>
            <a:prstDash val="solid"/>
          </a:ln>
        </p:spPr>
      </p:sp>
      <p:sp>
        <p:nvSpPr>
          <p:cNvPr id="8" name="Text 6"/>
          <p:cNvSpPr txBox="1"/>
          <p:nvPr/>
        </p:nvSpPr>
        <p:spPr>
          <a:xfrm>
            <a:off x="6464808" y="2221992"/>
            <a:ext cx="4937760" cy="292608"/>
          </a:xfrm>
          <a:prstGeom prst="rect">
            <a:avLst/>
          </a:prstGeom>
          <a:noFill/>
          <a:ln/>
        </p:spPr>
        <p:txBody>
          <a:bodyPr wrap="square" lIns="0" tIns="0" rIns="0" bIns="0" rtlCol="0" anchor="t"/>
          <a:lstStyle/>
          <a:p>
            <a:pPr indent="0" marL="0">
              <a:buNone/>
            </a:pPr>
            <a:r>
              <a:rPr lang="en-US" sz="1500" b="1" dirty="0">
                <a:solidFill>
                  <a:schemeClr val="tx1"/>
                </a:solidFill>
              </a:rPr>
              <a:t>EU AI Act</a:t>
            </a:r>
            <a:endParaRPr lang="en-US" sz="1500" dirty="0"/>
          </a:p>
        </p:txBody>
      </p:sp>
      <p:sp>
        <p:nvSpPr>
          <p:cNvPr id="9" name="Text 7"/>
          <p:cNvSpPr txBox="1"/>
          <p:nvPr/>
        </p:nvSpPr>
        <p:spPr>
          <a:xfrm>
            <a:off x="6464808" y="2532888"/>
            <a:ext cx="4937760" cy="594360"/>
          </a:xfrm>
          <a:prstGeom prst="rect">
            <a:avLst/>
          </a:prstGeom>
          <a:noFill/>
          <a:ln/>
        </p:spPr>
        <p:txBody>
          <a:bodyPr wrap="square" lIns="0" tIns="0" rIns="0" bIns="0" rtlCol="0" anchor="t"/>
          <a:lstStyle/>
          <a:p>
            <a:pPr indent="0" marL="0">
              <a:buNone/>
            </a:pPr>
            <a:r>
              <a:rPr lang="en-US" sz="1200" dirty="0">
                <a:solidFill>
                  <a:schemeClr val="tx2"/>
                </a:solidFill>
              </a:rPr>
              <a:t>Recruitment AI is high-risk (Annex III) from 2 Dec 2027; candidate-side use needs specialist classification</a:t>
            </a:r>
            <a:endParaRPr lang="en-US" sz="1200" dirty="0"/>
          </a:p>
        </p:txBody>
      </p:sp>
      <p:sp>
        <p:nvSpPr>
          <p:cNvPr id="10" name="legal"/>
          <p:cNvSpPr/>
          <p:nvPr/>
        </p:nvSpPr>
        <p:spPr>
          <a:xfrm>
            <a:off x="548640" y="3383280"/>
            <a:ext cx="5449824" cy="1143000"/>
          </a:xfrm>
          <a:prstGeom prst="roundRect">
            <a:avLst>
              <a:gd name="adj" fmla="val 9600"/>
            </a:avLst>
          </a:prstGeom>
          <a:solidFill>
            <a:schemeClr val="bg1"/>
          </a:solidFill>
          <a:ln w="12700">
            <a:solidFill>
              <a:schemeClr val="bg1"/>
            </a:solidFill>
            <a:prstDash val="solid"/>
          </a:ln>
        </p:spPr>
      </p:sp>
      <p:sp>
        <p:nvSpPr>
          <p:cNvPr id="11" name="Text 9"/>
          <p:cNvSpPr txBox="1"/>
          <p:nvPr/>
        </p:nvSpPr>
        <p:spPr>
          <a:xfrm>
            <a:off x="822960" y="3547872"/>
            <a:ext cx="4937760" cy="292608"/>
          </a:xfrm>
          <a:prstGeom prst="rect">
            <a:avLst/>
          </a:prstGeom>
          <a:noFill/>
          <a:ln/>
        </p:spPr>
        <p:txBody>
          <a:bodyPr wrap="square" lIns="0" tIns="0" rIns="0" bIns="0" rtlCol="0" anchor="t"/>
          <a:lstStyle/>
          <a:p>
            <a:pPr indent="0" marL="0">
              <a:buNone/>
            </a:pPr>
            <a:r>
              <a:rPr lang="en-US" sz="1500" b="1" dirty="0">
                <a:solidFill>
                  <a:schemeClr val="tx1"/>
                </a:solidFill>
              </a:rPr>
              <a:t>Anti-discrimination (AGG)</a:t>
            </a:r>
            <a:endParaRPr lang="en-US" sz="1500" dirty="0"/>
          </a:p>
        </p:txBody>
      </p:sp>
      <p:sp>
        <p:nvSpPr>
          <p:cNvPr id="12" name="Text 10"/>
          <p:cNvSpPr txBox="1"/>
          <p:nvPr/>
        </p:nvSpPr>
        <p:spPr>
          <a:xfrm>
            <a:off x="822960" y="3858768"/>
            <a:ext cx="4937760" cy="594360"/>
          </a:xfrm>
          <a:prstGeom prst="rect">
            <a:avLst/>
          </a:prstGeom>
          <a:noFill/>
          <a:ln/>
        </p:spPr>
        <p:txBody>
          <a:bodyPr wrap="square" lIns="0" tIns="0" rIns="0" bIns="0" rtlCol="0" anchor="t"/>
          <a:lstStyle/>
          <a:p>
            <a:pPr indent="0" marL="0">
              <a:buNone/>
            </a:pPr>
            <a:r>
              <a:rPr lang="en-US" sz="1200" dirty="0">
                <a:solidFill>
                  <a:schemeClr val="tx2"/>
                </a:solidFill>
              </a:rPr>
              <a:t>No protected attributes or proxies; bias tests with the four-fifths rule</a:t>
            </a:r>
            <a:endParaRPr lang="en-US" sz="1200" dirty="0"/>
          </a:p>
        </p:txBody>
      </p:sp>
      <p:sp>
        <p:nvSpPr>
          <p:cNvPr id="13" name="legal"/>
          <p:cNvSpPr/>
          <p:nvPr/>
        </p:nvSpPr>
        <p:spPr>
          <a:xfrm>
            <a:off x="6190488" y="3383280"/>
            <a:ext cx="5449824" cy="1143000"/>
          </a:xfrm>
          <a:prstGeom prst="roundRect">
            <a:avLst>
              <a:gd name="adj" fmla="val 9600"/>
            </a:avLst>
          </a:prstGeom>
          <a:solidFill>
            <a:schemeClr val="bg1"/>
          </a:solidFill>
          <a:ln w="12700">
            <a:solidFill>
              <a:schemeClr val="bg1"/>
            </a:solidFill>
            <a:prstDash val="solid"/>
          </a:ln>
        </p:spPr>
      </p:sp>
      <p:sp>
        <p:nvSpPr>
          <p:cNvPr id="14" name="Text 12"/>
          <p:cNvSpPr txBox="1"/>
          <p:nvPr/>
        </p:nvSpPr>
        <p:spPr>
          <a:xfrm>
            <a:off x="6464808" y="3547872"/>
            <a:ext cx="4937760" cy="292608"/>
          </a:xfrm>
          <a:prstGeom prst="rect">
            <a:avLst/>
          </a:prstGeom>
          <a:noFill/>
          <a:ln/>
        </p:spPr>
        <p:txBody>
          <a:bodyPr wrap="square" lIns="0" tIns="0" rIns="0" bIns="0" rtlCol="0" anchor="t"/>
          <a:lstStyle/>
          <a:p>
            <a:pPr indent="0" marL="0">
              <a:buNone/>
            </a:pPr>
            <a:r>
              <a:rPr lang="en-US" sz="1500" b="1" dirty="0">
                <a:solidFill>
                  <a:schemeClr val="tx1"/>
                </a:solidFill>
              </a:rPr>
              <a:t>Automated decisions</a:t>
            </a:r>
            <a:endParaRPr lang="en-US" sz="1500" dirty="0"/>
          </a:p>
        </p:txBody>
      </p:sp>
      <p:sp>
        <p:nvSpPr>
          <p:cNvPr id="15" name="Text 13"/>
          <p:cNvSpPr txBox="1"/>
          <p:nvPr/>
        </p:nvSpPr>
        <p:spPr>
          <a:xfrm>
            <a:off x="6464808" y="3858768"/>
            <a:ext cx="4937760" cy="594360"/>
          </a:xfrm>
          <a:prstGeom prst="rect">
            <a:avLst/>
          </a:prstGeom>
          <a:noFill/>
          <a:ln/>
        </p:spPr>
        <p:txBody>
          <a:bodyPr wrap="square" lIns="0" tIns="0" rIns="0" bIns="0" rtlCol="0" anchor="t"/>
          <a:lstStyle/>
          <a:p>
            <a:pPr indent="0" marL="0">
              <a:buNone/>
            </a:pPr>
            <a:r>
              <a:rPr lang="en-US" sz="1200" dirty="0">
                <a:solidFill>
                  <a:schemeClr val="tx2"/>
                </a:solidFill>
              </a:rPr>
              <a:t>The candidate always decides; recruiter ranking keeps a human in the loop</a:t>
            </a:r>
            <a:endParaRPr lang="en-US" sz="1200" dirty="0"/>
          </a:p>
        </p:txBody>
      </p:sp>
      <p:sp>
        <p:nvSpPr>
          <p:cNvPr id="16" name="legal"/>
          <p:cNvSpPr/>
          <p:nvPr/>
        </p:nvSpPr>
        <p:spPr>
          <a:xfrm>
            <a:off x="548640" y="4709160"/>
            <a:ext cx="5449824" cy="1143000"/>
          </a:xfrm>
          <a:prstGeom prst="roundRect">
            <a:avLst>
              <a:gd name="adj" fmla="val 9600"/>
            </a:avLst>
          </a:prstGeom>
          <a:solidFill>
            <a:schemeClr val="bg1"/>
          </a:solidFill>
          <a:ln w="12700">
            <a:solidFill>
              <a:schemeClr val="bg1"/>
            </a:solidFill>
            <a:prstDash val="solid"/>
          </a:ln>
        </p:spPr>
      </p:sp>
      <p:sp>
        <p:nvSpPr>
          <p:cNvPr id="17" name="Text 15"/>
          <p:cNvSpPr txBox="1"/>
          <p:nvPr/>
        </p:nvSpPr>
        <p:spPr>
          <a:xfrm>
            <a:off x="822960" y="4873752"/>
            <a:ext cx="4937760" cy="292608"/>
          </a:xfrm>
          <a:prstGeom prst="rect">
            <a:avLst/>
          </a:prstGeom>
          <a:noFill/>
          <a:ln/>
        </p:spPr>
        <p:txBody>
          <a:bodyPr wrap="square" lIns="0" tIns="0" rIns="0" bIns="0" rtlCol="0" anchor="t"/>
          <a:lstStyle/>
          <a:p>
            <a:pPr indent="0" marL="0">
              <a:buNone/>
            </a:pPr>
            <a:r>
              <a:rPr lang="en-US" sz="1500" b="1" dirty="0">
                <a:solidFill>
                  <a:schemeClr val="tx1"/>
                </a:solidFill>
              </a:rPr>
              <a:t>Job data</a:t>
            </a:r>
            <a:endParaRPr lang="en-US" sz="1500" dirty="0"/>
          </a:p>
        </p:txBody>
      </p:sp>
      <p:sp>
        <p:nvSpPr>
          <p:cNvPr id="18" name="Text 16"/>
          <p:cNvSpPr txBox="1"/>
          <p:nvPr/>
        </p:nvSpPr>
        <p:spPr>
          <a:xfrm>
            <a:off x="822960" y="5184648"/>
            <a:ext cx="4937760" cy="594360"/>
          </a:xfrm>
          <a:prstGeom prst="rect">
            <a:avLst/>
          </a:prstGeom>
          <a:noFill/>
          <a:ln/>
        </p:spPr>
        <p:txBody>
          <a:bodyPr wrap="square" lIns="0" tIns="0" rIns="0" bIns="0" rtlCol="0" anchor="t"/>
          <a:lstStyle/>
          <a:p>
            <a:pPr indent="0" marL="0">
              <a:buNone/>
            </a:pPr>
            <a:r>
              <a:rPr lang="en-US" sz="1200" dirty="0">
                <a:solidFill>
                  <a:schemeClr val="tx2"/>
                </a:solidFill>
              </a:rPr>
              <a:t>Bundesagentur terms of use, no scraping, mock data labelled</a:t>
            </a:r>
            <a:endParaRPr lang="en-US" sz="1200" dirty="0"/>
          </a:p>
        </p:txBody>
      </p:sp>
      <p:sp>
        <p:nvSpPr>
          <p:cNvPr id="19" name="legal"/>
          <p:cNvSpPr/>
          <p:nvPr/>
        </p:nvSpPr>
        <p:spPr>
          <a:xfrm>
            <a:off x="6190488" y="4709160"/>
            <a:ext cx="5449824" cy="1143000"/>
          </a:xfrm>
          <a:prstGeom prst="roundRect">
            <a:avLst>
              <a:gd name="adj" fmla="val 9600"/>
            </a:avLst>
          </a:prstGeom>
          <a:solidFill>
            <a:schemeClr val="bg1"/>
          </a:solidFill>
          <a:ln w="12700">
            <a:solidFill>
              <a:schemeClr val="bg1"/>
            </a:solidFill>
            <a:prstDash val="solid"/>
          </a:ln>
        </p:spPr>
      </p:sp>
      <p:sp>
        <p:nvSpPr>
          <p:cNvPr id="20" name="Text 18"/>
          <p:cNvSpPr txBox="1"/>
          <p:nvPr/>
        </p:nvSpPr>
        <p:spPr>
          <a:xfrm>
            <a:off x="6464808" y="4873752"/>
            <a:ext cx="4937760" cy="292608"/>
          </a:xfrm>
          <a:prstGeom prst="rect">
            <a:avLst/>
          </a:prstGeom>
          <a:noFill/>
          <a:ln/>
        </p:spPr>
        <p:txBody>
          <a:bodyPr wrap="square" lIns="0" tIns="0" rIns="0" bIns="0" rtlCol="0" anchor="t"/>
          <a:lstStyle/>
          <a:p>
            <a:pPr indent="0" marL="0">
              <a:buNone/>
            </a:pPr>
            <a:r>
              <a:rPr lang="en-US" sz="1500" b="1" dirty="0">
                <a:solidFill>
                  <a:schemeClr val="tx1"/>
                </a:solidFill>
              </a:rPr>
              <a:t>Wallet</a:t>
            </a:r>
            <a:endParaRPr lang="en-US" sz="1500" dirty="0"/>
          </a:p>
        </p:txBody>
      </p:sp>
      <p:sp>
        <p:nvSpPr>
          <p:cNvPr id="21" name="Text 19"/>
          <p:cNvSpPr txBox="1"/>
          <p:nvPr/>
        </p:nvSpPr>
        <p:spPr>
          <a:xfrm>
            <a:off x="6464808" y="5184648"/>
            <a:ext cx="4937760" cy="594360"/>
          </a:xfrm>
          <a:prstGeom prst="rect">
            <a:avLst/>
          </a:prstGeom>
          <a:noFill/>
          <a:ln/>
        </p:spPr>
        <p:txBody>
          <a:bodyPr wrap="square" lIns="0" tIns="0" rIns="0" bIns="0" rtlCol="0" anchor="t"/>
          <a:lstStyle/>
          <a:p>
            <a:pPr indent="0" marL="0">
              <a:buNone/>
            </a:pPr>
            <a:r>
              <a:rPr lang="en-US" sz="1200" dirty="0">
                <a:solidFill>
                  <a:schemeClr val="tx2"/>
                </a:solidFill>
              </a:rPr>
              <a:t>Through a licensed payment provider; prices incl. VAT, withdrawal rules</a:t>
            </a:r>
            <a:endParaRPr lang="en-US" sz="1200" dirty="0"/>
          </a:p>
        </p:txBody>
      </p:sp>
      <p:sp>
        <p:nvSpPr>
          <p:cNvPr id="22" name="Text 20"/>
          <p:cNvSpPr txBox="1"/>
          <p:nvPr/>
        </p:nvSpPr>
        <p:spPr>
          <a:xfrm>
            <a:off x="548640" y="6035040"/>
            <a:ext cx="9144000" cy="228600"/>
          </a:xfrm>
          <a:prstGeom prst="rect">
            <a:avLst/>
          </a:prstGeom>
          <a:noFill/>
          <a:ln/>
        </p:spPr>
        <p:txBody>
          <a:bodyPr wrap="square" lIns="0" tIns="0" rIns="0" bIns="0" rtlCol="0" anchor="t"/>
          <a:lstStyle/>
          <a:p>
            <a:pPr indent="0" marL="0">
              <a:buNone/>
            </a:pPr>
            <a:r>
              <a:rPr lang="en-US" sz="1000" dirty="0">
                <a:solidFill>
                  <a:schemeClr val="tx2"/>
                </a:solidFill>
              </a:rPr>
              <a:t>Not legal advice. Details in PRD chapter 12 on Confluence.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CareerPilot">
  <a:themeElements>
    <a:clrScheme name="CareerPilot">
      <a:dk1>
        <a:srgbClr val="0F2A4A"/>
      </a:dk1>
      <a:lt1>
        <a:srgbClr val="FFFFFF"/>
      </a:lt1>
      <a:dk2>
        <a:srgbClr val="5B6B80"/>
      </a:dk2>
      <a:lt2>
        <a:srgbClr val="E8EEF6"/>
      </a:lt2>
      <a:accent1>
        <a:srgbClr val="F2542D"/>
      </a:accent1>
      <a:accent2>
        <a:srgbClr val="1E4A7A"/>
      </a:accent2>
      <a:accent3>
        <a:srgbClr val="2E8B57"/>
      </a:accent3>
      <a:accent4>
        <a:srgbClr val="D5DEEA"/>
      </a:accent4>
      <a:accent5>
        <a:srgbClr val="FDE3DB"/>
      </a:accent5>
      <a:accent6>
        <a:srgbClr val="163A63"/>
      </a:accent6>
      <a:hlink>
        <a:srgbClr val="1E4A7A"/>
      </a:hlink>
      <a:folHlink>
        <a:srgbClr val="5B6B80"/>
      </a:folHlink>
    </a:clrScheme>
    <a:fontScheme name="Career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CareerPilot Product Story v3</dc:title>
  <dc:subject>PptxGenJS Presentation</dc:subject>
  <dc:creator>Dan Glogoveanu</dc:creator>
  <cp:lastModifiedBy>Dan Glogoveanu</cp:lastModifiedBy>
  <cp:revision>1</cp:revision>
  <dcterms:created xsi:type="dcterms:W3CDTF">2026-10-08T13:05:16Z</dcterms:created>
  <dcterms:modified xsi:type="dcterms:W3CDTF">2026-10-08T13:05:16Z</dcterms:modified>
</cp:coreProperties>
</file>